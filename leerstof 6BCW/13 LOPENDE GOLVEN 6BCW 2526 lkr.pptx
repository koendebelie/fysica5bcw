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3" r:id="rId1"/>
  </p:sldMasterIdLst>
  <p:sldIdLst>
    <p:sldId id="256" r:id="rId2"/>
    <p:sldId id="353" r:id="rId3"/>
    <p:sldId id="259" r:id="rId4"/>
    <p:sldId id="26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347" r:id="rId13"/>
    <p:sldId id="348" r:id="rId14"/>
    <p:sldId id="349" r:id="rId15"/>
    <p:sldId id="350" r:id="rId16"/>
    <p:sldId id="351" r:id="rId17"/>
    <p:sldId id="305" r:id="rId18"/>
    <p:sldId id="352" r:id="rId19"/>
    <p:sldId id="304" r:id="rId20"/>
    <p:sldId id="300" r:id="rId21"/>
    <p:sldId id="309" r:id="rId22"/>
    <p:sldId id="310" r:id="rId23"/>
    <p:sldId id="307" r:id="rId24"/>
    <p:sldId id="308" r:id="rId25"/>
    <p:sldId id="355" r:id="rId26"/>
    <p:sldId id="306" r:id="rId27"/>
    <p:sldId id="312" r:id="rId28"/>
    <p:sldId id="311" r:id="rId29"/>
    <p:sldId id="282" r:id="rId30"/>
    <p:sldId id="319" r:id="rId31"/>
    <p:sldId id="283" r:id="rId32"/>
    <p:sldId id="257" r:id="rId33"/>
    <p:sldId id="284" r:id="rId34"/>
    <p:sldId id="258" r:id="rId35"/>
    <p:sldId id="285" r:id="rId36"/>
    <p:sldId id="346" r:id="rId37"/>
    <p:sldId id="286" r:id="rId38"/>
    <p:sldId id="260" r:id="rId39"/>
    <p:sldId id="288" r:id="rId40"/>
    <p:sldId id="262" r:id="rId41"/>
    <p:sldId id="324" r:id="rId42"/>
    <p:sldId id="325" r:id="rId43"/>
    <p:sldId id="356" r:id="rId44"/>
    <p:sldId id="264" r:id="rId45"/>
    <p:sldId id="265" r:id="rId46"/>
    <p:sldId id="336" r:id="rId47"/>
    <p:sldId id="337" r:id="rId48"/>
    <p:sldId id="338" r:id="rId49"/>
    <p:sldId id="266" r:id="rId50"/>
    <p:sldId id="267" r:id="rId51"/>
    <p:sldId id="263" r:id="rId52"/>
    <p:sldId id="341" r:id="rId53"/>
    <p:sldId id="339" r:id="rId54"/>
    <p:sldId id="261" r:id="rId55"/>
    <p:sldId id="354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AE0EAF-FBCB-41C4-B70C-CDF6CB607B26}" v="2" dt="2026-03-17T21:51:37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63" autoAdjust="0"/>
    <p:restoredTop sz="94660"/>
  </p:normalViewPr>
  <p:slideViewPr>
    <p:cSldViewPr>
      <p:cViewPr varScale="1">
        <p:scale>
          <a:sx n="58" d="100"/>
          <a:sy n="58" d="100"/>
        </p:scale>
        <p:origin x="1104" y="4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en DE BELIE" userId="0b604c76-dc05-41eb-aae4-58be6ad353f8" providerId="ADAL" clId="{A0CAB841-4192-4D5A-AB98-8769508D3B25}"/>
    <pc:docChg chg="custSel addSld delSld modSld">
      <pc:chgData name="Koen DE BELIE" userId="0b604c76-dc05-41eb-aae4-58be6ad353f8" providerId="ADAL" clId="{A0CAB841-4192-4D5A-AB98-8769508D3B25}" dt="2026-03-31T08:45:29.563" v="122" actId="20577"/>
      <pc:docMkLst>
        <pc:docMk/>
      </pc:docMkLst>
      <pc:sldChg chg="modSp add mod">
        <pc:chgData name="Koen DE BELIE" userId="0b604c76-dc05-41eb-aae4-58be6ad353f8" providerId="ADAL" clId="{A0CAB841-4192-4D5A-AB98-8769508D3B25}" dt="2026-03-17T21:52:49.643" v="41" actId="14100"/>
        <pc:sldMkLst>
          <pc:docMk/>
          <pc:sldMk cId="2334880164" sldId="259"/>
        </pc:sldMkLst>
        <pc:spChg chg="mod">
          <ac:chgData name="Koen DE BELIE" userId="0b604c76-dc05-41eb-aae4-58be6ad353f8" providerId="ADAL" clId="{A0CAB841-4192-4D5A-AB98-8769508D3B25}" dt="2026-03-17T21:52:07.161" v="21" actId="1076"/>
          <ac:spMkLst>
            <pc:docMk/>
            <pc:sldMk cId="2334880164" sldId="259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6-03-17T21:52:49.643" v="41" actId="14100"/>
          <ac:spMkLst>
            <pc:docMk/>
            <pc:sldMk cId="2334880164" sldId="259"/>
            <ac:spMk id="3" creationId="{00000000-0000-0000-0000-000000000000}"/>
          </ac:spMkLst>
        </pc:spChg>
      </pc:sldChg>
      <pc:sldChg chg="add">
        <pc:chgData name="Koen DE BELIE" userId="0b604c76-dc05-41eb-aae4-58be6ad353f8" providerId="ADAL" clId="{A0CAB841-4192-4D5A-AB98-8769508D3B25}" dt="2026-03-17T21:50:48.578" v="0"/>
        <pc:sldMkLst>
          <pc:docMk/>
          <pc:sldMk cId="0" sldId="261"/>
        </pc:sldMkLst>
      </pc:sldChg>
      <pc:sldChg chg="modSp add mod">
        <pc:chgData name="Koen DE BELIE" userId="0b604c76-dc05-41eb-aae4-58be6ad353f8" providerId="ADAL" clId="{A0CAB841-4192-4D5A-AB98-8769508D3B25}" dt="2026-03-25T08:19:59.912" v="93" actId="20577"/>
        <pc:sldMkLst>
          <pc:docMk/>
          <pc:sldMk cId="694719247" sldId="353"/>
        </pc:sldMkLst>
        <pc:spChg chg="mod">
          <ac:chgData name="Koen DE BELIE" userId="0b604c76-dc05-41eb-aae4-58be6ad353f8" providerId="ADAL" clId="{A0CAB841-4192-4D5A-AB98-8769508D3B25}" dt="2026-03-17T21:51:45.945" v="15" actId="1076"/>
          <ac:spMkLst>
            <pc:docMk/>
            <pc:sldMk cId="694719247" sldId="353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6-03-25T08:19:59.912" v="93" actId="20577"/>
          <ac:spMkLst>
            <pc:docMk/>
            <pc:sldMk cId="694719247" sldId="353"/>
            <ac:spMk id="3" creationId="{00000000-0000-0000-0000-000000000000}"/>
          </ac:spMkLst>
        </pc:spChg>
      </pc:sldChg>
      <pc:sldChg chg="modSp add mod">
        <pc:chgData name="Koen DE BELIE" userId="0b604c76-dc05-41eb-aae4-58be6ad353f8" providerId="ADAL" clId="{A0CAB841-4192-4D5A-AB98-8769508D3B25}" dt="2026-03-17T21:51:27.840" v="10" actId="1076"/>
        <pc:sldMkLst>
          <pc:docMk/>
          <pc:sldMk cId="0" sldId="354"/>
        </pc:sldMkLst>
        <pc:spChg chg="mod">
          <ac:chgData name="Koen DE BELIE" userId="0b604c76-dc05-41eb-aae4-58be6ad353f8" providerId="ADAL" clId="{A0CAB841-4192-4D5A-AB98-8769508D3B25}" dt="2026-03-17T21:51:24.937" v="9" actId="1076"/>
          <ac:spMkLst>
            <pc:docMk/>
            <pc:sldMk cId="0" sldId="354"/>
            <ac:spMk id="2" creationId="{00000000-0000-0000-0000-000000000000}"/>
          </ac:spMkLst>
        </pc:spChg>
        <pc:graphicFrameChg chg="mod modGraphic">
          <ac:chgData name="Koen DE BELIE" userId="0b604c76-dc05-41eb-aae4-58be6ad353f8" providerId="ADAL" clId="{A0CAB841-4192-4D5A-AB98-8769508D3B25}" dt="2026-03-17T21:51:27.840" v="10" actId="1076"/>
          <ac:graphicFrameMkLst>
            <pc:docMk/>
            <pc:sldMk cId="0" sldId="354"/>
            <ac:graphicFrameMk id="6" creationId="{00000000-0000-0000-0000-000000000000}"/>
          </ac:graphicFrameMkLst>
        </pc:graphicFrameChg>
      </pc:sldChg>
      <pc:sldChg chg="modSp new mod">
        <pc:chgData name="Koen DE BELIE" userId="0b604c76-dc05-41eb-aae4-58be6ad353f8" providerId="ADAL" clId="{A0CAB841-4192-4D5A-AB98-8769508D3B25}" dt="2026-03-25T09:07:54.301" v="107" actId="20577"/>
        <pc:sldMkLst>
          <pc:docMk/>
          <pc:sldMk cId="2337260997" sldId="355"/>
        </pc:sldMkLst>
        <pc:spChg chg="mod">
          <ac:chgData name="Koen DE BELIE" userId="0b604c76-dc05-41eb-aae4-58be6ad353f8" providerId="ADAL" clId="{A0CAB841-4192-4D5A-AB98-8769508D3B25}" dt="2026-03-25T09:07:54.301" v="107" actId="20577"/>
          <ac:spMkLst>
            <pc:docMk/>
            <pc:sldMk cId="2337260997" sldId="355"/>
            <ac:spMk id="2" creationId="{8D3166BB-09CA-F665-B681-76D6C4C8122E}"/>
          </ac:spMkLst>
        </pc:spChg>
      </pc:sldChg>
      <pc:sldChg chg="modSp new mod">
        <pc:chgData name="Koen DE BELIE" userId="0b604c76-dc05-41eb-aae4-58be6ad353f8" providerId="ADAL" clId="{A0CAB841-4192-4D5A-AB98-8769508D3B25}" dt="2026-03-31T08:45:29.563" v="122" actId="20577"/>
        <pc:sldMkLst>
          <pc:docMk/>
          <pc:sldMk cId="3542804457" sldId="356"/>
        </pc:sldMkLst>
        <pc:spChg chg="mod">
          <ac:chgData name="Koen DE BELIE" userId="0b604c76-dc05-41eb-aae4-58be6ad353f8" providerId="ADAL" clId="{A0CAB841-4192-4D5A-AB98-8769508D3B25}" dt="2026-03-31T08:45:29.563" v="122" actId="20577"/>
          <ac:spMkLst>
            <pc:docMk/>
            <pc:sldMk cId="3542804457" sldId="356"/>
            <ac:spMk id="2" creationId="{851FFDF9-11DF-0147-A6CA-15FCC9B0C01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CF0F-2D37-40E1-A5C8-37532AD9C72D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920298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1825625"/>
            <a:ext cx="1188132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1A569-6B76-4BFE-B8CD-3CF85DE98A68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445103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7D-0AA7-4B9C-9F22-DDA4946EAD28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398719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42E1B-1400-42F2-9835-7DB86A600103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731835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61DD-79CC-4CED-B8D5-C55FDBB27901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88047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04F5-0993-4A65-B1E1-72A6D88734EB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684375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D82E4-6EF2-49E6-8DEA-0E2799B0121A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42683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932E5-2C81-492E-B986-A53BD482A88E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240278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C349-65FA-4D2A-B16F-6A988B998599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28820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F37C-9AE5-4A66-B313-29D84420D7FF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06254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F37C-9AE5-4A66-B313-29D84420D7FF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680925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F37C-9AE5-4A66-B313-29D84420D7FF}" type="slidenum">
              <a:rPr lang="nl-NL" altLang="nl-BE" smtClean="0"/>
              <a:pPr/>
              <a:t>‹nr.›</a:t>
            </a:fld>
            <a:endParaRPr lang="nl-NL" altLang="nl-BE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1230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F37C-9AE5-4A66-B313-29D84420D7FF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83183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F37C-9AE5-4A66-B313-29D84420D7FF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636677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F37C-9AE5-4A66-B313-29D84420D7FF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970690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5062-F1DE-4D57-A615-4EB1182F6321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300122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BE" alt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B08E-98B7-4E86-A00B-4EC385F53AC2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6531558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el, tekst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E89386-DEC5-49A0-81B8-0CB1B246FE2A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9579731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el, tekst en 2 inhoudseleme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2"/>
          </p:nvPr>
        </p:nvSpPr>
        <p:spPr>
          <a:xfrm>
            <a:off x="6197601" y="1600200"/>
            <a:ext cx="5592233" cy="21732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3"/>
          </p:nvPr>
        </p:nvSpPr>
        <p:spPr>
          <a:xfrm>
            <a:off x="6197601" y="3925889"/>
            <a:ext cx="5592233" cy="2173287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7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8EA1B6-CD85-43BC-A9A0-367FA83B45EF}" type="slidenum">
              <a:rPr lang="nl-NL" altLang="nl-BE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86522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22BF37C-9AE5-4A66-B313-29D84420D7FF}" type="slidenum">
              <a:rPr lang="nl-NL" altLang="nl-BE" smtClean="0"/>
              <a:pPr/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980015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42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users.telenet.be/jvers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052737"/>
            <a:ext cx="7772400" cy="1736725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LOPENDE GOLVEN</a:t>
            </a:r>
            <a:endParaRPr lang="nl-NL" altLang="nl-BE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nl-BE" altLang="nl-BE"/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700" y="3096029"/>
            <a:ext cx="5400600" cy="33329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43408"/>
            <a:ext cx="10515600" cy="13255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 err="1"/>
              <a:t>Lesdoelen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8" y="934139"/>
            <a:ext cx="11609798" cy="5923861"/>
          </a:xfrm>
        </p:spPr>
        <p:txBody>
          <a:bodyPr>
            <a:normAutofit fontScale="62500" lnSpcReduction="20000"/>
          </a:bodyPr>
          <a:lstStyle/>
          <a:p>
            <a:pPr lvl="0">
              <a:spcBef>
                <a:spcPts val="600"/>
              </a:spcBef>
            </a:pPr>
            <a:r>
              <a:rPr dirty="0" err="1"/>
              <a:t>Uitleggen</a:t>
            </a:r>
            <a:r>
              <a:rPr dirty="0"/>
              <a:t> wat </a:t>
            </a:r>
            <a:r>
              <a:rPr dirty="0" err="1"/>
              <a:t>een</a:t>
            </a:r>
            <a:r>
              <a:rPr dirty="0"/>
              <a:t> storing,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puls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trilling </a:t>
            </a:r>
            <a:r>
              <a:rPr dirty="0" err="1"/>
              <a:t>zijn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dirty="0" err="1"/>
              <a:t>Verklaren</a:t>
            </a:r>
            <a:r>
              <a:rPr dirty="0"/>
              <a:t> </a:t>
            </a:r>
            <a:r>
              <a:rPr dirty="0" err="1"/>
              <a:t>dat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storing </a:t>
            </a:r>
            <a:r>
              <a:rPr dirty="0" err="1"/>
              <a:t>zich</a:t>
            </a:r>
            <a:r>
              <a:rPr dirty="0"/>
              <a:t> met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eindige</a:t>
            </a:r>
            <a:r>
              <a:rPr dirty="0"/>
              <a:t> </a:t>
            </a:r>
            <a:r>
              <a:rPr dirty="0" err="1"/>
              <a:t>snelheid</a:t>
            </a:r>
            <a:r>
              <a:rPr dirty="0"/>
              <a:t> </a:t>
            </a:r>
            <a:r>
              <a:rPr dirty="0" err="1"/>
              <a:t>voortplant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dirty="0" err="1"/>
              <a:t>Beschrijven</a:t>
            </a:r>
            <a:r>
              <a:rPr dirty="0"/>
              <a:t> hoe </a:t>
            </a:r>
            <a:r>
              <a:rPr dirty="0" err="1"/>
              <a:t>een</a:t>
            </a:r>
            <a:r>
              <a:rPr dirty="0"/>
              <a:t> trilling van punt tot punt </a:t>
            </a:r>
            <a:r>
              <a:rPr dirty="0" err="1"/>
              <a:t>wordt</a:t>
            </a:r>
            <a:r>
              <a:rPr dirty="0"/>
              <a:t> </a:t>
            </a:r>
            <a:r>
              <a:rPr dirty="0" err="1"/>
              <a:t>doorgegeven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hoe </a:t>
            </a:r>
            <a:r>
              <a:rPr dirty="0" err="1"/>
              <a:t>energie</a:t>
            </a:r>
            <a:r>
              <a:rPr dirty="0"/>
              <a:t> </a:t>
            </a:r>
            <a:r>
              <a:rPr dirty="0" err="1"/>
              <a:t>wordt</a:t>
            </a:r>
            <a:r>
              <a:rPr dirty="0"/>
              <a:t> </a:t>
            </a:r>
            <a:r>
              <a:rPr dirty="0" err="1"/>
              <a:t>getransporteerd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dirty="0" err="1"/>
              <a:t>Onderscheid</a:t>
            </a:r>
            <a:r>
              <a:rPr dirty="0"/>
              <a:t> </a:t>
            </a:r>
            <a:r>
              <a:rPr dirty="0" err="1"/>
              <a:t>maken</a:t>
            </a:r>
            <a:r>
              <a:rPr dirty="0"/>
              <a:t> </a:t>
            </a:r>
            <a:r>
              <a:rPr dirty="0" err="1"/>
              <a:t>tussen</a:t>
            </a:r>
            <a:r>
              <a:rPr dirty="0"/>
              <a:t> </a:t>
            </a:r>
            <a:r>
              <a:rPr dirty="0" err="1"/>
              <a:t>mechanische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elektromagnetische</a:t>
            </a:r>
            <a:r>
              <a:rPr dirty="0"/>
              <a:t> </a:t>
            </a:r>
            <a:r>
              <a:rPr dirty="0" err="1"/>
              <a:t>golven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dirty="0" err="1"/>
              <a:t>Transversale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longitudinale</a:t>
            </a:r>
            <a:r>
              <a:rPr dirty="0"/>
              <a:t> </a:t>
            </a:r>
            <a:r>
              <a:rPr dirty="0" err="1"/>
              <a:t>golven</a:t>
            </a:r>
            <a:r>
              <a:rPr dirty="0"/>
              <a:t> </a:t>
            </a:r>
            <a:r>
              <a:rPr dirty="0" err="1"/>
              <a:t>herkennen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beschrijven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dirty="0" err="1"/>
              <a:t>Golflengte</a:t>
            </a:r>
            <a:r>
              <a:rPr dirty="0"/>
              <a:t>, </a:t>
            </a:r>
            <a:r>
              <a:rPr dirty="0" err="1"/>
              <a:t>periode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frequentie</a:t>
            </a:r>
            <a:r>
              <a:rPr dirty="0"/>
              <a:t> </a:t>
            </a:r>
            <a:r>
              <a:rPr dirty="0" err="1"/>
              <a:t>definiëren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herkennen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dirty="0"/>
              <a:t>Het </a:t>
            </a:r>
            <a:r>
              <a:rPr dirty="0" err="1"/>
              <a:t>verband</a:t>
            </a:r>
            <a:r>
              <a:rPr dirty="0"/>
              <a:t> </a:t>
            </a:r>
            <a:r>
              <a:rPr lang="nl-BE" dirty="0"/>
              <a:t>tussen snelheid, golflengte en frequentie </a:t>
            </a:r>
            <a:r>
              <a:rPr dirty="0"/>
              <a:t>correct </a:t>
            </a:r>
            <a:r>
              <a:rPr dirty="0" err="1"/>
              <a:t>toepassen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dirty="0"/>
              <a:t>Fase </a:t>
            </a:r>
            <a:r>
              <a:rPr dirty="0" err="1"/>
              <a:t>en</a:t>
            </a:r>
            <a:r>
              <a:rPr dirty="0"/>
              <a:t> in‑</a:t>
            </a:r>
            <a:r>
              <a:rPr dirty="0" err="1"/>
              <a:t>fase</a:t>
            </a:r>
            <a:r>
              <a:rPr dirty="0"/>
              <a:t> </a:t>
            </a:r>
            <a:r>
              <a:rPr dirty="0" err="1"/>
              <a:t>trillen</a:t>
            </a:r>
            <a:r>
              <a:rPr dirty="0"/>
              <a:t> </a:t>
            </a:r>
            <a:r>
              <a:rPr dirty="0" err="1"/>
              <a:t>interpreteren</a:t>
            </a:r>
            <a:r>
              <a:rPr dirty="0"/>
              <a:t> op </a:t>
            </a:r>
            <a:r>
              <a:rPr dirty="0" err="1"/>
              <a:t>grafieken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momentopnames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dirty="0"/>
              <a:t>De </a:t>
            </a:r>
            <a:r>
              <a:rPr dirty="0" err="1"/>
              <a:t>algemene</a:t>
            </a:r>
            <a:r>
              <a:rPr dirty="0"/>
              <a:t> </a:t>
            </a:r>
            <a:r>
              <a:rPr dirty="0" err="1"/>
              <a:t>golfvergelijking</a:t>
            </a:r>
            <a:r>
              <a:rPr dirty="0"/>
              <a:t> </a:t>
            </a:r>
            <a:r>
              <a:rPr dirty="0" err="1"/>
              <a:t>kwalitatief</a:t>
            </a:r>
            <a:r>
              <a:rPr dirty="0"/>
              <a:t> </a:t>
            </a:r>
            <a:r>
              <a:rPr dirty="0" err="1"/>
              <a:t>interpreteren</a:t>
            </a:r>
            <a:r>
              <a:rPr dirty="0"/>
              <a:t> (</a:t>
            </a:r>
            <a:r>
              <a:rPr dirty="0" err="1"/>
              <a:t>fase</a:t>
            </a:r>
            <a:r>
              <a:rPr dirty="0"/>
              <a:t>, </a:t>
            </a:r>
            <a:r>
              <a:rPr dirty="0" err="1"/>
              <a:t>vertraging</a:t>
            </a:r>
            <a:r>
              <a:rPr dirty="0"/>
              <a:t>, </a:t>
            </a:r>
            <a:r>
              <a:rPr dirty="0" err="1"/>
              <a:t>richting</a:t>
            </a:r>
            <a:r>
              <a:rPr dirty="0"/>
              <a:t>).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dirty="0" err="1"/>
              <a:t>Rechts</a:t>
            </a:r>
            <a:r>
              <a:rPr dirty="0"/>
              <a:t>-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linkslopende</a:t>
            </a:r>
            <a:r>
              <a:rPr dirty="0"/>
              <a:t> </a:t>
            </a:r>
            <a:r>
              <a:rPr dirty="0" err="1"/>
              <a:t>golven</a:t>
            </a:r>
            <a:r>
              <a:rPr dirty="0"/>
              <a:t> </a:t>
            </a:r>
            <a:r>
              <a:rPr dirty="0" err="1"/>
              <a:t>onderscheiden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dirty="0" err="1"/>
              <a:t>Momentopnamegrafieken</a:t>
            </a:r>
            <a:r>
              <a:rPr dirty="0"/>
              <a:t> (</a:t>
            </a:r>
            <a:r>
              <a:rPr dirty="0" err="1"/>
              <a:t>constante</a:t>
            </a:r>
            <a:r>
              <a:rPr dirty="0"/>
              <a:t> </a:t>
            </a:r>
            <a:r>
              <a:rPr dirty="0" err="1"/>
              <a:t>tijd</a:t>
            </a:r>
            <a:r>
              <a:rPr dirty="0"/>
              <a:t>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tijdsgrafieken</a:t>
            </a:r>
            <a:r>
              <a:rPr dirty="0"/>
              <a:t> (</a:t>
            </a:r>
            <a:r>
              <a:rPr dirty="0" err="1"/>
              <a:t>constante</a:t>
            </a:r>
            <a:r>
              <a:rPr dirty="0"/>
              <a:t> </a:t>
            </a:r>
            <a:r>
              <a:rPr dirty="0" err="1"/>
              <a:t>plaats</a:t>
            </a:r>
            <a:r>
              <a:rPr dirty="0"/>
              <a:t>) </a:t>
            </a:r>
            <a:r>
              <a:rPr dirty="0" err="1"/>
              <a:t>lezen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dirty="0" err="1"/>
              <a:t>Golffronten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golfstralen</a:t>
            </a:r>
            <a:r>
              <a:rPr dirty="0"/>
              <a:t> </a:t>
            </a:r>
            <a:r>
              <a:rPr dirty="0" err="1"/>
              <a:t>uitleggen</a:t>
            </a:r>
            <a:r>
              <a:rPr dirty="0"/>
              <a:t> </a:t>
            </a:r>
            <a:r>
              <a:rPr dirty="0" err="1"/>
              <a:t>voor</a:t>
            </a:r>
            <a:r>
              <a:rPr dirty="0"/>
              <a:t> </a:t>
            </a:r>
            <a:r>
              <a:rPr dirty="0" err="1"/>
              <a:t>vlakke</a:t>
            </a:r>
            <a:r>
              <a:rPr dirty="0"/>
              <a:t>, </a:t>
            </a:r>
            <a:r>
              <a:rPr dirty="0" err="1"/>
              <a:t>cirkelvormige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bolvormige</a:t>
            </a:r>
            <a:r>
              <a:rPr dirty="0"/>
              <a:t> </a:t>
            </a:r>
            <a:r>
              <a:rPr dirty="0" err="1"/>
              <a:t>golven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dirty="0" err="1"/>
              <a:t>Intensiteit</a:t>
            </a:r>
            <a:r>
              <a:rPr dirty="0"/>
              <a:t> </a:t>
            </a:r>
            <a:r>
              <a:rPr dirty="0" err="1"/>
              <a:t>koppelen</a:t>
            </a:r>
            <a:r>
              <a:rPr dirty="0"/>
              <a:t> </a:t>
            </a:r>
            <a:r>
              <a:rPr dirty="0" err="1"/>
              <a:t>aan</a:t>
            </a:r>
            <a:r>
              <a:rPr dirty="0"/>
              <a:t> </a:t>
            </a:r>
            <a:r>
              <a:rPr dirty="0" err="1"/>
              <a:t>spreiding</a:t>
            </a:r>
            <a:r>
              <a:rPr dirty="0"/>
              <a:t> van </a:t>
            </a:r>
            <a:r>
              <a:rPr dirty="0" err="1"/>
              <a:t>energie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4719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Structuur</a:t>
            </a:r>
            <a:r>
              <a:rPr dirty="0"/>
              <a:t> van de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776"/>
            <a:ext cx="11234464" cy="5328592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/>
              <a:t>Wat is </a:t>
            </a:r>
            <a:r>
              <a:rPr sz="1400" b="1" dirty="0" err="1"/>
              <a:t>een</a:t>
            </a:r>
            <a:r>
              <a:rPr sz="1400" b="1" dirty="0"/>
              <a:t> storing?</a:t>
            </a:r>
            <a:r>
              <a:rPr sz="1400" dirty="0"/>
              <a:t> Puls, trilling, </a:t>
            </a:r>
            <a:r>
              <a:rPr sz="1400" dirty="0" err="1"/>
              <a:t>voorbeeldexperimenten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 err="1"/>
              <a:t>Voortplanting</a:t>
            </a:r>
            <a:r>
              <a:rPr sz="1400" b="1" dirty="0"/>
              <a:t> van </a:t>
            </a:r>
            <a:r>
              <a:rPr sz="1400" b="1" dirty="0" err="1"/>
              <a:t>een</a:t>
            </a:r>
            <a:r>
              <a:rPr sz="1400" b="1" dirty="0"/>
              <a:t> storing</a:t>
            </a:r>
            <a:r>
              <a:rPr sz="1400" dirty="0"/>
              <a:t> in </a:t>
            </a:r>
            <a:r>
              <a:rPr sz="1400" dirty="0" err="1"/>
              <a:t>touw</a:t>
            </a:r>
            <a:r>
              <a:rPr sz="1400" dirty="0"/>
              <a:t>, veer </a:t>
            </a:r>
            <a:r>
              <a:rPr sz="1400" dirty="0" err="1"/>
              <a:t>en</a:t>
            </a:r>
            <a:r>
              <a:rPr sz="1400" dirty="0"/>
              <a:t> water; </a:t>
            </a:r>
            <a:r>
              <a:rPr sz="1400" dirty="0" err="1"/>
              <a:t>energie-overdracht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 err="1"/>
              <a:t>Golfbak</a:t>
            </a:r>
            <a:r>
              <a:rPr sz="1400" dirty="0"/>
              <a:t> </a:t>
            </a:r>
            <a:r>
              <a:rPr sz="1400" dirty="0" err="1"/>
              <a:t>als</a:t>
            </a:r>
            <a:r>
              <a:rPr sz="1400" dirty="0"/>
              <a:t> </a:t>
            </a:r>
            <a:r>
              <a:rPr sz="1400" dirty="0" err="1"/>
              <a:t>visueel</a:t>
            </a:r>
            <a:r>
              <a:rPr sz="1400" dirty="0"/>
              <a:t> model.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 err="1"/>
              <a:t>Mechanische</a:t>
            </a:r>
            <a:r>
              <a:rPr sz="1400" b="1" dirty="0"/>
              <a:t> versus </a:t>
            </a:r>
            <a:r>
              <a:rPr sz="1400" b="1" dirty="0" err="1"/>
              <a:t>elektromagnetische</a:t>
            </a:r>
            <a:r>
              <a:rPr sz="1400" b="1" dirty="0"/>
              <a:t> </a:t>
            </a:r>
            <a:r>
              <a:rPr sz="1400" b="1" dirty="0" err="1"/>
              <a:t>golven</a:t>
            </a:r>
            <a:r>
              <a:rPr sz="1400" dirty="0"/>
              <a:t> — </a:t>
            </a:r>
            <a:r>
              <a:rPr sz="1400" dirty="0" err="1"/>
              <a:t>kenmerken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voorbeelden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 err="1"/>
              <a:t>Transversale</a:t>
            </a:r>
            <a:r>
              <a:rPr sz="1400" b="1" dirty="0"/>
              <a:t> </a:t>
            </a:r>
            <a:r>
              <a:rPr sz="1400" b="1" dirty="0" err="1"/>
              <a:t>en</a:t>
            </a:r>
            <a:r>
              <a:rPr sz="1400" b="1" dirty="0"/>
              <a:t> </a:t>
            </a:r>
            <a:r>
              <a:rPr sz="1400" b="1" dirty="0" err="1"/>
              <a:t>longitudinale</a:t>
            </a:r>
            <a:r>
              <a:rPr sz="1400" b="1" dirty="0"/>
              <a:t> </a:t>
            </a:r>
            <a:r>
              <a:rPr sz="1400" b="1" dirty="0" err="1"/>
              <a:t>golven</a:t>
            </a:r>
            <a:r>
              <a:rPr sz="1400" dirty="0"/>
              <a:t> — </a:t>
            </a:r>
            <a:r>
              <a:rPr sz="1400" dirty="0" err="1"/>
              <a:t>richting</a:t>
            </a:r>
            <a:r>
              <a:rPr sz="1400" dirty="0"/>
              <a:t> van </a:t>
            </a:r>
            <a:r>
              <a:rPr sz="1400" dirty="0" err="1"/>
              <a:t>trillen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voortplanting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 err="1"/>
              <a:t>Golflengte</a:t>
            </a:r>
            <a:r>
              <a:rPr sz="1400" b="1" dirty="0"/>
              <a:t>, </a:t>
            </a:r>
            <a:r>
              <a:rPr sz="1400" b="1" dirty="0" err="1"/>
              <a:t>frequentie</a:t>
            </a:r>
            <a:r>
              <a:rPr sz="1400" b="1" dirty="0"/>
              <a:t> &amp; </a:t>
            </a:r>
            <a:r>
              <a:rPr sz="1400" b="1" dirty="0" err="1"/>
              <a:t>periode</a:t>
            </a:r>
            <a:r>
              <a:rPr sz="1400" dirty="0"/>
              <a:t> — </a:t>
            </a:r>
            <a:r>
              <a:rPr sz="1400" dirty="0" err="1"/>
              <a:t>herkennen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meten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 err="1"/>
              <a:t>Snelheidsverband</a:t>
            </a:r>
            <a:r>
              <a:rPr sz="1400" b="1" dirty="0"/>
              <a:t> ( v = f )</a:t>
            </a:r>
            <a:r>
              <a:rPr sz="1400" dirty="0"/>
              <a:t> — </a:t>
            </a:r>
            <a:r>
              <a:rPr sz="1400" dirty="0" err="1"/>
              <a:t>verband</a:t>
            </a:r>
            <a:r>
              <a:rPr sz="1400" dirty="0"/>
              <a:t> </a:t>
            </a:r>
            <a:r>
              <a:rPr sz="1400" dirty="0" err="1"/>
              <a:t>tussen</a:t>
            </a:r>
            <a:r>
              <a:rPr sz="1400" dirty="0"/>
              <a:t> </a:t>
            </a:r>
            <a:r>
              <a:rPr sz="1400" dirty="0" err="1"/>
              <a:t>grootheden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/>
              <a:t>Fase &amp; in‑</a:t>
            </a:r>
            <a:r>
              <a:rPr sz="1400" b="1" dirty="0" err="1"/>
              <a:t>fase</a:t>
            </a:r>
            <a:r>
              <a:rPr sz="1400" b="1" dirty="0"/>
              <a:t> </a:t>
            </a:r>
            <a:r>
              <a:rPr sz="1400" b="1" dirty="0" err="1"/>
              <a:t>punten</a:t>
            </a:r>
            <a:r>
              <a:rPr sz="1400" dirty="0"/>
              <a:t> — </a:t>
            </a:r>
            <a:r>
              <a:rPr sz="1400" dirty="0" err="1"/>
              <a:t>interpretatie</a:t>
            </a:r>
            <a:r>
              <a:rPr sz="1400" dirty="0"/>
              <a:t> op </a:t>
            </a:r>
            <a:r>
              <a:rPr sz="1400" dirty="0" err="1"/>
              <a:t>grafieken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 err="1"/>
              <a:t>Algemene</a:t>
            </a:r>
            <a:r>
              <a:rPr sz="1400" b="1" dirty="0"/>
              <a:t> </a:t>
            </a:r>
            <a:r>
              <a:rPr sz="1400" b="1" dirty="0" err="1"/>
              <a:t>vergelijking</a:t>
            </a:r>
            <a:r>
              <a:rPr sz="1400" b="1" dirty="0"/>
              <a:t> van </a:t>
            </a:r>
            <a:r>
              <a:rPr sz="1400" b="1" dirty="0" err="1"/>
              <a:t>een</a:t>
            </a:r>
            <a:r>
              <a:rPr sz="1400" b="1" dirty="0"/>
              <a:t> </a:t>
            </a:r>
            <a:r>
              <a:rPr sz="1400" b="1" dirty="0" err="1"/>
              <a:t>lopende</a:t>
            </a:r>
            <a:r>
              <a:rPr sz="1400" b="1" dirty="0"/>
              <a:t> golf</a:t>
            </a:r>
            <a:r>
              <a:rPr sz="1400" dirty="0"/>
              <a:t> — </a:t>
            </a:r>
            <a:r>
              <a:rPr sz="1400" dirty="0" err="1"/>
              <a:t>faseverschuiving</a:t>
            </a:r>
            <a:r>
              <a:rPr sz="1400" dirty="0"/>
              <a:t>, </a:t>
            </a:r>
            <a:r>
              <a:rPr sz="1400" dirty="0" err="1"/>
              <a:t>richting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 err="1"/>
              <a:t>Rechtslopende</a:t>
            </a:r>
            <a:r>
              <a:rPr sz="1400" b="1" dirty="0"/>
              <a:t> </a:t>
            </a:r>
            <a:r>
              <a:rPr sz="1400" b="1" dirty="0" err="1"/>
              <a:t>en</a:t>
            </a:r>
            <a:r>
              <a:rPr sz="1400" b="1" dirty="0"/>
              <a:t> </a:t>
            </a:r>
            <a:r>
              <a:rPr sz="1400" b="1" dirty="0" err="1"/>
              <a:t>linkslopende</a:t>
            </a:r>
            <a:r>
              <a:rPr sz="1400" b="1" dirty="0"/>
              <a:t> </a:t>
            </a:r>
            <a:r>
              <a:rPr sz="1400" b="1" dirty="0" err="1"/>
              <a:t>golven</a:t>
            </a:r>
            <a:r>
              <a:rPr sz="1400" dirty="0"/>
              <a:t> — </a:t>
            </a:r>
            <a:r>
              <a:rPr sz="1400" dirty="0" err="1"/>
              <a:t>verschil</a:t>
            </a:r>
            <a:r>
              <a:rPr sz="1400" dirty="0"/>
              <a:t> in </a:t>
            </a:r>
            <a:r>
              <a:rPr sz="1400" dirty="0" err="1"/>
              <a:t>voortplanting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 err="1"/>
              <a:t>Momentopnames</a:t>
            </a:r>
            <a:r>
              <a:rPr sz="1400" b="1" dirty="0"/>
              <a:t> vs. </a:t>
            </a:r>
            <a:r>
              <a:rPr sz="1400" b="1" dirty="0" err="1"/>
              <a:t>tijdsverlopen</a:t>
            </a:r>
            <a:r>
              <a:rPr sz="1400" dirty="0"/>
              <a:t> — </a:t>
            </a:r>
            <a:r>
              <a:rPr sz="1400" dirty="0" err="1"/>
              <a:t>grafiekinterpretatie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 err="1"/>
              <a:t>Golffronten</a:t>
            </a:r>
            <a:r>
              <a:rPr sz="1400" b="1" dirty="0"/>
              <a:t> </a:t>
            </a:r>
            <a:r>
              <a:rPr sz="1400" b="1" dirty="0" err="1"/>
              <a:t>en</a:t>
            </a:r>
            <a:r>
              <a:rPr sz="1400" b="1" dirty="0"/>
              <a:t> </a:t>
            </a:r>
            <a:r>
              <a:rPr sz="1400" b="1" dirty="0" err="1"/>
              <a:t>golfstralen</a:t>
            </a:r>
            <a:r>
              <a:rPr sz="1400" dirty="0"/>
              <a:t> — </a:t>
            </a:r>
            <a:r>
              <a:rPr sz="1400" dirty="0" err="1"/>
              <a:t>vlak</a:t>
            </a:r>
            <a:r>
              <a:rPr sz="1400" dirty="0"/>
              <a:t>, </a:t>
            </a:r>
            <a:r>
              <a:rPr sz="1400" dirty="0" err="1"/>
              <a:t>cirkelvormig</a:t>
            </a:r>
            <a:r>
              <a:rPr sz="1400" dirty="0"/>
              <a:t>, </a:t>
            </a:r>
            <a:r>
              <a:rPr sz="1400" dirty="0" err="1"/>
              <a:t>bolvormig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 err="1"/>
              <a:t>Intensiteit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energieverdeling</a:t>
            </a:r>
            <a:r>
              <a:rPr sz="1400" dirty="0"/>
              <a:t> </a:t>
            </a:r>
            <a:r>
              <a:rPr sz="1400" dirty="0" err="1"/>
              <a:t>bij</a:t>
            </a:r>
            <a:r>
              <a:rPr sz="1400" dirty="0"/>
              <a:t> </a:t>
            </a:r>
            <a:r>
              <a:rPr sz="1400" dirty="0" err="1"/>
              <a:t>verschillende</a:t>
            </a:r>
            <a:r>
              <a:rPr sz="1400" dirty="0"/>
              <a:t> </a:t>
            </a:r>
            <a:r>
              <a:rPr sz="1400" dirty="0" err="1"/>
              <a:t>golftypes</a:t>
            </a:r>
            <a:r>
              <a:rPr sz="1400" dirty="0"/>
              <a:t>.</a:t>
            </a:r>
            <a:br>
              <a:rPr sz="1400" dirty="0"/>
            </a:br>
            <a:endParaRPr sz="1400" dirty="0"/>
          </a:p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sz="1400" b="1" dirty="0" err="1"/>
              <a:t>Oefeningen</a:t>
            </a:r>
            <a:r>
              <a:rPr sz="1400" b="1" dirty="0"/>
              <a:t> </a:t>
            </a:r>
            <a:r>
              <a:rPr sz="1400" b="1" dirty="0" err="1"/>
              <a:t>en</a:t>
            </a:r>
            <a:r>
              <a:rPr sz="1400" b="1" dirty="0"/>
              <a:t> </a:t>
            </a:r>
            <a:r>
              <a:rPr sz="1400" b="1" dirty="0" err="1"/>
              <a:t>toepassingen</a:t>
            </a:r>
            <a:r>
              <a:rPr sz="1400" dirty="0"/>
              <a:t> — </a:t>
            </a:r>
            <a:r>
              <a:rPr sz="1400" dirty="0" err="1"/>
              <a:t>opdrachten</a:t>
            </a:r>
            <a:r>
              <a:rPr sz="1400" dirty="0"/>
              <a:t> 1 </a:t>
            </a:r>
            <a:r>
              <a:rPr sz="1400" dirty="0" err="1"/>
              <a:t>t.e.m.</a:t>
            </a:r>
            <a:r>
              <a:rPr sz="1400" dirty="0"/>
              <a:t> 8.</a:t>
            </a:r>
          </a:p>
        </p:txBody>
      </p:sp>
    </p:spTree>
    <p:extLst>
      <p:ext uri="{BB962C8B-B14F-4D97-AF65-F5344CB8AC3E}">
        <p14:creationId xmlns:p14="http://schemas.microsoft.com/office/powerpoint/2010/main" val="233488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0"/>
            <a:ext cx="854075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dirty="0"/>
              <a:t>Voortplanting van een storing</a:t>
            </a:r>
          </a:p>
        </p:txBody>
      </p:sp>
      <p:sp>
        <p:nvSpPr>
          <p:cNvPr id="2355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932632" y="1232682"/>
            <a:ext cx="10225136" cy="5256236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sz="3200" dirty="0"/>
              <a:t>Een storing zal zich in een middenstof voortplanten met een eindige snelheid.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sz="3200" dirty="0"/>
              <a:t>Proef: </a:t>
            </a:r>
          </a:p>
          <a:p>
            <a:pPr lvl="1" eaLnBrk="1" hangingPunct="1">
              <a:defRPr/>
            </a:pPr>
            <a:r>
              <a:rPr lang="nl-BE" sz="2800" dirty="0"/>
              <a:t>voortplanting van een storing in een touw</a:t>
            </a:r>
          </a:p>
          <a:p>
            <a:pPr lvl="1" eaLnBrk="1" hangingPunct="1">
              <a:defRPr/>
            </a:pPr>
            <a:r>
              <a:rPr lang="nl-BE" sz="2800" dirty="0"/>
              <a:t>eindige voortplantingssnelheid</a:t>
            </a:r>
          </a:p>
        </p:txBody>
      </p:sp>
      <p:pic>
        <p:nvPicPr>
          <p:cNvPr id="410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763" y="3860800"/>
            <a:ext cx="2627312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00013"/>
            <a:ext cx="8540750" cy="114300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altLang="nl-BE"/>
              <a:t>Voortplanting van een storing</a:t>
            </a:r>
            <a:endParaRPr lang="nl-NL" altLang="nl-BE"/>
          </a:p>
        </p:txBody>
      </p:sp>
      <p:sp>
        <p:nvSpPr>
          <p:cNvPr id="5325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591944" y="1498230"/>
            <a:ext cx="5832648" cy="417512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sz="2800" dirty="0"/>
              <a:t>Puls (verdichting) aan één uiteinde van een lange spiraalvormige veer.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sz="2800" dirty="0"/>
              <a:t>Verdichting plant zich doorheen de veer voort.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sz="2800" dirty="0"/>
              <a:t>Hoe verder van B, hoe later de verdichting ontstaat.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NL" altLang="nl-BE" sz="2800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266032"/>
            <a:ext cx="3760788" cy="402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673355"/>
            <a:ext cx="91440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Voortplanting van een storing</a:t>
            </a:r>
            <a:endParaRPr lang="nl-NL" altLang="nl-BE"/>
          </a:p>
        </p:txBody>
      </p:sp>
      <p:sp>
        <p:nvSpPr>
          <p:cNvPr id="5427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519936" y="2852936"/>
            <a:ext cx="6193904" cy="44989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Neervallende druppels veroorzaken storingen die zich radiaal met eindige snelheid voortplanten. 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Snelheid in alle richtingen even groot.</a:t>
            </a:r>
            <a:endParaRPr lang="nl-NL" altLang="nl-BE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16832"/>
            <a:ext cx="3424238" cy="340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26988"/>
            <a:ext cx="8540750" cy="1143001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Voortplanting van een trilling</a:t>
            </a:r>
            <a:endParaRPr lang="nl-NL" altLang="nl-BE"/>
          </a:p>
        </p:txBody>
      </p:sp>
      <p:sp>
        <p:nvSpPr>
          <p:cNvPr id="5529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695400" y="1600201"/>
            <a:ext cx="7488163" cy="492442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De in B veroorzaakte trilling wordt van punt tot punt doorgegeven;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geleidelijk komen alle punten in trilling: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loodrecht op de voortplantingsrichting van de trilling.</a:t>
            </a:r>
            <a:endParaRPr lang="nl-NL" altLang="nl-BE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280" y="980728"/>
            <a:ext cx="2411412" cy="568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47850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Voortplanting van een trilling</a:t>
            </a:r>
            <a:endParaRPr lang="nl-NL" altLang="nl-BE"/>
          </a:p>
        </p:txBody>
      </p:sp>
      <p:sp>
        <p:nvSpPr>
          <p:cNvPr id="5632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623392" y="1368426"/>
            <a:ext cx="6768008" cy="501332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Als er rond B regelmatig verdichtingen en verdunningen ontstaan, zullen er rond iedere doorsnede van de veer regelmatige verdichtingen en verdunningen ontstaan.</a:t>
            </a:r>
          </a:p>
          <a:p>
            <a:pPr marL="0" indent="0" eaLnBrk="1" hangingPunct="1">
              <a:buNone/>
              <a:defRPr/>
            </a:pPr>
            <a:endParaRPr lang="nl-BE" altLang="nl-BE" dirty="0"/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Trilrichting valt samen met voortplantingsrichting.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NL" altLang="nl-BE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1" r="2364"/>
          <a:stretch>
            <a:fillRect/>
          </a:stretch>
        </p:blipFill>
        <p:spPr bwMode="auto">
          <a:xfrm>
            <a:off x="7824192" y="1556792"/>
            <a:ext cx="296545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00013"/>
            <a:ext cx="8540750" cy="1143001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Golfbak</a:t>
            </a:r>
            <a:endParaRPr lang="nl-NL" altLang="nl-BE"/>
          </a:p>
        </p:txBody>
      </p:sp>
      <p:sp>
        <p:nvSpPr>
          <p:cNvPr id="5734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15380" y="1179512"/>
            <a:ext cx="11161240" cy="44989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Ondiepe bak, gedeeltelijk met water gevuld;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absorberende stof aan de randen om te beletten dat terugkaatsing zou optreden;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staafvormige of puntvormige trillingsbron voert een HT uit en raakt regelmatig het wateroppervlak;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beweging van het wateroppervlak wordt op scherm geprojecteerd.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NL" altLang="nl-BE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804" y="4221088"/>
            <a:ext cx="3528392" cy="2383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Golfbak</a:t>
            </a:r>
            <a:endParaRPr lang="nl-NL" altLang="nl-BE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1052736"/>
            <a:ext cx="10187929" cy="542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Voortplanting van een trilling</a:t>
            </a:r>
            <a:endParaRPr lang="nl-NL" altLang="nl-BE"/>
          </a:p>
        </p:txBody>
      </p:sp>
      <p:sp>
        <p:nvSpPr>
          <p:cNvPr id="5939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43" y="2420888"/>
            <a:ext cx="11398713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53975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/>
              <a:t>Voortplanting van een trilling</a:t>
            </a:r>
            <a:endParaRPr lang="nl-NL"/>
          </a:p>
        </p:txBody>
      </p:sp>
      <p:sp>
        <p:nvSpPr>
          <p:cNvPr id="60422" name="Rectangle 6"/>
          <p:cNvSpPr>
            <a:spLocks noGrp="1" noRot="1" noChangeArrowheads="1"/>
          </p:cNvSpPr>
          <p:nvPr>
            <p:ph idx="1"/>
          </p:nvPr>
        </p:nvSpPr>
        <p:spPr>
          <a:xfrm>
            <a:off x="839416" y="1377951"/>
            <a:ext cx="9476159" cy="44989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nl-BE" sz="4000" dirty="0"/>
              <a:t>Lopende golf:</a:t>
            </a:r>
          </a:p>
          <a:p>
            <a:pPr lvl="1" eaLnBrk="1" hangingPunct="1">
              <a:defRPr/>
            </a:pPr>
            <a:r>
              <a:rPr lang="nl-BE" sz="3600" dirty="0"/>
              <a:t>Trilling die zich in middenstof voortplant. </a:t>
            </a:r>
          </a:p>
          <a:p>
            <a:pPr eaLnBrk="1" hangingPunct="1">
              <a:defRPr/>
            </a:pPr>
            <a:r>
              <a:rPr lang="nl-BE" sz="4000" dirty="0"/>
              <a:t>Golfsnelheid (v):</a:t>
            </a:r>
          </a:p>
          <a:p>
            <a:pPr lvl="1" eaLnBrk="1" hangingPunct="1">
              <a:defRPr/>
            </a:pPr>
            <a:r>
              <a:rPr lang="nl-BE" sz="3600" dirty="0"/>
              <a:t>Snelheid waarmee trilling zich voortplant.</a:t>
            </a:r>
          </a:p>
        </p:txBody>
      </p:sp>
    </p:spTree>
    <p:extLst>
      <p:ext uri="{BB962C8B-B14F-4D97-AF65-F5344CB8AC3E}">
        <p14:creationId xmlns:p14="http://schemas.microsoft.com/office/powerpoint/2010/main" val="1901423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dirty="0"/>
              <a:t>Voortplanting van een trilling</a:t>
            </a:r>
          </a:p>
        </p:txBody>
      </p:sp>
      <p:sp>
        <p:nvSpPr>
          <p:cNvPr id="6246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sz="3200" dirty="0"/>
              <a:t>Proef: Papiersnippers (of stukjes kurk) op water.</a:t>
            </a:r>
          </a:p>
          <a:p>
            <a:pPr lvl="1" eaLnBrk="1" hangingPunct="1">
              <a:defRPr/>
            </a:pPr>
            <a:r>
              <a:rPr lang="nl-BE" sz="2800" dirty="0"/>
              <a:t>steentje in water gegooid → papiersnippers bewegen op wateroppervlak. </a:t>
            </a:r>
          </a:p>
          <a:p>
            <a:pPr lvl="1" eaLnBrk="1" hangingPunct="1">
              <a:defRPr/>
            </a:pPr>
            <a:r>
              <a:rPr lang="nl-BE" sz="2800" dirty="0"/>
              <a:t>Starten niet allemaal even snel met bewegen.</a:t>
            </a:r>
          </a:p>
          <a:p>
            <a:pPr lvl="1" eaLnBrk="1" hangingPunct="1">
              <a:defRPr/>
            </a:pPr>
            <a:r>
              <a:rPr lang="nl-BE" sz="2800" dirty="0"/>
              <a:t>Hoe verder van trillingsbron, hoe later</a:t>
            </a:r>
            <a:r>
              <a:rPr lang="nl-BE" sz="2800" dirty="0">
                <a:sym typeface="Symbol" pitchFamily="18" charset="2"/>
              </a:rPr>
              <a:t> beweging start.</a:t>
            </a:r>
          </a:p>
        </p:txBody>
      </p:sp>
    </p:spTree>
    <p:extLst>
      <p:ext uri="{BB962C8B-B14F-4D97-AF65-F5344CB8AC3E}">
        <p14:creationId xmlns:p14="http://schemas.microsoft.com/office/powerpoint/2010/main" val="3548164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sz="4000"/>
              <a:t>Voortplanting van een trilling: energieoverdracht </a:t>
            </a:r>
            <a:endParaRPr lang="nl-NL" sz="4000"/>
          </a:p>
        </p:txBody>
      </p:sp>
      <p:sp>
        <p:nvSpPr>
          <p:cNvPr id="61443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D.m.v. golf kan energie overgedragen worden van één punt van ruimte naar ander punt.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Voortplantingsrichting van golf geeft richting aan waarin energie zich voortplant.</a:t>
            </a:r>
            <a:endParaRPr lang="nl-NL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365625"/>
            <a:ext cx="3240088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4071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47850" y="0"/>
            <a:ext cx="854075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sz="4000"/>
              <a:t>Mechanische golven en elektromagnetische golven</a:t>
            </a:r>
          </a:p>
        </p:txBody>
      </p:sp>
      <p:sp>
        <p:nvSpPr>
          <p:cNvPr id="65539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407368" y="1268414"/>
            <a:ext cx="10260632" cy="44989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sz="2800" dirty="0"/>
              <a:t>Mechanische golven:</a:t>
            </a:r>
          </a:p>
          <a:p>
            <a:pPr lvl="1" eaLnBrk="1" hangingPunct="1">
              <a:defRPr/>
            </a:pPr>
            <a:r>
              <a:rPr lang="nl-BE" sz="2400" dirty="0"/>
              <a:t>Hebben middenstof nodig om zich te kunnen voortplanten.</a:t>
            </a:r>
          </a:p>
          <a:p>
            <a:pPr lvl="1" eaLnBrk="1" hangingPunct="1">
              <a:defRPr/>
            </a:pPr>
            <a:r>
              <a:rPr lang="nl-BE" sz="2400" dirty="0"/>
              <a:t>Vb.: geluidsgolven, watergolven, golven op een touw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sz="2800" dirty="0"/>
              <a:t>Elektromagnetische golven </a:t>
            </a:r>
          </a:p>
          <a:p>
            <a:pPr lvl="1" eaLnBrk="1" hangingPunct="1">
              <a:defRPr/>
            </a:pPr>
            <a:r>
              <a:rPr lang="nl-BE" sz="2400" dirty="0"/>
              <a:t>Hebben geen middenstof nodig om zich te kunnen voortplanten.</a:t>
            </a:r>
          </a:p>
          <a:p>
            <a:pPr lvl="1" eaLnBrk="1" hangingPunct="1">
              <a:defRPr/>
            </a:pPr>
            <a:r>
              <a:rPr lang="nl-BE" sz="2400" dirty="0"/>
              <a:t>Licht, IR, UV, radiogolven </a:t>
            </a:r>
          </a:p>
        </p:txBody>
      </p:sp>
      <p:pic>
        <p:nvPicPr>
          <p:cNvPr id="1638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60" y="3429000"/>
            <a:ext cx="4652640" cy="314999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877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47850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sz="4000"/>
              <a:t>Transversale en longitudinale golven</a:t>
            </a:r>
          </a:p>
        </p:txBody>
      </p:sp>
      <p:sp>
        <p:nvSpPr>
          <p:cNvPr id="6656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51384" y="1125539"/>
            <a:ext cx="9814992" cy="5111773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sz="3600" dirty="0"/>
              <a:t>Transversale golven:</a:t>
            </a:r>
          </a:p>
          <a:p>
            <a:pPr lvl="1" eaLnBrk="1" hangingPunct="1">
              <a:defRPr/>
            </a:pPr>
            <a:r>
              <a:rPr lang="nl-BE" sz="3200" dirty="0"/>
              <a:t>Trilrichting staat loodrecht </a:t>
            </a:r>
            <a:br>
              <a:rPr lang="nl-BE" sz="3200" dirty="0"/>
            </a:br>
            <a:r>
              <a:rPr lang="nl-BE" sz="3200" dirty="0"/>
              <a:t>op voortplantingsrichting.</a:t>
            </a:r>
          </a:p>
          <a:p>
            <a:pPr lvl="1" eaLnBrk="1" hangingPunct="1">
              <a:defRPr/>
            </a:pPr>
            <a:r>
              <a:rPr lang="nl-BE" sz="3200" dirty="0"/>
              <a:t>Vb.: golfbeweging van touw, </a:t>
            </a:r>
            <a:br>
              <a:rPr lang="nl-BE" sz="3200" dirty="0"/>
            </a:br>
            <a:r>
              <a:rPr lang="nl-BE" sz="3200" dirty="0"/>
              <a:t>elektromagnetische golven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sz="3600" dirty="0"/>
              <a:t>Longitudinale golven:</a:t>
            </a:r>
          </a:p>
          <a:p>
            <a:pPr lvl="1" eaLnBrk="1" hangingPunct="1">
              <a:defRPr/>
            </a:pPr>
            <a:r>
              <a:rPr lang="nl-BE" sz="3200" dirty="0"/>
              <a:t>Trilrichting valt samen </a:t>
            </a:r>
            <a:br>
              <a:rPr lang="nl-BE" sz="3200" dirty="0"/>
            </a:br>
            <a:r>
              <a:rPr lang="nl-BE" sz="3200" dirty="0"/>
              <a:t>met voortplantingsrichting.</a:t>
            </a:r>
          </a:p>
          <a:p>
            <a:pPr lvl="1" eaLnBrk="1" hangingPunct="1">
              <a:defRPr/>
            </a:pPr>
            <a:r>
              <a:rPr lang="nl-BE" sz="3200" dirty="0"/>
              <a:t>Vb.: geluidsgolven</a:t>
            </a: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6" y="3789364"/>
            <a:ext cx="277177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614" y="1052513"/>
            <a:ext cx="2592387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Rectangle 6">
            <a:hlinkClick r:id="rId4"/>
          </p:cNvPr>
          <p:cNvSpPr>
            <a:spLocks noChangeArrowheads="1"/>
          </p:cNvSpPr>
          <p:nvPr/>
        </p:nvSpPr>
        <p:spPr bwMode="auto">
          <a:xfrm>
            <a:off x="9120188" y="3357563"/>
            <a:ext cx="8239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nl-NL" altLang="nl-BE" sz="1800"/>
              <a:t>Applet</a:t>
            </a:r>
          </a:p>
        </p:txBody>
      </p:sp>
    </p:spTree>
    <p:extLst>
      <p:ext uri="{BB962C8B-B14F-4D97-AF65-F5344CB8AC3E}">
        <p14:creationId xmlns:p14="http://schemas.microsoft.com/office/powerpoint/2010/main" val="477126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24000" y="125413"/>
            <a:ext cx="91440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sz="4000"/>
              <a:t>Transversale en longitudinale golven: Opmerkingen</a:t>
            </a:r>
          </a:p>
        </p:txBody>
      </p:sp>
      <p:sp>
        <p:nvSpPr>
          <p:cNvPr id="6963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79376" y="1666876"/>
            <a:ext cx="11017224" cy="44989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1800"/>
              </a:spcBef>
              <a:buFont typeface="Arial" charset="0"/>
              <a:buChar char="►"/>
              <a:defRPr/>
            </a:pPr>
            <a:r>
              <a:rPr lang="nl-BE" dirty="0"/>
              <a:t>Trilrichting → richting waarin trilling gebeurt.</a:t>
            </a:r>
          </a:p>
          <a:p>
            <a:pPr eaLnBrk="1" hangingPunct="1">
              <a:lnSpc>
                <a:spcPct val="100000"/>
              </a:lnSpc>
              <a:spcBef>
                <a:spcPts val="1800"/>
              </a:spcBef>
              <a:buFont typeface="Arial" charset="0"/>
              <a:buChar char="►"/>
              <a:defRPr/>
            </a:pPr>
            <a:r>
              <a:rPr lang="nl-BE" dirty="0"/>
              <a:t>Voortplantingsrichting → richting waarin energie zich voortplant.</a:t>
            </a:r>
          </a:p>
          <a:p>
            <a:pPr eaLnBrk="1" hangingPunct="1">
              <a:lnSpc>
                <a:spcPct val="100000"/>
              </a:lnSpc>
              <a:spcBef>
                <a:spcPts val="1800"/>
              </a:spcBef>
              <a:buFont typeface="Arial" charset="0"/>
              <a:buChar char="►"/>
              <a:defRPr/>
            </a:pPr>
            <a:r>
              <a:rPr lang="nl-BE" dirty="0"/>
              <a:t>Golven waarbij de bron een HT uitvoert zijn harmonische golven.</a:t>
            </a:r>
          </a:p>
        </p:txBody>
      </p:sp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1" y="4492625"/>
            <a:ext cx="2449513" cy="216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/>
              <a:t>Golflengte (</a:t>
            </a:r>
            <a:r>
              <a:rPr lang="el-GR">
                <a:cs typeface="Tahoma" pitchFamily="34" charset="0"/>
              </a:rPr>
              <a:t>λ</a:t>
            </a:r>
            <a:r>
              <a:rPr lang="nl-BE">
                <a:cs typeface="Tahoma" pitchFamily="34" charset="0"/>
              </a:rPr>
              <a:t>) fig</a:t>
            </a:r>
            <a:endParaRPr lang="el-GR">
              <a:cs typeface="Tahoma" pitchFamily="34" charset="0"/>
            </a:endParaRPr>
          </a:p>
        </p:txBody>
      </p:sp>
      <p:sp>
        <p:nvSpPr>
          <p:cNvPr id="67587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839416" y="1360487"/>
            <a:ext cx="10801200" cy="44989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" charset="0"/>
              <a:buChar char="►"/>
              <a:defRPr/>
            </a:pPr>
            <a:r>
              <a:rPr lang="nl-BE" sz="2800" dirty="0"/>
              <a:t>Golflengte </a:t>
            </a:r>
            <a:r>
              <a:rPr lang="el-GR" sz="2800" dirty="0">
                <a:cs typeface="Tahoma" pitchFamily="34" charset="0"/>
              </a:rPr>
              <a:t>λ</a:t>
            </a:r>
            <a:r>
              <a:rPr lang="nl-BE" sz="2800" dirty="0">
                <a:cs typeface="Tahoma" pitchFamily="34" charset="0"/>
              </a:rPr>
              <a:t> </a:t>
            </a:r>
            <a:r>
              <a:rPr lang="nl-BE" sz="2800" dirty="0" err="1">
                <a:cs typeface="Tahoma" pitchFamily="34" charset="0"/>
              </a:rPr>
              <a:t>lambda</a:t>
            </a:r>
            <a:r>
              <a:rPr lang="nl-BE" sz="2800" dirty="0">
                <a:cs typeface="Tahoma" pitchFamily="34" charset="0"/>
              </a:rPr>
              <a:t> is afstand waarover storing zich voortplant gedurende 1 volledige trilling van bron.</a:t>
            </a: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" charset="0"/>
              <a:buChar char="►"/>
              <a:defRPr/>
            </a:pPr>
            <a:r>
              <a:rPr lang="nl-BE" sz="2800" dirty="0">
                <a:cs typeface="Tahoma" pitchFamily="34" charset="0"/>
              </a:rPr>
              <a:t>Golflengte: afstand tussen 2 punten die in fase trillen.</a:t>
            </a: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" charset="0"/>
              <a:buChar char="►"/>
              <a:defRPr/>
            </a:pPr>
            <a:r>
              <a:rPr lang="nl-BE" sz="2800" dirty="0">
                <a:cs typeface="Tahoma" pitchFamily="34" charset="0"/>
              </a:rPr>
              <a:t>Verbanden tussen verschillende grootheden:</a:t>
            </a:r>
          </a:p>
        </p:txBody>
      </p:sp>
      <p:graphicFrame>
        <p:nvGraphicFramePr>
          <p:cNvPr id="1946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503613" y="3933825"/>
          <a:ext cx="2176462" cy="292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812447" imgH="1091726" progId="Equation.3">
                  <p:embed/>
                </p:oleObj>
              </mc:Choice>
              <mc:Fallback>
                <p:oleObj name="Vergelijking" r:id="rId2" imgW="812447" imgH="1091726" progId="Equation.3">
                  <p:embed/>
                  <p:pic>
                    <p:nvPicPr>
                      <p:cNvPr id="19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3933825"/>
                        <a:ext cx="2176462" cy="292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6383339" y="4581525"/>
            <a:ext cx="3779837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nl-BE"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  <a:t>v = voortplantingssnelheid</a:t>
            </a:r>
            <a:br>
              <a:rPr lang="nl-BE"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</a:br>
            <a:r>
              <a:rPr lang="nl-BE"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  <a:t>T = periode</a:t>
            </a:r>
            <a:br>
              <a:rPr lang="nl-BE"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</a:br>
            <a:r>
              <a:rPr lang="nl-BE"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  <a:t>f = frequentie</a:t>
            </a:r>
          </a:p>
        </p:txBody>
      </p:sp>
    </p:spTree>
    <p:extLst>
      <p:ext uri="{BB962C8B-B14F-4D97-AF65-F5344CB8AC3E}">
        <p14:creationId xmlns:p14="http://schemas.microsoft.com/office/powerpoint/2010/main" val="560346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Golflengte (</a:t>
            </a:r>
            <a:r>
              <a:rPr lang="el-GR" altLang="nl-BE">
                <a:cs typeface="Tahoma" pitchFamily="34" charset="0"/>
              </a:rPr>
              <a:t>λ</a:t>
            </a:r>
            <a:r>
              <a:rPr lang="nl-BE" altLang="nl-BE">
                <a:cs typeface="Tahoma" pitchFamily="34" charset="0"/>
              </a:rPr>
              <a:t>) fig</a:t>
            </a:r>
            <a:endParaRPr lang="el-GR" altLang="nl-BE">
              <a:cs typeface="Tahoma" pitchFamily="34" charset="0"/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1143000"/>
            <a:ext cx="5517273" cy="487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1" y="2852739"/>
            <a:ext cx="5312114" cy="2448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00013"/>
            <a:ext cx="8540750" cy="1143001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Golflengte</a:t>
            </a:r>
            <a:endParaRPr lang="nl-NL" altLang="nl-BE"/>
          </a:p>
        </p:txBody>
      </p:sp>
      <p:sp>
        <p:nvSpPr>
          <p:cNvPr id="63491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6" y="1052514"/>
            <a:ext cx="5197475" cy="554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sz="4000"/>
              <a:t>Algemene uitdrukking van de lopende golf</a:t>
            </a:r>
            <a:endParaRPr lang="nl-NL" altLang="nl-BE" sz="4000"/>
          </a:p>
        </p:txBody>
      </p:sp>
      <p:sp>
        <p:nvSpPr>
          <p:cNvPr id="73731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/>
              <a:t>Uitwijking van de trillingsbron (O):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/>
              <a:t>Indien geen demping: in P dezelfde uitwijking als in O, maar later.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/>
              <a:t>‘t is de tijd waarin de storing zich van O tot P voortplant: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None/>
              <a:defRPr/>
            </a:pPr>
            <a:endParaRPr lang="nl-NL" altLang="nl-BE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1" y="2492375"/>
            <a:ext cx="297497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789" y="2205039"/>
            <a:ext cx="2592387" cy="110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5" y="5300663"/>
            <a:ext cx="12382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43025" y="-306388"/>
            <a:ext cx="9505950" cy="1143001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sz="3800"/>
              <a:t>Algemene uitdrukking van de lopende golf</a:t>
            </a:r>
            <a:endParaRPr lang="nl-NL" altLang="nl-BE" sz="3800"/>
          </a:p>
        </p:txBody>
      </p:sp>
      <p:sp>
        <p:nvSpPr>
          <p:cNvPr id="7475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71" y="495300"/>
            <a:ext cx="6781800" cy="636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24000" y="228600"/>
            <a:ext cx="91440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sz="4000" dirty="0"/>
              <a:t>Golfgetal (k)</a:t>
            </a:r>
            <a:br>
              <a:rPr lang="nl-BE" sz="4000" dirty="0"/>
            </a:br>
            <a:r>
              <a:rPr lang="nl-BE" sz="4000" dirty="0"/>
              <a:t> </a:t>
            </a:r>
            <a:r>
              <a:rPr lang="nl-BE" sz="4000" i="1" dirty="0"/>
              <a:t>(niet verwarren met veerconstante!!)</a:t>
            </a:r>
          </a:p>
        </p:txBody>
      </p:sp>
      <p:sp>
        <p:nvSpPr>
          <p:cNvPr id="71683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767408" y="1600201"/>
            <a:ext cx="11017224" cy="5257799"/>
          </a:xfrm>
        </p:spPr>
        <p:txBody>
          <a:bodyPr/>
          <a:lstStyle/>
          <a:p>
            <a:pPr eaLnBrk="1" hangingPunct="1">
              <a:spcBef>
                <a:spcPts val="1800"/>
              </a:spcBef>
              <a:buFont typeface="Arial" charset="0"/>
              <a:buChar char="►"/>
              <a:defRPr/>
            </a:pPr>
            <a:r>
              <a:rPr lang="nl-BE" sz="2800" dirty="0"/>
              <a:t>De grootheid k wordt het golfgetal genoemd. </a:t>
            </a:r>
          </a:p>
          <a:p>
            <a:pPr eaLnBrk="1" hangingPunct="1">
              <a:spcBef>
                <a:spcPts val="1800"/>
              </a:spcBef>
              <a:buFont typeface="Arial" charset="0"/>
              <a:buChar char="►"/>
              <a:defRPr/>
            </a:pPr>
            <a:r>
              <a:rPr lang="nl-BE" sz="2800" dirty="0"/>
              <a:t>k kan geschreven worden in functie van de golflengte of in functie van de golfsnelheid en de pulsatie van de golf:</a:t>
            </a:r>
          </a:p>
        </p:txBody>
      </p:sp>
      <p:graphicFrame>
        <p:nvGraphicFramePr>
          <p:cNvPr id="2458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792538" y="3789363"/>
          <a:ext cx="4192587" cy="266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1600200" imgH="1016000" progId="Equation.3">
                  <p:embed/>
                </p:oleObj>
              </mc:Choice>
              <mc:Fallback>
                <p:oleObj name="Vergelijking" r:id="rId2" imgW="1600200" imgH="1016000" progId="Equation.3">
                  <p:embed/>
                  <p:pic>
                    <p:nvPicPr>
                      <p:cNvPr id="245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3789363"/>
                        <a:ext cx="4192587" cy="266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24000" y="2286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sz="4000"/>
              <a:t>Rechtslopende en linkslopende golven</a:t>
            </a:r>
          </a:p>
        </p:txBody>
      </p:sp>
      <p:sp>
        <p:nvSpPr>
          <p:cNvPr id="72707" name="Rectangle 3"/>
          <p:cNvSpPr>
            <a:spLocks noGrp="1" noRot="1" noChangeArrowheads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sz="3200" dirty="0" err="1"/>
              <a:t>Rechtslopende</a:t>
            </a:r>
            <a:r>
              <a:rPr lang="nl-BE" altLang="nl-BE" sz="3200" dirty="0"/>
              <a:t> golf: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altLang="nl-BE" sz="3200" dirty="0"/>
          </a:p>
          <a:p>
            <a:pPr eaLnBrk="1" hangingPunct="1">
              <a:buFont typeface="Arial" charset="0"/>
              <a:buChar char="►"/>
              <a:defRPr/>
            </a:pPr>
            <a:endParaRPr lang="nl-BE" altLang="nl-BE" sz="3200" dirty="0"/>
          </a:p>
          <a:p>
            <a:pPr eaLnBrk="1" hangingPunct="1">
              <a:buFont typeface="Arial" charset="0"/>
              <a:buNone/>
              <a:defRPr/>
            </a:pPr>
            <a:endParaRPr lang="nl-BE" altLang="nl-BE" sz="3200" dirty="0"/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sz="3200" dirty="0"/>
              <a:t>Linkslopende golf:</a:t>
            </a:r>
          </a:p>
        </p:txBody>
      </p:sp>
      <p:graphicFrame>
        <p:nvGraphicFramePr>
          <p:cNvPr id="2560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303838" y="2584450"/>
          <a:ext cx="3530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1129810" imgH="203112" progId="Equation.3">
                  <p:embed/>
                </p:oleObj>
              </mc:Choice>
              <mc:Fallback>
                <p:oleObj name="Vergelijking" r:id="rId2" imgW="1129810" imgH="203112" progId="Equation.3">
                  <p:embed/>
                  <p:pic>
                    <p:nvPicPr>
                      <p:cNvPr id="256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2584450"/>
                        <a:ext cx="35306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303838" y="4910138"/>
          <a:ext cx="3530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1129810" imgH="203112" progId="Equation.3">
                  <p:embed/>
                </p:oleObj>
              </mc:Choice>
              <mc:Fallback>
                <p:oleObj name="Vergelijking" r:id="rId4" imgW="1129810" imgH="203112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4910138"/>
                        <a:ext cx="35306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166BB-09CA-F665-B681-76D6C4C81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EINDE 25/3/26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7D4A8D0-D0DC-9DEC-A105-C9A44E67DE8D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832D222-F7B5-0652-9156-8BDBDC02528C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3990B508-5402-D37D-F4B1-27152F0A59CF}"/>
              </a:ext>
            </a:extLst>
          </p:cNvPr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7260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sz="4000"/>
              <a:t>Algemene uitdrukking van de lopende golf: constante plaats</a:t>
            </a:r>
            <a:endParaRPr lang="nl-NL" altLang="nl-BE" sz="4000"/>
          </a:p>
        </p:txBody>
      </p:sp>
      <p:sp>
        <p:nvSpPr>
          <p:cNvPr id="7065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6" y="2060576"/>
            <a:ext cx="3344863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1916832"/>
            <a:ext cx="6552728" cy="331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6" y="4724400"/>
            <a:ext cx="33115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15380" y="189303"/>
            <a:ext cx="1116124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altLang="nl-BE" sz="4000" dirty="0"/>
              <a:t>Algemene uitdrukking van de lopende golf: constante tijd</a:t>
            </a:r>
            <a:endParaRPr lang="nl-NL" altLang="nl-BE" sz="4000" dirty="0"/>
          </a:p>
        </p:txBody>
      </p:sp>
      <p:sp>
        <p:nvSpPr>
          <p:cNvPr id="7680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911424" y="4365626"/>
            <a:ext cx="10485239" cy="2015702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/>
              <a:t>Slechts één variabele: de positie.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/>
              <a:t>Momentopname</a:t>
            </a:r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1773239"/>
            <a:ext cx="5329238" cy="21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53975"/>
            <a:ext cx="854075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altLang="nl-BE" sz="4000"/>
              <a:t>Algemene uitdrukking van de lopende golf: constante tijd</a:t>
            </a:r>
            <a:endParaRPr lang="nl-NL" altLang="nl-BE" sz="4000"/>
          </a:p>
        </p:txBody>
      </p:sp>
      <p:sp>
        <p:nvSpPr>
          <p:cNvPr id="7577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79376" y="1268413"/>
            <a:ext cx="9886999" cy="5040312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Voorbeelden:</a:t>
            </a:r>
          </a:p>
          <a:p>
            <a:pPr lvl="1" eaLnBrk="1" hangingPunct="1">
              <a:defRPr/>
            </a:pPr>
            <a:r>
              <a:rPr lang="nl-BE" altLang="nl-BE" dirty="0"/>
              <a:t>golvend touw op bepaald tijdstip fotograferen </a:t>
            </a:r>
            <a:r>
              <a:rPr lang="nl-BE" altLang="nl-BE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→ </a:t>
            </a:r>
            <a:r>
              <a:rPr lang="nl-BE" altLang="nl-BE" dirty="0">
                <a:ea typeface="Arial Unicode MS" pitchFamily="34" charset="-128"/>
                <a:cs typeface="Tahoma" pitchFamily="34" charset="0"/>
              </a:rPr>
              <a:t>sinusoïde</a:t>
            </a:r>
          </a:p>
          <a:p>
            <a:pPr lvl="1" eaLnBrk="1" hangingPunct="1">
              <a:defRPr/>
            </a:pPr>
            <a:endParaRPr lang="nl-BE" altLang="nl-BE" dirty="0">
              <a:ea typeface="Arial Unicode MS" pitchFamily="34" charset="-128"/>
              <a:cs typeface="Tahoma" pitchFamily="34" charset="0"/>
            </a:endParaRPr>
          </a:p>
          <a:p>
            <a:pPr lvl="1" eaLnBrk="1" hangingPunct="1">
              <a:defRPr/>
            </a:pPr>
            <a:endParaRPr lang="nl-BE" altLang="nl-BE" dirty="0">
              <a:ea typeface="Arial Unicode MS" pitchFamily="34" charset="-128"/>
              <a:cs typeface="Tahoma" pitchFamily="34" charset="0"/>
            </a:endParaRPr>
          </a:p>
          <a:p>
            <a:pPr lvl="1" eaLnBrk="1" hangingPunct="1">
              <a:defRPr/>
            </a:pPr>
            <a:endParaRPr lang="nl-BE" altLang="nl-BE" dirty="0">
              <a:ea typeface="Arial Unicode MS" pitchFamily="34" charset="-128"/>
              <a:cs typeface="Tahoma" pitchFamily="34" charset="0"/>
            </a:endParaRPr>
          </a:p>
          <a:p>
            <a:pPr lvl="1" eaLnBrk="1" hangingPunct="1">
              <a:defRPr/>
            </a:pPr>
            <a:endParaRPr lang="nl-BE" altLang="nl-BE" dirty="0">
              <a:ea typeface="Arial Unicode MS" pitchFamily="34" charset="-128"/>
              <a:cs typeface="Tahoma" pitchFamily="34" charset="0"/>
            </a:endParaRPr>
          </a:p>
          <a:p>
            <a:pPr lvl="1" eaLnBrk="1" hangingPunct="1">
              <a:defRPr/>
            </a:pPr>
            <a:endParaRPr lang="nl-BE" altLang="nl-BE" dirty="0">
              <a:ea typeface="Arial Unicode MS" pitchFamily="34" charset="-128"/>
              <a:cs typeface="Tahoma" pitchFamily="34" charset="0"/>
            </a:endParaRPr>
          </a:p>
          <a:p>
            <a:pPr lvl="1" eaLnBrk="1" hangingPunct="1">
              <a:defRPr/>
            </a:pPr>
            <a:endParaRPr lang="nl-BE" altLang="nl-BE" dirty="0">
              <a:ea typeface="Arial Unicode MS" pitchFamily="34" charset="-128"/>
              <a:cs typeface="Tahoma" pitchFamily="34" charset="0"/>
            </a:endParaRPr>
          </a:p>
          <a:p>
            <a:pPr lvl="1" eaLnBrk="1" hangingPunct="1">
              <a:defRPr/>
            </a:pPr>
            <a:r>
              <a:rPr lang="nl-BE" altLang="nl-BE" dirty="0">
                <a:ea typeface="Arial Unicode MS" pitchFamily="34" charset="-128"/>
                <a:cs typeface="Tahoma" pitchFamily="34" charset="0"/>
              </a:rPr>
              <a:t>longitudinale golf in veer fotograferen </a:t>
            </a:r>
            <a:r>
              <a:rPr lang="nl-BE" altLang="nl-BE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→ </a:t>
            </a:r>
            <a:r>
              <a:rPr lang="nl-BE" altLang="nl-BE" dirty="0">
                <a:ea typeface="Arial Unicode MS" pitchFamily="34" charset="-128"/>
                <a:cs typeface="Arial Unicode MS" pitchFamily="34" charset="-128"/>
              </a:rPr>
              <a:t>verdichtingen en verdunningen</a:t>
            </a:r>
            <a:endParaRPr lang="nl-BE" altLang="nl-BE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75" y="2349501"/>
            <a:ext cx="2305050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8" y="5300663"/>
            <a:ext cx="33845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Opdracht 1</a:t>
            </a:r>
            <a:endParaRPr lang="nl-NL" altLang="nl-BE"/>
          </a:p>
        </p:txBody>
      </p:sp>
      <p:sp>
        <p:nvSpPr>
          <p:cNvPr id="43011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60576"/>
            <a:ext cx="9144000" cy="251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Opdracht 1</a:t>
            </a:r>
            <a:endParaRPr lang="nl-NL" altLang="nl-BE"/>
          </a:p>
        </p:txBody>
      </p:sp>
      <p:sp>
        <p:nvSpPr>
          <p:cNvPr id="83971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60576"/>
            <a:ext cx="9144000" cy="251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08501"/>
            <a:ext cx="91440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Opdracht 2</a:t>
            </a:r>
            <a:endParaRPr lang="nl-NL" altLang="nl-BE"/>
          </a:p>
        </p:txBody>
      </p:sp>
      <p:sp>
        <p:nvSpPr>
          <p:cNvPr id="4505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3"/>
          <a:stretch>
            <a:fillRect/>
          </a:stretch>
        </p:blipFill>
        <p:spPr bwMode="auto">
          <a:xfrm>
            <a:off x="180675" y="1916832"/>
            <a:ext cx="10975704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Opdracht 2</a:t>
            </a:r>
            <a:endParaRPr lang="nl-NL" altLang="nl-BE"/>
          </a:p>
        </p:txBody>
      </p:sp>
      <p:sp>
        <p:nvSpPr>
          <p:cNvPr id="307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3277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3"/>
          <a:stretch>
            <a:fillRect/>
          </a:stretch>
        </p:blipFill>
        <p:spPr bwMode="auto">
          <a:xfrm>
            <a:off x="1524000" y="1268414"/>
            <a:ext cx="91440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4" y="2735264"/>
            <a:ext cx="7056437" cy="412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i="1" dirty="0"/>
              <a:t>Opdracht 3 (extra oef.)</a:t>
            </a:r>
            <a:endParaRPr lang="nl-NL" altLang="nl-BE" i="1" dirty="0"/>
          </a:p>
        </p:txBody>
      </p:sp>
      <p:sp>
        <p:nvSpPr>
          <p:cNvPr id="46083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75" y="2348880"/>
            <a:ext cx="11881320" cy="975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i="1" dirty="0"/>
              <a:t>Opdracht 3 (extra oef.)</a:t>
            </a:r>
            <a:endParaRPr lang="nl-NL" altLang="nl-BE" i="1" dirty="0"/>
          </a:p>
        </p:txBody>
      </p:sp>
      <p:sp>
        <p:nvSpPr>
          <p:cNvPr id="409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3482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00214"/>
            <a:ext cx="9144000" cy="75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36838"/>
            <a:ext cx="9144000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-1714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Opdracht 4</a:t>
            </a:r>
            <a:endParaRPr lang="nl-NL" altLang="nl-BE"/>
          </a:p>
        </p:txBody>
      </p:sp>
      <p:sp>
        <p:nvSpPr>
          <p:cNvPr id="4710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3584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48"/>
          <a:stretch>
            <a:fillRect/>
          </a:stretch>
        </p:blipFill>
        <p:spPr bwMode="auto">
          <a:xfrm>
            <a:off x="335359" y="1628800"/>
            <a:ext cx="11323567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-1714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Opdracht 4</a:t>
            </a:r>
            <a:endParaRPr lang="nl-NL" altLang="nl-BE"/>
          </a:p>
        </p:txBody>
      </p:sp>
      <p:sp>
        <p:nvSpPr>
          <p:cNvPr id="8601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182"/>
          <a:stretch>
            <a:fillRect/>
          </a:stretch>
        </p:blipFill>
        <p:spPr bwMode="auto">
          <a:xfrm>
            <a:off x="1924051" y="1125539"/>
            <a:ext cx="8181975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44" b="57507"/>
          <a:stretch>
            <a:fillRect/>
          </a:stretch>
        </p:blipFill>
        <p:spPr bwMode="auto">
          <a:xfrm>
            <a:off x="3902075" y="3500438"/>
            <a:ext cx="4173538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-1714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i="1" dirty="0"/>
              <a:t>Opdracht 5 (extra oef.)</a:t>
            </a:r>
            <a:endParaRPr lang="nl-NL" altLang="nl-BE" i="1" dirty="0"/>
          </a:p>
        </p:txBody>
      </p:sp>
      <p:sp>
        <p:nvSpPr>
          <p:cNvPr id="48131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0" y="2348880"/>
            <a:ext cx="12033840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-1714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i="1" dirty="0"/>
              <a:t>Opdracht 5 (extra oef.)</a:t>
            </a:r>
            <a:endParaRPr lang="nl-NL" altLang="nl-BE" dirty="0"/>
          </a:p>
        </p:txBody>
      </p:sp>
      <p:sp>
        <p:nvSpPr>
          <p:cNvPr id="10243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41439"/>
            <a:ext cx="9144000" cy="82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2420938"/>
            <a:ext cx="70675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-242888"/>
            <a:ext cx="8540750" cy="1143001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6</a:t>
            </a:r>
            <a:endParaRPr lang="nl-NL" altLang="nl-BE" dirty="0"/>
          </a:p>
        </p:txBody>
      </p:sp>
      <p:sp>
        <p:nvSpPr>
          <p:cNvPr id="5017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4403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590207"/>
            <a:ext cx="11335804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-242888"/>
            <a:ext cx="8540750" cy="1143001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6</a:t>
            </a:r>
            <a:endParaRPr lang="nl-NL" altLang="nl-BE" dirty="0"/>
          </a:p>
        </p:txBody>
      </p:sp>
      <p:sp>
        <p:nvSpPr>
          <p:cNvPr id="12291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4506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620714"/>
            <a:ext cx="8247063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1" y="2133600"/>
            <a:ext cx="4246563" cy="453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7 </a:t>
            </a:r>
            <a:r>
              <a:rPr lang="nl-BE" altLang="nl-BE" sz="2400" i="1" dirty="0"/>
              <a:t>(zwarte golf → extra oef.)</a:t>
            </a:r>
            <a:endParaRPr lang="nl-NL" altLang="nl-BE" sz="2400" i="1" dirty="0"/>
          </a:p>
        </p:txBody>
      </p:sp>
      <p:sp>
        <p:nvSpPr>
          <p:cNvPr id="9011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34" y="1748527"/>
            <a:ext cx="11878907" cy="412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00013"/>
            <a:ext cx="8540750" cy="1143001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7 </a:t>
            </a:r>
            <a:r>
              <a:rPr lang="nl-BE" altLang="nl-BE" sz="2400" i="1" dirty="0"/>
              <a:t>(zwarte golf → extra oef.)</a:t>
            </a:r>
            <a:endParaRPr lang="nl-NL" altLang="nl-BE" sz="2400" dirty="0"/>
          </a:p>
        </p:txBody>
      </p:sp>
      <p:sp>
        <p:nvSpPr>
          <p:cNvPr id="9113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52514"/>
            <a:ext cx="9144000" cy="317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4494213"/>
            <a:ext cx="6983412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1FFDF9-11DF-0147-A6CA-15FCC9B0C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Einde 31/3/26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C71903-27A9-28C7-2D00-181009CB0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428044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47850" y="-242888"/>
            <a:ext cx="8540750" cy="1143001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Golffront en golfstraal</a:t>
            </a:r>
            <a:endParaRPr lang="nl-NL" altLang="nl-BE"/>
          </a:p>
        </p:txBody>
      </p:sp>
      <p:sp>
        <p:nvSpPr>
          <p:cNvPr id="1536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919288" y="5949950"/>
            <a:ext cx="8540750" cy="908050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dirty="0"/>
          </a:p>
        </p:txBody>
      </p:sp>
      <p:pic>
        <p:nvPicPr>
          <p:cNvPr id="5632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3960813"/>
            <a:ext cx="85153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5445126"/>
            <a:ext cx="85344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4" y="620713"/>
            <a:ext cx="561657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0"/>
            <a:ext cx="854075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altLang="nl-BE"/>
              <a:t>Cirkelvormige en vlakke golven</a:t>
            </a:r>
            <a:endParaRPr lang="nl-NL" altLang="nl-BE"/>
          </a:p>
        </p:txBody>
      </p:sp>
      <p:pic>
        <p:nvPicPr>
          <p:cNvPr id="5734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96976"/>
            <a:ext cx="9144000" cy="48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Sferische golven of bolgolven</a:t>
            </a:r>
            <a:endParaRPr lang="nl-NL" altLang="nl-BE"/>
          </a:p>
        </p:txBody>
      </p:sp>
      <p:sp>
        <p:nvSpPr>
          <p:cNvPr id="10342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  <a:buFont typeface="Arial" charset="0"/>
              <a:buChar char="►"/>
              <a:defRPr/>
            </a:pPr>
            <a:r>
              <a:rPr lang="nl-BE" altLang="nl-BE" dirty="0"/>
              <a:t>Golven planten zich vanuit puntvormige bron in alle richtingen voort.</a:t>
            </a:r>
          </a:p>
          <a:p>
            <a:pPr eaLnBrk="1" hangingPunct="1">
              <a:lnSpc>
                <a:spcPct val="200000"/>
              </a:lnSpc>
              <a:buFont typeface="Arial" charset="0"/>
              <a:buChar char="►"/>
              <a:defRPr/>
            </a:pPr>
            <a:r>
              <a:rPr lang="nl-BE" altLang="nl-BE" dirty="0"/>
              <a:t>Golffronten zijn in ruimte concentrische oppervlakken.</a:t>
            </a:r>
          </a:p>
          <a:p>
            <a:pPr eaLnBrk="1" hangingPunct="1">
              <a:lnSpc>
                <a:spcPct val="200000"/>
              </a:lnSpc>
              <a:buFont typeface="Arial" charset="0"/>
              <a:buChar char="►"/>
              <a:defRPr/>
            </a:pPr>
            <a:r>
              <a:rPr lang="nl-BE" altLang="nl-BE" dirty="0"/>
              <a:t>Golfstralen vallen samen met stralen van concentrische golffronten.</a:t>
            </a:r>
          </a:p>
          <a:p>
            <a:pPr eaLnBrk="1" hangingPunct="1">
              <a:lnSpc>
                <a:spcPct val="200000"/>
              </a:lnSpc>
              <a:buFont typeface="Arial" charset="0"/>
              <a:buChar char="►"/>
              <a:defRPr/>
            </a:pPr>
            <a:r>
              <a:rPr lang="nl-BE" altLang="nl-BE" dirty="0"/>
              <a:t>Vb.: geluidsgolven</a:t>
            </a:r>
            <a:endParaRPr lang="nl-NL" altLang="nl-BE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24000" y="-100013"/>
            <a:ext cx="9144000" cy="114300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altLang="nl-BE"/>
              <a:t>Cirkelvormige of circulaire golven</a:t>
            </a:r>
            <a:endParaRPr lang="nl-NL" altLang="nl-BE"/>
          </a:p>
        </p:txBody>
      </p:sp>
      <p:sp>
        <p:nvSpPr>
          <p:cNvPr id="10445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695909" y="1628800"/>
            <a:ext cx="10873208" cy="4498975"/>
          </a:xfrm>
        </p:spPr>
        <p:txBody>
          <a:bodyPr/>
          <a:lstStyle/>
          <a:p>
            <a:pPr eaLnBrk="1" hangingPunct="1">
              <a:spcBef>
                <a:spcPts val="1800"/>
              </a:spcBef>
              <a:buFont typeface="Arial" charset="0"/>
              <a:buChar char="►"/>
              <a:defRPr/>
            </a:pPr>
            <a:r>
              <a:rPr lang="nl-BE" altLang="nl-BE" dirty="0"/>
              <a:t>Golven gaan uit van puntbron en planten zich voort in alle richtingen van een vlak. </a:t>
            </a:r>
          </a:p>
          <a:p>
            <a:pPr eaLnBrk="1" hangingPunct="1">
              <a:spcBef>
                <a:spcPts val="1800"/>
              </a:spcBef>
              <a:buFont typeface="Arial" charset="0"/>
              <a:buChar char="►"/>
              <a:defRPr/>
            </a:pPr>
            <a:r>
              <a:rPr lang="nl-BE" altLang="nl-BE" dirty="0"/>
              <a:t>Golffronten zijn concentrische cirkels in een vlak met de bron als middelpunt.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NL" altLang="nl-BE" dirty="0"/>
          </a:p>
        </p:txBody>
      </p:sp>
      <p:pic>
        <p:nvPicPr>
          <p:cNvPr id="593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338" y="3644901"/>
            <a:ext cx="3816350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Vlakke golven</a:t>
            </a:r>
            <a:endParaRPr lang="nl-NL" altLang="nl-BE"/>
          </a:p>
        </p:txBody>
      </p:sp>
      <p:sp>
        <p:nvSpPr>
          <p:cNvPr id="10547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79376" y="1844824"/>
            <a:ext cx="11881320" cy="4351338"/>
          </a:xfrm>
        </p:spPr>
        <p:txBody>
          <a:bodyPr/>
          <a:lstStyle/>
          <a:p>
            <a:pPr>
              <a:spcAft>
                <a:spcPts val="1800"/>
              </a:spcAft>
              <a:buFont typeface="Arial" charset="0"/>
              <a:buChar char="►"/>
              <a:defRPr/>
            </a:pPr>
            <a:r>
              <a:rPr lang="nl-BE" dirty="0"/>
              <a:t>Golffronten gaan uit van vlakke trillingsbron </a:t>
            </a:r>
            <a:r>
              <a:rPr lang="nl-BE" dirty="0">
                <a:ea typeface="Arial Unicode MS" pitchFamily="34" charset="-128"/>
                <a:cs typeface="Tahoma" pitchFamily="34" charset="0"/>
              </a:rPr>
              <a:t>→ golffronten zijn evenwijdige vlakken.</a:t>
            </a:r>
          </a:p>
          <a:p>
            <a:pPr>
              <a:spcAft>
                <a:spcPts val="1800"/>
              </a:spcAft>
              <a:buFont typeface="Arial" charset="0"/>
              <a:buChar char="►"/>
              <a:defRPr/>
            </a:pPr>
            <a:r>
              <a:rPr lang="nl-BE" dirty="0">
                <a:ea typeface="Arial Unicode MS" pitchFamily="34" charset="-128"/>
                <a:cs typeface="Tahoma" pitchFamily="34" charset="0"/>
              </a:rPr>
              <a:t>Golfstralen staan loodrecht op golffronten.</a:t>
            </a:r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39" y="3860800"/>
            <a:ext cx="3540125" cy="267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47850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Vermogen en intensiteit</a:t>
            </a:r>
            <a:br>
              <a:rPr lang="nl-BE" altLang="nl-BE"/>
            </a:br>
            <a:r>
              <a:rPr lang="nl-BE" altLang="nl-BE" sz="1800" i="1"/>
              <a:t>(afleiding niet kennen!)</a:t>
            </a:r>
            <a:endParaRPr lang="nl-NL" altLang="nl-BE" sz="1800" i="1"/>
          </a:p>
        </p:txBody>
      </p:sp>
      <p:sp>
        <p:nvSpPr>
          <p:cNvPr id="1843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75" y="1196975"/>
            <a:ext cx="10858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76475"/>
            <a:ext cx="9144000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38" y="5229225"/>
            <a:ext cx="41338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47850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Intensiteit</a:t>
            </a:r>
            <a:endParaRPr lang="nl-NL" altLang="nl-BE"/>
          </a:p>
        </p:txBody>
      </p:sp>
      <p:sp>
        <p:nvSpPr>
          <p:cNvPr id="1945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623392" y="2996952"/>
            <a:ext cx="11377264" cy="3318247"/>
          </a:xfrm>
        </p:spPr>
        <p:txBody>
          <a:bodyPr/>
          <a:lstStyle/>
          <a:p>
            <a:pPr>
              <a:spcBef>
                <a:spcPts val="1800"/>
              </a:spcBef>
              <a:buFont typeface="Arial" charset="0"/>
              <a:buChar char="►"/>
              <a:defRPr/>
            </a:pPr>
            <a:r>
              <a:rPr lang="nl-BE" altLang="nl-BE" dirty="0"/>
              <a:t>Vlakke golven: intensiteit onafhankelijk van afstand tot bron.</a:t>
            </a:r>
          </a:p>
          <a:p>
            <a:pPr>
              <a:spcBef>
                <a:spcPts val="1800"/>
              </a:spcBef>
              <a:buFont typeface="Arial" charset="0"/>
              <a:buChar char="►"/>
              <a:defRPr/>
            </a:pPr>
            <a:r>
              <a:rPr lang="nl-BE" altLang="nl-BE" dirty="0"/>
              <a:t>Bolvormige of cirkelvormige golven:</a:t>
            </a:r>
          </a:p>
          <a:p>
            <a:pPr lvl="1">
              <a:spcBef>
                <a:spcPts val="1800"/>
              </a:spcBef>
              <a:buFont typeface="Arial" charset="0"/>
              <a:buChar char="►"/>
              <a:defRPr/>
            </a:pPr>
            <a:r>
              <a:rPr lang="nl-BE" altLang="nl-BE" dirty="0"/>
              <a:t> Intensiteit wel afhankelijk van afstand tot bron</a:t>
            </a:r>
          </a:p>
          <a:p>
            <a:pPr lvl="1">
              <a:spcBef>
                <a:spcPts val="1800"/>
              </a:spcBef>
              <a:buFont typeface="Arial" charset="0"/>
              <a:buChar char="►"/>
              <a:defRPr/>
            </a:pPr>
            <a:r>
              <a:rPr lang="nl-BE" altLang="nl-BE" dirty="0"/>
              <a:t> Hoe verder van bron, hoe meer deeltjes er beginnen trillen, dus hoe lager intensiteit I, want de hoeveelheid energie blijft hetzelfde.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altLang="nl-BE" dirty="0"/>
          </a:p>
          <a:p>
            <a:pPr eaLnBrk="1" hangingPunct="1">
              <a:buFont typeface="Arial" charset="0"/>
              <a:buChar char="►"/>
              <a:defRPr/>
            </a:pPr>
            <a:endParaRPr lang="nl-BE" altLang="nl-BE" dirty="0"/>
          </a:p>
        </p:txBody>
      </p:sp>
      <p:pic>
        <p:nvPicPr>
          <p:cNvPr id="6246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1196975"/>
            <a:ext cx="706755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47850" y="-1714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sz="4000"/>
              <a:t>Intensiteit bij bolvormige golffronten</a:t>
            </a:r>
            <a:endParaRPr lang="nl-NL" altLang="nl-BE" sz="4000"/>
          </a:p>
        </p:txBody>
      </p:sp>
      <p:sp>
        <p:nvSpPr>
          <p:cNvPr id="1433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634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844676"/>
            <a:ext cx="3384550" cy="333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2205038"/>
            <a:ext cx="2074862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5373688"/>
            <a:ext cx="7345362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765175"/>
            <a:ext cx="8532813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8</a:t>
            </a:r>
            <a:endParaRPr lang="nl-NL" altLang="nl-BE" dirty="0"/>
          </a:p>
        </p:txBody>
      </p:sp>
      <p:sp>
        <p:nvSpPr>
          <p:cNvPr id="10854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524" y="1695503"/>
            <a:ext cx="8568952" cy="4194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8</a:t>
            </a:r>
            <a:endParaRPr lang="nl-NL" altLang="nl-BE" dirty="0"/>
          </a:p>
        </p:txBody>
      </p:sp>
      <p:sp>
        <p:nvSpPr>
          <p:cNvPr id="10649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589" y="1341439"/>
            <a:ext cx="5545137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437063"/>
            <a:ext cx="9144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Toetsdoelen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Op de volgende slide vind je een checklist waarmee je jezelf kunt evalueren.</a:t>
            </a:r>
            <a:br/>
            <a:r>
              <a:t>Gebruik deze checklist tijdens het leren, na een toets of ter voorbereiding van een examen.</a:t>
            </a:r>
            <a:br/>
            <a:r>
              <a:t>Vul de vakjes ☐ zelf in om te zien welke doelen je al beheerst en welke je nog moet versterken.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-243408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Checklist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2783195"/>
              </p:ext>
            </p:extLst>
          </p:nvPr>
        </p:nvGraphicFramePr>
        <p:xfrm>
          <a:off x="317500" y="980728"/>
          <a:ext cx="115951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Ik </a:t>
                      </a:r>
                      <a:r>
                        <a:rPr dirty="0" err="1"/>
                        <a:t>kan</a:t>
                      </a:r>
                      <a:r>
                        <a:rPr dirty="0"/>
                        <a:t>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Tijdens studeren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Na de toets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Voor examen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uitleggen wat een storing, puls en trilling zijn.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verklaren dat een storing zich met een eindige snelheid voortplant.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beschrijven hoe een trilling wordt doorgegeven en hoe energie wordt getransporteerd.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onderscheid maken tussen mechanische en elektromagnetische golven.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transversale en longitudinale golven herkennen en uitleggen.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golflengte, frequentie en periode bepalen in voorbeelden.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het verband ( v = f ) correct toepassen.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fase en in‑fase punten interpreteren op grafieken.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de algemene golfvergelijking kwalitatief interpreteren.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rechts- en linkslopende golven onderscheiden.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momentopnames (constante tijd) en tijdsgrafieken (constante plaats) lezen.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golffronten en golfstralen uitleggen.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intensiteit koppelen aan energie‑spreiding bij golven.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iepte">
  <a:themeElements>
    <a:clrScheme name="Diept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iept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ept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Diepte</Template>
  <TotalTime>1896</TotalTime>
  <Words>1396</Words>
  <Application>Microsoft Office PowerPoint</Application>
  <PresentationFormat>Breedbeeld</PresentationFormat>
  <Paragraphs>225</Paragraphs>
  <Slides>55</Slides>
  <Notes>0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55</vt:i4>
      </vt:variant>
    </vt:vector>
  </HeadingPairs>
  <TitlesOfParts>
    <vt:vector size="62" baseType="lpstr">
      <vt:lpstr>Arial</vt:lpstr>
      <vt:lpstr>Arial Unicode MS</vt:lpstr>
      <vt:lpstr>Corbel</vt:lpstr>
      <vt:lpstr>Symbol</vt:lpstr>
      <vt:lpstr>Tahoma</vt:lpstr>
      <vt:lpstr>Diepte</vt:lpstr>
      <vt:lpstr>Vergelijking</vt:lpstr>
      <vt:lpstr>LOPENDE GOLVEN</vt:lpstr>
      <vt:lpstr>Lesdoelen</vt:lpstr>
      <vt:lpstr>Structuur van de PowerPoint</vt:lpstr>
      <vt:lpstr>Voortplanting van een storing</vt:lpstr>
      <vt:lpstr>Voortplanting van een storing</vt:lpstr>
      <vt:lpstr>Voortplanting van een storing</vt:lpstr>
      <vt:lpstr>Voortplanting van een trilling</vt:lpstr>
      <vt:lpstr>Voortplanting van een trilling</vt:lpstr>
      <vt:lpstr>Golfbak</vt:lpstr>
      <vt:lpstr>Golfbak</vt:lpstr>
      <vt:lpstr>Voortplanting van een trilling</vt:lpstr>
      <vt:lpstr>Voortplanting van een trilling</vt:lpstr>
      <vt:lpstr>Voortplanting van een trilling</vt:lpstr>
      <vt:lpstr>Voortplanting van een trilling: energieoverdracht </vt:lpstr>
      <vt:lpstr>Mechanische golven en elektromagnetische golven</vt:lpstr>
      <vt:lpstr>Transversale en longitudinale golven</vt:lpstr>
      <vt:lpstr>Transversale en longitudinale golven: Opmerkingen</vt:lpstr>
      <vt:lpstr>Golflengte (λ) fig</vt:lpstr>
      <vt:lpstr>Golflengte (λ) fig</vt:lpstr>
      <vt:lpstr>Golflengte</vt:lpstr>
      <vt:lpstr>Algemene uitdrukking van de lopende golf</vt:lpstr>
      <vt:lpstr>Algemene uitdrukking van de lopende golf</vt:lpstr>
      <vt:lpstr>Golfgetal (k)  (niet verwarren met veerconstante!!)</vt:lpstr>
      <vt:lpstr>Rechtslopende en linkslopende golven</vt:lpstr>
      <vt:lpstr>EINDE 25/3/26</vt:lpstr>
      <vt:lpstr>Algemene uitdrukking van de lopende golf: constante plaats</vt:lpstr>
      <vt:lpstr>Algemene uitdrukking van de lopende golf: constante tijd</vt:lpstr>
      <vt:lpstr>Algemene uitdrukking van de lopende golf: constante tijd</vt:lpstr>
      <vt:lpstr>Opdracht 1</vt:lpstr>
      <vt:lpstr>Opdracht 1</vt:lpstr>
      <vt:lpstr>Opdracht 2</vt:lpstr>
      <vt:lpstr>Opdracht 2</vt:lpstr>
      <vt:lpstr>Opdracht 3 (extra oef.)</vt:lpstr>
      <vt:lpstr>Opdracht 3 (extra oef.)</vt:lpstr>
      <vt:lpstr>Opdracht 4</vt:lpstr>
      <vt:lpstr>Opdracht 4</vt:lpstr>
      <vt:lpstr>Opdracht 5 (extra oef.)</vt:lpstr>
      <vt:lpstr>Opdracht 5 (extra oef.)</vt:lpstr>
      <vt:lpstr>Opdracht 6</vt:lpstr>
      <vt:lpstr>Opdracht 6</vt:lpstr>
      <vt:lpstr>Opdracht 7 (zwarte golf → extra oef.)</vt:lpstr>
      <vt:lpstr>Opdracht 7 (zwarte golf → extra oef.)</vt:lpstr>
      <vt:lpstr>Einde 31/3/26</vt:lpstr>
      <vt:lpstr>Golffront en golfstraal</vt:lpstr>
      <vt:lpstr>Cirkelvormige en vlakke golven</vt:lpstr>
      <vt:lpstr>Sferische golven of bolgolven</vt:lpstr>
      <vt:lpstr>Cirkelvormige of circulaire golven</vt:lpstr>
      <vt:lpstr>Vlakke golven</vt:lpstr>
      <vt:lpstr>Vermogen en intensiteit (afleiding niet kennen!)</vt:lpstr>
      <vt:lpstr>Intensiteit</vt:lpstr>
      <vt:lpstr>Intensiteit bij bolvormige golffronten</vt:lpstr>
      <vt:lpstr>Opdracht 8</vt:lpstr>
      <vt:lpstr>Opdracht 8</vt:lpstr>
      <vt:lpstr>Toetsdoelen</vt:lpstr>
      <vt:lpstr>Checklist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LOPENDE GOLVEN</dc:title>
  <dc:creator>koen</dc:creator>
  <cp:lastModifiedBy>Koen DE BELIE</cp:lastModifiedBy>
  <cp:revision>67</cp:revision>
  <dcterms:created xsi:type="dcterms:W3CDTF">2008-01-15T20:58:18Z</dcterms:created>
  <dcterms:modified xsi:type="dcterms:W3CDTF">2026-03-31T08:45:33Z</dcterms:modified>
</cp:coreProperties>
</file>