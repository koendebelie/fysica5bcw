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4" r:id="rId2"/>
    <p:sldId id="256" r:id="rId3"/>
    <p:sldId id="276" r:id="rId4"/>
    <p:sldId id="275" r:id="rId5"/>
    <p:sldId id="266" r:id="rId6"/>
    <p:sldId id="267" r:id="rId7"/>
    <p:sldId id="270" r:id="rId8"/>
    <p:sldId id="271" r:id="rId9"/>
    <p:sldId id="268" r:id="rId10"/>
    <p:sldId id="272" r:id="rId11"/>
    <p:sldId id="282" r:id="rId12"/>
    <p:sldId id="257" r:id="rId13"/>
    <p:sldId id="258" r:id="rId14"/>
    <p:sldId id="284" r:id="rId15"/>
    <p:sldId id="285" r:id="rId16"/>
    <p:sldId id="273" r:id="rId17"/>
    <p:sldId id="280" r:id="rId18"/>
    <p:sldId id="281" r:id="rId19"/>
    <p:sldId id="260" r:id="rId20"/>
    <p:sldId id="261" r:id="rId21"/>
    <p:sldId id="283" r:id="rId22"/>
    <p:sldId id="277" r:id="rId23"/>
    <p:sldId id="25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A05B4A-1B06-43FD-B697-0FC8C09B26D7}" v="2" dt="2026-04-23T07:17:40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custSel addSld modSld sldOrd">
      <pc:chgData name="Koen DE BELIE" userId="0b604c76-dc05-41eb-aae4-58be6ad353f8" providerId="ADAL" clId="{A0CAB841-4192-4D5A-AB98-8769508D3B25}" dt="2026-04-23T07:22:00.046" v="36"/>
      <pc:docMkLst>
        <pc:docMk/>
      </pc:docMkLst>
      <pc:sldChg chg="modSp mod">
        <pc:chgData name="Koen DE BELIE" userId="0b604c76-dc05-41eb-aae4-58be6ad353f8" providerId="ADAL" clId="{A0CAB841-4192-4D5A-AB98-8769508D3B25}" dt="2026-04-23T07:18:16.696" v="33" actId="1076"/>
        <pc:sldMkLst>
          <pc:docMk/>
          <pc:sldMk cId="0" sldId="261"/>
        </pc:sldMkLst>
        <pc:spChg chg="mod">
          <ac:chgData name="Koen DE BELIE" userId="0b604c76-dc05-41eb-aae4-58be6ad353f8" providerId="ADAL" clId="{A0CAB841-4192-4D5A-AB98-8769508D3B25}" dt="2026-04-23T07:18:16.696" v="33" actId="1076"/>
          <ac:spMkLst>
            <pc:docMk/>
            <pc:sldMk cId="0" sldId="261"/>
            <ac:spMk id="3" creationId="{00000000-0000-0000-0000-000000000000}"/>
          </ac:spMkLst>
        </pc:spChg>
      </pc:sldChg>
      <pc:sldChg chg="ord">
        <pc:chgData name="Koen DE BELIE" userId="0b604c76-dc05-41eb-aae4-58be6ad353f8" providerId="ADAL" clId="{A0CAB841-4192-4D5A-AB98-8769508D3B25}" dt="2026-04-23T07:22:00.046" v="36"/>
        <pc:sldMkLst>
          <pc:docMk/>
          <pc:sldMk cId="3186261663" sldId="277"/>
        </pc:sldMkLst>
      </pc:sldChg>
      <pc:sldChg chg="modSp new mod">
        <pc:chgData name="Koen DE BELIE" userId="0b604c76-dc05-41eb-aae4-58be6ad353f8" providerId="ADAL" clId="{A0CAB841-4192-4D5A-AB98-8769508D3B25}" dt="2026-04-22T08:07:37.763" v="13" actId="20577"/>
        <pc:sldMkLst>
          <pc:docMk/>
          <pc:sldMk cId="2492984751" sldId="282"/>
        </pc:sldMkLst>
        <pc:spChg chg="mod">
          <ac:chgData name="Koen DE BELIE" userId="0b604c76-dc05-41eb-aae4-58be6ad353f8" providerId="ADAL" clId="{A0CAB841-4192-4D5A-AB98-8769508D3B25}" dt="2026-04-22T08:07:37.763" v="13" actId="20577"/>
          <ac:spMkLst>
            <pc:docMk/>
            <pc:sldMk cId="2492984751" sldId="282"/>
            <ac:spMk id="2" creationId="{25749B26-631E-CE04-2517-FC4ECC0FBF22}"/>
          </ac:spMkLst>
        </pc:spChg>
      </pc:sldChg>
      <pc:sldChg chg="add">
        <pc:chgData name="Koen DE BELIE" userId="0b604c76-dc05-41eb-aae4-58be6ad353f8" providerId="ADAL" clId="{A0CAB841-4192-4D5A-AB98-8769508D3B25}" dt="2026-04-23T07:16:24.381" v="14"/>
        <pc:sldMkLst>
          <pc:docMk/>
          <pc:sldMk cId="1816115890" sldId="283"/>
        </pc:sldMkLst>
      </pc:sldChg>
      <pc:sldChg chg="modSp add mod">
        <pc:chgData name="Koen DE BELIE" userId="0b604c76-dc05-41eb-aae4-58be6ad353f8" providerId="ADAL" clId="{A0CAB841-4192-4D5A-AB98-8769508D3B25}" dt="2026-04-23T07:19:05.344" v="34" actId="1076"/>
        <pc:sldMkLst>
          <pc:docMk/>
          <pc:sldMk cId="1045949960" sldId="284"/>
        </pc:sldMkLst>
        <pc:spChg chg="mod">
          <ac:chgData name="Koen DE BELIE" userId="0b604c76-dc05-41eb-aae4-58be6ad353f8" providerId="ADAL" clId="{A0CAB841-4192-4D5A-AB98-8769508D3B25}" dt="2026-04-23T07:19:05.344" v="34" actId="1076"/>
          <ac:spMkLst>
            <pc:docMk/>
            <pc:sldMk cId="1045949960" sldId="284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6-04-23T07:17:54.439" v="23" actId="20577"/>
          <ac:spMkLst>
            <pc:docMk/>
            <pc:sldMk cId="1045949960" sldId="284"/>
            <ac:spMk id="3" creationId="{00000000-0000-0000-0000-000000000000}"/>
          </ac:spMkLst>
        </pc:spChg>
        <pc:picChg chg="mod">
          <ac:chgData name="Koen DE BELIE" userId="0b604c76-dc05-41eb-aae4-58be6ad353f8" providerId="ADAL" clId="{A0CAB841-4192-4D5A-AB98-8769508D3B25}" dt="2026-04-23T07:17:56.127" v="24" actId="1076"/>
          <ac:picMkLst>
            <pc:docMk/>
            <pc:sldMk cId="1045949960" sldId="284"/>
            <ac:picMk id="4" creationId="{CFCD8856-DD9E-405A-AD0C-2DFFD85B1BC7}"/>
          </ac:picMkLst>
        </pc:picChg>
      </pc:sldChg>
      <pc:sldChg chg="modSp add mod">
        <pc:chgData name="Koen DE BELIE" userId="0b604c76-dc05-41eb-aae4-58be6ad353f8" providerId="ADAL" clId="{A0CAB841-4192-4D5A-AB98-8769508D3B25}" dt="2026-04-23T07:18:04.136" v="32" actId="1076"/>
        <pc:sldMkLst>
          <pc:docMk/>
          <pc:sldMk cId="707896072" sldId="285"/>
        </pc:sldMkLst>
        <pc:spChg chg="mod">
          <ac:chgData name="Koen DE BELIE" userId="0b604c76-dc05-41eb-aae4-58be6ad353f8" providerId="ADAL" clId="{A0CAB841-4192-4D5A-AB98-8769508D3B25}" dt="2026-04-23T07:17:40.785" v="17" actId="27636"/>
          <ac:spMkLst>
            <pc:docMk/>
            <pc:sldMk cId="707896072" sldId="285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6-04-23T07:18:04.136" v="32" actId="1076"/>
          <ac:spMkLst>
            <pc:docMk/>
            <pc:sldMk cId="707896072" sldId="285"/>
            <ac:spMk id="3" creationId="{00000000-0000-0000-0000-000000000000}"/>
          </ac:spMkLst>
        </pc:spChg>
        <pc:picChg chg="mod">
          <ac:chgData name="Koen DE BELIE" userId="0b604c76-dc05-41eb-aae4-58be6ad353f8" providerId="ADAL" clId="{A0CAB841-4192-4D5A-AB98-8769508D3B25}" dt="2026-04-23T07:18:01.712" v="31" actId="1076"/>
          <ac:picMkLst>
            <pc:docMk/>
            <pc:sldMk cId="707896072" sldId="285"/>
            <ac:picMk id="6" creationId="{8D4FF9AA-B4AF-4F3E-A954-0678CF3BB76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871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13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139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546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5002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046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503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2101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004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002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3807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3105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1539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4077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1957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7111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592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C672D5F-E9FF-458D-97D8-217549C51317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1A14423-713C-4FAB-9991-4533C8FF38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18258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ter-fendt.de/html5/phnl/standingwavereflection_nl.htm" TargetMode="External"/><Relationship Id="rId2" Type="http://schemas.openxmlformats.org/officeDocument/2006/relationships/hyperlink" Target="https://home.kpn.nl/H.Bruning/applets/golf-staande-ontstaan/golf-staande-ontstaan.ht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ter-fendt.de/html5/phnl/standingwavereflection_nl.ht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youtube.com/watch?v=pvX5y95Sye0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93D134-C433-BC8F-8899-DF1941018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Staande golven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7B3D4B4-7AD9-983A-A52E-7559270208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2153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Lesdoelen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Begrijpen hoe staande golven ontstaan door interferentie van heen- en teruglopende golven.</a:t>
            </a:r>
          </a:p>
          <a:p>
            <a:pPr lvl="0"/>
            <a:r>
              <a:t>Onderscheiden van </a:t>
            </a:r>
            <a:r>
              <a:rPr b="1"/>
              <a:t>knopen</a:t>
            </a:r>
            <a:r>
              <a:t> en </a:t>
            </a:r>
            <a:r>
              <a:rPr b="1"/>
              <a:t>buiken</a:t>
            </a:r>
            <a:r>
              <a:t> en hun fysische betekenis.</a:t>
            </a:r>
          </a:p>
          <a:p>
            <a:pPr lvl="0"/>
            <a:r>
              <a:t>Verklaren van terugkaatsing bij </a:t>
            </a:r>
            <a:r>
              <a:rPr b="1"/>
              <a:t>vast</a:t>
            </a:r>
            <a:r>
              <a:t> en </a:t>
            </a:r>
            <a:r>
              <a:rPr b="1"/>
              <a:t>vrij</a:t>
            </a:r>
            <a:r>
              <a:t> uiteinde, inclusief de fasesprong van π bij een vast uiteinde.</a:t>
            </a:r>
          </a:p>
          <a:p>
            <a:pPr lvl="0"/>
            <a:r>
              <a:t>Relateren van </a:t>
            </a:r>
            <a:r>
              <a:rPr b="1"/>
              <a:t>frequentie</a:t>
            </a:r>
            <a:r>
              <a:t>, </a:t>
            </a:r>
            <a:r>
              <a:rPr b="1"/>
              <a:t>golflengte</a:t>
            </a:r>
            <a:r>
              <a:t> en </a:t>
            </a:r>
            <a:r>
              <a:rPr b="1"/>
              <a:t>lengte</a:t>
            </a:r>
            <a:r>
              <a:t> van het medium aan het optreden van staande golven.</a:t>
            </a:r>
          </a:p>
          <a:p>
            <a:pPr lvl="0"/>
            <a:r>
              <a:t>Toepassen van formules voor </a:t>
            </a:r>
            <a:r>
              <a:rPr b="1"/>
              <a:t>harmonischen</a:t>
            </a:r>
            <a:r>
              <a:t> (f₁, f₂ = 2f₁, f₃ = 3f₁, …) op een begrensd touw.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910" y="-117760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Inhoudsopgave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078787"/>
            <a:ext cx="10233800" cy="5383658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1. </a:t>
            </a:r>
            <a:r>
              <a:rPr b="1" dirty="0" err="1"/>
              <a:t>Terugkaatsingsverschijnselen</a:t>
            </a:r>
            <a:endParaRPr b="1" dirty="0"/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1.1 Vast </a:t>
            </a:r>
            <a:r>
              <a:rPr b="1" dirty="0" err="1"/>
              <a:t>uiteinde</a:t>
            </a:r>
            <a:r>
              <a:rPr b="1" dirty="0"/>
              <a:t> — </a:t>
            </a:r>
            <a:r>
              <a:rPr b="1" dirty="0" err="1"/>
              <a:t>proef</a:t>
            </a:r>
            <a:r>
              <a:rPr b="1" dirty="0"/>
              <a:t>, </a:t>
            </a:r>
            <a:r>
              <a:rPr b="1" dirty="0" err="1"/>
              <a:t>krachten</a:t>
            </a:r>
            <a:r>
              <a:rPr b="1" dirty="0"/>
              <a:t>, </a:t>
            </a:r>
            <a:r>
              <a:rPr b="1" dirty="0" err="1"/>
              <a:t>fasesprong</a:t>
            </a:r>
            <a:r>
              <a:rPr b="1" dirty="0"/>
              <a:t> π</a:t>
            </a:r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1.2 Vrij </a:t>
            </a:r>
            <a:r>
              <a:rPr b="1" dirty="0" err="1"/>
              <a:t>uiteinde</a:t>
            </a:r>
            <a:r>
              <a:rPr b="1" dirty="0"/>
              <a:t> — </a:t>
            </a:r>
            <a:r>
              <a:rPr b="1" dirty="0" err="1"/>
              <a:t>proef</a:t>
            </a:r>
            <a:r>
              <a:rPr b="1" dirty="0"/>
              <a:t>, </a:t>
            </a:r>
            <a:r>
              <a:rPr b="1" dirty="0" err="1"/>
              <a:t>krachten</a:t>
            </a:r>
            <a:r>
              <a:rPr b="1" dirty="0"/>
              <a:t>, </a:t>
            </a:r>
            <a:r>
              <a:rPr b="1" dirty="0" err="1"/>
              <a:t>geen</a:t>
            </a:r>
            <a:r>
              <a:rPr b="1" dirty="0"/>
              <a:t> </a:t>
            </a:r>
            <a:r>
              <a:rPr b="1" dirty="0" err="1"/>
              <a:t>fasesprong</a:t>
            </a:r>
            <a:endParaRPr b="1" dirty="0"/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2. </a:t>
            </a:r>
            <a:r>
              <a:rPr b="1" dirty="0" err="1"/>
              <a:t>Staande</a:t>
            </a:r>
            <a:r>
              <a:rPr b="1" dirty="0"/>
              <a:t> </a:t>
            </a:r>
            <a:r>
              <a:rPr b="1" dirty="0" err="1"/>
              <a:t>golven</a:t>
            </a:r>
            <a:r>
              <a:rPr b="1" dirty="0"/>
              <a:t> (</a:t>
            </a:r>
            <a:r>
              <a:rPr b="1" dirty="0" err="1"/>
              <a:t>kwalitatief</a:t>
            </a:r>
            <a:r>
              <a:rPr b="1" dirty="0"/>
              <a:t>)</a:t>
            </a:r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2.1 </a:t>
            </a:r>
            <a:r>
              <a:rPr b="1" dirty="0" err="1"/>
              <a:t>Interferentie</a:t>
            </a:r>
            <a:r>
              <a:rPr b="1" dirty="0"/>
              <a:t> van </a:t>
            </a:r>
            <a:r>
              <a:rPr b="1" dirty="0" err="1"/>
              <a:t>heen</a:t>
            </a:r>
            <a:r>
              <a:rPr b="1" dirty="0"/>
              <a:t>- </a:t>
            </a:r>
            <a:r>
              <a:rPr b="1" dirty="0" err="1"/>
              <a:t>en</a:t>
            </a:r>
            <a:r>
              <a:rPr b="1" dirty="0"/>
              <a:t> </a:t>
            </a:r>
            <a:r>
              <a:rPr b="1" dirty="0" err="1"/>
              <a:t>teruglopende</a:t>
            </a:r>
            <a:r>
              <a:rPr b="1" dirty="0"/>
              <a:t> golf</a:t>
            </a:r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2.2 </a:t>
            </a:r>
            <a:r>
              <a:rPr b="1" dirty="0" err="1"/>
              <a:t>Knopen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</a:t>
            </a:r>
            <a:r>
              <a:rPr b="1" dirty="0" err="1"/>
              <a:t>buiken</a:t>
            </a:r>
            <a:r>
              <a:rPr b="1" dirty="0"/>
              <a:t> — </a:t>
            </a:r>
            <a:r>
              <a:rPr b="1" dirty="0" err="1"/>
              <a:t>fysische</a:t>
            </a:r>
            <a:r>
              <a:rPr b="1" dirty="0"/>
              <a:t> </a:t>
            </a:r>
            <a:r>
              <a:rPr b="1" dirty="0" err="1"/>
              <a:t>interpretatie</a:t>
            </a:r>
            <a:endParaRPr b="1" dirty="0"/>
          </a:p>
          <a:p>
            <a:pPr marL="0" lv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3. </a:t>
            </a:r>
            <a:r>
              <a:rPr b="1" dirty="0" err="1"/>
              <a:t>Harmonischen</a:t>
            </a:r>
            <a:r>
              <a:rPr b="1" dirty="0"/>
              <a:t> (</a:t>
            </a:r>
            <a:r>
              <a:rPr b="1" dirty="0" err="1"/>
              <a:t>kwalitatief</a:t>
            </a:r>
            <a:r>
              <a:rPr b="1" dirty="0"/>
              <a:t>)</a:t>
            </a:r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3.1 </a:t>
            </a:r>
            <a:r>
              <a:rPr b="1" dirty="0" err="1"/>
              <a:t>Fundamentele</a:t>
            </a:r>
            <a:r>
              <a:rPr b="1" dirty="0"/>
              <a:t> </a:t>
            </a:r>
            <a:r>
              <a:rPr b="1" dirty="0" err="1"/>
              <a:t>frequentie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</a:t>
            </a:r>
            <a:r>
              <a:rPr b="1" dirty="0" err="1"/>
              <a:t>boventonen</a:t>
            </a:r>
            <a:endParaRPr b="1" dirty="0"/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3.2 </a:t>
            </a:r>
            <a:r>
              <a:rPr b="1" dirty="0" err="1"/>
              <a:t>Frequentieverhoudingen</a:t>
            </a:r>
            <a:r>
              <a:rPr b="1" dirty="0"/>
              <a:t> (f₁, 2f₁, 3f₁)</a:t>
            </a:r>
          </a:p>
          <a:p>
            <a:pPr marL="0" lv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4. </a:t>
            </a:r>
            <a:r>
              <a:rPr b="1" dirty="0" err="1"/>
              <a:t>Staande</a:t>
            </a:r>
            <a:r>
              <a:rPr b="1" dirty="0"/>
              <a:t> </a:t>
            </a:r>
            <a:r>
              <a:rPr b="1" dirty="0" err="1"/>
              <a:t>golven</a:t>
            </a:r>
            <a:r>
              <a:rPr b="1" dirty="0"/>
              <a:t> op </a:t>
            </a:r>
            <a:r>
              <a:rPr b="1" dirty="0" err="1"/>
              <a:t>begrensd</a:t>
            </a:r>
            <a:r>
              <a:rPr b="1" dirty="0"/>
              <a:t> </a:t>
            </a:r>
            <a:r>
              <a:rPr b="1" dirty="0" err="1"/>
              <a:t>touw</a:t>
            </a:r>
            <a:r>
              <a:rPr b="1" dirty="0"/>
              <a:t> (</a:t>
            </a:r>
            <a:r>
              <a:rPr b="1" dirty="0" err="1"/>
              <a:t>kwantitatief</a:t>
            </a:r>
            <a:r>
              <a:rPr b="1" dirty="0"/>
              <a:t>)</a:t>
            </a:r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4.1 </a:t>
            </a:r>
            <a:r>
              <a:rPr b="1" dirty="0" err="1"/>
              <a:t>Voorwaarden</a:t>
            </a:r>
            <a:r>
              <a:rPr b="1" dirty="0"/>
              <a:t> L = </a:t>
            </a:r>
            <a:r>
              <a:rPr b="1" dirty="0" err="1"/>
              <a:t>n·λ</a:t>
            </a:r>
            <a:r>
              <a:rPr b="1" dirty="0"/>
              <a:t>/2</a:t>
            </a:r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b="1" dirty="0"/>
              <a:t>4.2 </a:t>
            </a:r>
            <a:r>
              <a:rPr b="1" dirty="0" err="1"/>
              <a:t>Formules</a:t>
            </a:r>
            <a:r>
              <a:rPr b="1" dirty="0"/>
              <a:t> </a:t>
            </a:r>
            <a:r>
              <a:rPr b="1" dirty="0" err="1"/>
              <a:t>voor</a:t>
            </a:r>
            <a:r>
              <a:rPr b="1" dirty="0"/>
              <a:t> fₙ, λ </a:t>
            </a:r>
            <a:r>
              <a:rPr b="1" dirty="0" err="1"/>
              <a:t>en</a:t>
            </a:r>
            <a:r>
              <a:rPr b="1" dirty="0"/>
              <a:t> 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A6CDF-7D4A-CA0F-C718-56732925E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Staande golven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412FE8-0FB1-B4CF-9413-8012247D4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nl-NL" dirty="0"/>
              <a:t>wanneer lopende golf wordt teruggekaatst, kan er een staande golf ontstaan.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nl-NL" dirty="0"/>
              <a:t>vereist: lengte →veelvoud van halve golflengte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nl-NL" dirty="0"/>
              <a:t>golven in touw lopen constant door → ontstaat van versterking en uitdoving. altijd op zelfde plaatsen → knopen en buiken. </a:t>
            </a:r>
          </a:p>
          <a:p>
            <a:endParaRPr lang="nl-NL" dirty="0"/>
          </a:p>
          <a:p>
            <a:r>
              <a:rPr lang="nl-BE" dirty="0">
                <a:solidFill>
                  <a:schemeClr val="tx1"/>
                </a:solidFill>
                <a:hlinkClick r:id="rId2"/>
              </a:rPr>
              <a:t>ontstaan van staande golven</a:t>
            </a:r>
            <a:endParaRPr lang="nl-NL" dirty="0"/>
          </a:p>
          <a:p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31C9E16-1A10-CC8B-1617-07D9A6C45AF8}"/>
              </a:ext>
            </a:extLst>
          </p:cNvPr>
          <p:cNvSpPr txBox="1"/>
          <p:nvPr/>
        </p:nvSpPr>
        <p:spPr>
          <a:xfrm>
            <a:off x="1446087" y="5846544"/>
            <a:ext cx="11047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hlinkClick r:id="rId3"/>
              </a:rPr>
              <a:t>https://www.walter-fendt.de/html5/phnl/standingwavereflection_nl.htm</a:t>
            </a: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1999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Terugkaatsingsverschijnselen </a:t>
            </a:r>
            <a:br>
              <a:rPr lang="nl-BE" dirty="0"/>
            </a:br>
            <a:r>
              <a:rPr lang="nl-BE" dirty="0"/>
              <a:t>→ VAST UITEINDE 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253564" y="2349607"/>
            <a:ext cx="10233800" cy="4351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nl-BE" sz="3600" dirty="0"/>
              <a:t>Proef: </a:t>
            </a:r>
          </a:p>
          <a:p>
            <a:pPr lvl="1">
              <a:spcAft>
                <a:spcPts val="1800"/>
              </a:spcAft>
            </a:pPr>
            <a:r>
              <a:rPr lang="nl-BE" sz="2800" dirty="0"/>
              <a:t>Touw of rubberslang wordt aan 1 uiteinde vastgeklemd</a:t>
            </a:r>
          </a:p>
          <a:p>
            <a:pPr lvl="1">
              <a:spcAft>
                <a:spcPts val="1800"/>
              </a:spcAft>
            </a:pPr>
            <a:r>
              <a:rPr lang="nl-BE" sz="2800" dirty="0"/>
              <a:t>Aan ander uiteinde wordt puls opgewekt </a:t>
            </a:r>
            <a:br>
              <a:rPr lang="nl-BE" sz="2800" dirty="0"/>
            </a:br>
            <a:r>
              <a:rPr lang="nl-BE" sz="2800" dirty="0"/>
              <a:t>→ plant zich voort langs slang / touw</a:t>
            </a:r>
          </a:p>
          <a:p>
            <a:pPr lvl="1">
              <a:spcAft>
                <a:spcPts val="1800"/>
              </a:spcAft>
            </a:pPr>
            <a:r>
              <a:rPr lang="nl-BE" sz="2800" dirty="0"/>
              <a:t>Storing wordt in A teruggekaatst en is omgeklapt</a:t>
            </a:r>
          </a:p>
          <a:p>
            <a:pPr lvl="1"/>
            <a:endParaRPr lang="nl-BE" sz="24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1004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3" y="105104"/>
            <a:ext cx="9905998" cy="1905000"/>
          </a:xfrm>
        </p:spPr>
        <p:txBody>
          <a:bodyPr/>
          <a:lstStyle/>
          <a:p>
            <a:r>
              <a:rPr lang="nl-BE" dirty="0"/>
              <a:t>Terugkaatsingsverschijnselen </a:t>
            </a:r>
            <a:br>
              <a:rPr lang="nl-BE" dirty="0"/>
            </a:br>
            <a:r>
              <a:rPr lang="nl-BE" dirty="0"/>
              <a:t>→ VAST UITEINDE </a:t>
            </a:r>
            <a:endParaRPr lang="nl-NL" sz="1800" dirty="0"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061772" y="2260315"/>
            <a:ext cx="7056655" cy="438152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nl-BE" dirty="0"/>
              <a:t>Touw oefent op muur kracht naar boven uit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nl-BE" dirty="0"/>
              <a:t>Muur oefent even grote, maar tegengestelde </a:t>
            </a:r>
            <a:br>
              <a:rPr lang="nl-BE" dirty="0"/>
            </a:br>
            <a:r>
              <a:rPr lang="nl-BE" dirty="0"/>
              <a:t>kracht uit op touw </a:t>
            </a:r>
            <a:br>
              <a:rPr lang="nl-BE" dirty="0"/>
            </a:br>
            <a:r>
              <a:rPr lang="nl-BE" dirty="0"/>
              <a:t>→ 3</a:t>
            </a:r>
            <a:r>
              <a:rPr lang="nl-BE" baseline="30000" dirty="0"/>
              <a:t>e</a:t>
            </a:r>
            <a:r>
              <a:rPr lang="nl-BE" dirty="0"/>
              <a:t> wet van Newton (actie-reactie)</a:t>
            </a:r>
          </a:p>
          <a:p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8AC6F1C-23E9-F11E-AB94-B0E5C438232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9" y="1816359"/>
            <a:ext cx="4109922" cy="45312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864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3" y="105104"/>
            <a:ext cx="9905998" cy="1905000"/>
          </a:xfrm>
        </p:spPr>
        <p:txBody>
          <a:bodyPr/>
          <a:lstStyle/>
          <a:p>
            <a:r>
              <a:rPr lang="nl-BE" dirty="0"/>
              <a:t>Terugkaatsingsverschijnselen </a:t>
            </a:r>
            <a:br>
              <a:rPr lang="nl-BE" dirty="0"/>
            </a:br>
            <a:r>
              <a:rPr lang="nl-BE" dirty="0"/>
              <a:t>→ VAST UITEINDE </a:t>
            </a:r>
            <a:endParaRPr lang="nl-NL" sz="20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/>
              <p:cNvSpPr>
                <a:spLocks noGrp="1"/>
              </p:cNvSpPr>
              <p:nvPr>
                <p:ph idx="1"/>
              </p:nvPr>
            </p:nvSpPr>
            <p:spPr>
              <a:xfrm>
                <a:off x="5061772" y="2010104"/>
                <a:ext cx="7056655" cy="4631734"/>
              </a:xfrm>
            </p:spPr>
            <p:txBody>
              <a:bodyPr/>
              <a:lstStyle/>
              <a:p>
                <a:r>
                  <a:rPr lang="nl-BE" dirty="0"/>
                  <a:t>Besluit:</a:t>
                </a:r>
                <a:br>
                  <a:rPr lang="nl-BE" dirty="0"/>
                </a:br>
                <a:br>
                  <a:rPr lang="nl-BE" dirty="0"/>
                </a:br>
                <a:r>
                  <a:rPr lang="nl-BE" dirty="0"/>
                  <a:t>Terugkaatsing tegen vast uiteinde gebeurt met fasesprong van </a:t>
                </a:r>
                <a14:m>
                  <m:oMath xmlns:m="http://schemas.openxmlformats.org/officeDocument/2006/math">
                    <m:r>
                      <a:rPr lang="nl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nl-BE" dirty="0"/>
                  <a:t> rad</a:t>
                </a:r>
              </a:p>
            </p:txBody>
          </p:sp>
        </mc:Choice>
        <mc:Fallback xmlns="">
          <p:sp>
            <p:nvSpPr>
              <p:cNvPr id="3" name="Tijdelijke aanduiding voor inhou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1772" y="2010104"/>
                <a:ext cx="7056655" cy="463173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B94E1610-5A66-F3D9-1A51-CCE604088564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9" y="1816359"/>
            <a:ext cx="4109922" cy="45312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97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Terugkaatsingsverschijnselen </a:t>
            </a:r>
            <a:br>
              <a:rPr lang="nl-BE" dirty="0"/>
            </a:br>
            <a:r>
              <a:rPr lang="nl-BE" dirty="0"/>
              <a:t>→ Vrij UITEINDE 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2063" y="1825625"/>
            <a:ext cx="10901737" cy="4667250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nl-BE" sz="3600" dirty="0"/>
              <a:t>Proef: </a:t>
            </a:r>
          </a:p>
          <a:p>
            <a:pPr lvl="1">
              <a:spcAft>
                <a:spcPts val="1800"/>
              </a:spcAft>
            </a:pPr>
            <a:r>
              <a:rPr lang="nl-BE" sz="2800" dirty="0"/>
              <a:t>Touw of rubberslang wordt aan 1 uiteinde bevestigd met een vrij hangende ring → uiteinde kan vrij bewegen</a:t>
            </a:r>
          </a:p>
          <a:p>
            <a:pPr lvl="1">
              <a:spcAft>
                <a:spcPts val="1800"/>
              </a:spcAft>
            </a:pPr>
            <a:r>
              <a:rPr lang="nl-BE" sz="2800" dirty="0"/>
              <a:t>Aan ander uiteinde wordt puls opgewekt </a:t>
            </a:r>
            <a:br>
              <a:rPr lang="nl-BE" sz="2800" dirty="0"/>
            </a:br>
            <a:r>
              <a:rPr lang="nl-BE" sz="2800" dirty="0"/>
              <a:t>→ plant zich voort langs slang / touw</a:t>
            </a:r>
          </a:p>
          <a:p>
            <a:pPr lvl="1">
              <a:spcAft>
                <a:spcPts val="1800"/>
              </a:spcAft>
            </a:pPr>
            <a:r>
              <a:rPr lang="nl-BE" sz="2800" dirty="0"/>
              <a:t>Storing wordt in A teruggekaatst en is </a:t>
            </a:r>
            <a:r>
              <a:rPr lang="nl-BE" sz="2800" u="sng" dirty="0"/>
              <a:t>niet</a:t>
            </a:r>
            <a:r>
              <a:rPr lang="nl-BE" sz="2800" dirty="0"/>
              <a:t> omgeklapt</a:t>
            </a:r>
          </a:p>
          <a:p>
            <a:pPr lvl="1"/>
            <a:endParaRPr lang="nl-BE" sz="24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5136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4112" y="365125"/>
            <a:ext cx="11856378" cy="1325563"/>
          </a:xfrm>
        </p:spPr>
        <p:txBody>
          <a:bodyPr>
            <a:normAutofit fontScale="90000"/>
          </a:bodyPr>
          <a:lstStyle/>
          <a:p>
            <a:r>
              <a:rPr lang="nl-BE" dirty="0"/>
              <a:t>Terugkaatsingsverschijnselen </a:t>
            </a:r>
            <a:br>
              <a:rPr lang="nl-BE" dirty="0"/>
            </a:br>
            <a:r>
              <a:rPr lang="nl-BE" dirty="0"/>
              <a:t>→ Vrij UITEINDE 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32149" y="2015845"/>
            <a:ext cx="7223823" cy="46031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nl-BE" dirty="0"/>
              <a:t>Touw hangt aan vrij hangende ring rond staaf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nl-BE" dirty="0"/>
              <a:t>Ring ondervindt kracht naar boven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nl-BE" dirty="0"/>
              <a:t>Ring zakt terug en stuurt golf in andere zin</a:t>
            </a:r>
            <a:endParaRPr lang="nl-BE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41" y="1889711"/>
            <a:ext cx="3328779" cy="4603164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ED9BE112-128D-5EB9-48B2-F2B87DB080AD}"/>
              </a:ext>
            </a:extLst>
          </p:cNvPr>
          <p:cNvSpPr txBox="1"/>
          <p:nvPr/>
        </p:nvSpPr>
        <p:spPr>
          <a:xfrm>
            <a:off x="4432149" y="5291739"/>
            <a:ext cx="11047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hlinkClick r:id="rId3"/>
              </a:rPr>
              <a:t>https://www.walter-fendt.de/html5/phnl/standingwavereflection_nl.htm</a:t>
            </a: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57854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Terugkaatsingsverschijnselen </a:t>
            </a:r>
            <a:br>
              <a:rPr lang="nl-BE" dirty="0"/>
            </a:br>
            <a:r>
              <a:rPr lang="nl-BE" dirty="0"/>
              <a:t>→ Vrij UITEINDE </a:t>
            </a:r>
            <a:endParaRPr lang="nl-NL" dirty="0"/>
          </a:p>
        </p:txBody>
      </p:sp>
      <p:sp>
        <p:nvSpPr>
          <p:cNvPr id="6" name="Tijdelijke aanduiding voor inhoud 2"/>
          <p:cNvSpPr>
            <a:spLocks noGrp="1"/>
          </p:cNvSpPr>
          <p:nvPr>
            <p:ph idx="1"/>
          </p:nvPr>
        </p:nvSpPr>
        <p:spPr>
          <a:xfrm>
            <a:off x="4305029" y="2026119"/>
            <a:ext cx="7823911" cy="4592890"/>
          </a:xfrm>
        </p:spPr>
        <p:txBody>
          <a:bodyPr/>
          <a:lstStyle/>
          <a:p>
            <a:r>
              <a:rPr lang="nl-BE" dirty="0"/>
              <a:t>Besluit:</a:t>
            </a:r>
            <a:br>
              <a:rPr lang="nl-BE" dirty="0"/>
            </a:br>
            <a:br>
              <a:rPr lang="nl-BE" dirty="0"/>
            </a:br>
            <a:r>
              <a:rPr lang="nl-BE" dirty="0"/>
              <a:t>Terugkaatsing tegen vrij uiteinde gebeurt </a:t>
            </a:r>
            <a:br>
              <a:rPr lang="nl-BE" dirty="0"/>
            </a:br>
            <a:r>
              <a:rPr lang="nl-BE" dirty="0"/>
              <a:t>zonder fasesprong</a:t>
            </a: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9985"/>
            <a:ext cx="3321349" cy="459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97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49B26-631E-CE04-2517-FC4ECC0F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Einde 22/4/26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9348B0E-8693-1D12-2C23-93C940B31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2984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983031" y="304800"/>
            <a:ext cx="90753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nl-NL" altLang="nl-NL" sz="3200" dirty="0"/>
              <a:t>Staande golf → kwalitatieve beschrijving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4340772" y="1341565"/>
            <a:ext cx="78512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nl-NL" altLang="nl-NL" sz="2400" dirty="0"/>
              <a:t>Staande golf is opgebouwd uit interfererende heen- en teruggaande (weerkaatste) golven die resulteren in “stilstaande” golf.</a:t>
            </a: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4340772" y="3040066"/>
            <a:ext cx="46095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nl-NL" altLang="nl-NL" sz="2400" dirty="0"/>
              <a:t>maximale uitwijking → buik</a:t>
            </a: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4340772" y="3907570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nl-NL" altLang="nl-NL" sz="2400" dirty="0"/>
              <a:t>uitwijking = 0 → knoop</a:t>
            </a: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69" y="1341565"/>
            <a:ext cx="3652032" cy="513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3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  <p:bldP spid="41989" grpId="0" autoUpdateAnimBg="0"/>
      <p:bldP spid="4199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5" name="Text Box 13"/>
          <p:cNvSpPr txBox="1">
            <a:spLocks noChangeArrowheads="1"/>
          </p:cNvSpPr>
          <p:nvPr/>
        </p:nvSpPr>
        <p:spPr bwMode="auto">
          <a:xfrm>
            <a:off x="4334435" y="1655782"/>
            <a:ext cx="44958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nl-NL" altLang="nl-NL" sz="2400" dirty="0"/>
              <a:t>a: fundamentele of eerste harmonische frequentie </a:t>
            </a:r>
          </a:p>
          <a:p>
            <a:pPr>
              <a:spcBef>
                <a:spcPct val="50000"/>
              </a:spcBef>
            </a:pPr>
            <a:endParaRPr lang="nl-NL" altLang="nl-NL" sz="3200" dirty="0"/>
          </a:p>
          <a:p>
            <a:pPr>
              <a:spcBef>
                <a:spcPct val="50000"/>
              </a:spcBef>
            </a:pPr>
            <a:r>
              <a:rPr lang="nl-NL" altLang="nl-NL" sz="2400" dirty="0"/>
              <a:t>b: eerste boventoon of tweede harmonische frequentie</a:t>
            </a:r>
          </a:p>
          <a:p>
            <a:pPr>
              <a:spcBef>
                <a:spcPct val="50000"/>
              </a:spcBef>
            </a:pPr>
            <a:endParaRPr lang="nl-BE" altLang="nl-NL" sz="2400" dirty="0"/>
          </a:p>
          <a:p>
            <a:pPr>
              <a:spcBef>
                <a:spcPct val="50000"/>
              </a:spcBef>
            </a:pPr>
            <a:r>
              <a:rPr lang="nl-NL" altLang="nl-NL" sz="2400" dirty="0"/>
              <a:t>c: tweede boventoon of derde harmonische frequentie</a:t>
            </a:r>
          </a:p>
        </p:txBody>
      </p:sp>
      <p:sp>
        <p:nvSpPr>
          <p:cNvPr id="44046" name="Text Box 14"/>
          <p:cNvSpPr txBox="1">
            <a:spLocks noChangeArrowheads="1"/>
          </p:cNvSpPr>
          <p:nvPr/>
        </p:nvSpPr>
        <p:spPr bwMode="auto">
          <a:xfrm>
            <a:off x="8610600" y="1904513"/>
            <a:ext cx="1371600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nl-NL" altLang="nl-NL" sz="2400" dirty="0"/>
              <a:t>f</a:t>
            </a:r>
            <a:r>
              <a:rPr lang="nl-NL" altLang="nl-NL" sz="2400" baseline="-25000" dirty="0"/>
              <a:t>1</a:t>
            </a:r>
          </a:p>
          <a:p>
            <a:pPr>
              <a:spcBef>
                <a:spcPct val="50000"/>
              </a:spcBef>
            </a:pPr>
            <a:endParaRPr lang="nl-NL" altLang="nl-NL" dirty="0"/>
          </a:p>
        </p:txBody>
      </p:sp>
      <p:sp>
        <p:nvSpPr>
          <p:cNvPr id="44047" name="Rectangle 15"/>
          <p:cNvSpPr>
            <a:spLocks noChangeArrowheads="1"/>
          </p:cNvSpPr>
          <p:nvPr/>
        </p:nvSpPr>
        <p:spPr bwMode="auto">
          <a:xfrm>
            <a:off x="8610600" y="3722904"/>
            <a:ext cx="457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nl-NL" altLang="nl-NL" sz="2400" dirty="0"/>
              <a:t>f</a:t>
            </a:r>
            <a:r>
              <a:rPr lang="nl-NL" altLang="nl-NL" sz="2400" baseline="-25000" dirty="0"/>
              <a:t>2</a:t>
            </a:r>
            <a:r>
              <a:rPr lang="nl-NL" altLang="nl-NL" sz="2400" dirty="0"/>
              <a:t>=2f</a:t>
            </a:r>
            <a:r>
              <a:rPr lang="nl-NL" altLang="nl-NL" sz="2400" baseline="-25000" dirty="0"/>
              <a:t>1</a:t>
            </a:r>
          </a:p>
        </p:txBody>
      </p:sp>
      <p:sp>
        <p:nvSpPr>
          <p:cNvPr id="44048" name="Rectangle 16"/>
          <p:cNvSpPr>
            <a:spLocks noChangeArrowheads="1"/>
          </p:cNvSpPr>
          <p:nvPr/>
        </p:nvSpPr>
        <p:spPr bwMode="auto">
          <a:xfrm>
            <a:off x="8610600" y="5601416"/>
            <a:ext cx="9605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nl-NL" altLang="nl-NL" sz="2400" dirty="0"/>
              <a:t>f</a:t>
            </a:r>
            <a:r>
              <a:rPr lang="nl-NL" altLang="nl-NL" sz="2400" baseline="-25000" dirty="0"/>
              <a:t>3</a:t>
            </a:r>
            <a:r>
              <a:rPr lang="nl-NL" altLang="nl-NL" sz="2400" dirty="0"/>
              <a:t>=3f</a:t>
            </a:r>
            <a:r>
              <a:rPr lang="nl-NL" altLang="nl-NL" sz="2400" baseline="-25000" dirty="0"/>
              <a:t>1</a:t>
            </a:r>
          </a:p>
        </p:txBody>
      </p:sp>
      <p:pic>
        <p:nvPicPr>
          <p:cNvPr id="12" name="Afbeelding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69" y="1341565"/>
            <a:ext cx="3652032" cy="5132011"/>
          </a:xfrm>
          <a:prstGeom prst="rect">
            <a:avLst/>
          </a:prstGeom>
        </p:spPr>
      </p:pic>
      <p:sp>
        <p:nvSpPr>
          <p:cNvPr id="2" name="Rechthoek 1"/>
          <p:cNvSpPr/>
          <p:nvPr/>
        </p:nvSpPr>
        <p:spPr>
          <a:xfrm>
            <a:off x="700158" y="339769"/>
            <a:ext cx="101964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nl-NL" altLang="nl-NL" sz="3200" dirty="0"/>
              <a:t>Staande golf → kwalitatieve beschrijving</a:t>
            </a:r>
          </a:p>
        </p:txBody>
      </p:sp>
    </p:spTree>
    <p:extLst>
      <p:ext uri="{BB962C8B-B14F-4D97-AF65-F5344CB8AC3E}">
        <p14:creationId xmlns:p14="http://schemas.microsoft.com/office/powerpoint/2010/main" val="24046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5" grpId="0" autoUpdateAnimBg="0"/>
      <p:bldP spid="44046" grpId="0" autoUpdateAnimBg="0"/>
      <p:bldP spid="44047" grpId="0" autoUpdateAnimBg="0"/>
      <p:bldP spid="4404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8056" y="37689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nl-BE" dirty="0"/>
              <a:t>Ligging van buiken en knopen</a:t>
            </a:r>
            <a:br>
              <a:rPr lang="nl-BE" dirty="0"/>
            </a:br>
            <a:r>
              <a:rPr lang="nl-BE" dirty="0"/>
              <a:t>→ </a:t>
            </a:r>
            <a:r>
              <a:rPr lang="nl-BE" dirty="0">
                <a:solidFill>
                  <a:srgbClr val="FFFF00"/>
                </a:solidFill>
              </a:rPr>
              <a:t>onbegrensd touw </a:t>
            </a:r>
            <a:endParaRPr lang="nl-NL" dirty="0">
              <a:solidFill>
                <a:srgbClr val="FFFF00"/>
              </a:solidFill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200" y="2055813"/>
            <a:ext cx="9905998" cy="5377992"/>
          </a:xfrm>
        </p:spPr>
        <p:txBody>
          <a:bodyPr>
            <a:normAutofit/>
          </a:bodyPr>
          <a:lstStyle/>
          <a:p>
            <a:pPr lvl="1"/>
            <a:r>
              <a:rPr lang="nl-BE" sz="2400" dirty="0"/>
              <a:t>De punten met maximale amplitude liggen op plaatsen, gegeven door:</a:t>
            </a:r>
          </a:p>
          <a:p>
            <a:pPr marL="914400" lvl="2" indent="0">
              <a:buNone/>
            </a:pPr>
            <a:endParaRPr lang="nl-BE" dirty="0">
              <a:latin typeface="Birch Std" panose="03060502040705060204" pitchFamily="66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nl-BE" dirty="0">
              <a:latin typeface="Birch Std" panose="03060502040705060204" pitchFamily="66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nl-BE" dirty="0">
              <a:latin typeface="Birch Std" panose="03060502040705060204" pitchFamily="66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nl-BE" dirty="0">
              <a:latin typeface="Birch Std" panose="03060502040705060204" pitchFamily="66" charset="0"/>
              <a:cs typeface="Times New Roman" panose="02020603050405020304" pitchFamily="18" charset="0"/>
            </a:endParaRPr>
          </a:p>
          <a:p>
            <a:pPr lvl="1"/>
            <a:r>
              <a:rPr lang="nl-BE" dirty="0"/>
              <a:t>We vinden ze dus, bij een bepaalde golflengte, op de volgende plaatsen:</a:t>
            </a:r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r>
              <a:rPr lang="nl-BE" sz="2400" dirty="0"/>
              <a:t>Z</a:t>
            </a:r>
            <a:r>
              <a:rPr lang="nl-BE" dirty="0"/>
              <a:t>e worden “buiken” genoemd. De amplitude is daar 2.A</a:t>
            </a:r>
            <a:endParaRPr lang="nl-BE" sz="2400" dirty="0"/>
          </a:p>
          <a:p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FCD8856-DD9E-405A-AD0C-2DFFD85B1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10" y="2638083"/>
            <a:ext cx="2386846" cy="1092773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4A20F02C-9C3C-42B3-8FDD-621A7BF74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847" y="4313125"/>
            <a:ext cx="3404305" cy="1121096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B0BF621B-8863-48FB-91E1-D59300820E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334" b="6378"/>
          <a:stretch/>
        </p:blipFill>
        <p:spPr>
          <a:xfrm>
            <a:off x="8539968" y="0"/>
            <a:ext cx="3652032" cy="134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49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Ligging van buiken en knopen</a:t>
            </a:r>
            <a:br>
              <a:rPr lang="nl-BE" dirty="0"/>
            </a:br>
            <a:r>
              <a:rPr lang="nl-BE" dirty="0"/>
              <a:t>→ </a:t>
            </a:r>
            <a:r>
              <a:rPr lang="nl-BE" dirty="0">
                <a:solidFill>
                  <a:srgbClr val="FFFF00"/>
                </a:solidFill>
              </a:rPr>
              <a:t>onbegrensd touw 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141412" y="1690688"/>
            <a:ext cx="9905998" cy="5377992"/>
          </a:xfrm>
        </p:spPr>
        <p:txBody>
          <a:bodyPr>
            <a:normAutofit/>
          </a:bodyPr>
          <a:lstStyle/>
          <a:p>
            <a:pPr lvl="1"/>
            <a:r>
              <a:rPr lang="nl-BE" sz="2400" dirty="0"/>
              <a:t>De punten met Minimale amplitude liggen op plaatsen, gegeven door:</a:t>
            </a:r>
          </a:p>
          <a:p>
            <a:pPr marL="914400" lvl="2" indent="0">
              <a:buNone/>
            </a:pPr>
            <a:endParaRPr lang="nl-BE" dirty="0">
              <a:latin typeface="Birch Std" panose="03060502040705060204" pitchFamily="66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nl-BE" dirty="0">
              <a:latin typeface="Birch Std" panose="03060502040705060204" pitchFamily="66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nl-BE" dirty="0">
              <a:latin typeface="Birch Std" panose="03060502040705060204" pitchFamily="66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nl-BE" dirty="0">
              <a:latin typeface="Birch Std" panose="03060502040705060204" pitchFamily="66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nl-BE" dirty="0">
              <a:latin typeface="Birch Std" panose="03060502040705060204" pitchFamily="66" charset="0"/>
              <a:cs typeface="Times New Roman" panose="02020603050405020304" pitchFamily="18" charset="0"/>
            </a:endParaRPr>
          </a:p>
          <a:p>
            <a:pPr lvl="1"/>
            <a:r>
              <a:rPr lang="nl-BE" dirty="0"/>
              <a:t>We vinden ze dus, bij een bepaalde golflengte, op de volgende plaatsen:</a:t>
            </a:r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r>
              <a:rPr lang="nl-BE" sz="2400" dirty="0"/>
              <a:t>Z</a:t>
            </a:r>
            <a:r>
              <a:rPr lang="nl-BE" dirty="0"/>
              <a:t>e worden “knopen” genoemd. De amplitude is daar 0</a:t>
            </a:r>
            <a:endParaRPr lang="nl-BE" sz="2400" dirty="0"/>
          </a:p>
          <a:p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D4FF9AA-B4AF-4F3E-A954-0678CF3B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271" y="2113559"/>
            <a:ext cx="1884281" cy="1315441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EBBB6E0D-1424-4973-A93D-B4E24A3DB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071" y="4252037"/>
            <a:ext cx="3235857" cy="111457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29437990-AA17-45E0-8BC7-B5A22C80D5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334" b="6378"/>
          <a:stretch/>
        </p:blipFill>
        <p:spPr>
          <a:xfrm>
            <a:off x="8539968" y="0"/>
            <a:ext cx="3652032" cy="134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96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altLang="nl-NL" dirty="0"/>
              <a:t>Staande golf op een begrensd touw → kwantitatieve Beschrijving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881918" y="2009086"/>
            <a:ext cx="7205116" cy="4100202"/>
          </a:xfrm>
        </p:spPr>
        <p:txBody>
          <a:bodyPr/>
          <a:lstStyle/>
          <a:p>
            <a:r>
              <a:rPr lang="nl-BE" dirty="0"/>
              <a:t>Op touw met eindige afmetingen en vaste eindpunten treden staande golven op indien:</a:t>
            </a:r>
          </a:p>
          <a:p>
            <a:endParaRPr lang="nl-BE" sz="1200" dirty="0"/>
          </a:p>
          <a:p>
            <a:endParaRPr lang="nl-BE" dirty="0"/>
          </a:p>
          <a:p>
            <a:r>
              <a:rPr lang="nl-BE" dirty="0"/>
              <a:t>Frequenties waarbij staande golven opgewekt kunnen worden:</a:t>
            </a:r>
          </a:p>
          <a:p>
            <a:endParaRPr lang="nl-BE" dirty="0"/>
          </a:p>
          <a:p>
            <a:endParaRPr lang="nl-NL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7" r="17241"/>
          <a:stretch/>
        </p:blipFill>
        <p:spPr bwMode="auto">
          <a:xfrm>
            <a:off x="838200" y="2009086"/>
            <a:ext cx="3746244" cy="4319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6096000" y="2967438"/>
                <a:ext cx="5323489" cy="8613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nl-B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nl-BE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nl-B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nl-BE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BE" b="0" dirty="0"/>
                  <a:t>         </a:t>
                </a:r>
                <a14:m>
                  <m:oMath xmlns:m="http://schemas.openxmlformats.org/officeDocument/2006/math"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nl-B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nl-B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nl-BE" b="0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67438"/>
                <a:ext cx="5323489" cy="8613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hoek 5"/>
              <p:cNvSpPr/>
              <p:nvPr/>
            </p:nvSpPr>
            <p:spPr>
              <a:xfrm>
                <a:off x="6532179" y="4787179"/>
                <a:ext cx="1392432" cy="6199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nl-B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BE" sz="2000" i="1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nl-B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nl-BE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nl-BE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nl-NL" sz="2000" dirty="0"/>
              </a:p>
            </p:txBody>
          </p:sp>
        </mc:Choice>
        <mc:Fallback xmlns="">
          <p:sp>
            <p:nvSpPr>
              <p:cNvPr id="6" name="Rechthoek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179" y="4787179"/>
                <a:ext cx="1392432" cy="619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309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Oefening</a:t>
            </a:r>
            <a:r>
              <a:rPr dirty="0"/>
              <a:t> </a:t>
            </a:r>
            <a:r>
              <a:rPr lang="nl-BE" dirty="0"/>
              <a:t>1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Een snaar trilt in de tweede harmonische.</a:t>
                </a:r>
              </a:p>
              <a:p>
                <a:pPr lvl="0"/>
                <a:r>
                  <a:t>Lengte van de snaar: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𝐿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8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/>
                      <m:t>m</m:t>
                    </m:r>
                  </m:oMath>
                </a14:m>
                <a:r>
                  <a:t>.</a:t>
                </a:r>
              </a:p>
              <a:p>
                <a:pPr lvl="0"/>
                <a:r>
                  <a:t>Golfsnelheid: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40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/>
                      <m:t>m</m:t>
                    </m:r>
                    <m:r>
                      <m:rPr>
                        <m:nor/>
                      </m:rPr>
                      <a:rPr/>
                      <m:t>/</m:t>
                    </m:r>
                    <m:r>
                      <m:rPr>
                        <m:nor/>
                      </m:rPr>
                      <a:rPr/>
                      <m:t>s</m:t>
                    </m:r>
                  </m:oMath>
                </a14:m>
                <a:r>
                  <a:t>.</a:t>
                </a:r>
              </a:p>
              <a:p>
                <a:pPr lvl="0"/>
                <a:r>
                  <a:t>Bereken de frequentie.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Oplossing</a:t>
            </a:r>
            <a:r>
              <a:rPr dirty="0"/>
              <a:t> </a:t>
            </a:r>
            <a:r>
              <a:rPr dirty="0" err="1"/>
              <a:t>Oefening</a:t>
            </a:r>
            <a:r>
              <a:rPr dirty="0"/>
              <a:t> </a:t>
            </a:r>
            <a:r>
              <a:rPr lang="nl-BE" dirty="0"/>
              <a:t>1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 err="1"/>
                  <a:t>Formule</a:t>
                </a:r>
                <a:r>
                  <a:rPr dirty="0"/>
                  <a:t> </a:t>
                </a:r>
                <a:r>
                  <a:rPr dirty="0" err="1"/>
                  <a:t>voor</a:t>
                </a:r>
                <a:r>
                  <a:rPr dirty="0"/>
                  <a:t> de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dirty="0"/>
                  <a:t>-de </a:t>
                </a:r>
                <a:r>
                  <a:rPr dirty="0" err="1"/>
                  <a:t>harmonische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Voor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/>
                        <m:t>Hz</m:t>
                      </m:r>
                      <m:r>
                        <m:rPr>
                          <m:nor/>
                        </m:rPr>
                        <a:rPr lang="nl-BE" b="0" i="0" smtClean="0"/>
                        <m:t>= </m:t>
                      </m:r>
                      <m:r>
                        <m:rPr>
                          <m:nor/>
                        </m:rPr>
                        <a:rPr lang="nl-BE" b="0" i="0" smtClean="0"/>
                        <m:t>5</m:t>
                      </m:r>
                      <m:r>
                        <m:rPr>
                          <m:nor/>
                        </m:rPr>
                        <a:rPr lang="nl-BE" b="0" i="0" smtClean="0"/>
                        <m:t>.</m:t>
                      </m:r>
                      <m:r>
                        <m:rPr>
                          <m:nor/>
                        </m:rPr>
                        <a:rPr lang="nl-BE" b="0" i="0" smtClean="0"/>
                        <m:t>10 </m:t>
                      </m:r>
                      <m:r>
                        <m:rPr>
                          <m:nor/>
                        </m:rPr>
                        <a:rPr lang="nl-BE" b="0" i="0" smtClean="0"/>
                        <m:t>Hz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Oefening</a:t>
            </a:r>
            <a:r>
              <a:rPr dirty="0"/>
              <a:t> </a:t>
            </a:r>
            <a:r>
              <a:rPr lang="nl-BE" dirty="0"/>
              <a:t>2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Een staande golf heeft 3 knopen (inclusief uiteinden).</a:t>
                </a:r>
              </a:p>
              <a:p>
                <a:pPr lvl="0"/>
                <a:r>
                  <a:t>Lengte van het touw: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𝐿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5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/>
                      <m:t>m</m:t>
                    </m:r>
                  </m:oMath>
                </a14:m>
                <a:r>
                  <a:t>.</a:t>
                </a:r>
              </a:p>
              <a:p>
                <a:pPr lvl="0"/>
                <a:r>
                  <a:t>Golfsnelheid: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45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/>
                      <m:t>m</m:t>
                    </m:r>
                    <m:r>
                      <m:rPr>
                        <m:nor/>
                      </m:rPr>
                      <a:rPr/>
                      <m:t>/</m:t>
                    </m:r>
                    <m:r>
                      <m:rPr>
                        <m:nor/>
                      </m:rPr>
                      <a:rPr/>
                      <m:t>s</m:t>
                    </m:r>
                  </m:oMath>
                </a14:m>
                <a:r>
                  <a:t>.</a:t>
                </a:r>
              </a:p>
              <a:p>
                <a:pPr lvl="0"/>
                <a:r>
                  <a:t>Bereken de frequentie.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Oplossing</a:t>
            </a:r>
            <a:r>
              <a:rPr dirty="0"/>
              <a:t> </a:t>
            </a:r>
            <a:r>
              <a:rPr dirty="0" err="1"/>
              <a:t>Oefening</a:t>
            </a:r>
            <a:r>
              <a:rPr dirty="0"/>
              <a:t> </a:t>
            </a:r>
            <a:r>
              <a:rPr lang="nl-BE" dirty="0"/>
              <a:t>2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0000" y="1690688"/>
                <a:ext cx="10233800" cy="435133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nl-BE" dirty="0"/>
                  <a:t>Aantal </a:t>
                </a:r>
                <a:r>
                  <a:rPr lang="nl-BE" dirty="0" err="1"/>
                  <a:t>knopen</a:t>
                </a:r>
                <a:r>
                  <a:rPr lang="nl-BE" dirty="0"/>
                  <a:t> = 3 →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nl-BE" dirty="0"/>
                  <a:t> (</a:t>
                </a:r>
                <a:r>
                  <a:rPr lang="nl-BE" dirty="0" err="1"/>
                  <a:t>tweede</a:t>
                </a:r>
                <a:r>
                  <a:rPr lang="nl-BE" dirty="0"/>
                  <a:t> </a:t>
                </a:r>
                <a:r>
                  <a:rPr lang="nl-BE" dirty="0" err="1"/>
                  <a:t>harmonische</a:t>
                </a:r>
                <a:r>
                  <a:rPr lang="nl-BE" dirty="0"/>
                  <a:t>).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BE" b="0" i="0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nl-BE"/>
                        <m:t>Hz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1690688"/>
                <a:ext cx="102338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3" y="-231227"/>
            <a:ext cx="9905998" cy="1676400"/>
          </a:xfrm>
        </p:spPr>
        <p:txBody>
          <a:bodyPr/>
          <a:lstStyle/>
          <a:p>
            <a:r>
              <a:rPr lang="nl-BE" dirty="0"/>
              <a:t>Proef van melde → zelf uitvoeren</a:t>
            </a:r>
            <a:endParaRPr lang="nl-NL" dirty="0"/>
          </a:p>
        </p:txBody>
      </p:sp>
      <p:pic>
        <p:nvPicPr>
          <p:cNvPr id="3074" name="Picture 2" descr="https://www.patana.ac.th/secondary/science/anrophysics/ntopic11/images/melde.pn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56" y="1585807"/>
            <a:ext cx="5405919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inhoud 2"/>
          <p:cNvSpPr>
            <a:spLocks noGrp="1"/>
          </p:cNvSpPr>
          <p:nvPr>
            <p:ph idx="1"/>
          </p:nvPr>
        </p:nvSpPr>
        <p:spPr>
          <a:xfrm>
            <a:off x="6010330" y="1585807"/>
            <a:ext cx="6657263" cy="4790209"/>
          </a:xfrm>
        </p:spPr>
        <p:txBody>
          <a:bodyPr/>
          <a:lstStyle/>
          <a:p>
            <a:r>
              <a:rPr lang="nl-BE" dirty="0"/>
              <a:t>Zoek de eerste, tweede en derde harmonische frequentie</a:t>
            </a:r>
            <a:r>
              <a:rPr lang="nl-NL" dirty="0"/>
              <a:t> voor:</a:t>
            </a:r>
          </a:p>
          <a:p>
            <a:pPr lvl="1"/>
            <a:r>
              <a:rPr lang="nl-BE" dirty="0"/>
              <a:t>3 verschillende lengtes </a:t>
            </a:r>
          </a:p>
          <a:p>
            <a:pPr lvl="1"/>
            <a:r>
              <a:rPr lang="nl-BE" dirty="0"/>
              <a:t>3 verschillende spanningen</a:t>
            </a:r>
          </a:p>
          <a:p>
            <a:pPr lvl="1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16115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Toetsdoelen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Tijdens de toets tonen jullie aan dat je de kerninzichten en basisvaardigheden beheerst. Op de </a:t>
            </a:r>
            <a:r>
              <a:rPr b="1"/>
              <a:t>volgende slide</a:t>
            </a:r>
            <a:r>
              <a:t> vind je een checklist met “Ik kan …”-uitspraken.</a:t>
            </a:r>
            <a:br/>
            <a:r>
              <a:t>- Gebruik </a:t>
            </a:r>
            <a:r>
              <a:rPr b="1"/>
              <a:t>Tijdens studeren</a:t>
            </a:r>
            <a:r>
              <a:t> om te plannen wat je al beheerst en wat je nog moet inoefenen.</a:t>
            </a:r>
            <a:br/>
            <a:r>
              <a:t>- Gebruik </a:t>
            </a:r>
            <a:r>
              <a:rPr b="1"/>
              <a:t>Na de toets</a:t>
            </a:r>
            <a:r>
              <a:t> om te reflecteren: wat ging goed, wat niet, en waarom?</a:t>
            </a:r>
            <a:br/>
            <a:r>
              <a:t>- Gebruik </a:t>
            </a:r>
            <a:r>
              <a:rPr b="1"/>
              <a:t>Voor examen</a:t>
            </a:r>
            <a:r>
              <a:t> om gerichte herhaling te plannen, op basis van je reflectie en feedback.</a:t>
            </a:r>
          </a:p>
        </p:txBody>
      </p:sp>
    </p:spTree>
    <p:extLst>
      <p:ext uri="{BB962C8B-B14F-4D97-AF65-F5344CB8AC3E}">
        <p14:creationId xmlns:p14="http://schemas.microsoft.com/office/powerpoint/2010/main" val="3186261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Toetsdoelen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38706"/>
              </p:ext>
            </p:extLst>
          </p:nvPr>
        </p:nvGraphicFramePr>
        <p:xfrm>
          <a:off x="126715" y="1600628"/>
          <a:ext cx="1193857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9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Ik </a:t>
                      </a:r>
                      <a:r>
                        <a:rPr dirty="0" err="1"/>
                        <a:t>kan</a:t>
                      </a:r>
                      <a:r>
                        <a:rPr dirty="0"/>
                        <a:t>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Tijdens studeren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Na de toets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Voor 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uitleggen hoe staande golven ontstaan door interferentie van heen- en teruglopende golven.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knopen en buiken herkennen/tekenen en hun betekenis toelichten.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het verschil verklaren tussen terugkaatsing aan een vast en vrij uiteinde, incl. fasesprong.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de relatie tussen frequentie, golflengte en lengte van het medium toepassen om staande golven te voorspellen.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… </a:t>
                      </a:r>
                      <a:r>
                        <a:rPr dirty="0" err="1"/>
                        <a:t>voor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begrensd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touw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harmonischen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berekenen</a:t>
                      </a:r>
                      <a:r>
                        <a:rPr dirty="0"/>
                        <a:t> (fₙ</a:t>
                      </a:r>
                      <a:r>
                        <a:rPr lang="nl-BE" dirty="0"/>
                        <a:t>)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voorwaarde</a:t>
                      </a:r>
                      <a:r>
                        <a:rPr dirty="0"/>
                        <a:t> L = </a:t>
                      </a:r>
                      <a:r>
                        <a:rPr dirty="0" err="1"/>
                        <a:t>n·λ</a:t>
                      </a:r>
                      <a:r>
                        <a:rPr dirty="0"/>
                        <a:t>/2 </a:t>
                      </a:r>
                      <a:r>
                        <a:rPr dirty="0" err="1"/>
                        <a:t>gebruiken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409477"/>
      </p:ext>
    </p:extLst>
  </p:cSld>
  <p:clrMapOvr>
    <a:masterClrMapping/>
  </p:clrMapOvr>
</p:sld>
</file>

<file path=ppt/theme/theme1.xml><?xml version="1.0" encoding="utf-8"?>
<a:theme xmlns:a="http://schemas.openxmlformats.org/drawingml/2006/main" name="Diepte">
  <a:themeElements>
    <a:clrScheme name="Diept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iept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ept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Diepte</Template>
  <TotalTime>300</TotalTime>
  <Words>1021</Words>
  <Application>Microsoft Office PowerPoint</Application>
  <PresentationFormat>Breedbeeld</PresentationFormat>
  <Paragraphs>146</Paragraphs>
  <Slides>23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8" baseType="lpstr">
      <vt:lpstr>Arial</vt:lpstr>
      <vt:lpstr>Birch Std</vt:lpstr>
      <vt:lpstr>Cambria Math</vt:lpstr>
      <vt:lpstr>Corbel</vt:lpstr>
      <vt:lpstr>Diepte</vt:lpstr>
      <vt:lpstr>Staande golven</vt:lpstr>
      <vt:lpstr>Lesdoelen</vt:lpstr>
      <vt:lpstr>Inhoudsopgave</vt:lpstr>
      <vt:lpstr>Staande golven</vt:lpstr>
      <vt:lpstr>Terugkaatsingsverschijnselen  → VAST UITEINDE </vt:lpstr>
      <vt:lpstr>Terugkaatsingsverschijnselen  → VAST UITEINDE </vt:lpstr>
      <vt:lpstr>Terugkaatsingsverschijnselen  → VAST UITEINDE </vt:lpstr>
      <vt:lpstr>Terugkaatsingsverschijnselen  → Vrij UITEINDE </vt:lpstr>
      <vt:lpstr>Terugkaatsingsverschijnselen  → Vrij UITEINDE </vt:lpstr>
      <vt:lpstr>Terugkaatsingsverschijnselen  → Vrij UITEINDE </vt:lpstr>
      <vt:lpstr>Einde 22/4/26</vt:lpstr>
      <vt:lpstr>PowerPoint-presentatie</vt:lpstr>
      <vt:lpstr>PowerPoint-presentatie</vt:lpstr>
      <vt:lpstr>Ligging van buiken en knopen → onbegrensd touw </vt:lpstr>
      <vt:lpstr>Ligging van buiken en knopen → onbegrensd touw </vt:lpstr>
      <vt:lpstr>Staande golf op een begrensd touw → kwantitatieve Beschrijving</vt:lpstr>
      <vt:lpstr>Oefening 1</vt:lpstr>
      <vt:lpstr>Oplossing Oefening 1</vt:lpstr>
      <vt:lpstr>Oefening 2</vt:lpstr>
      <vt:lpstr>Oplossing Oefening 2</vt:lpstr>
      <vt:lpstr>Proef van melde → zelf uitvoeren</vt:lpstr>
      <vt:lpstr>Toetsdoelen</vt:lpstr>
      <vt:lpstr>Toetsdoelen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Staande golven</dc:title>
  <dc:creator>Koen De Belie</dc:creator>
  <cp:lastModifiedBy>Koen DE BELIE</cp:lastModifiedBy>
  <cp:revision>38</cp:revision>
  <dcterms:created xsi:type="dcterms:W3CDTF">2016-05-27T19:34:51Z</dcterms:created>
  <dcterms:modified xsi:type="dcterms:W3CDTF">2026-04-23T07:22:07Z</dcterms:modified>
</cp:coreProperties>
</file>