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notesMasterIdLst>
    <p:notesMasterId r:id="rId29"/>
  </p:notesMasterIdLst>
  <p:sldIdLst>
    <p:sldId id="256" r:id="rId2"/>
    <p:sldId id="320" r:id="rId3"/>
    <p:sldId id="259" r:id="rId4"/>
    <p:sldId id="273" r:id="rId5"/>
    <p:sldId id="282" r:id="rId6"/>
    <p:sldId id="285" r:id="rId7"/>
    <p:sldId id="301" r:id="rId8"/>
    <p:sldId id="300" r:id="rId9"/>
    <p:sldId id="296" r:id="rId10"/>
    <p:sldId id="278" r:id="rId11"/>
    <p:sldId id="264" r:id="rId12"/>
    <p:sldId id="266" r:id="rId13"/>
    <p:sldId id="265" r:id="rId14"/>
    <p:sldId id="297" r:id="rId15"/>
    <p:sldId id="257" r:id="rId16"/>
    <p:sldId id="263" r:id="rId17"/>
    <p:sldId id="298" r:id="rId18"/>
    <p:sldId id="270" r:id="rId19"/>
    <p:sldId id="305" r:id="rId20"/>
    <p:sldId id="307" r:id="rId21"/>
    <p:sldId id="309" r:id="rId22"/>
    <p:sldId id="310" r:id="rId23"/>
    <p:sldId id="311" r:id="rId24"/>
    <p:sldId id="318" r:id="rId25"/>
    <p:sldId id="319" r:id="rId26"/>
    <p:sldId id="261" r:id="rId27"/>
    <p:sldId id="321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FF99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29CCB9-F0A9-4D10-8C2F-411790128E2A}" v="2" dt="2026-03-18T20:37:19.258"/>
    <p1510:client id="{B51DDACD-2D61-4C2F-89AA-D1CB36AE7594}" v="1" dt="2026-03-19T09:02:02.1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54" autoAdjust="0"/>
    <p:restoredTop sz="94660"/>
  </p:normalViewPr>
  <p:slideViewPr>
    <p:cSldViewPr>
      <p:cViewPr varScale="1">
        <p:scale>
          <a:sx n="58" d="100"/>
          <a:sy n="58" d="100"/>
        </p:scale>
        <p:origin x="732" y="4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en DE BELIE" userId="0b604c76-dc05-41eb-aae4-58be6ad353f8" providerId="ADAL" clId="{A0CAB841-4192-4D5A-AB98-8769508D3B25}"/>
    <pc:docChg chg="modSld">
      <pc:chgData name="Koen DE BELIE" userId="0b604c76-dc05-41eb-aae4-58be6ad353f8" providerId="ADAL" clId="{A0CAB841-4192-4D5A-AB98-8769508D3B25}" dt="2026-03-19T09:02:02.144" v="0" actId="1076"/>
      <pc:docMkLst>
        <pc:docMk/>
      </pc:docMkLst>
      <pc:sldChg chg="modSp">
        <pc:chgData name="Koen DE BELIE" userId="0b604c76-dc05-41eb-aae4-58be6ad353f8" providerId="ADAL" clId="{A0CAB841-4192-4D5A-AB98-8769508D3B25}" dt="2026-03-19T09:02:02.144" v="0" actId="1076"/>
        <pc:sldMkLst>
          <pc:docMk/>
          <pc:sldMk cId="0" sldId="307"/>
        </pc:sldMkLst>
        <pc:picChg chg="mod">
          <ac:chgData name="Koen DE BELIE" userId="0b604c76-dc05-41eb-aae4-58be6ad353f8" providerId="ADAL" clId="{A0CAB841-4192-4D5A-AB98-8769508D3B25}" dt="2026-03-19T09:02:02.144" v="0" actId="1076"/>
          <ac:picMkLst>
            <pc:docMk/>
            <pc:sldMk cId="0" sldId="307"/>
            <ac:picMk id="37892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8E6A32-0201-438A-B063-2021C7BE97DF}" type="datetimeFigureOut">
              <a:rPr lang="nl-BE" smtClean="0"/>
              <a:t>19/03/2026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B641C8-A6BB-44DC-8243-A329D6025C53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03537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https://goo.gl/PtZXAI</a:t>
            </a:r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B641C8-A6BB-44DC-8243-A329D6025C53}" type="slidenum">
              <a:rPr lang="nl-BE" smtClean="0"/>
              <a:t>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76953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CADA966-955D-400E-B608-959295C1D284}" type="slidenum">
              <a:rPr lang="nl-NL" altLang="nl-NL" smtClean="0"/>
              <a:pPr>
                <a:defRPr/>
              </a:pPr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39286485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2E422FE-FBE9-499C-949E-A47127FDBA95}" type="slidenum">
              <a:rPr lang="nl-NL" altLang="nl-NL" smtClean="0"/>
              <a:pPr>
                <a:defRPr/>
              </a:pPr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4158200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29774D6-3DEE-46C7-B73C-5EEF0BE64CC9}" type="slidenum">
              <a:rPr lang="nl-NL" altLang="nl-NL" smtClean="0"/>
              <a:pPr>
                <a:defRPr/>
              </a:pPr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2337682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FEB31A3-1A87-42E9-90CD-97A188F9AED6}" type="slidenum">
              <a:rPr lang="nl-NL" altLang="nl-NL" smtClean="0"/>
              <a:pPr>
                <a:defRPr/>
              </a:pPr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1153213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F1B46D-B624-49DF-B7F9-9011FCD6D602}" type="slidenum">
              <a:rPr lang="nl-NL" altLang="nl-NL" smtClean="0"/>
              <a:pPr>
                <a:defRPr/>
              </a:pPr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1085692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85BD48-02D1-44DA-A10F-35A333895C23}" type="slidenum">
              <a:rPr lang="nl-NL" altLang="nl-NL" smtClean="0"/>
              <a:pPr>
                <a:defRPr/>
              </a:pPr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3532610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E4F03B-8F71-4574-9267-6BA0DD4D6166}" type="slidenum">
              <a:rPr lang="nl-NL" altLang="nl-NL" smtClean="0"/>
              <a:pPr>
                <a:defRPr/>
              </a:pPr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249444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E715DB-B131-468F-AD77-74342F5B2741}" type="slidenum">
              <a:rPr lang="nl-NL" altLang="nl-NL" smtClean="0"/>
              <a:pPr>
                <a:defRPr/>
              </a:pPr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4203531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3C43DC-36C8-4095-A159-D7A918621EE7}" type="slidenum">
              <a:rPr lang="nl-NL" altLang="nl-NL" smtClean="0"/>
              <a:pPr>
                <a:defRPr/>
              </a:pPr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3092727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che 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00E6F3-E810-43BB-A2CC-2B998FD40C25}" type="slidenum">
              <a:rPr lang="nl-NL" altLang="nl-NL" smtClean="0"/>
              <a:pPr>
                <a:defRPr/>
              </a:pPr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1756431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00E6F3-E810-43BB-A2CC-2B998FD40C25}" type="slidenum">
              <a:rPr lang="nl-NL" altLang="nl-NL" smtClean="0"/>
              <a:pPr>
                <a:defRPr/>
              </a:pPr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25019026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eraat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00E6F3-E810-43BB-A2CC-2B998FD40C25}" type="slidenum">
              <a:rPr lang="nl-NL" altLang="nl-NL" smtClean="0"/>
              <a:pPr>
                <a:defRPr/>
              </a:pPr>
              <a:t>‹nr.›</a:t>
            </a:fld>
            <a:endParaRPr lang="nl-NL" altLang="nl-NL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16269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amkaart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00E6F3-E810-43BB-A2CC-2B998FD40C25}" type="slidenum">
              <a:rPr lang="nl-NL" altLang="nl-NL" smtClean="0"/>
              <a:pPr>
                <a:defRPr/>
              </a:pPr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1869950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nl-NL"/>
              <a:t>Klikken om de tekststijl van het model te bewerken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nl-NL"/>
              <a:t>Klikken om de tekststijl van het model te bewerken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00E6F3-E810-43BB-A2CC-2B998FD40C25}" type="slidenum">
              <a:rPr lang="nl-NL" altLang="nl-NL" smtClean="0"/>
              <a:pPr>
                <a:defRPr/>
              </a:pPr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28260314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Afbeelding-ko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900E6F3-E810-43BB-A2CC-2B998FD40C25}" type="slidenum">
              <a:rPr lang="nl-NL" altLang="nl-NL" smtClean="0"/>
              <a:pPr>
                <a:defRPr/>
              </a:pPr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2811346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E95E501-34A1-4EFF-BC58-3EDF7E6EA08A}" type="slidenum">
              <a:rPr lang="nl-NL" altLang="nl-NL" smtClean="0"/>
              <a:pPr>
                <a:defRPr/>
              </a:pPr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30454252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93CE0F-AC54-44B7-A29F-EF21AC6BA7F5}" type="slidenum">
              <a:rPr lang="nl-NL" altLang="nl-NL" smtClean="0"/>
              <a:pPr>
                <a:defRPr/>
              </a:pPr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34546890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el, tekst en 2 inhoudseleme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02167" y="228600"/>
            <a:ext cx="11387667" cy="1143000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half" idx="1"/>
          </p:nvPr>
        </p:nvSpPr>
        <p:spPr>
          <a:xfrm>
            <a:off x="402168" y="1600200"/>
            <a:ext cx="5592233" cy="4498975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2"/>
          </p:nvPr>
        </p:nvSpPr>
        <p:spPr>
          <a:xfrm>
            <a:off x="6197601" y="1600200"/>
            <a:ext cx="5592233" cy="2173288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inhoud 4"/>
          <p:cNvSpPr>
            <a:spLocks noGrp="1"/>
          </p:cNvSpPr>
          <p:nvPr>
            <p:ph sz="quarter" idx="3"/>
          </p:nvPr>
        </p:nvSpPr>
        <p:spPr>
          <a:xfrm>
            <a:off x="6197601" y="3925889"/>
            <a:ext cx="5592233" cy="2173287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Rectangle 15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7" name="Rectangle 15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8" name="Rectangle 15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B299CA-0AD3-463B-A6BB-AE873FD4EA8A}" type="slidenum">
              <a:rPr lang="nl-NL" altLang="nl-NL"/>
              <a:pPr>
                <a:defRPr/>
              </a:pPr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40413139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>
  <p:cSld name="Titel, tekst en mediacl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02167" y="228600"/>
            <a:ext cx="11387667" cy="1143000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half" idx="1"/>
          </p:nvPr>
        </p:nvSpPr>
        <p:spPr>
          <a:xfrm>
            <a:off x="402168" y="1600200"/>
            <a:ext cx="5592233" cy="4498975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media 3"/>
          <p:cNvSpPr>
            <a:spLocks noGrp="1"/>
          </p:cNvSpPr>
          <p:nvPr>
            <p:ph type="media" sz="half" idx="2"/>
          </p:nvPr>
        </p:nvSpPr>
        <p:spPr>
          <a:xfrm>
            <a:off x="6197601" y="1600200"/>
            <a:ext cx="5592233" cy="4498975"/>
          </a:xfrm>
        </p:spPr>
        <p:txBody>
          <a:bodyPr/>
          <a:lstStyle/>
          <a:p>
            <a:pPr lvl="0"/>
            <a:endParaRPr lang="nl-BE" noProof="0"/>
          </a:p>
        </p:txBody>
      </p:sp>
      <p:sp>
        <p:nvSpPr>
          <p:cNvPr id="5" name="Rectangle 15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Rectangle 15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7" name="Rectangle 15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6911E2-C5F1-4CD9-B5C2-89B7D1CCCA08}" type="slidenum">
              <a:rPr lang="nl-NL" altLang="nl-NL"/>
              <a:pPr>
                <a:defRPr/>
              </a:pPr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810817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>
              <a:defRPr/>
            </a:pPr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pPr>
              <a:defRPr/>
            </a:pPr>
            <a:fld id="{4900E6F3-E810-43BB-A2CC-2B998FD40C25}" type="slidenum">
              <a:rPr lang="nl-NL" altLang="nl-NL" smtClean="0"/>
              <a:pPr>
                <a:defRPr/>
              </a:pPr>
              <a:t>‹nr.›</a:t>
            </a:fld>
            <a:endParaRPr lang="nl-NL" altLang="nl-NL"/>
          </a:p>
        </p:txBody>
      </p:sp>
    </p:spTree>
    <p:extLst>
      <p:ext uri="{BB962C8B-B14F-4D97-AF65-F5344CB8AC3E}">
        <p14:creationId xmlns:p14="http://schemas.microsoft.com/office/powerpoint/2010/main" val="2092566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  <p:sldLayoutId id="2147483779" r:id="rId18"/>
    <p:sldLayoutId id="2147483780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oo.gl/PtZXAI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rive.google.com/file/d/0B-XSRSRi1-3NYWpKVUR6SjdDS1k/view?resourcekey=0-5Uw0s7JwWr_blFS2SMacWg" TargetMode="Externa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oo.gl/5rgvhP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oo.gl/TfeV9T" TargetMode="External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07368" y="908720"/>
            <a:ext cx="8852535" cy="1736725"/>
          </a:xfrm>
        </p:spPr>
        <p:txBody>
          <a:bodyPr/>
          <a:lstStyle/>
          <a:p>
            <a:pPr eaLnBrk="1" hangingPunct="1">
              <a:defRPr/>
            </a:pPr>
            <a:r>
              <a:rPr lang="nl-BE" sz="10800"/>
              <a:t>Resonantie</a:t>
            </a:r>
            <a:endParaRPr lang="nl-NL" sz="10800"/>
          </a:p>
        </p:txBody>
      </p:sp>
      <p:pic>
        <p:nvPicPr>
          <p:cNvPr id="3075" name="Picture 4" descr="tac0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8075" y="2997201"/>
            <a:ext cx="4643438" cy="324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34747"/>
            <a:ext cx="10515600" cy="13255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 err="1"/>
              <a:t>Lesdoelen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392" y="1484784"/>
            <a:ext cx="10730408" cy="5256584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sz="1800" dirty="0" err="1"/>
              <a:t>Uitleggen</a:t>
            </a:r>
            <a:r>
              <a:rPr sz="1800" dirty="0"/>
              <a:t> wat </a:t>
            </a:r>
            <a:r>
              <a:rPr sz="1800" dirty="0" err="1"/>
              <a:t>vrije</a:t>
            </a:r>
            <a:r>
              <a:rPr sz="1800" dirty="0"/>
              <a:t> </a:t>
            </a:r>
            <a:r>
              <a:rPr sz="1800" dirty="0" err="1"/>
              <a:t>trillingen</a:t>
            </a:r>
            <a:r>
              <a:rPr sz="1800" dirty="0"/>
              <a:t> </a:t>
            </a:r>
            <a:r>
              <a:rPr sz="1800" dirty="0" err="1"/>
              <a:t>zijn</a:t>
            </a:r>
            <a:r>
              <a:rPr sz="1800" dirty="0"/>
              <a:t> </a:t>
            </a:r>
            <a:r>
              <a:rPr sz="1800" dirty="0" err="1"/>
              <a:t>en</a:t>
            </a:r>
            <a:r>
              <a:rPr sz="1800" dirty="0"/>
              <a:t> wat </a:t>
            </a:r>
            <a:r>
              <a:rPr sz="1800" dirty="0" err="1"/>
              <a:t>een</a:t>
            </a:r>
            <a:r>
              <a:rPr sz="1800" dirty="0"/>
              <a:t> </a:t>
            </a:r>
            <a:r>
              <a:rPr sz="1800" dirty="0" err="1"/>
              <a:t>eigenfrequentie</a:t>
            </a:r>
            <a:r>
              <a:rPr sz="1800" dirty="0"/>
              <a:t> is.</a:t>
            </a:r>
            <a:endParaRPr lang="nl-BE" sz="1800" dirty="0"/>
          </a:p>
          <a:p>
            <a:pPr lvl="0">
              <a:lnSpc>
                <a:spcPct val="150000"/>
              </a:lnSpc>
              <a:spcBef>
                <a:spcPts val="0"/>
              </a:spcBef>
            </a:pPr>
            <a:endParaRPr sz="1800" dirty="0"/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sz="1800" dirty="0" err="1"/>
              <a:t>Gedwongen</a:t>
            </a:r>
            <a:r>
              <a:rPr sz="1800" dirty="0"/>
              <a:t> </a:t>
            </a:r>
            <a:r>
              <a:rPr sz="1800" dirty="0" err="1"/>
              <a:t>trillingen</a:t>
            </a:r>
            <a:r>
              <a:rPr sz="1800" dirty="0"/>
              <a:t> </a:t>
            </a:r>
            <a:r>
              <a:rPr sz="1800" dirty="0" err="1"/>
              <a:t>en</a:t>
            </a:r>
            <a:r>
              <a:rPr sz="1800" dirty="0"/>
              <a:t> </a:t>
            </a:r>
            <a:r>
              <a:rPr sz="1800" dirty="0" err="1"/>
              <a:t>energieoverdracht</a:t>
            </a:r>
            <a:r>
              <a:rPr sz="1800" dirty="0"/>
              <a:t> </a:t>
            </a:r>
            <a:r>
              <a:rPr sz="1800" dirty="0" err="1"/>
              <a:t>beschrijven</a:t>
            </a:r>
            <a:r>
              <a:rPr sz="1800" dirty="0"/>
              <a:t>.</a:t>
            </a:r>
          </a:p>
          <a:p>
            <a:pPr lvl="0">
              <a:lnSpc>
                <a:spcPct val="150000"/>
              </a:lnSpc>
              <a:spcBef>
                <a:spcPts val="0"/>
              </a:spcBef>
            </a:pPr>
            <a:endParaRPr lang="nl-BE" sz="1800" dirty="0"/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sz="1800" dirty="0" err="1"/>
              <a:t>Resonantie</a:t>
            </a:r>
            <a:r>
              <a:rPr sz="1800" dirty="0"/>
              <a:t> </a:t>
            </a:r>
            <a:r>
              <a:rPr sz="1800" dirty="0" err="1"/>
              <a:t>begrijpen</a:t>
            </a:r>
            <a:r>
              <a:rPr sz="1800" dirty="0"/>
              <a:t> </a:t>
            </a:r>
            <a:r>
              <a:rPr sz="1800" dirty="0" err="1"/>
              <a:t>en</a:t>
            </a:r>
            <a:r>
              <a:rPr sz="1800" dirty="0"/>
              <a:t> </a:t>
            </a:r>
            <a:r>
              <a:rPr sz="1800" dirty="0" err="1"/>
              <a:t>herkennen</a:t>
            </a:r>
            <a:r>
              <a:rPr sz="1800" dirty="0"/>
              <a:t> in </a:t>
            </a:r>
            <a:r>
              <a:rPr sz="1800" dirty="0" err="1"/>
              <a:t>voorbeelden</a:t>
            </a:r>
            <a:r>
              <a:rPr sz="1800" dirty="0"/>
              <a:t>.</a:t>
            </a:r>
          </a:p>
          <a:p>
            <a:pPr lvl="0">
              <a:lnSpc>
                <a:spcPct val="150000"/>
              </a:lnSpc>
              <a:spcBef>
                <a:spcPts val="0"/>
              </a:spcBef>
            </a:pPr>
            <a:endParaRPr lang="nl-BE" sz="1800" dirty="0"/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sz="1800" dirty="0"/>
              <a:t>Het effect van </a:t>
            </a:r>
            <a:r>
              <a:rPr sz="1800" dirty="0" err="1"/>
              <a:t>resonantie</a:t>
            </a:r>
            <a:r>
              <a:rPr sz="1800" dirty="0"/>
              <a:t> </a:t>
            </a:r>
            <a:r>
              <a:rPr sz="1800" dirty="0" err="1"/>
              <a:t>toelichten</a:t>
            </a:r>
            <a:r>
              <a:rPr sz="1800" dirty="0"/>
              <a:t> </a:t>
            </a:r>
            <a:r>
              <a:rPr sz="1800" dirty="0" err="1"/>
              <a:t>bij</a:t>
            </a:r>
            <a:r>
              <a:rPr sz="1800" dirty="0"/>
              <a:t> </a:t>
            </a:r>
            <a:r>
              <a:rPr sz="1800" dirty="0" err="1"/>
              <a:t>bruggen</a:t>
            </a:r>
            <a:r>
              <a:rPr sz="1800" dirty="0"/>
              <a:t>, </a:t>
            </a:r>
            <a:r>
              <a:rPr sz="1800" dirty="0" err="1"/>
              <a:t>voorwerpen</a:t>
            </a:r>
            <a:r>
              <a:rPr sz="1800" dirty="0"/>
              <a:t> </a:t>
            </a:r>
            <a:r>
              <a:rPr sz="1800" dirty="0" err="1"/>
              <a:t>en</a:t>
            </a:r>
            <a:r>
              <a:rPr sz="1800" dirty="0"/>
              <a:t> </a:t>
            </a:r>
            <a:r>
              <a:rPr sz="1800" dirty="0" err="1"/>
              <a:t>voertuigen</a:t>
            </a:r>
            <a:r>
              <a:rPr sz="1800" dirty="0"/>
              <a:t>.</a:t>
            </a:r>
          </a:p>
          <a:p>
            <a:pPr lvl="0">
              <a:lnSpc>
                <a:spcPct val="150000"/>
              </a:lnSpc>
              <a:spcBef>
                <a:spcPts val="0"/>
              </a:spcBef>
            </a:pPr>
            <a:endParaRPr lang="nl-BE" sz="1800" dirty="0"/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sz="1800" dirty="0" err="1"/>
              <a:t>Gedempte</a:t>
            </a:r>
            <a:r>
              <a:rPr sz="1800" dirty="0"/>
              <a:t> </a:t>
            </a:r>
            <a:r>
              <a:rPr sz="1800" dirty="0" err="1"/>
              <a:t>trillingen</a:t>
            </a:r>
            <a:r>
              <a:rPr sz="1800" dirty="0"/>
              <a:t> </a:t>
            </a:r>
            <a:r>
              <a:rPr sz="1800" dirty="0" err="1"/>
              <a:t>en</a:t>
            </a:r>
            <a:r>
              <a:rPr sz="1800" dirty="0"/>
              <a:t> de </a:t>
            </a:r>
            <a:r>
              <a:rPr sz="1800" dirty="0" err="1"/>
              <a:t>rol</a:t>
            </a:r>
            <a:r>
              <a:rPr sz="1800" dirty="0"/>
              <a:t> van </a:t>
            </a:r>
            <a:r>
              <a:rPr sz="1800" dirty="0" err="1"/>
              <a:t>weerstand</a:t>
            </a:r>
            <a:r>
              <a:rPr sz="1800" dirty="0"/>
              <a:t> </a:t>
            </a:r>
            <a:r>
              <a:rPr sz="1800" dirty="0" err="1"/>
              <a:t>verklaren</a:t>
            </a:r>
            <a:r>
              <a:rPr sz="1800" dirty="0"/>
              <a:t>.</a:t>
            </a:r>
          </a:p>
          <a:p>
            <a:pPr lvl="0">
              <a:lnSpc>
                <a:spcPct val="150000"/>
              </a:lnSpc>
              <a:spcBef>
                <a:spcPts val="0"/>
              </a:spcBef>
            </a:pPr>
            <a:endParaRPr lang="nl-BE" sz="1800" dirty="0"/>
          </a:p>
          <a:p>
            <a:pPr lvl="0">
              <a:lnSpc>
                <a:spcPct val="150000"/>
              </a:lnSpc>
              <a:spcBef>
                <a:spcPts val="0"/>
              </a:spcBef>
            </a:pPr>
            <a:r>
              <a:rPr sz="1800" dirty="0" err="1"/>
              <a:t>Resonantie</a:t>
            </a:r>
            <a:r>
              <a:rPr sz="1800" dirty="0"/>
              <a:t> </a:t>
            </a:r>
            <a:r>
              <a:rPr sz="1800" dirty="0" err="1"/>
              <a:t>herkennen</a:t>
            </a:r>
            <a:r>
              <a:rPr sz="1800" dirty="0"/>
              <a:t> </a:t>
            </a:r>
            <a:r>
              <a:rPr sz="1800" dirty="0" err="1"/>
              <a:t>en</a:t>
            </a:r>
            <a:r>
              <a:rPr sz="1800" dirty="0"/>
              <a:t> </a:t>
            </a:r>
            <a:r>
              <a:rPr sz="1800" dirty="0" err="1"/>
              <a:t>analyseren</a:t>
            </a:r>
            <a:r>
              <a:rPr sz="1800" dirty="0"/>
              <a:t> in practica met </a:t>
            </a:r>
            <a:r>
              <a:rPr sz="1800" dirty="0" err="1"/>
              <a:t>massa-veersysteem</a:t>
            </a:r>
            <a:r>
              <a:rPr sz="1800" dirty="0"/>
              <a:t> </a:t>
            </a:r>
            <a:r>
              <a:rPr sz="1800" dirty="0" err="1"/>
              <a:t>en</a:t>
            </a:r>
            <a:r>
              <a:rPr sz="1800" dirty="0"/>
              <a:t> </a:t>
            </a:r>
            <a:r>
              <a:rPr sz="1800" dirty="0" err="1"/>
              <a:t>stalen</a:t>
            </a:r>
            <a:r>
              <a:rPr sz="1800" dirty="0"/>
              <a:t> strips.</a:t>
            </a:r>
          </a:p>
        </p:txBody>
      </p:sp>
    </p:spTree>
    <p:extLst>
      <p:ext uri="{BB962C8B-B14F-4D97-AF65-F5344CB8AC3E}">
        <p14:creationId xmlns:p14="http://schemas.microsoft.com/office/powerpoint/2010/main" val="3030071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171400"/>
            <a:ext cx="10515600" cy="13255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 err="1"/>
              <a:t>Structuur</a:t>
            </a:r>
            <a:r>
              <a:rPr dirty="0"/>
              <a:t> van de </a:t>
            </a:r>
            <a:r>
              <a:rPr dirty="0" err="1"/>
              <a:t>presentatie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4792" y="1154163"/>
            <a:ext cx="10802416" cy="5877272"/>
          </a:xfrm>
        </p:spPr>
        <p:txBody>
          <a:bodyPr>
            <a:normAutofit fontScale="25000" lnSpcReduction="20000"/>
          </a:bodyPr>
          <a:lstStyle/>
          <a:p>
            <a:pPr marL="0" lvl="0" indent="0">
              <a:lnSpc>
                <a:spcPct val="170000"/>
              </a:lnSpc>
              <a:buNone/>
            </a:pPr>
            <a:r>
              <a:rPr sz="7200" dirty="0"/>
              <a:t>- </a:t>
            </a:r>
            <a:r>
              <a:rPr sz="7200" dirty="0" err="1"/>
              <a:t>Videofragment</a:t>
            </a:r>
            <a:r>
              <a:rPr sz="7200" dirty="0"/>
              <a:t>: </a:t>
            </a:r>
            <a:r>
              <a:rPr sz="7200" dirty="0" err="1"/>
              <a:t>brugincident</a:t>
            </a:r>
            <a:br>
              <a:rPr sz="7200" dirty="0"/>
            </a:br>
            <a:r>
              <a:rPr sz="7200" dirty="0"/>
              <a:t>- </a:t>
            </a:r>
            <a:r>
              <a:rPr sz="7200" dirty="0" err="1"/>
              <a:t>Bespreking</a:t>
            </a:r>
            <a:r>
              <a:rPr sz="7200" dirty="0"/>
              <a:t> </a:t>
            </a:r>
            <a:r>
              <a:rPr sz="7200" dirty="0" err="1"/>
              <a:t>vragen</a:t>
            </a:r>
            <a:br>
              <a:rPr sz="7200" dirty="0"/>
            </a:br>
            <a:r>
              <a:rPr sz="7200" dirty="0"/>
              <a:t>- Vrije trilling </a:t>
            </a:r>
            <a:r>
              <a:rPr sz="7200" dirty="0" err="1"/>
              <a:t>en</a:t>
            </a:r>
            <a:r>
              <a:rPr sz="7200" dirty="0"/>
              <a:t> </a:t>
            </a:r>
            <a:r>
              <a:rPr sz="7200" dirty="0" err="1"/>
              <a:t>eigenfrequentie</a:t>
            </a:r>
            <a:br>
              <a:rPr sz="7200" dirty="0"/>
            </a:br>
            <a:r>
              <a:rPr sz="7200" dirty="0"/>
              <a:t>- </a:t>
            </a:r>
            <a:r>
              <a:rPr sz="7200" dirty="0" err="1"/>
              <a:t>Gedwongen</a:t>
            </a:r>
            <a:r>
              <a:rPr sz="7200" dirty="0"/>
              <a:t> trilling</a:t>
            </a:r>
            <a:br>
              <a:rPr sz="7200" dirty="0"/>
            </a:br>
            <a:r>
              <a:rPr sz="7200" dirty="0"/>
              <a:t>- </a:t>
            </a:r>
            <a:r>
              <a:rPr sz="7200" dirty="0" err="1"/>
              <a:t>Voorbeelden</a:t>
            </a:r>
            <a:r>
              <a:rPr sz="7200" dirty="0"/>
              <a:t> </a:t>
            </a:r>
            <a:r>
              <a:rPr sz="7200" dirty="0" err="1"/>
              <a:t>uit</a:t>
            </a:r>
            <a:r>
              <a:rPr sz="7200" dirty="0"/>
              <a:t> </a:t>
            </a:r>
            <a:r>
              <a:rPr sz="7200" dirty="0" err="1"/>
              <a:t>dagelijks</a:t>
            </a:r>
            <a:r>
              <a:rPr sz="7200" dirty="0"/>
              <a:t> </a:t>
            </a:r>
            <a:r>
              <a:rPr sz="7200" dirty="0" err="1"/>
              <a:t>leven</a:t>
            </a:r>
            <a:br>
              <a:rPr sz="7200" dirty="0"/>
            </a:br>
            <a:r>
              <a:rPr sz="7200" dirty="0"/>
              <a:t>- Applet: </a:t>
            </a:r>
            <a:r>
              <a:rPr sz="7200" dirty="0" err="1"/>
              <a:t>geen</a:t>
            </a:r>
            <a:r>
              <a:rPr sz="7200" dirty="0"/>
              <a:t> </a:t>
            </a:r>
            <a:r>
              <a:rPr sz="7200" dirty="0" err="1"/>
              <a:t>resonantie</a:t>
            </a:r>
            <a:r>
              <a:rPr sz="7200" dirty="0"/>
              <a:t> vs. </a:t>
            </a:r>
            <a:r>
              <a:rPr sz="7200" dirty="0" err="1"/>
              <a:t>resonantie</a:t>
            </a:r>
            <a:br>
              <a:rPr sz="7200" dirty="0"/>
            </a:br>
            <a:r>
              <a:rPr sz="7200" dirty="0"/>
              <a:t>- Definitie </a:t>
            </a:r>
            <a:r>
              <a:rPr sz="7200" dirty="0" err="1"/>
              <a:t>resonantie</a:t>
            </a:r>
            <a:br>
              <a:rPr sz="7200" dirty="0"/>
            </a:br>
            <a:r>
              <a:rPr sz="7200" dirty="0"/>
              <a:t>- </a:t>
            </a:r>
            <a:r>
              <a:rPr sz="7200" dirty="0" err="1"/>
              <a:t>Resonantie</a:t>
            </a:r>
            <a:r>
              <a:rPr sz="7200" dirty="0"/>
              <a:t> in </a:t>
            </a:r>
            <a:r>
              <a:rPr sz="7200" dirty="0" err="1"/>
              <a:t>constructies</a:t>
            </a:r>
            <a:r>
              <a:rPr sz="7200" dirty="0"/>
              <a:t> </a:t>
            </a:r>
            <a:r>
              <a:rPr sz="7200" dirty="0" err="1"/>
              <a:t>en</a:t>
            </a:r>
            <a:r>
              <a:rPr sz="7200" dirty="0"/>
              <a:t> </a:t>
            </a:r>
            <a:r>
              <a:rPr sz="7200" dirty="0" err="1"/>
              <a:t>voorwerpen</a:t>
            </a:r>
            <a:br>
              <a:rPr sz="7200" dirty="0"/>
            </a:br>
            <a:r>
              <a:rPr sz="7200" dirty="0"/>
              <a:t>- </a:t>
            </a:r>
            <a:r>
              <a:rPr sz="7200" dirty="0" err="1"/>
              <a:t>Gedempte</a:t>
            </a:r>
            <a:r>
              <a:rPr sz="7200" dirty="0"/>
              <a:t> </a:t>
            </a:r>
            <a:r>
              <a:rPr sz="7200" dirty="0" err="1"/>
              <a:t>trillingen</a:t>
            </a:r>
            <a:br>
              <a:rPr sz="7200" dirty="0"/>
            </a:br>
            <a:r>
              <a:rPr sz="7200" dirty="0"/>
              <a:t>- </a:t>
            </a:r>
            <a:r>
              <a:rPr sz="7200" dirty="0" err="1"/>
              <a:t>Gedwongen</a:t>
            </a:r>
            <a:r>
              <a:rPr sz="7200" dirty="0"/>
              <a:t> trilling met externe </a:t>
            </a:r>
            <a:r>
              <a:rPr sz="7200" dirty="0" err="1"/>
              <a:t>kracht</a:t>
            </a:r>
            <a:br>
              <a:rPr sz="7200" dirty="0"/>
            </a:br>
            <a:r>
              <a:rPr sz="7200" dirty="0"/>
              <a:t>- Practicum </a:t>
            </a:r>
            <a:r>
              <a:rPr sz="7200" dirty="0" err="1"/>
              <a:t>resonantie</a:t>
            </a:r>
            <a:r>
              <a:rPr sz="7200" dirty="0"/>
              <a:t> 1: </a:t>
            </a:r>
            <a:r>
              <a:rPr sz="7200" dirty="0" err="1"/>
              <a:t>massa-veersysteem</a:t>
            </a:r>
            <a:br>
              <a:rPr sz="7200" dirty="0"/>
            </a:br>
            <a:r>
              <a:rPr sz="7200" dirty="0"/>
              <a:t>- Practicum </a:t>
            </a:r>
            <a:r>
              <a:rPr sz="7200" dirty="0" err="1"/>
              <a:t>resonantie</a:t>
            </a:r>
            <a:r>
              <a:rPr sz="7200" dirty="0"/>
              <a:t> 2: </a:t>
            </a:r>
            <a:r>
              <a:rPr sz="7200" dirty="0" err="1"/>
              <a:t>stalen</a:t>
            </a:r>
            <a:r>
              <a:rPr sz="7200" dirty="0"/>
              <a:t> strips</a:t>
            </a:r>
            <a:br>
              <a:rPr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09280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39032" y="404664"/>
            <a:ext cx="11595735" cy="1325563"/>
          </a:xfrm>
        </p:spPr>
        <p:txBody>
          <a:bodyPr/>
          <a:lstStyle/>
          <a:p>
            <a:pPr eaLnBrk="1" hangingPunct="1">
              <a:defRPr/>
            </a:pPr>
            <a:r>
              <a:rPr lang="nl-BE" dirty="0"/>
              <a:t>Vragen bij videofragment</a:t>
            </a:r>
            <a:endParaRPr lang="nl-NL" dirty="0"/>
          </a:p>
        </p:txBody>
      </p:sp>
      <p:sp>
        <p:nvSpPr>
          <p:cNvPr id="36867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579933" y="1825625"/>
            <a:ext cx="11313935" cy="4351338"/>
          </a:xfrm>
        </p:spPr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/>
              <a:t>Wat gebeurde er met de brug? </a:t>
            </a:r>
            <a:endParaRPr lang="nl-NL"/>
          </a:p>
          <a:p>
            <a:pPr eaLnBrk="1" hangingPunct="1">
              <a:buFont typeface="Arial" charset="0"/>
              <a:buChar char="►"/>
              <a:defRPr/>
            </a:pPr>
            <a:r>
              <a:rPr lang="nl-BE" dirty="0"/>
              <a:t>Gebeurde dit onmiddellijk nadat de brug gebouwd was?</a:t>
            </a:r>
            <a:endParaRPr lang="nl-BE" dirty="0">
              <a:ea typeface="Tahoma"/>
            </a:endParaRPr>
          </a:p>
          <a:p>
            <a:pPr eaLnBrk="1" hangingPunct="1">
              <a:buFont typeface="Arial" charset="0"/>
              <a:buChar char="►"/>
              <a:defRPr/>
            </a:pPr>
            <a:r>
              <a:rPr lang="nl-BE" dirty="0"/>
              <a:t>Vermeldt men in het fragment een oorzaak van het gebeuren? Indien ja, welke oorzaak?</a:t>
            </a:r>
            <a:endParaRPr lang="nl-BE" dirty="0">
              <a:ea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ChangeArrowheads="1"/>
          </p:cNvSpPr>
          <p:nvPr/>
        </p:nvSpPr>
        <p:spPr bwMode="auto">
          <a:xfrm>
            <a:off x="152400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nl-BE" altLang="nl-NL" sz="1800"/>
          </a:p>
        </p:txBody>
      </p:sp>
      <p:sp>
        <p:nvSpPr>
          <p:cNvPr id="49157" name="Rectangle 5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nl-BE"/>
          </a:p>
        </p:txBody>
      </p:sp>
      <p:sp>
        <p:nvSpPr>
          <p:cNvPr id="2" name="Tijdelijke aanduiding voor inhou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 dirty="0"/>
          </a:p>
        </p:txBody>
      </p:sp>
      <p:pic>
        <p:nvPicPr>
          <p:cNvPr id="3" name="Afbeelding 2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5540" y="61773"/>
            <a:ext cx="8280920" cy="6796414"/>
          </a:xfrm>
          <a:prstGeom prst="rect">
            <a:avLst/>
          </a:prstGeom>
        </p:spPr>
      </p:pic>
      <p:sp>
        <p:nvSpPr>
          <p:cNvPr id="4" name="Rechthoek 3"/>
          <p:cNvSpPr/>
          <p:nvPr/>
        </p:nvSpPr>
        <p:spPr>
          <a:xfrm>
            <a:off x="1443881" y="6406415"/>
            <a:ext cx="8759225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BE" sz="1200" dirty="0">
                <a:hlinkClick r:id="rId5"/>
              </a:rPr>
              <a:t>https://drive.google.com/file/d/0B-XSRSRi1-3NYWpKVUR6SjdDS1k/view?resourcekey=0-5Uw0s7JwWr_blFS2SMacWg</a:t>
            </a:r>
            <a:endParaRPr lang="nl-BE" sz="1200" dirty="0"/>
          </a:p>
          <a:p>
            <a:endParaRPr lang="nl-BE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98132" y="365125"/>
            <a:ext cx="11595735" cy="1325563"/>
          </a:xfrm>
        </p:spPr>
        <p:txBody>
          <a:bodyPr/>
          <a:lstStyle/>
          <a:p>
            <a:pPr eaLnBrk="1" hangingPunct="1">
              <a:defRPr/>
            </a:pPr>
            <a:r>
              <a:rPr lang="nl-BE"/>
              <a:t>Vragen bij videofragment</a:t>
            </a:r>
            <a:endParaRPr lang="nl-NL"/>
          </a:p>
        </p:txBody>
      </p:sp>
      <p:sp>
        <p:nvSpPr>
          <p:cNvPr id="54275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579933" y="1825625"/>
            <a:ext cx="11313935" cy="4351338"/>
          </a:xfrm>
        </p:spPr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/>
              <a:t>Wat gebeurde er met de brug? </a:t>
            </a:r>
            <a:endParaRPr lang="nl-NL"/>
          </a:p>
          <a:p>
            <a:pPr eaLnBrk="1" hangingPunct="1">
              <a:buFont typeface="Arial" charset="0"/>
              <a:buChar char="►"/>
              <a:defRPr/>
            </a:pPr>
            <a:r>
              <a:rPr lang="nl-BE" dirty="0"/>
              <a:t>Gebeurde dit onmiddellijk nadat de brug gebouwd was?</a:t>
            </a:r>
            <a:endParaRPr lang="nl-BE" dirty="0">
              <a:ea typeface="Tahoma"/>
            </a:endParaRPr>
          </a:p>
          <a:p>
            <a:pPr eaLnBrk="1" hangingPunct="1">
              <a:buFont typeface="Arial" charset="0"/>
              <a:buChar char="►"/>
              <a:defRPr/>
            </a:pPr>
            <a:r>
              <a:rPr lang="nl-BE" dirty="0"/>
              <a:t>Vermeldt men in het fragment een oorzaak van het gebeuren? Indien ja, welke oorzaak?</a:t>
            </a:r>
            <a:endParaRPr lang="nl-BE" dirty="0">
              <a:ea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98132" y="365125"/>
            <a:ext cx="11595735" cy="1325563"/>
          </a:xfrm>
        </p:spPr>
        <p:txBody>
          <a:bodyPr/>
          <a:lstStyle/>
          <a:p>
            <a:pPr eaLnBrk="1" hangingPunct="1">
              <a:defRPr/>
            </a:pPr>
            <a:r>
              <a:rPr lang="nl-NL"/>
              <a:t>Vrije trillingen</a:t>
            </a:r>
          </a:p>
        </p:txBody>
      </p:sp>
      <p:sp>
        <p:nvSpPr>
          <p:cNvPr id="81923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579933" y="1825625"/>
            <a:ext cx="11313935" cy="4351338"/>
          </a:xfrm>
        </p:spPr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dirty="0"/>
              <a:t>Vrije trilling (of eigentrilling): trilling die een voorwerp uitvoert als het uit zijn evenwichtspositie wordt gebracht en losgelaten.</a:t>
            </a:r>
            <a:br>
              <a:rPr lang="nl-BE" dirty="0"/>
            </a:br>
            <a:endParaRPr lang="nl-BE" dirty="0"/>
          </a:p>
          <a:p>
            <a:pPr eaLnBrk="1" hangingPunct="1">
              <a:buFont typeface="Arial" charset="0"/>
              <a:buChar char="►"/>
              <a:defRPr/>
            </a:pPr>
            <a:r>
              <a:rPr lang="nl-BE" dirty="0"/>
              <a:t>Frequentie van vrij trillend systeem wordt eigenfrequentie genoemd.</a:t>
            </a:r>
          </a:p>
          <a:p>
            <a:pPr eaLnBrk="1" hangingPunct="1">
              <a:buFont typeface="Arial" charset="0"/>
              <a:buChar char="►"/>
              <a:defRPr/>
            </a:pPr>
            <a:endParaRPr lang="nl-NL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98132" y="365125"/>
            <a:ext cx="11595735" cy="1325563"/>
          </a:xfrm>
        </p:spPr>
        <p:txBody>
          <a:bodyPr/>
          <a:lstStyle/>
          <a:p>
            <a:pPr eaLnBrk="1" hangingPunct="1">
              <a:defRPr/>
            </a:pPr>
            <a:r>
              <a:rPr lang="nl-BE"/>
              <a:t>Gedwongen trilling</a:t>
            </a:r>
            <a:endParaRPr lang="nl-NL"/>
          </a:p>
        </p:txBody>
      </p:sp>
      <p:sp>
        <p:nvSpPr>
          <p:cNvPr id="80899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1285557" y="1371601"/>
            <a:ext cx="9620885" cy="4727575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1800"/>
              </a:spcAft>
              <a:buFont typeface="Arial" charset="0"/>
              <a:buChar char="►"/>
              <a:defRPr/>
            </a:pPr>
            <a:r>
              <a:rPr lang="nl-NL" dirty="0"/>
              <a:t>Voorwerp wordt aan het trillen gebracht met frequentie die verschilt van eigenfrequentie → gedwongen trilling. </a:t>
            </a:r>
          </a:p>
          <a:p>
            <a:pPr>
              <a:spcBef>
                <a:spcPts val="0"/>
              </a:spcBef>
              <a:spcAft>
                <a:spcPts val="1800"/>
              </a:spcAft>
              <a:buFont typeface="Arial" charset="0"/>
              <a:buChar char="►"/>
              <a:defRPr/>
            </a:pPr>
            <a:r>
              <a:rPr lang="nl-NL" dirty="0"/>
              <a:t>→ onder inwerking van uitwendige kracht die zelf periodiek verandert (trillingsbron). </a:t>
            </a:r>
          </a:p>
          <a:p>
            <a:pPr>
              <a:spcBef>
                <a:spcPts val="0"/>
              </a:spcBef>
              <a:spcAft>
                <a:spcPts val="1800"/>
              </a:spcAft>
              <a:buFont typeface="Arial" charset="0"/>
              <a:buChar char="►"/>
              <a:defRPr/>
            </a:pPr>
            <a:r>
              <a:rPr lang="nl-NL" dirty="0" err="1"/>
              <a:t>Trillingsenergie</a:t>
            </a:r>
            <a:r>
              <a:rPr lang="nl-NL" dirty="0"/>
              <a:t> overgedragen van omgeving naar voorwerp.</a:t>
            </a:r>
            <a:endParaRPr lang="nl-BE" dirty="0"/>
          </a:p>
          <a:p>
            <a:pPr eaLnBrk="1" hangingPunct="1">
              <a:buFont typeface="Arial" charset="0"/>
              <a:buChar char="►"/>
              <a:defRPr/>
            </a:pPr>
            <a:endParaRPr lang="nl-NL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98132" y="365125"/>
            <a:ext cx="11595735" cy="1325563"/>
          </a:xfrm>
        </p:spPr>
        <p:txBody>
          <a:bodyPr/>
          <a:lstStyle/>
          <a:p>
            <a:pPr eaLnBrk="1" hangingPunct="1">
              <a:defRPr/>
            </a:pPr>
            <a:r>
              <a:rPr lang="nl-BE"/>
              <a:t>Gedwongen trilling: voorbeelden</a:t>
            </a:r>
            <a:endParaRPr lang="nl-NL"/>
          </a:p>
        </p:txBody>
      </p:sp>
      <p:sp>
        <p:nvSpPr>
          <p:cNvPr id="72707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551384" y="1844824"/>
            <a:ext cx="10008235" cy="4498975"/>
          </a:xfrm>
        </p:spPr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dirty="0"/>
              <a:t>Stereoketen zendt signaal naar luidsprekers → laat luidsprekers trillen op allerlei frequenties.</a:t>
            </a:r>
          </a:p>
          <a:p>
            <a:pPr eaLnBrk="1" hangingPunct="1">
              <a:buFont typeface="Arial" charset="0"/>
              <a:buChar char="►"/>
              <a:defRPr/>
            </a:pPr>
            <a:endParaRPr lang="nl-BE" dirty="0"/>
          </a:p>
          <a:p>
            <a:pPr eaLnBrk="1" hangingPunct="1">
              <a:buFont typeface="Arial" charset="0"/>
              <a:buChar char="►"/>
              <a:defRPr/>
            </a:pPr>
            <a:r>
              <a:rPr lang="nl-BE" dirty="0"/>
              <a:t>Ruit gaat trillen </a:t>
            </a:r>
            <a:r>
              <a:rPr lang="nl-BE" dirty="0" err="1"/>
              <a:t>o.i.v</a:t>
            </a:r>
            <a:r>
              <a:rPr lang="nl-BE" dirty="0"/>
              <a:t>. verkeer op straat.</a:t>
            </a:r>
            <a:endParaRPr lang="nl-NL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98132" y="365125"/>
            <a:ext cx="11595735" cy="1325563"/>
          </a:xfrm>
        </p:spPr>
        <p:txBody>
          <a:bodyPr/>
          <a:lstStyle/>
          <a:p>
            <a:pPr eaLnBrk="1" hangingPunct="1">
              <a:defRPr/>
            </a:pPr>
            <a:r>
              <a:rPr lang="nl-BE"/>
              <a:t>Massa-veer-systeem</a:t>
            </a:r>
            <a:endParaRPr lang="nl-NL"/>
          </a:p>
        </p:txBody>
      </p:sp>
      <p:graphicFrame>
        <p:nvGraphicFramePr>
          <p:cNvPr id="14340" name="Object 4"/>
          <p:cNvGraphicFramePr>
            <a:graphicFrameLocks noGrp="1" noChangeAspect="1"/>
          </p:cNvGraphicFramePr>
          <p:nvPr>
            <p:ph idx="1"/>
          </p:nvPr>
        </p:nvGraphicFramePr>
        <p:xfrm>
          <a:off x="6584950" y="2708275"/>
          <a:ext cx="2540000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74364" imgH="444307" progId="Equation.3">
                  <p:embed/>
                </p:oleObj>
              </mc:Choice>
              <mc:Fallback>
                <p:oleObj name="Equation" r:id="rId2" imgW="774364" imgH="444307" progId="Equation.3">
                  <p:embed/>
                  <p:pic>
                    <p:nvPicPr>
                      <p:cNvPr id="1434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4950" y="2708275"/>
                        <a:ext cx="2540000" cy="145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014" y="1341438"/>
            <a:ext cx="1741487" cy="532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1" name="Text Box 5"/>
          <p:cNvSpPr txBox="1">
            <a:spLocks noChangeArrowheads="1"/>
          </p:cNvSpPr>
          <p:nvPr/>
        </p:nvSpPr>
        <p:spPr bwMode="auto">
          <a:xfrm>
            <a:off x="5484496" y="1916114"/>
            <a:ext cx="503936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nl-BE" altLang="nl-NL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Eigenfrequentie:</a:t>
            </a:r>
            <a:endParaRPr lang="nl-NL" altLang="nl-NL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graphicFrame>
        <p:nvGraphicFramePr>
          <p:cNvPr id="14342" name="Object 6"/>
          <p:cNvGraphicFramePr>
            <a:graphicFrameLocks noChangeAspect="1"/>
          </p:cNvGraphicFramePr>
          <p:nvPr/>
        </p:nvGraphicFramePr>
        <p:xfrm>
          <a:off x="6816726" y="4365626"/>
          <a:ext cx="2017713" cy="1344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ergelijking" r:id="rId5" imgW="558558" imgH="444307" progId="Equation.3">
                  <p:embed/>
                </p:oleObj>
              </mc:Choice>
              <mc:Fallback>
                <p:oleObj name="Vergelijking" r:id="rId5" imgW="558558" imgH="444307" progId="Equation.3">
                  <p:embed/>
                  <p:pic>
                    <p:nvPicPr>
                      <p:cNvPr id="1434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lum brigh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6726" y="4365626"/>
                        <a:ext cx="2017713" cy="1344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452246" y="0"/>
            <a:ext cx="9309735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/>
              <a:t>Applet (geen resonantie)</a:t>
            </a:r>
            <a:endParaRPr lang="nl-NL"/>
          </a:p>
        </p:txBody>
      </p:sp>
      <p:pic>
        <p:nvPicPr>
          <p:cNvPr id="1536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4" y="981075"/>
            <a:ext cx="8207375" cy="452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4" name="Text Box 5"/>
          <p:cNvSpPr txBox="1">
            <a:spLocks noChangeArrowheads="1"/>
          </p:cNvSpPr>
          <p:nvPr/>
        </p:nvSpPr>
        <p:spPr bwMode="auto">
          <a:xfrm>
            <a:off x="3900170" y="5734050"/>
            <a:ext cx="662368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nl-BE" altLang="nl-NL" sz="3600">
                <a:latin typeface="Arial" panose="020B0604020202020204" pitchFamily="34" charset="0"/>
              </a:rPr>
              <a:t>f</a:t>
            </a:r>
            <a:r>
              <a:rPr lang="nl-BE" altLang="nl-NL" sz="3600" baseline="-25000">
                <a:latin typeface="Arial" panose="020B0604020202020204" pitchFamily="34" charset="0"/>
              </a:rPr>
              <a:t>trillingsbron </a:t>
            </a:r>
            <a:r>
              <a:rPr lang="nl-BE" altLang="nl-NL" sz="3600">
                <a:latin typeface="Arial" panose="020B0604020202020204" pitchFamily="34" charset="0"/>
              </a:rPr>
              <a:t>≠ f</a:t>
            </a:r>
            <a:r>
              <a:rPr lang="nl-BE" altLang="nl-NL" sz="3600" baseline="-25000">
                <a:latin typeface="Arial" panose="020B0604020202020204" pitchFamily="34" charset="0"/>
              </a:rPr>
              <a:t>eigen</a:t>
            </a:r>
            <a:endParaRPr lang="nl-BE" altLang="nl-NL" sz="3600">
              <a:latin typeface="Arial" panose="020B0604020202020204" pitchFamily="34" charset="0"/>
            </a:endParaRPr>
          </a:p>
        </p:txBody>
      </p:sp>
      <p:sp>
        <p:nvSpPr>
          <p:cNvPr id="2" name="Rechthoek 1"/>
          <p:cNvSpPr/>
          <p:nvPr/>
        </p:nvSpPr>
        <p:spPr>
          <a:xfrm>
            <a:off x="7716172" y="6334780"/>
            <a:ext cx="367165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nl-BE" sz="2800" dirty="0">
                <a:hlinkClick r:id="rId3"/>
              </a:rPr>
              <a:t>goo.gl/5rgvhP</a:t>
            </a:r>
            <a:endParaRPr lang="nl-BE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452246" y="0"/>
            <a:ext cx="9309735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/>
              <a:t>Applet (geen resonantie)</a:t>
            </a:r>
            <a:endParaRPr lang="nl-NL"/>
          </a:p>
        </p:txBody>
      </p:sp>
      <p:pic>
        <p:nvPicPr>
          <p:cNvPr id="16387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4" y="908051"/>
            <a:ext cx="8351837" cy="460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Text Box 5"/>
          <p:cNvSpPr txBox="1">
            <a:spLocks noChangeArrowheads="1"/>
          </p:cNvSpPr>
          <p:nvPr/>
        </p:nvSpPr>
        <p:spPr bwMode="auto">
          <a:xfrm>
            <a:off x="3900170" y="5734050"/>
            <a:ext cx="662368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nl-BE" altLang="nl-NL" sz="3600">
                <a:latin typeface="Arial" panose="020B0604020202020204" pitchFamily="34" charset="0"/>
              </a:rPr>
              <a:t>f</a:t>
            </a:r>
            <a:r>
              <a:rPr lang="nl-BE" altLang="nl-NL" sz="3600" baseline="-25000">
                <a:latin typeface="Arial" panose="020B0604020202020204" pitchFamily="34" charset="0"/>
              </a:rPr>
              <a:t>trillingsbron </a:t>
            </a:r>
            <a:r>
              <a:rPr lang="nl-BE" altLang="nl-NL" sz="3600">
                <a:latin typeface="Arial" panose="020B0604020202020204" pitchFamily="34" charset="0"/>
              </a:rPr>
              <a:t>≠ f</a:t>
            </a:r>
            <a:r>
              <a:rPr lang="nl-BE" altLang="nl-NL" sz="3600" baseline="-25000">
                <a:latin typeface="Arial" panose="020B0604020202020204" pitchFamily="34" charset="0"/>
              </a:rPr>
              <a:t>eigen</a:t>
            </a:r>
            <a:endParaRPr lang="nl-BE" altLang="nl-NL" sz="36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379221" y="0"/>
            <a:ext cx="9309735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/>
              <a:t>Applet (resonantie!)</a:t>
            </a:r>
            <a:endParaRPr lang="nl-NL"/>
          </a:p>
        </p:txBody>
      </p:sp>
      <p:pic>
        <p:nvPicPr>
          <p:cNvPr id="1741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2313" y="981076"/>
            <a:ext cx="8280400" cy="4564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Text Box 6"/>
          <p:cNvSpPr txBox="1">
            <a:spLocks noChangeArrowheads="1"/>
          </p:cNvSpPr>
          <p:nvPr/>
        </p:nvSpPr>
        <p:spPr bwMode="auto">
          <a:xfrm>
            <a:off x="3900170" y="5734050"/>
            <a:ext cx="662368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nl-BE" altLang="nl-NL" sz="3600">
                <a:latin typeface="Arial" panose="020B0604020202020204" pitchFamily="34" charset="0"/>
              </a:rPr>
              <a:t>f</a:t>
            </a:r>
            <a:r>
              <a:rPr lang="nl-BE" altLang="nl-NL" sz="3600" baseline="-25000">
                <a:latin typeface="Arial" panose="020B0604020202020204" pitchFamily="34" charset="0"/>
              </a:rPr>
              <a:t>trillingsbron </a:t>
            </a:r>
            <a:r>
              <a:rPr lang="nl-BE" altLang="nl-NL" sz="3600">
                <a:latin typeface="Arial" panose="020B0604020202020204" pitchFamily="34" charset="0"/>
              </a:rPr>
              <a:t>= f</a:t>
            </a:r>
            <a:r>
              <a:rPr lang="nl-BE" altLang="nl-NL" sz="3600" baseline="-25000">
                <a:latin typeface="Arial" panose="020B0604020202020204" pitchFamily="34" charset="0"/>
              </a:rPr>
              <a:t>eigen</a:t>
            </a:r>
            <a:endParaRPr lang="nl-BE" altLang="nl-NL" sz="36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95400" y="278848"/>
            <a:ext cx="11595735" cy="1325563"/>
          </a:xfrm>
        </p:spPr>
        <p:txBody>
          <a:bodyPr/>
          <a:lstStyle/>
          <a:p>
            <a:pPr eaLnBrk="1" hangingPunct="1">
              <a:defRPr/>
            </a:pPr>
            <a:r>
              <a:rPr lang="nl-BE" dirty="0"/>
              <a:t>Resonantieverschijnsel</a:t>
            </a:r>
            <a:endParaRPr lang="nl-NL" dirty="0"/>
          </a:p>
        </p:txBody>
      </p:sp>
      <p:sp>
        <p:nvSpPr>
          <p:cNvPr id="73731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695400" y="1600201"/>
            <a:ext cx="10404717" cy="4498975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1800"/>
              </a:spcAft>
              <a:buFont typeface="Arial" charset="0"/>
              <a:buChar char="►"/>
              <a:defRPr/>
            </a:pPr>
            <a:r>
              <a:rPr lang="nl-BE" dirty="0"/>
              <a:t>Systeem is in resonantie als amplitude van gedwongen trilling haar max. waarde bereikt. </a:t>
            </a:r>
          </a:p>
          <a:p>
            <a:pPr>
              <a:spcBef>
                <a:spcPts val="0"/>
              </a:spcBef>
              <a:spcAft>
                <a:spcPts val="1800"/>
              </a:spcAft>
              <a:buFont typeface="Arial" charset="0"/>
              <a:buChar char="►"/>
              <a:defRPr/>
            </a:pPr>
            <a:r>
              <a:rPr lang="nl-BE" dirty="0"/>
              <a:t>→ maximale energie-overdracht op systeem. </a:t>
            </a:r>
          </a:p>
          <a:p>
            <a:pPr>
              <a:spcBef>
                <a:spcPts val="0"/>
              </a:spcBef>
              <a:spcAft>
                <a:spcPts val="1800"/>
              </a:spcAft>
              <a:buFont typeface="Arial" charset="0"/>
              <a:buChar char="►"/>
              <a:defRPr/>
            </a:pPr>
            <a:r>
              <a:rPr lang="nl-BE" dirty="0"/>
              <a:t>→ treedt op als opgelegde frequentie (ongeveer) gelijk is aan eigenfrequentie van trillend systeem.</a:t>
            </a:r>
            <a:endParaRPr lang="nl-NL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983932" y="0"/>
            <a:ext cx="10224135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sz="3600"/>
              <a:t>Resonantie bij de Tacoma Narrows Bridge</a:t>
            </a:r>
            <a:endParaRPr lang="nl-NL" sz="3600"/>
          </a:p>
        </p:txBody>
      </p:sp>
      <p:pic>
        <p:nvPicPr>
          <p:cNvPr id="20483" name="Picture 7" descr="tac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6" y="1052513"/>
            <a:ext cx="3889375" cy="272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4" name="Picture 8" descr="tac0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3339" y="1052513"/>
            <a:ext cx="3889375" cy="272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485" name="Picture 9" descr="tac0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76" y="3789364"/>
            <a:ext cx="4176713" cy="287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551384" y="187324"/>
            <a:ext cx="12467802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sz="3600" dirty="0"/>
              <a:t>Resonantie bij de Tacoma </a:t>
            </a:r>
            <a:r>
              <a:rPr lang="nl-BE" sz="3600" dirty="0" err="1"/>
              <a:t>Narrows</a:t>
            </a:r>
            <a:r>
              <a:rPr lang="nl-BE" sz="3600" dirty="0"/>
              <a:t> Bridge</a:t>
            </a:r>
            <a:endParaRPr lang="nl-NL" sz="3600" dirty="0"/>
          </a:p>
        </p:txBody>
      </p:sp>
      <p:sp>
        <p:nvSpPr>
          <p:cNvPr id="12291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551384" y="1600201"/>
            <a:ext cx="10405858" cy="44989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Arial" charset="0"/>
              <a:buChar char="►"/>
              <a:defRPr/>
            </a:pPr>
            <a:r>
              <a:rPr lang="nl-NL" sz="2700" dirty="0"/>
              <a:t>Resonantie: frequentie van windstoten komt overeen met eigenfrequentie van brug </a:t>
            </a:r>
            <a:r>
              <a:rPr lang="nl-NL" sz="2000" i="1" dirty="0"/>
              <a:t>(afhankelijk van massa, lengte, stijfheid,…). </a:t>
            </a:r>
          </a:p>
          <a:p>
            <a:pPr eaLnBrk="1" hangingPunct="1">
              <a:lnSpc>
                <a:spcPct val="90000"/>
              </a:lnSpc>
              <a:buFont typeface="Arial" charset="0"/>
              <a:buChar char="►"/>
              <a:defRPr/>
            </a:pPr>
            <a:endParaRPr lang="nl-NL" sz="2700" dirty="0"/>
          </a:p>
          <a:p>
            <a:pPr eaLnBrk="1" hangingPunct="1">
              <a:lnSpc>
                <a:spcPct val="90000"/>
              </a:lnSpc>
              <a:buFont typeface="Arial" charset="0"/>
              <a:buChar char="►"/>
              <a:defRPr/>
            </a:pPr>
            <a:endParaRPr lang="nl-BE" sz="2700" dirty="0"/>
          </a:p>
          <a:p>
            <a:pPr eaLnBrk="1" hangingPunct="1">
              <a:lnSpc>
                <a:spcPct val="90000"/>
              </a:lnSpc>
              <a:buFont typeface="Arial" charset="0"/>
              <a:buChar char="►"/>
              <a:defRPr/>
            </a:pPr>
            <a:endParaRPr lang="nl-NL" sz="2700" dirty="0"/>
          </a:p>
          <a:p>
            <a:pPr eaLnBrk="1" hangingPunct="1">
              <a:lnSpc>
                <a:spcPct val="90000"/>
              </a:lnSpc>
              <a:buFont typeface="Arial" charset="0"/>
              <a:buChar char="►"/>
              <a:defRPr/>
            </a:pPr>
            <a:r>
              <a:rPr lang="nl-NL" sz="2700" dirty="0"/>
              <a:t>Ook als frequentie van windstoten niet precies overeenkomt met eigenfrequentie van brug, kan brug toch vrij hevig trillen.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596265" y="332656"/>
            <a:ext cx="11595735" cy="1325563"/>
          </a:xfrm>
        </p:spPr>
        <p:txBody>
          <a:bodyPr/>
          <a:lstStyle/>
          <a:p>
            <a:pPr eaLnBrk="1" hangingPunct="1">
              <a:defRPr/>
            </a:pPr>
            <a:r>
              <a:rPr lang="nl-BE" dirty="0"/>
              <a:t>Voorbeeld: auto</a:t>
            </a:r>
            <a:endParaRPr lang="nl-NL" dirty="0"/>
          </a:p>
        </p:txBody>
      </p:sp>
      <p:sp>
        <p:nvSpPr>
          <p:cNvPr id="74755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579933" y="1825625"/>
            <a:ext cx="11313935" cy="4351338"/>
          </a:xfrm>
        </p:spPr>
        <p:txBody>
          <a:bodyPr>
            <a:normAutofit/>
          </a:bodyPr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sz="2800" dirty="0"/>
              <a:t>Motor van auto brengt onderdelen bij elke frequentie aan het trillen. </a:t>
            </a:r>
          </a:p>
          <a:p>
            <a:pPr eaLnBrk="1" hangingPunct="1">
              <a:buFont typeface="Arial" charset="0"/>
              <a:buChar char="►"/>
              <a:defRPr/>
            </a:pPr>
            <a:r>
              <a:rPr lang="nl-BE" sz="2800" dirty="0"/>
              <a:t>Als voor bepaald onderdeel frequentie van motortrillingen samenvalt met eigenfrequentie van onderdeel → resonantie </a:t>
            </a:r>
          </a:p>
          <a:p>
            <a:pPr eaLnBrk="1" hangingPunct="1">
              <a:buFont typeface="Arial" charset="0"/>
              <a:buChar char="►"/>
              <a:defRPr/>
            </a:pPr>
            <a:r>
              <a:rPr lang="nl-BE" sz="2800" dirty="0"/>
              <a:t>Dit ‘rammelen’ gebeurt dus voor ieder onderdeel aan een andere snelheid. </a:t>
            </a:r>
          </a:p>
          <a:p>
            <a:pPr lvl="1" eaLnBrk="1" hangingPunct="1">
              <a:buFont typeface="Arial" charset="0"/>
              <a:buChar char="►"/>
              <a:defRPr/>
            </a:pPr>
            <a:r>
              <a:rPr lang="nl-BE" sz="2400" dirty="0"/>
              <a:t>Zo kan bv. deur rammelen bij 50 km/h en uitlaat bij 70 km/h. </a:t>
            </a:r>
          </a:p>
          <a:p>
            <a:pPr eaLnBrk="1" hangingPunct="1">
              <a:buFont typeface="Arial" charset="0"/>
              <a:buChar char="►"/>
              <a:defRPr/>
            </a:pPr>
            <a:r>
              <a:rPr lang="nl-BE" sz="2800" dirty="0"/>
              <a:t>Resonantie vermeden door bij ontwikkeling te testen / te simuleren.</a:t>
            </a:r>
            <a:endParaRPr lang="nl-NL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285557" y="-27384"/>
            <a:ext cx="9620885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dirty="0"/>
              <a:t>Voorbeeld: kristallen glas</a:t>
            </a:r>
            <a:endParaRPr lang="nl-NL" dirty="0"/>
          </a:p>
        </p:txBody>
      </p:sp>
      <p:sp>
        <p:nvSpPr>
          <p:cNvPr id="21507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615632" y="1115617"/>
            <a:ext cx="10664944" cy="4983559"/>
          </a:xfrm>
        </p:spPr>
        <p:txBody>
          <a:bodyPr>
            <a:normAutofit/>
          </a:bodyPr>
          <a:lstStyle/>
          <a:p>
            <a:pPr eaLnBrk="1" hangingPunct="1">
              <a:buFont typeface="Arial" charset="0"/>
              <a:buChar char="►"/>
              <a:defRPr/>
            </a:pPr>
            <a:r>
              <a:rPr lang="nl-NL" sz="3600" dirty="0"/>
              <a:t>Een kristallen glas:</a:t>
            </a:r>
          </a:p>
          <a:p>
            <a:pPr lvl="1" eaLnBrk="1" hangingPunct="1">
              <a:defRPr/>
            </a:pPr>
            <a:r>
              <a:rPr lang="nl-NL" sz="3200" dirty="0"/>
              <a:t>gaat 'zingen' wanneer je met een vinger over de rand wrijft.</a:t>
            </a:r>
          </a:p>
          <a:p>
            <a:pPr lvl="1" eaLnBrk="1" hangingPunct="1">
              <a:defRPr/>
            </a:pPr>
            <a:r>
              <a:rPr lang="nl-NL" sz="3200" dirty="0"/>
              <a:t>springt kapot wanneer het bloot wordt gesteld aan hard geluid met een frequentie die gelijk is aan de eigenfrequentie.</a:t>
            </a:r>
          </a:p>
        </p:txBody>
      </p:sp>
      <p:pic>
        <p:nvPicPr>
          <p:cNvPr id="3" name="Afbeelding 2" descr="Afbeelding met tekst, persoon, kleding, Menselijk gezicht&#10;&#10;Automatisch gegenereerde beschrijving">
            <a:extLst>
              <a:ext uri="{FF2B5EF4-FFF2-40B4-BE49-F238E27FC236}">
                <a16:creationId xmlns:a16="http://schemas.microsoft.com/office/drawing/2014/main" id="{41AACB6D-9F8D-B019-64D4-80811D8F1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664" y="4221088"/>
            <a:ext cx="3241122" cy="2059471"/>
          </a:xfrm>
          <a:prstGeom prst="rect">
            <a:avLst/>
          </a:prstGeom>
        </p:spPr>
      </p:pic>
      <p:sp>
        <p:nvSpPr>
          <p:cNvPr id="7" name="Rechthoek 6">
            <a:extLst>
              <a:ext uri="{FF2B5EF4-FFF2-40B4-BE49-F238E27FC236}">
                <a16:creationId xmlns:a16="http://schemas.microsoft.com/office/drawing/2014/main" id="{75EC5424-DDF1-3F68-B604-613F5EC198E9}"/>
              </a:ext>
            </a:extLst>
          </p:cNvPr>
          <p:cNvSpPr/>
          <p:nvPr/>
        </p:nvSpPr>
        <p:spPr>
          <a:xfrm>
            <a:off x="6547469" y="4519376"/>
            <a:ext cx="352503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BE" dirty="0">
                <a:solidFill>
                  <a:srgbClr val="444444"/>
                </a:solidFill>
                <a:latin typeface="Roboto"/>
                <a:hlinkClick r:id="rId3"/>
              </a:rPr>
              <a:t>https://goo.gl/TfeV9T</a:t>
            </a:r>
            <a:endParaRPr lang="nl-BE" dirty="0">
              <a:solidFill>
                <a:srgbClr val="444444"/>
              </a:solidFill>
              <a:latin typeface="Roboto"/>
            </a:endParaRPr>
          </a:p>
          <a:p>
            <a:endParaRPr lang="nl-BE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091436" y="187325"/>
            <a:ext cx="10009127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dirty="0"/>
              <a:t>Gedempte trilling </a:t>
            </a:r>
            <a:endParaRPr lang="nl-NL" i="1" dirty="0"/>
          </a:p>
        </p:txBody>
      </p:sp>
      <p:sp>
        <p:nvSpPr>
          <p:cNvPr id="88067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695400" y="1248269"/>
            <a:ext cx="11233248" cy="5400599"/>
          </a:xfrm>
        </p:spPr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sz="3200" dirty="0"/>
              <a:t>Ideaal geval: harmonische trilling houdt nooit op eens ze op gang gebracht is.</a:t>
            </a:r>
          </a:p>
          <a:p>
            <a:pPr eaLnBrk="1" hangingPunct="1">
              <a:buFont typeface="Arial" charset="0"/>
              <a:buChar char="►"/>
              <a:defRPr/>
            </a:pPr>
            <a:r>
              <a:rPr lang="nl-BE" sz="3200" dirty="0"/>
              <a:t>Realiteit: </a:t>
            </a:r>
          </a:p>
          <a:p>
            <a:pPr lvl="1" eaLnBrk="1" hangingPunct="1">
              <a:defRPr/>
            </a:pPr>
            <a:r>
              <a:rPr lang="nl-BE" sz="2800" dirty="0"/>
              <a:t>wrijvings- of weerstandskrachten remmen de beweging af;</a:t>
            </a:r>
          </a:p>
          <a:p>
            <a:pPr lvl="1" eaLnBrk="1" hangingPunct="1">
              <a:defRPr/>
            </a:pPr>
            <a:r>
              <a:rPr lang="nl-BE" sz="2800" dirty="0"/>
              <a:t>mechanische energie in het systeem neemt voortdurend af;</a:t>
            </a:r>
          </a:p>
          <a:p>
            <a:pPr lvl="1" eaLnBrk="1" hangingPunct="1">
              <a:defRPr/>
            </a:pPr>
            <a:r>
              <a:rPr lang="nl-BE" sz="2800" dirty="0"/>
              <a:t>beweging is gedempt</a:t>
            </a:r>
          </a:p>
          <a:p>
            <a:pPr lvl="1" eaLnBrk="1" hangingPunct="1">
              <a:defRPr/>
            </a:pPr>
            <a:endParaRPr lang="nl-BE" sz="2800" dirty="0"/>
          </a:p>
          <a:p>
            <a:pPr eaLnBrk="1" hangingPunct="1">
              <a:defRPr/>
            </a:pPr>
            <a:r>
              <a:rPr lang="nl-BE" dirty="0" err="1"/>
              <a:t>Def</a:t>
            </a:r>
            <a:r>
              <a:rPr lang="nl-BE" dirty="0"/>
              <a:t>.: </a:t>
            </a:r>
            <a:r>
              <a:rPr lang="nl-NL" dirty="0"/>
              <a:t>Een gedempte trilling is een trilling waarbij de beweging geleidelijk afneemt door wrijvings- of weerstandskrachten. Hierdoor daalt de mechanische energie van het systeem voortdurend, en neemt de amplitude van de trilling in de tijd af.</a:t>
            </a:r>
            <a:endParaRPr lang="nl-BE" dirty="0"/>
          </a:p>
          <a:p>
            <a:pPr eaLnBrk="1" hangingPunct="1">
              <a:buFont typeface="Arial" charset="0"/>
              <a:buChar char="►"/>
              <a:defRPr/>
            </a:pPr>
            <a:endParaRPr lang="nl-NL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98132" y="365125"/>
            <a:ext cx="11595735" cy="1325563"/>
          </a:xfrm>
        </p:spPr>
        <p:txBody>
          <a:bodyPr/>
          <a:lstStyle/>
          <a:p>
            <a:pPr eaLnBrk="1" hangingPunct="1">
              <a:defRPr/>
            </a:pPr>
            <a:r>
              <a:rPr lang="nl-BE"/>
              <a:t>Gedwongen trilling</a:t>
            </a:r>
            <a:endParaRPr lang="nl-NL"/>
          </a:p>
        </p:txBody>
      </p:sp>
      <p:sp>
        <p:nvSpPr>
          <p:cNvPr id="90115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579933" y="1825625"/>
            <a:ext cx="11313935" cy="4351338"/>
          </a:xfrm>
        </p:spPr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sz="2800"/>
              <a:t>Om te beletten dat trillend lichaam zou stilvallen, moet er voortdurend energie aan toegevoegd worden.</a:t>
            </a:r>
          </a:p>
          <a:p>
            <a:pPr eaLnBrk="1" hangingPunct="1">
              <a:buFont typeface="Arial" charset="0"/>
              <a:buChar char="►"/>
              <a:defRPr/>
            </a:pPr>
            <a:r>
              <a:rPr lang="nl-BE" sz="2800"/>
              <a:t>Energie toegevoegd door harmonisch veranderende kracht:</a:t>
            </a:r>
          </a:p>
          <a:p>
            <a:pPr eaLnBrk="1" hangingPunct="1">
              <a:buFont typeface="Arial" charset="0"/>
              <a:buChar char="►"/>
              <a:defRPr/>
            </a:pPr>
            <a:endParaRPr lang="nl-BE" sz="2800"/>
          </a:p>
          <a:p>
            <a:pPr eaLnBrk="1" hangingPunct="1">
              <a:buFont typeface="Arial" charset="0"/>
              <a:buChar char="►"/>
              <a:defRPr/>
            </a:pPr>
            <a:endParaRPr lang="nl-BE" sz="2800"/>
          </a:p>
          <a:p>
            <a:pPr eaLnBrk="1" hangingPunct="1">
              <a:buFont typeface="Arial" charset="0"/>
              <a:buChar char="►"/>
              <a:defRPr/>
            </a:pPr>
            <a:r>
              <a:rPr lang="nl-BE" sz="2800"/>
              <a:t>F</a:t>
            </a:r>
            <a:r>
              <a:rPr lang="nl-BE" sz="2800" baseline="-25000"/>
              <a:t>0</a:t>
            </a:r>
            <a:r>
              <a:rPr lang="nl-BE" sz="2800"/>
              <a:t>: amplitude van de kracht</a:t>
            </a:r>
          </a:p>
          <a:p>
            <a:pPr eaLnBrk="1" hangingPunct="1">
              <a:buFont typeface="Arial" charset="0"/>
              <a:buChar char="►"/>
              <a:defRPr/>
            </a:pPr>
            <a:r>
              <a:rPr lang="el-GR" sz="2800">
                <a:cs typeface="Tahoma" pitchFamily="34" charset="0"/>
              </a:rPr>
              <a:t>ω</a:t>
            </a:r>
            <a:r>
              <a:rPr lang="nl-BE" sz="2800">
                <a:cs typeface="Tahoma" pitchFamily="34" charset="0"/>
              </a:rPr>
              <a:t>: pulsatie </a:t>
            </a:r>
            <a:endParaRPr lang="el-GR" sz="2800">
              <a:cs typeface="Tahoma" pitchFamily="34" charset="0"/>
            </a:endParaRPr>
          </a:p>
        </p:txBody>
      </p:sp>
      <p:pic>
        <p:nvPicPr>
          <p:cNvPr id="3789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1904" y="3981685"/>
            <a:ext cx="29527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285557" y="28191"/>
            <a:ext cx="9620885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nl-BE" sz="4000" dirty="0"/>
              <a:t>Practicum resonantie 1:</a:t>
            </a:r>
            <a:br>
              <a:rPr lang="nl-BE" sz="4000" dirty="0"/>
            </a:br>
            <a:r>
              <a:rPr lang="nl-BE" sz="4000" dirty="0"/>
              <a:t>resonantie bij een trillende veer</a:t>
            </a:r>
            <a:endParaRPr lang="nl-NL" sz="4000" dirty="0"/>
          </a:p>
        </p:txBody>
      </p:sp>
      <p:sp>
        <p:nvSpPr>
          <p:cNvPr id="92163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335360" y="1788728"/>
            <a:ext cx="8928992" cy="5329238"/>
          </a:xfrm>
        </p:spPr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dirty="0"/>
              <a:t>Massa in water aan veer.</a:t>
            </a:r>
          </a:p>
          <a:p>
            <a:pPr eaLnBrk="1" hangingPunct="1">
              <a:buFont typeface="Arial" charset="0"/>
              <a:buChar char="►"/>
              <a:defRPr/>
            </a:pPr>
            <a:r>
              <a:rPr lang="nl-BE" dirty="0"/>
              <a:t>Veer via touwtje verbonden met motor, met regelbaar toerental.</a:t>
            </a:r>
          </a:p>
          <a:p>
            <a:pPr eaLnBrk="1" hangingPunct="1">
              <a:buFont typeface="Arial" charset="0"/>
              <a:buChar char="►"/>
              <a:defRPr/>
            </a:pPr>
            <a:r>
              <a:rPr lang="nl-BE" dirty="0"/>
              <a:t>Uiteinde van veer gaat per omwenteling éénmaal op en neer: gedwongen trilling.</a:t>
            </a:r>
          </a:p>
          <a:p>
            <a:pPr eaLnBrk="1" hangingPunct="1">
              <a:buFont typeface="Arial" charset="0"/>
              <a:buChar char="►"/>
              <a:defRPr/>
            </a:pPr>
            <a:r>
              <a:rPr lang="nl-BE" dirty="0"/>
              <a:t>Pulsatie en frequentie van trillende massa zijn na tijdje gelijk aan deze van de motor.</a:t>
            </a:r>
          </a:p>
          <a:p>
            <a:pPr eaLnBrk="1" hangingPunct="1">
              <a:buFont typeface="Arial" charset="0"/>
              <a:buChar char="►"/>
              <a:defRPr/>
            </a:pPr>
            <a:endParaRPr lang="nl-NL" dirty="0"/>
          </a:p>
        </p:txBody>
      </p:sp>
      <p:pic>
        <p:nvPicPr>
          <p:cNvPr id="3891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35" r="8469"/>
          <a:stretch>
            <a:fillRect/>
          </a:stretch>
        </p:blipFill>
        <p:spPr bwMode="auto">
          <a:xfrm>
            <a:off x="9624392" y="1356134"/>
            <a:ext cx="2070100" cy="309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891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2373" y="5734050"/>
            <a:ext cx="2520230" cy="880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285557" y="53752"/>
            <a:ext cx="9620885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nl-BE" dirty="0"/>
              <a:t>Practicum resonantie 1:</a:t>
            </a:r>
            <a:br>
              <a:rPr lang="nl-BE" dirty="0"/>
            </a:br>
            <a:r>
              <a:rPr lang="nl-BE" dirty="0"/>
              <a:t>resonantie bij een trillende veer</a:t>
            </a:r>
            <a:endParaRPr lang="nl-NL" dirty="0"/>
          </a:p>
        </p:txBody>
      </p:sp>
      <p:sp>
        <p:nvSpPr>
          <p:cNvPr id="93187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243672" y="1556792"/>
            <a:ext cx="11928648" cy="4498975"/>
          </a:xfrm>
        </p:spPr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dirty="0"/>
              <a:t>Als opgelegde frequentie verandert, verandert amplitude van gedwongen trilling. </a:t>
            </a:r>
            <a:endParaRPr lang="nl-NL" dirty="0"/>
          </a:p>
        </p:txBody>
      </p:sp>
      <p:pic>
        <p:nvPicPr>
          <p:cNvPr id="3994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7855" y="2318280"/>
            <a:ext cx="5196291" cy="449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285557" y="125760"/>
            <a:ext cx="9620885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nl-BE" dirty="0"/>
              <a:t>Practicum resonantie 1:</a:t>
            </a:r>
            <a:br>
              <a:rPr lang="nl-BE" dirty="0"/>
            </a:br>
            <a:r>
              <a:rPr lang="nl-BE" dirty="0"/>
              <a:t>resonantie bij een trillende veer</a:t>
            </a:r>
            <a:endParaRPr lang="nl-NL" dirty="0"/>
          </a:p>
        </p:txBody>
      </p:sp>
      <p:sp>
        <p:nvSpPr>
          <p:cNvPr id="94211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479376" y="1809751"/>
            <a:ext cx="7380083" cy="4498975"/>
          </a:xfrm>
        </p:spPr>
        <p:txBody>
          <a:bodyPr>
            <a:normAutofit/>
          </a:bodyPr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sz="3200" dirty="0"/>
              <a:t>Bij opgelegde frequentie </a:t>
            </a:r>
            <a:r>
              <a:rPr lang="nl-BE" sz="3200" dirty="0" err="1"/>
              <a:t>f</a:t>
            </a:r>
            <a:r>
              <a:rPr lang="nl-BE" sz="3200" baseline="-25000" dirty="0" err="1"/>
              <a:t>r</a:t>
            </a:r>
            <a:r>
              <a:rPr lang="nl-BE" sz="3200" dirty="0"/>
              <a:t> is amplitude maximaal.</a:t>
            </a:r>
          </a:p>
          <a:p>
            <a:pPr eaLnBrk="1" hangingPunct="1">
              <a:buFont typeface="Arial" charset="0"/>
              <a:buChar char="►"/>
              <a:defRPr/>
            </a:pPr>
            <a:r>
              <a:rPr lang="nl-BE" sz="3200" dirty="0" err="1"/>
              <a:t>f</a:t>
            </a:r>
            <a:r>
              <a:rPr lang="nl-BE" sz="3200" baseline="-25000" dirty="0" err="1"/>
              <a:t>r</a:t>
            </a:r>
            <a:r>
              <a:rPr lang="nl-BE" sz="3200" dirty="0"/>
              <a:t> is klein beetje kleiner dan </a:t>
            </a:r>
            <a:r>
              <a:rPr lang="nl-BE" sz="3200" dirty="0" err="1"/>
              <a:t>f</a:t>
            </a:r>
            <a:r>
              <a:rPr lang="nl-BE" sz="3200" baseline="-25000" dirty="0" err="1"/>
              <a:t>n</a:t>
            </a:r>
            <a:r>
              <a:rPr lang="nl-BE" sz="3200" dirty="0"/>
              <a:t> (natuurlijke frequentie of eigenfrequentie)</a:t>
            </a:r>
            <a:r>
              <a:rPr lang="nl-BE" sz="3200" baseline="-25000" dirty="0"/>
              <a:t>. </a:t>
            </a:r>
            <a:endParaRPr lang="nl-NL" sz="3200" dirty="0"/>
          </a:p>
        </p:txBody>
      </p:sp>
      <p:pic>
        <p:nvPicPr>
          <p:cNvPr id="4096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0216" y="1555924"/>
            <a:ext cx="3246437" cy="3313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5156201"/>
            <a:ext cx="9144000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480955-55CD-44C7-84C9-A5F1CD1A3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132" y="22308"/>
            <a:ext cx="11595735" cy="1325563"/>
          </a:xfrm>
        </p:spPr>
        <p:txBody>
          <a:bodyPr/>
          <a:lstStyle/>
          <a:p>
            <a:r>
              <a:rPr lang="nl-BE" dirty="0"/>
              <a:t>Practicum resonantie 2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AE275F3-0276-4029-913A-7455A8302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132" y="1371601"/>
            <a:ext cx="10414189" cy="5121274"/>
          </a:xfrm>
        </p:spPr>
        <p:txBody>
          <a:bodyPr/>
          <a:lstStyle/>
          <a:p>
            <a:r>
              <a:rPr lang="nl-BE" sz="3200" dirty="0"/>
              <a:t>Materiaal: </a:t>
            </a:r>
          </a:p>
          <a:p>
            <a:pPr lvl="1"/>
            <a:r>
              <a:rPr lang="nl-BE" sz="2800" dirty="0"/>
              <a:t>Elektromagnetische triller,</a:t>
            </a:r>
          </a:p>
          <a:p>
            <a:pPr lvl="1"/>
            <a:r>
              <a:rPr lang="nl-BE" sz="2800" dirty="0"/>
              <a:t>frequentiegenerator, </a:t>
            </a:r>
          </a:p>
          <a:p>
            <a:pPr lvl="1"/>
            <a:r>
              <a:rPr lang="nl-BE" sz="2800" dirty="0"/>
              <a:t>stalen strips met </a:t>
            </a:r>
            <a:br>
              <a:rPr lang="nl-BE" sz="2800" dirty="0"/>
            </a:br>
            <a:r>
              <a:rPr lang="nl-BE" sz="2800" dirty="0"/>
              <a:t>verschillende lengte.</a:t>
            </a:r>
            <a:br>
              <a:rPr lang="nl-BE" sz="2800" dirty="0"/>
            </a:br>
            <a:endParaRPr lang="nl-BE" sz="2800" dirty="0"/>
          </a:p>
          <a:p>
            <a:r>
              <a:rPr lang="nl-BE" sz="3200" dirty="0"/>
              <a:t>Observatie van resonantie: </a:t>
            </a:r>
          </a:p>
          <a:p>
            <a:pPr lvl="1"/>
            <a:r>
              <a:rPr lang="nl-BE" sz="2800" dirty="0"/>
              <a:t>Plaats de strips op de triller.</a:t>
            </a:r>
          </a:p>
          <a:p>
            <a:pPr lvl="1"/>
            <a:r>
              <a:rPr lang="nl-BE" sz="2800" dirty="0"/>
              <a:t>Zet de frequentiegenerator aan en varieer de frequentie stapsgewijs</a:t>
            </a:r>
            <a:r>
              <a:rPr lang="nl-BE" dirty="0"/>
              <a:t>.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4F65507E-34F4-4EFA-95DF-8000B1D86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7984" y="1748680"/>
            <a:ext cx="3722513" cy="2082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3478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480955-55CD-44C7-84C9-A5F1CD1A3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557" y="-171400"/>
            <a:ext cx="9620885" cy="1143000"/>
          </a:xfrm>
        </p:spPr>
        <p:txBody>
          <a:bodyPr/>
          <a:lstStyle/>
          <a:p>
            <a:r>
              <a:rPr lang="nl-BE" dirty="0"/>
              <a:t>Practicum resonantie 2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AE275F3-0276-4029-913A-7455A83025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368" y="1933151"/>
            <a:ext cx="10620890" cy="5075040"/>
          </a:xfrm>
        </p:spPr>
        <p:txBody>
          <a:bodyPr>
            <a:normAutofit/>
          </a:bodyPr>
          <a:lstStyle/>
          <a:p>
            <a:r>
              <a:rPr lang="nl-BE" sz="3200" dirty="0"/>
              <a:t>Opdrachten/Vragen: </a:t>
            </a:r>
          </a:p>
          <a:p>
            <a:pPr lvl="1"/>
            <a:r>
              <a:rPr lang="nl-BE" sz="2800" dirty="0"/>
              <a:t>Hoe herken je een </a:t>
            </a:r>
            <a:r>
              <a:rPr lang="nl-BE" sz="2800" dirty="0" err="1"/>
              <a:t>resonatiefrequentie</a:t>
            </a:r>
            <a:r>
              <a:rPr lang="nl-BE" sz="2800" dirty="0"/>
              <a:t>? </a:t>
            </a:r>
          </a:p>
          <a:p>
            <a:pPr lvl="1"/>
            <a:r>
              <a:rPr lang="nl-BE" sz="2800" dirty="0"/>
              <a:t>Welk verband is er tussen de resonantiefrequentie en de lengte van de strips?</a:t>
            </a:r>
          </a:p>
          <a:p>
            <a:r>
              <a:rPr lang="nl-BE" sz="3200" dirty="0"/>
              <a:t>Meetresultaten: </a:t>
            </a:r>
          </a:p>
          <a:p>
            <a:pPr lvl="1"/>
            <a:r>
              <a:rPr lang="nl-BE" sz="2800" dirty="0"/>
              <a:t>eigenfrequenties van de strips zijn 11, 15, 21, 36 en 50 Hz. </a:t>
            </a:r>
          </a:p>
          <a:p>
            <a:pPr lvl="1"/>
            <a:r>
              <a:rPr lang="nl-BE" sz="2800" dirty="0"/>
              <a:t>Bij frequenties tot 300Hz zie je staande golven en tot 900Hz hoor je resonantie. 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4F65507E-34F4-4EFA-95DF-8000B1D86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6200" y="764704"/>
            <a:ext cx="3417747" cy="191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9426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Toetsdoelen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Op de </a:t>
            </a:r>
            <a:r>
              <a:rPr dirty="0" err="1"/>
              <a:t>volgende</a:t>
            </a:r>
            <a:r>
              <a:rPr dirty="0"/>
              <a:t> slide </a:t>
            </a:r>
            <a:r>
              <a:rPr dirty="0" err="1"/>
              <a:t>staat</a:t>
            </a:r>
            <a:r>
              <a:rPr dirty="0"/>
              <a:t> </a:t>
            </a:r>
            <a:r>
              <a:rPr dirty="0" err="1"/>
              <a:t>een</a:t>
            </a:r>
            <a:r>
              <a:rPr dirty="0"/>
              <a:t> checklist </a:t>
            </a:r>
            <a:r>
              <a:rPr dirty="0" err="1"/>
              <a:t>waarmee</a:t>
            </a:r>
            <a:r>
              <a:rPr dirty="0"/>
              <a:t> je </a:t>
            </a:r>
            <a:r>
              <a:rPr dirty="0" err="1"/>
              <a:t>kunt</a:t>
            </a:r>
            <a:r>
              <a:rPr dirty="0"/>
              <a:t> </a:t>
            </a:r>
            <a:r>
              <a:rPr dirty="0" err="1"/>
              <a:t>nagaan</a:t>
            </a:r>
            <a:r>
              <a:rPr dirty="0"/>
              <a:t> in </a:t>
            </a:r>
            <a:r>
              <a:rPr dirty="0" err="1"/>
              <a:t>welke</a:t>
            </a:r>
            <a:r>
              <a:rPr dirty="0"/>
              <a:t> mate je de </a:t>
            </a:r>
            <a:r>
              <a:rPr dirty="0" err="1"/>
              <a:t>leerstof</a:t>
            </a:r>
            <a:r>
              <a:rPr dirty="0"/>
              <a:t> </a:t>
            </a:r>
            <a:r>
              <a:rPr dirty="0" err="1"/>
              <a:t>beheerst</a:t>
            </a:r>
            <a:r>
              <a:rPr dirty="0"/>
              <a:t>.</a:t>
            </a:r>
            <a:br>
              <a:rPr dirty="0"/>
            </a:br>
            <a:r>
              <a:rPr dirty="0" err="1"/>
              <a:t>Gebruik</a:t>
            </a:r>
            <a:r>
              <a:rPr dirty="0"/>
              <a:t> </a:t>
            </a:r>
            <a:r>
              <a:rPr dirty="0" err="1"/>
              <a:t>deze</a:t>
            </a:r>
            <a:r>
              <a:rPr dirty="0"/>
              <a:t> checklist: </a:t>
            </a:r>
            <a:endParaRPr lang="nl-BE" dirty="0"/>
          </a:p>
          <a:p>
            <a:pPr marL="0" lvl="0" indent="0">
              <a:buNone/>
            </a:pPr>
            <a:r>
              <a:rPr dirty="0"/>
              <a:t>- </a:t>
            </a:r>
            <a:r>
              <a:rPr b="1" dirty="0" err="1"/>
              <a:t>Tijdens</a:t>
            </a:r>
            <a:r>
              <a:rPr b="1" dirty="0"/>
              <a:t> het </a:t>
            </a:r>
            <a:r>
              <a:rPr b="1" dirty="0" err="1"/>
              <a:t>studeren</a:t>
            </a:r>
            <a:r>
              <a:rPr b="1" dirty="0"/>
              <a:t>:</a:t>
            </a:r>
            <a:r>
              <a:rPr dirty="0"/>
              <a:t> om </a:t>
            </a:r>
            <a:r>
              <a:rPr dirty="0" err="1"/>
              <a:t>te</a:t>
            </a:r>
            <a:r>
              <a:rPr dirty="0"/>
              <a:t> </a:t>
            </a:r>
            <a:r>
              <a:rPr dirty="0" err="1"/>
              <a:t>bepalen</a:t>
            </a:r>
            <a:r>
              <a:rPr dirty="0"/>
              <a:t> </a:t>
            </a:r>
            <a:r>
              <a:rPr dirty="0" err="1"/>
              <a:t>welke</a:t>
            </a:r>
            <a:r>
              <a:rPr dirty="0"/>
              <a:t> </a:t>
            </a:r>
            <a:r>
              <a:rPr dirty="0" err="1"/>
              <a:t>onderdelen</a:t>
            </a:r>
            <a:r>
              <a:rPr dirty="0"/>
              <a:t> je al </a:t>
            </a:r>
            <a:r>
              <a:rPr dirty="0" err="1"/>
              <a:t>begrijpt</a:t>
            </a:r>
            <a:r>
              <a:rPr dirty="0"/>
              <a:t>.</a:t>
            </a:r>
            <a:br>
              <a:rPr dirty="0"/>
            </a:br>
            <a:r>
              <a:rPr dirty="0"/>
              <a:t>- </a:t>
            </a:r>
            <a:r>
              <a:rPr b="1" dirty="0"/>
              <a:t>Na </a:t>
            </a:r>
            <a:r>
              <a:rPr b="1" dirty="0" err="1"/>
              <a:t>een</a:t>
            </a:r>
            <a:r>
              <a:rPr b="1" dirty="0"/>
              <a:t> </a:t>
            </a:r>
            <a:r>
              <a:rPr b="1" dirty="0" err="1"/>
              <a:t>toets</a:t>
            </a:r>
            <a:r>
              <a:rPr b="1" dirty="0"/>
              <a:t>:</a:t>
            </a:r>
            <a:r>
              <a:rPr dirty="0"/>
              <a:t> om </a:t>
            </a:r>
            <a:r>
              <a:rPr dirty="0" err="1"/>
              <a:t>te</a:t>
            </a:r>
            <a:r>
              <a:rPr dirty="0"/>
              <a:t> </a:t>
            </a:r>
            <a:r>
              <a:rPr dirty="0" err="1"/>
              <a:t>zien</a:t>
            </a:r>
            <a:r>
              <a:rPr dirty="0"/>
              <a:t> </a:t>
            </a:r>
            <a:r>
              <a:rPr dirty="0" err="1"/>
              <a:t>welke</a:t>
            </a:r>
            <a:r>
              <a:rPr dirty="0"/>
              <a:t> </a:t>
            </a:r>
            <a:r>
              <a:rPr dirty="0" err="1"/>
              <a:t>doelen</a:t>
            </a:r>
            <a:r>
              <a:rPr dirty="0"/>
              <a:t> extra </a:t>
            </a:r>
            <a:r>
              <a:rPr dirty="0" err="1"/>
              <a:t>aandacht</a:t>
            </a:r>
            <a:r>
              <a:rPr dirty="0"/>
              <a:t> </a:t>
            </a:r>
            <a:r>
              <a:rPr dirty="0" err="1"/>
              <a:t>nodig</a:t>
            </a:r>
            <a:r>
              <a:rPr dirty="0"/>
              <a:t> </a:t>
            </a:r>
            <a:r>
              <a:rPr dirty="0" err="1"/>
              <a:t>hebben</a:t>
            </a:r>
            <a:r>
              <a:rPr dirty="0"/>
              <a:t>.</a:t>
            </a:r>
            <a:br>
              <a:rPr dirty="0"/>
            </a:br>
            <a:r>
              <a:rPr dirty="0"/>
              <a:t>- </a:t>
            </a:r>
            <a:r>
              <a:rPr b="1" dirty="0"/>
              <a:t>Voor </a:t>
            </a:r>
            <a:r>
              <a:rPr b="1" dirty="0" err="1"/>
              <a:t>een</a:t>
            </a:r>
            <a:r>
              <a:rPr b="1" dirty="0"/>
              <a:t> examen:</a:t>
            </a:r>
            <a:r>
              <a:rPr dirty="0"/>
              <a:t> om </a:t>
            </a:r>
            <a:r>
              <a:rPr dirty="0" err="1"/>
              <a:t>systematisch</a:t>
            </a:r>
            <a:r>
              <a:rPr dirty="0"/>
              <a:t> alle </a:t>
            </a:r>
            <a:r>
              <a:rPr dirty="0" err="1"/>
              <a:t>doelen</a:t>
            </a:r>
            <a:r>
              <a:rPr dirty="0"/>
              <a:t> </a:t>
            </a:r>
            <a:r>
              <a:rPr dirty="0" err="1"/>
              <a:t>af</a:t>
            </a:r>
            <a:r>
              <a:rPr dirty="0"/>
              <a:t> </a:t>
            </a:r>
            <a:r>
              <a:rPr dirty="0" err="1"/>
              <a:t>te</a:t>
            </a:r>
            <a:r>
              <a:rPr dirty="0"/>
              <a:t> </a:t>
            </a:r>
            <a:r>
              <a:rPr dirty="0" err="1"/>
              <a:t>vinken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4883"/>
            <a:ext cx="10515600" cy="1325563"/>
          </a:xfrm>
        </p:spPr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Checklist (</a:t>
            </a:r>
            <a:r>
              <a:rPr dirty="0" err="1"/>
              <a:t>studeren</a:t>
            </a:r>
            <a:r>
              <a:rPr dirty="0"/>
              <a:t> – </a:t>
            </a:r>
            <a:r>
              <a:rPr dirty="0" err="1"/>
              <a:t>toets</a:t>
            </a:r>
            <a:r>
              <a:rPr dirty="0"/>
              <a:t> – examen)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6911922"/>
              </p:ext>
            </p:extLst>
          </p:nvPr>
        </p:nvGraphicFramePr>
        <p:xfrm>
          <a:off x="298450" y="1340768"/>
          <a:ext cx="115951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8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4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Ik </a:t>
                      </a:r>
                      <a:r>
                        <a:rPr dirty="0" err="1"/>
                        <a:t>kan</a:t>
                      </a:r>
                      <a:r>
                        <a:rPr dirty="0"/>
                        <a:t> 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Tijdens studeren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Na de toets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Voor examen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… vrije trillingen en eigenfrequentie uitleggen.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… gedwongen trillingen en energieoverdracht beschrijven.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… resonantie uitleggen en voorbeelden herkennen.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… het effect van resonantie bij bruggen, voertuigen en glas verklaren.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… gedempte trillingen beschrijven en het effect van weerstand uitleggen.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… resonantiefrequenties herkennen in practica met veer en strips.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Diepte">
  <a:themeElements>
    <a:clrScheme name="Diepte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iepte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ept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Diepte</Template>
  <TotalTime>1779</TotalTime>
  <Words>1061</Words>
  <Application>Microsoft Office PowerPoint</Application>
  <PresentationFormat>Breedbeeld</PresentationFormat>
  <Paragraphs>140</Paragraphs>
  <Slides>27</Slides>
  <Notes>1</Notes>
  <HiddenSlides>0</HiddenSlides>
  <MMClips>0</MMClips>
  <ScaleCrop>false</ScaleCrop>
  <HeadingPairs>
    <vt:vector size="8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Ingesloten OLE-bronprogramma's</vt:lpstr>
      </vt:variant>
      <vt:variant>
        <vt:i4>2</vt:i4>
      </vt:variant>
      <vt:variant>
        <vt:lpstr>Diatitels</vt:lpstr>
      </vt:variant>
      <vt:variant>
        <vt:i4>27</vt:i4>
      </vt:variant>
    </vt:vector>
  </HeadingPairs>
  <TitlesOfParts>
    <vt:vector size="35" baseType="lpstr">
      <vt:lpstr>Arial</vt:lpstr>
      <vt:lpstr>Calibri</vt:lpstr>
      <vt:lpstr>Corbel</vt:lpstr>
      <vt:lpstr>Roboto</vt:lpstr>
      <vt:lpstr>Tahoma</vt:lpstr>
      <vt:lpstr>Diepte</vt:lpstr>
      <vt:lpstr>Equation</vt:lpstr>
      <vt:lpstr>Vergelijking</vt:lpstr>
      <vt:lpstr>Resonantie</vt:lpstr>
      <vt:lpstr>Lesdoelen</vt:lpstr>
      <vt:lpstr>Structuur van de presentatie</vt:lpstr>
      <vt:lpstr>Vragen bij videofragment</vt:lpstr>
      <vt:lpstr>PowerPoint-presentatie</vt:lpstr>
      <vt:lpstr>Vragen bij videofragment</vt:lpstr>
      <vt:lpstr>Vrije trillingen</vt:lpstr>
      <vt:lpstr>Gedwongen trilling</vt:lpstr>
      <vt:lpstr>Gedwongen trilling: voorbeelden</vt:lpstr>
      <vt:lpstr>Massa-veer-systeem</vt:lpstr>
      <vt:lpstr>Applet (geen resonantie)</vt:lpstr>
      <vt:lpstr>Applet (geen resonantie)</vt:lpstr>
      <vt:lpstr>Applet (resonantie!)</vt:lpstr>
      <vt:lpstr>Resonantieverschijnsel</vt:lpstr>
      <vt:lpstr>Resonantie bij de Tacoma Narrows Bridge</vt:lpstr>
      <vt:lpstr>Resonantie bij de Tacoma Narrows Bridge</vt:lpstr>
      <vt:lpstr>Voorbeeld: auto</vt:lpstr>
      <vt:lpstr>Voorbeeld: kristallen glas</vt:lpstr>
      <vt:lpstr>Gedempte trilling </vt:lpstr>
      <vt:lpstr>Gedwongen trilling</vt:lpstr>
      <vt:lpstr>Practicum resonantie 1: resonantie bij een trillende veer</vt:lpstr>
      <vt:lpstr>Practicum resonantie 1: resonantie bij een trillende veer</vt:lpstr>
      <vt:lpstr>Practicum resonantie 1: resonantie bij een trillende veer</vt:lpstr>
      <vt:lpstr>Practicum resonantie 2</vt:lpstr>
      <vt:lpstr>Practicum resonantie 2</vt:lpstr>
      <vt:lpstr>Toetsdoelen</vt:lpstr>
      <vt:lpstr>Checklist (studeren – toets – examen)</vt:lpstr>
    </vt:vector>
  </TitlesOfParts>
  <Company>windows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Resonantie</dc:title>
  <dc:creator>koen</dc:creator>
  <cp:lastModifiedBy>Koen DE BELIE</cp:lastModifiedBy>
  <cp:revision>58</cp:revision>
  <dcterms:created xsi:type="dcterms:W3CDTF">2007-01-06T17:38:51Z</dcterms:created>
  <dcterms:modified xsi:type="dcterms:W3CDTF">2026-03-19T09:02:12Z</dcterms:modified>
</cp:coreProperties>
</file>