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93"/>
  </p:notesMasterIdLst>
  <p:sldIdLst>
    <p:sldId id="256" r:id="rId2"/>
    <p:sldId id="362" r:id="rId3"/>
    <p:sldId id="363" r:id="rId4"/>
    <p:sldId id="315" r:id="rId5"/>
    <p:sldId id="314" r:id="rId6"/>
    <p:sldId id="264" r:id="rId7"/>
    <p:sldId id="265" r:id="rId8"/>
    <p:sldId id="267" r:id="rId9"/>
    <p:sldId id="351" r:id="rId10"/>
    <p:sldId id="352" r:id="rId11"/>
    <p:sldId id="353" r:id="rId12"/>
    <p:sldId id="355" r:id="rId13"/>
    <p:sldId id="354" r:id="rId14"/>
    <p:sldId id="270" r:id="rId15"/>
    <p:sldId id="266" r:id="rId16"/>
    <p:sldId id="357" r:id="rId17"/>
    <p:sldId id="356" r:id="rId18"/>
    <p:sldId id="358" r:id="rId19"/>
    <p:sldId id="268" r:id="rId20"/>
    <p:sldId id="269" r:id="rId21"/>
    <p:sldId id="257" r:id="rId22"/>
    <p:sldId id="342" r:id="rId23"/>
    <p:sldId id="258" r:id="rId24"/>
    <p:sldId id="343" r:id="rId25"/>
    <p:sldId id="259" r:id="rId26"/>
    <p:sldId id="260" r:id="rId27"/>
    <p:sldId id="345" r:id="rId28"/>
    <p:sldId id="261" r:id="rId29"/>
    <p:sldId id="350" r:id="rId30"/>
    <p:sldId id="349" r:id="rId31"/>
    <p:sldId id="262" r:id="rId32"/>
    <p:sldId id="272" r:id="rId33"/>
    <p:sldId id="263" r:id="rId34"/>
    <p:sldId id="347" r:id="rId35"/>
    <p:sldId id="274" r:id="rId36"/>
    <p:sldId id="275" r:id="rId37"/>
    <p:sldId id="359" r:id="rId38"/>
    <p:sldId id="360" r:id="rId39"/>
    <p:sldId id="361" r:id="rId40"/>
    <p:sldId id="276" r:id="rId41"/>
    <p:sldId id="288" r:id="rId42"/>
    <p:sldId id="278" r:id="rId43"/>
    <p:sldId id="280" r:id="rId44"/>
    <p:sldId id="294" r:id="rId45"/>
    <p:sldId id="295" r:id="rId46"/>
    <p:sldId id="313" r:id="rId47"/>
    <p:sldId id="327" r:id="rId48"/>
    <p:sldId id="328" r:id="rId49"/>
    <p:sldId id="325" r:id="rId50"/>
    <p:sldId id="281" r:id="rId51"/>
    <p:sldId id="282" r:id="rId52"/>
    <p:sldId id="283" r:id="rId53"/>
    <p:sldId id="367" r:id="rId54"/>
    <p:sldId id="329" r:id="rId55"/>
    <p:sldId id="368" r:id="rId56"/>
    <p:sldId id="284" r:id="rId57"/>
    <p:sldId id="330" r:id="rId58"/>
    <p:sldId id="286" r:id="rId59"/>
    <p:sldId id="285" r:id="rId60"/>
    <p:sldId id="331" r:id="rId61"/>
    <p:sldId id="366" r:id="rId62"/>
    <p:sldId id="287" r:id="rId63"/>
    <p:sldId id="336" r:id="rId64"/>
    <p:sldId id="337" r:id="rId65"/>
    <p:sldId id="290" r:id="rId66"/>
    <p:sldId id="338" r:id="rId67"/>
    <p:sldId id="292" r:id="rId68"/>
    <p:sldId id="293" r:id="rId69"/>
    <p:sldId id="332" r:id="rId70"/>
    <p:sldId id="334" r:id="rId71"/>
    <p:sldId id="335" r:id="rId72"/>
    <p:sldId id="300" r:id="rId73"/>
    <p:sldId id="302" r:id="rId74"/>
    <p:sldId id="316" r:id="rId75"/>
    <p:sldId id="303" r:id="rId76"/>
    <p:sldId id="317" r:id="rId77"/>
    <p:sldId id="369" r:id="rId78"/>
    <p:sldId id="304" r:id="rId79"/>
    <p:sldId id="318" r:id="rId80"/>
    <p:sldId id="305" r:id="rId81"/>
    <p:sldId id="319" r:id="rId82"/>
    <p:sldId id="306" r:id="rId83"/>
    <p:sldId id="320" r:id="rId84"/>
    <p:sldId id="321" r:id="rId85"/>
    <p:sldId id="308" r:id="rId86"/>
    <p:sldId id="322" r:id="rId87"/>
    <p:sldId id="340" r:id="rId88"/>
    <p:sldId id="312" r:id="rId89"/>
    <p:sldId id="341" r:id="rId90"/>
    <p:sldId id="364" r:id="rId91"/>
    <p:sldId id="365" r:id="rId9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288D7E-5BDC-4539-A337-4CCBF2F28A8A}" v="16" dt="2026-02-12T08:58:41.3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74" autoAdjust="0"/>
    <p:restoredTop sz="91736" autoAdjust="0"/>
  </p:normalViewPr>
  <p:slideViewPr>
    <p:cSldViewPr>
      <p:cViewPr varScale="1">
        <p:scale>
          <a:sx n="57" d="100"/>
          <a:sy n="57" d="100"/>
        </p:scale>
        <p:origin x="896" y="32"/>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en DE BELIE" userId="0b604c76-dc05-41eb-aae4-58be6ad353f8" providerId="ADAL" clId="{A0CAB841-4192-4D5A-AB98-8769508D3B25}"/>
    <pc:docChg chg="undo custSel addSld delSld modSld sldOrd">
      <pc:chgData name="Koen DE BELIE" userId="0b604c76-dc05-41eb-aae4-58be6ad353f8" providerId="ADAL" clId="{A0CAB841-4192-4D5A-AB98-8769508D3B25}" dt="2026-02-12T09:10:43.192" v="106" actId="20577"/>
      <pc:docMkLst>
        <pc:docMk/>
      </pc:docMkLst>
      <pc:sldChg chg="modSp mod">
        <pc:chgData name="Koen DE BELIE" userId="0b604c76-dc05-41eb-aae4-58be6ad353f8" providerId="ADAL" clId="{A0CAB841-4192-4D5A-AB98-8769508D3B25}" dt="2026-02-12T07:47:39.115" v="82" actId="114"/>
        <pc:sldMkLst>
          <pc:docMk/>
          <pc:sldMk cId="0" sldId="263"/>
        </pc:sldMkLst>
        <pc:spChg chg="mod">
          <ac:chgData name="Koen DE BELIE" userId="0b604c76-dc05-41eb-aae4-58be6ad353f8" providerId="ADAL" clId="{A0CAB841-4192-4D5A-AB98-8769508D3B25}" dt="2026-02-12T07:47:39.115" v="82" actId="114"/>
          <ac:spMkLst>
            <pc:docMk/>
            <pc:sldMk cId="0" sldId="263"/>
            <ac:spMk id="9218" creationId="{00000000-0000-0000-0000-000000000000}"/>
          </ac:spMkLst>
        </pc:spChg>
      </pc:sldChg>
      <pc:sldChg chg="modSp mod">
        <pc:chgData name="Koen DE BELIE" userId="0b604c76-dc05-41eb-aae4-58be6ad353f8" providerId="ADAL" clId="{A0CAB841-4192-4D5A-AB98-8769508D3B25}" dt="2026-02-12T08:26:31.799" v="84" actId="20577"/>
        <pc:sldMkLst>
          <pc:docMk/>
          <pc:sldMk cId="0" sldId="284"/>
        </pc:sldMkLst>
        <pc:spChg chg="mod">
          <ac:chgData name="Koen DE BELIE" userId="0b604c76-dc05-41eb-aae4-58be6ad353f8" providerId="ADAL" clId="{A0CAB841-4192-4D5A-AB98-8769508D3B25}" dt="2026-02-12T08:26:31.799" v="84" actId="20577"/>
          <ac:spMkLst>
            <pc:docMk/>
            <pc:sldMk cId="0" sldId="284"/>
            <ac:spMk id="47107" creationId="{00000000-0000-0000-0000-000000000000}"/>
          </ac:spMkLst>
        </pc:spChg>
      </pc:sldChg>
      <pc:sldChg chg="addSp delSp modSp mod">
        <pc:chgData name="Koen DE BELIE" userId="0b604c76-dc05-41eb-aae4-58be6ad353f8" providerId="ADAL" clId="{A0CAB841-4192-4D5A-AB98-8769508D3B25}" dt="2026-02-12T08:58:41.349" v="95" actId="403"/>
        <pc:sldMkLst>
          <pc:docMk/>
          <pc:sldMk cId="0" sldId="300"/>
        </pc:sldMkLst>
        <pc:spChg chg="add mod">
          <ac:chgData name="Koen DE BELIE" userId="0b604c76-dc05-41eb-aae4-58be6ad353f8" providerId="ADAL" clId="{A0CAB841-4192-4D5A-AB98-8769508D3B25}" dt="2026-02-12T08:58:41.349" v="95" actId="403"/>
          <ac:spMkLst>
            <pc:docMk/>
            <pc:sldMk cId="0" sldId="300"/>
            <ac:spMk id="2" creationId="{E0651682-F686-E683-659C-3C552B5EC5AE}"/>
          </ac:spMkLst>
        </pc:spChg>
        <pc:spChg chg="mod">
          <ac:chgData name="Koen DE BELIE" userId="0b604c76-dc05-41eb-aae4-58be6ad353f8" providerId="ADAL" clId="{A0CAB841-4192-4D5A-AB98-8769508D3B25}" dt="2026-01-29T08:40:34.303" v="36" actId="1076"/>
          <ac:spMkLst>
            <pc:docMk/>
            <pc:sldMk cId="0" sldId="300"/>
            <ac:spMk id="69634" creationId="{00000000-0000-0000-0000-000000000000}"/>
          </ac:spMkLst>
        </pc:spChg>
        <pc:graphicFrameChg chg="del mod replId">
          <ac:chgData name="Koen DE BELIE" userId="0b604c76-dc05-41eb-aae4-58be6ad353f8" providerId="ADAL" clId="{A0CAB841-4192-4D5A-AB98-8769508D3B25}" dt="2026-02-12T08:58:23.098" v="88"/>
          <ac:graphicFrameMkLst>
            <pc:docMk/>
            <pc:sldMk cId="0" sldId="300"/>
            <ac:graphicFrameMk id="4" creationId="{E0651682-F686-E683-659C-3C552B5EC5AE}"/>
          </ac:graphicFrameMkLst>
        </pc:graphicFrameChg>
      </pc:sldChg>
      <pc:sldChg chg="modSp mod">
        <pc:chgData name="Koen DE BELIE" userId="0b604c76-dc05-41eb-aae4-58be6ad353f8" providerId="ADAL" clId="{A0CAB841-4192-4D5A-AB98-8769508D3B25}" dt="2026-01-29T08:40:22.211" v="35" actId="404"/>
        <pc:sldMkLst>
          <pc:docMk/>
          <pc:sldMk cId="78098066" sldId="332"/>
        </pc:sldMkLst>
        <pc:spChg chg="mod">
          <ac:chgData name="Koen DE BELIE" userId="0b604c76-dc05-41eb-aae4-58be6ad353f8" providerId="ADAL" clId="{A0CAB841-4192-4D5A-AB98-8769508D3B25}" dt="2026-01-29T08:40:22.211" v="35" actId="404"/>
          <ac:spMkLst>
            <pc:docMk/>
            <pc:sldMk cId="78098066" sldId="332"/>
            <ac:spMk id="58371" creationId="{00000000-0000-0000-0000-000000000000}"/>
          </ac:spMkLst>
        </pc:spChg>
      </pc:sldChg>
      <pc:sldChg chg="modSp">
        <pc:chgData name="Koen DE BELIE" userId="0b604c76-dc05-41eb-aae4-58be6ad353f8" providerId="ADAL" clId="{A0CAB841-4192-4D5A-AB98-8769508D3B25}" dt="2026-02-12T08:46:38.293" v="86" actId="20577"/>
        <pc:sldMkLst>
          <pc:docMk/>
          <pc:sldMk cId="2485808749" sldId="338"/>
        </pc:sldMkLst>
        <pc:spChg chg="mod">
          <ac:chgData name="Koen DE BELIE" userId="0b604c76-dc05-41eb-aae4-58be6ad353f8" providerId="ADAL" clId="{A0CAB841-4192-4D5A-AB98-8769508D3B25}" dt="2026-02-12T08:46:38.293" v="86" actId="20577"/>
          <ac:spMkLst>
            <pc:docMk/>
            <pc:sldMk cId="2485808749" sldId="338"/>
            <ac:spMk id="55299" creationId="{00000000-0000-0000-0000-000000000000}"/>
          </ac:spMkLst>
        </pc:spChg>
      </pc:sldChg>
      <pc:sldChg chg="modSp add mod">
        <pc:chgData name="Koen DE BELIE" userId="0b604c76-dc05-41eb-aae4-58be6ad353f8" providerId="ADAL" clId="{A0CAB841-4192-4D5A-AB98-8769508D3B25}" dt="2026-01-29T08:38:05.704" v="15" actId="14100"/>
        <pc:sldMkLst>
          <pc:docMk/>
          <pc:sldMk cId="1992387614" sldId="342"/>
        </pc:sldMkLst>
        <pc:spChg chg="mod">
          <ac:chgData name="Koen DE BELIE" userId="0b604c76-dc05-41eb-aae4-58be6ad353f8" providerId="ADAL" clId="{A0CAB841-4192-4D5A-AB98-8769508D3B25}" dt="2026-01-29T08:38:05.704" v="15" actId="14100"/>
          <ac:spMkLst>
            <pc:docMk/>
            <pc:sldMk cId="1992387614" sldId="342"/>
            <ac:spMk id="3075" creationId="{00000000-0000-0000-0000-000000000000}"/>
          </ac:spMkLst>
        </pc:spChg>
      </pc:sldChg>
      <pc:sldChg chg="add">
        <pc:chgData name="Koen DE BELIE" userId="0b604c76-dc05-41eb-aae4-58be6ad353f8" providerId="ADAL" clId="{A0CAB841-4192-4D5A-AB98-8769508D3B25}" dt="2026-01-29T08:38:15.227" v="17"/>
        <pc:sldMkLst>
          <pc:docMk/>
          <pc:sldMk cId="3965030800" sldId="343"/>
        </pc:sldMkLst>
      </pc:sldChg>
      <pc:sldChg chg="add">
        <pc:chgData name="Koen DE BELIE" userId="0b604c76-dc05-41eb-aae4-58be6ad353f8" providerId="ADAL" clId="{A0CAB841-4192-4D5A-AB98-8769508D3B25}" dt="2026-01-29T08:38:25.224" v="19"/>
        <pc:sldMkLst>
          <pc:docMk/>
          <pc:sldMk cId="3619371463" sldId="345"/>
        </pc:sldMkLst>
      </pc:sldChg>
      <pc:sldChg chg="modSp mod ord">
        <pc:chgData name="Koen DE BELIE" userId="0b604c76-dc05-41eb-aae4-58be6ad353f8" providerId="ADAL" clId="{A0CAB841-4192-4D5A-AB98-8769508D3B25}" dt="2026-01-29T09:06:14.597" v="56" actId="27636"/>
        <pc:sldMkLst>
          <pc:docMk/>
          <pc:sldMk cId="4236056376" sldId="349"/>
        </pc:sldMkLst>
        <pc:spChg chg="mod">
          <ac:chgData name="Koen DE BELIE" userId="0b604c76-dc05-41eb-aae4-58be6ad353f8" providerId="ADAL" clId="{A0CAB841-4192-4D5A-AB98-8769508D3B25}" dt="2026-01-29T09:06:00.172" v="49" actId="20577"/>
          <ac:spMkLst>
            <pc:docMk/>
            <pc:sldMk cId="4236056376" sldId="349"/>
            <ac:spMk id="3" creationId="{72FD87F6-0164-4DC8-B805-40F477E9208A}"/>
          </ac:spMkLst>
        </pc:spChg>
        <pc:spChg chg="mod">
          <ac:chgData name="Koen DE BELIE" userId="0b604c76-dc05-41eb-aae4-58be6ad353f8" providerId="ADAL" clId="{A0CAB841-4192-4D5A-AB98-8769508D3B25}" dt="2026-01-29T09:06:14.597" v="56" actId="27636"/>
          <ac:spMkLst>
            <pc:docMk/>
            <pc:sldMk cId="4236056376" sldId="349"/>
            <ac:spMk id="7171" creationId="{00000000-0000-0000-0000-000000000000}"/>
          </ac:spMkLst>
        </pc:spChg>
      </pc:sldChg>
      <pc:sldChg chg="ord">
        <pc:chgData name="Koen DE BELIE" userId="0b604c76-dc05-41eb-aae4-58be6ad353f8" providerId="ADAL" clId="{A0CAB841-4192-4D5A-AB98-8769508D3B25}" dt="2026-01-29T08:38:38.651" v="23"/>
        <pc:sldMkLst>
          <pc:docMk/>
          <pc:sldMk cId="2548945633" sldId="350"/>
        </pc:sldMkLst>
      </pc:sldChg>
      <pc:sldChg chg="modSp new mod">
        <pc:chgData name="Koen DE BELIE" userId="0b604c76-dc05-41eb-aae4-58be6ad353f8" providerId="ADAL" clId="{A0CAB841-4192-4D5A-AB98-8769508D3B25}" dt="2026-02-12T09:10:43.192" v="106" actId="20577"/>
        <pc:sldMkLst>
          <pc:docMk/>
          <pc:sldMk cId="2836145967" sldId="369"/>
        </pc:sldMkLst>
        <pc:spChg chg="mod">
          <ac:chgData name="Koen DE BELIE" userId="0b604c76-dc05-41eb-aae4-58be6ad353f8" providerId="ADAL" clId="{A0CAB841-4192-4D5A-AB98-8769508D3B25}" dt="2026-02-12T09:10:43.192" v="106" actId="20577"/>
          <ac:spMkLst>
            <pc:docMk/>
            <pc:sldMk cId="2836145967" sldId="369"/>
            <ac:spMk id="2" creationId="{1F604872-15BC-D714-536E-F3BE7B55AFC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EC2F73-F8C3-426C-9239-DA3CEF776107}" type="datetimeFigureOut">
              <a:rPr lang="nl-BE" smtClean="0"/>
              <a:t>24/02/2026</a:t>
            </a:fld>
            <a:endParaRPr lang="nl-BE"/>
          </a:p>
        </p:txBody>
      </p:sp>
      <p:sp>
        <p:nvSpPr>
          <p:cNvPr id="4" name="Tijdelijke aanduiding voor dia-afbeelding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CCAFF1-1D4D-408A-9D38-2F84106EC66B}" type="slidenum">
              <a:rPr lang="nl-BE" smtClean="0"/>
              <a:t>‹nr.›</a:t>
            </a:fld>
            <a:endParaRPr lang="nl-BE"/>
          </a:p>
        </p:txBody>
      </p:sp>
    </p:spTree>
    <p:extLst>
      <p:ext uri="{BB962C8B-B14F-4D97-AF65-F5344CB8AC3E}">
        <p14:creationId xmlns:p14="http://schemas.microsoft.com/office/powerpoint/2010/main" val="4003254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27CCAFF1-1D4D-408A-9D38-2F84106EC66B}" type="slidenum">
              <a:rPr lang="nl-BE" smtClean="0"/>
              <a:t>6</a:t>
            </a:fld>
            <a:endParaRPr lang="nl-BE"/>
          </a:p>
        </p:txBody>
      </p:sp>
    </p:spTree>
    <p:extLst>
      <p:ext uri="{BB962C8B-B14F-4D97-AF65-F5344CB8AC3E}">
        <p14:creationId xmlns:p14="http://schemas.microsoft.com/office/powerpoint/2010/main" val="3446284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nl-NL" dirty="0"/>
              <a:t>Het </a:t>
            </a:r>
            <a:r>
              <a:rPr lang="nl-NL" dirty="0" err="1"/>
              <a:t>Kosmodroom</a:t>
            </a:r>
            <a:r>
              <a:rPr lang="nl-NL" dirty="0"/>
              <a:t> van </a:t>
            </a:r>
            <a:r>
              <a:rPr lang="nl-NL" dirty="0" err="1"/>
              <a:t>Bajkonoer</a:t>
            </a:r>
            <a:r>
              <a:rPr lang="nl-NL" dirty="0"/>
              <a:t> is de oudste en grootste raketlanceerplaats ter wereld. Sinds de val van de Sovjet-Unie bevindt het zich in Kazachstan, hoewel het nog steeds wordt gehuurd door Rusland. </a:t>
            </a:r>
          </a:p>
          <a:p>
            <a:endParaRPr lang="nl-NL" dirty="0"/>
          </a:p>
          <a:p>
            <a:r>
              <a:rPr lang="nl-NL" dirty="0"/>
              <a:t>Frans-Guyana is een Frans overzees departement aan de noordkust van Zuid-Amerika. Het is het grootste gebied van de Europese Unie buiten Europa. Het grenst in het westen aan Suriname en wordt verder omsloten door Brazilië. Bij </a:t>
            </a:r>
            <a:r>
              <a:rPr lang="nl-NL" dirty="0" err="1"/>
              <a:t>Kourou</a:t>
            </a:r>
            <a:r>
              <a:rPr lang="nl-NL" dirty="0"/>
              <a:t> ligt de lanceerbasis Centre </a:t>
            </a:r>
            <a:r>
              <a:rPr lang="nl-NL" dirty="0" err="1"/>
              <a:t>Spatial</a:t>
            </a:r>
            <a:r>
              <a:rPr lang="nl-NL" dirty="0"/>
              <a:t> </a:t>
            </a:r>
            <a:r>
              <a:rPr lang="nl-NL" dirty="0" err="1"/>
              <a:t>Guyanais</a:t>
            </a:r>
            <a:r>
              <a:rPr lang="nl-NL" dirty="0"/>
              <a:t> van de ESA, het Europese ruimtevaartproject. </a:t>
            </a:r>
          </a:p>
          <a:p>
            <a:endParaRPr lang="nl-BE" dirty="0"/>
          </a:p>
        </p:txBody>
      </p:sp>
      <p:sp>
        <p:nvSpPr>
          <p:cNvPr id="4" name="Tijdelijke aanduiding voor dianummer 3"/>
          <p:cNvSpPr>
            <a:spLocks noGrp="1"/>
          </p:cNvSpPr>
          <p:nvPr>
            <p:ph type="sldNum" sz="quarter" idx="10"/>
          </p:nvPr>
        </p:nvSpPr>
        <p:spPr/>
        <p:txBody>
          <a:bodyPr/>
          <a:lstStyle/>
          <a:p>
            <a:fld id="{27CCAFF1-1D4D-408A-9D38-2F84106EC66B}" type="slidenum">
              <a:rPr lang="nl-BE" smtClean="0"/>
              <a:t>32</a:t>
            </a:fld>
            <a:endParaRPr lang="nl-BE"/>
          </a:p>
        </p:txBody>
      </p:sp>
    </p:spTree>
    <p:extLst>
      <p:ext uri="{BB962C8B-B14F-4D97-AF65-F5344CB8AC3E}">
        <p14:creationId xmlns:p14="http://schemas.microsoft.com/office/powerpoint/2010/main" val="3546842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27CCAFF1-1D4D-408A-9D38-2F84106EC66B}" type="slidenum">
              <a:rPr lang="nl-BE" smtClean="0"/>
              <a:t>40</a:t>
            </a:fld>
            <a:endParaRPr lang="nl-BE"/>
          </a:p>
        </p:txBody>
      </p:sp>
    </p:spTree>
    <p:extLst>
      <p:ext uri="{BB962C8B-B14F-4D97-AF65-F5344CB8AC3E}">
        <p14:creationId xmlns:p14="http://schemas.microsoft.com/office/powerpoint/2010/main" val="3087853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dirty="0"/>
              <a:t> PROBA (Project for On-Board Autonomy)</a:t>
            </a:r>
            <a:r>
              <a:rPr lang="en-US" baseline="0" dirty="0"/>
              <a:t> → </a:t>
            </a:r>
            <a:r>
              <a:rPr lang="en-US" baseline="0" dirty="0" err="1"/>
              <a:t>testsatelliet</a:t>
            </a:r>
            <a:r>
              <a:rPr lang="en-US" baseline="0" dirty="0"/>
              <a:t> </a:t>
            </a:r>
            <a:br>
              <a:rPr lang="en-US" baseline="0" dirty="0"/>
            </a:br>
            <a:r>
              <a:rPr lang="nl-NL" sz="1200" b="0" i="0" kern="1200" dirty="0">
                <a:solidFill>
                  <a:schemeClr val="tx1"/>
                </a:solidFill>
                <a:effectLst/>
                <a:latin typeface="+mn-lt"/>
                <a:ea typeface="+mn-ea"/>
                <a:cs typeface="+mn-cs"/>
              </a:rPr>
              <a:t>Men wil er nieuwe technologieën mee uittesten, die het mogelijk moeten maken satellietmissies zonder tussenkomst van een grondstation en daarmee goedkoper te maken. De gebruiker krijgt rechtstreeks toegang via Internet. </a:t>
            </a:r>
            <a:endParaRPr lang="nl-BE" dirty="0"/>
          </a:p>
        </p:txBody>
      </p:sp>
      <p:sp>
        <p:nvSpPr>
          <p:cNvPr id="4" name="Tijdelijke aanduiding voor dianummer 3"/>
          <p:cNvSpPr>
            <a:spLocks noGrp="1"/>
          </p:cNvSpPr>
          <p:nvPr>
            <p:ph type="sldNum" sz="quarter" idx="10"/>
          </p:nvPr>
        </p:nvSpPr>
        <p:spPr/>
        <p:txBody>
          <a:bodyPr/>
          <a:lstStyle/>
          <a:p>
            <a:fld id="{27CCAFF1-1D4D-408A-9D38-2F84106EC66B}" type="slidenum">
              <a:rPr lang="nl-BE" smtClean="0"/>
              <a:t>59</a:t>
            </a:fld>
            <a:endParaRPr lang="nl-BE"/>
          </a:p>
        </p:txBody>
      </p:sp>
    </p:spTree>
    <p:extLst>
      <p:ext uri="{BB962C8B-B14F-4D97-AF65-F5344CB8AC3E}">
        <p14:creationId xmlns:p14="http://schemas.microsoft.com/office/powerpoint/2010/main" val="4099609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27CCAFF1-1D4D-408A-9D38-2F84106EC66B}" type="slidenum">
              <a:rPr lang="nl-BE" smtClean="0"/>
              <a:t>60</a:t>
            </a:fld>
            <a:endParaRPr lang="nl-BE"/>
          </a:p>
        </p:txBody>
      </p:sp>
    </p:spTree>
    <p:extLst>
      <p:ext uri="{BB962C8B-B14F-4D97-AF65-F5344CB8AC3E}">
        <p14:creationId xmlns:p14="http://schemas.microsoft.com/office/powerpoint/2010/main" val="104369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nl-NL" dirty="0"/>
              <a:t>Een systeem dat wereldwijde dekking heeft, wordt ook wel aangeduid als GNSS of Global </a:t>
            </a:r>
            <a:r>
              <a:rPr lang="nl-NL" dirty="0" err="1"/>
              <a:t>Navigation</a:t>
            </a:r>
            <a:r>
              <a:rPr lang="nl-NL" dirty="0"/>
              <a:t> </a:t>
            </a:r>
            <a:r>
              <a:rPr lang="nl-NL" dirty="0" err="1"/>
              <a:t>Satellite</a:t>
            </a:r>
            <a:r>
              <a:rPr lang="nl-NL" dirty="0"/>
              <a:t> System.</a:t>
            </a:r>
          </a:p>
          <a:p>
            <a:endParaRPr lang="nl-NL" dirty="0"/>
          </a:p>
          <a:p>
            <a:endParaRPr lang="nl-BE" dirty="0"/>
          </a:p>
        </p:txBody>
      </p:sp>
      <p:sp>
        <p:nvSpPr>
          <p:cNvPr id="4" name="Tijdelijke aanduiding voor dianummer 3"/>
          <p:cNvSpPr>
            <a:spLocks noGrp="1"/>
          </p:cNvSpPr>
          <p:nvPr>
            <p:ph type="sldNum" sz="quarter" idx="10"/>
          </p:nvPr>
        </p:nvSpPr>
        <p:spPr/>
        <p:txBody>
          <a:bodyPr/>
          <a:lstStyle/>
          <a:p>
            <a:fld id="{27CCAFF1-1D4D-408A-9D38-2F84106EC66B}" type="slidenum">
              <a:rPr lang="nl-BE" smtClean="0"/>
              <a:t>86</a:t>
            </a:fld>
            <a:endParaRPr lang="nl-BE"/>
          </a:p>
        </p:txBody>
      </p:sp>
    </p:spTree>
    <p:extLst>
      <p:ext uri="{BB962C8B-B14F-4D97-AF65-F5344CB8AC3E}">
        <p14:creationId xmlns:p14="http://schemas.microsoft.com/office/powerpoint/2010/main" val="3435585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nl-BE" dirty="0"/>
              <a:t>https://tweakers.net/nieuws/118057/esa-brengt-vier-nieuwe-galileo-satellieten-in-baan-om-de-aarde.html</a:t>
            </a:r>
          </a:p>
          <a:p>
            <a:endParaRPr lang="nl-BE" dirty="0"/>
          </a:p>
        </p:txBody>
      </p:sp>
      <p:sp>
        <p:nvSpPr>
          <p:cNvPr id="4" name="Tijdelijke aanduiding voor dianummer 3"/>
          <p:cNvSpPr>
            <a:spLocks noGrp="1"/>
          </p:cNvSpPr>
          <p:nvPr>
            <p:ph type="sldNum" sz="quarter" idx="10"/>
          </p:nvPr>
        </p:nvSpPr>
        <p:spPr/>
        <p:txBody>
          <a:bodyPr/>
          <a:lstStyle/>
          <a:p>
            <a:fld id="{27CCAFF1-1D4D-408A-9D38-2F84106EC66B}" type="slidenum">
              <a:rPr lang="nl-BE" smtClean="0"/>
              <a:t>87</a:t>
            </a:fld>
            <a:endParaRPr lang="nl-BE"/>
          </a:p>
        </p:txBody>
      </p:sp>
    </p:spTree>
    <p:extLst>
      <p:ext uri="{BB962C8B-B14F-4D97-AF65-F5344CB8AC3E}">
        <p14:creationId xmlns:p14="http://schemas.microsoft.com/office/powerpoint/2010/main" val="4154819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nl-NL"/>
              <a:t>Klik om stijl te bewerken</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dirty="0"/>
          </a:p>
        </p:txBody>
      </p:sp>
      <p:sp>
        <p:nvSpPr>
          <p:cNvPr id="7" name="Date Placeholder 6"/>
          <p:cNvSpPr>
            <a:spLocks noGrp="1"/>
          </p:cNvSpPr>
          <p:nvPr>
            <p:ph type="dt" sz="half" idx="10"/>
          </p:nvPr>
        </p:nvSpPr>
        <p:spPr/>
        <p:txBody>
          <a:bodyPr/>
          <a:lstStyle/>
          <a:p>
            <a:pPr>
              <a:defRPr/>
            </a:pPr>
            <a:endParaRPr lang="nl-BE"/>
          </a:p>
        </p:txBody>
      </p:sp>
      <p:sp>
        <p:nvSpPr>
          <p:cNvPr id="8" name="Footer Placeholder 7"/>
          <p:cNvSpPr>
            <a:spLocks noGrp="1"/>
          </p:cNvSpPr>
          <p:nvPr>
            <p:ph type="ftr" sz="quarter" idx="11"/>
          </p:nvPr>
        </p:nvSpPr>
        <p:spPr/>
        <p:txBody>
          <a:bodyPr/>
          <a:lstStyle/>
          <a:p>
            <a:pPr>
              <a:defRPr/>
            </a:pPr>
            <a:endParaRPr lang="nl-BE"/>
          </a:p>
        </p:txBody>
      </p:sp>
      <p:sp>
        <p:nvSpPr>
          <p:cNvPr id="9" name="Slide Number Placeholder 8"/>
          <p:cNvSpPr>
            <a:spLocks noGrp="1"/>
          </p:cNvSpPr>
          <p:nvPr>
            <p:ph type="sldNum" sz="quarter" idx="12"/>
          </p:nvPr>
        </p:nvSpPr>
        <p:spPr/>
        <p:txBody>
          <a:bodyPr/>
          <a:lstStyle/>
          <a:p>
            <a:pPr>
              <a:defRPr/>
            </a:pPr>
            <a:fld id="{D7A62A5E-9FC0-4738-BD03-214B0160AC0E}" type="slidenum">
              <a:rPr lang="nl-NL" smtClean="0"/>
              <a:pPr>
                <a:defRPr/>
              </a:pPr>
              <a:t>‹nr.›</a:t>
            </a:fld>
            <a:endParaRPr lang="nl-NL"/>
          </a:p>
        </p:txBody>
      </p:sp>
    </p:spTree>
    <p:extLst>
      <p:ext uri="{BB962C8B-B14F-4D97-AF65-F5344CB8AC3E}">
        <p14:creationId xmlns:p14="http://schemas.microsoft.com/office/powerpoint/2010/main" val="2276726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pPr>
              <a:defRPr/>
            </a:pPr>
            <a:endParaRPr lang="nl-BE"/>
          </a:p>
        </p:txBody>
      </p:sp>
      <p:sp>
        <p:nvSpPr>
          <p:cNvPr id="5" name="Footer Placeholder 4"/>
          <p:cNvSpPr>
            <a:spLocks noGrp="1"/>
          </p:cNvSpPr>
          <p:nvPr>
            <p:ph type="ftr" sz="quarter" idx="11"/>
          </p:nvPr>
        </p:nvSpPr>
        <p:spPr/>
        <p:txBody>
          <a:bodyPr/>
          <a:lstStyle/>
          <a:p>
            <a:pPr>
              <a:defRPr/>
            </a:pPr>
            <a:endParaRPr lang="nl-BE"/>
          </a:p>
        </p:txBody>
      </p:sp>
      <p:sp>
        <p:nvSpPr>
          <p:cNvPr id="6" name="Slide Number Placeholder 5"/>
          <p:cNvSpPr>
            <a:spLocks noGrp="1"/>
          </p:cNvSpPr>
          <p:nvPr>
            <p:ph type="sldNum" sz="quarter" idx="12"/>
          </p:nvPr>
        </p:nvSpPr>
        <p:spPr/>
        <p:txBody>
          <a:bodyPr/>
          <a:lstStyle/>
          <a:p>
            <a:pPr>
              <a:defRPr/>
            </a:pPr>
            <a:fld id="{E7F609C9-2009-4AE3-8333-AAF70780E500}" type="slidenum">
              <a:rPr lang="nl-NL" smtClean="0"/>
              <a:pPr>
                <a:defRPr/>
              </a:pPr>
              <a:t>‹nr.›</a:t>
            </a:fld>
            <a:endParaRPr lang="nl-NL"/>
          </a:p>
        </p:txBody>
      </p:sp>
    </p:spTree>
    <p:extLst>
      <p:ext uri="{BB962C8B-B14F-4D97-AF65-F5344CB8AC3E}">
        <p14:creationId xmlns:p14="http://schemas.microsoft.com/office/powerpoint/2010/main" val="2333742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nl-NL"/>
              <a:t>Klik om stijl te bewerken</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dirty="0"/>
          </a:p>
        </p:txBody>
      </p:sp>
      <p:sp>
        <p:nvSpPr>
          <p:cNvPr id="4" name="Date Placeholder 3"/>
          <p:cNvSpPr>
            <a:spLocks noGrp="1"/>
          </p:cNvSpPr>
          <p:nvPr>
            <p:ph type="dt" sz="half" idx="10"/>
          </p:nvPr>
        </p:nvSpPr>
        <p:spPr/>
        <p:txBody>
          <a:bodyPr/>
          <a:lstStyle/>
          <a:p>
            <a:pPr>
              <a:defRPr/>
            </a:pPr>
            <a:endParaRPr lang="nl-BE"/>
          </a:p>
        </p:txBody>
      </p:sp>
      <p:sp>
        <p:nvSpPr>
          <p:cNvPr id="5" name="Footer Placeholder 4"/>
          <p:cNvSpPr>
            <a:spLocks noGrp="1"/>
          </p:cNvSpPr>
          <p:nvPr>
            <p:ph type="ftr" sz="quarter" idx="11"/>
          </p:nvPr>
        </p:nvSpPr>
        <p:spPr/>
        <p:txBody>
          <a:bodyPr/>
          <a:lstStyle/>
          <a:p>
            <a:pPr>
              <a:defRPr/>
            </a:pPr>
            <a:endParaRPr lang="nl-BE"/>
          </a:p>
        </p:txBody>
      </p:sp>
      <p:sp>
        <p:nvSpPr>
          <p:cNvPr id="6" name="Slide Number Placeholder 5"/>
          <p:cNvSpPr>
            <a:spLocks noGrp="1"/>
          </p:cNvSpPr>
          <p:nvPr>
            <p:ph type="sldNum" sz="quarter" idx="12"/>
          </p:nvPr>
        </p:nvSpPr>
        <p:spPr/>
        <p:txBody>
          <a:bodyPr/>
          <a:lstStyle/>
          <a:p>
            <a:pPr>
              <a:defRPr/>
            </a:pPr>
            <a:fld id="{C34BEC0B-5EAD-44E4-9256-2790D218F142}" type="slidenum">
              <a:rPr lang="nl-NL" smtClean="0"/>
              <a:pPr>
                <a:defRPr/>
              </a:pPr>
              <a:t>‹nr.›</a:t>
            </a:fld>
            <a:endParaRPr lang="nl-NL"/>
          </a:p>
        </p:txBody>
      </p:sp>
    </p:spTree>
    <p:extLst>
      <p:ext uri="{BB962C8B-B14F-4D97-AF65-F5344CB8AC3E}">
        <p14:creationId xmlns:p14="http://schemas.microsoft.com/office/powerpoint/2010/main" val="4195370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pPr>
              <a:defRPr/>
            </a:pPr>
            <a:endParaRPr lang="nl-BE"/>
          </a:p>
        </p:txBody>
      </p:sp>
      <p:sp>
        <p:nvSpPr>
          <p:cNvPr id="6" name="Footer Placeholder 5"/>
          <p:cNvSpPr>
            <a:spLocks noGrp="1"/>
          </p:cNvSpPr>
          <p:nvPr>
            <p:ph type="ftr" sz="quarter" idx="11"/>
          </p:nvPr>
        </p:nvSpPr>
        <p:spPr/>
        <p:txBody>
          <a:bodyPr/>
          <a:lstStyle/>
          <a:p>
            <a:pPr>
              <a:defRPr/>
            </a:pPr>
            <a:endParaRPr lang="nl-BE"/>
          </a:p>
        </p:txBody>
      </p:sp>
      <p:sp>
        <p:nvSpPr>
          <p:cNvPr id="7" name="Slide Number Placeholder 6"/>
          <p:cNvSpPr>
            <a:spLocks noGrp="1"/>
          </p:cNvSpPr>
          <p:nvPr>
            <p:ph type="sldNum" sz="quarter" idx="12"/>
          </p:nvPr>
        </p:nvSpPr>
        <p:spPr/>
        <p:txBody>
          <a:bodyPr/>
          <a:lstStyle/>
          <a:p>
            <a:pPr>
              <a:defRPr/>
            </a:pPr>
            <a:fld id="{E4754676-8658-4E4F-96AF-05B5B7D8AB4D}" type="slidenum">
              <a:rPr lang="nl-NL" smtClean="0"/>
              <a:pPr>
                <a:defRPr/>
              </a:pPr>
              <a:t>‹nr.›</a:t>
            </a:fld>
            <a:endParaRPr lang="nl-NL"/>
          </a:p>
        </p:txBody>
      </p:sp>
    </p:spTree>
    <p:extLst>
      <p:ext uri="{BB962C8B-B14F-4D97-AF65-F5344CB8AC3E}">
        <p14:creationId xmlns:p14="http://schemas.microsoft.com/office/powerpoint/2010/main" val="2133565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nl-NL"/>
              <a:t>Klik om stijl te bewerken</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1120000" y="2505075"/>
            <a:ext cx="5025216"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nl-NL"/>
              <a:t>Klikken om de tekststijl van het model te bewerken</a:t>
            </a:r>
          </a:p>
        </p:txBody>
      </p:sp>
      <p:sp>
        <p:nvSpPr>
          <p:cNvPr id="6" name="Content Placeholder 5"/>
          <p:cNvSpPr>
            <a:spLocks noGrp="1"/>
          </p:cNvSpPr>
          <p:nvPr>
            <p:ph sz="quarter" idx="4"/>
          </p:nvPr>
        </p:nvSpPr>
        <p:spPr>
          <a:xfrm>
            <a:off x="6319840" y="2505075"/>
            <a:ext cx="503554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p:txBody>
          <a:bodyPr/>
          <a:lstStyle/>
          <a:p>
            <a:pPr>
              <a:defRPr/>
            </a:pPr>
            <a:endParaRPr lang="nl-BE"/>
          </a:p>
        </p:txBody>
      </p:sp>
      <p:sp>
        <p:nvSpPr>
          <p:cNvPr id="8" name="Footer Placeholder 7"/>
          <p:cNvSpPr>
            <a:spLocks noGrp="1"/>
          </p:cNvSpPr>
          <p:nvPr>
            <p:ph type="ftr" sz="quarter" idx="11"/>
          </p:nvPr>
        </p:nvSpPr>
        <p:spPr/>
        <p:txBody>
          <a:bodyPr/>
          <a:lstStyle/>
          <a:p>
            <a:pPr>
              <a:defRPr/>
            </a:pPr>
            <a:endParaRPr lang="nl-BE"/>
          </a:p>
        </p:txBody>
      </p:sp>
      <p:sp>
        <p:nvSpPr>
          <p:cNvPr id="9" name="Slide Number Placeholder 8"/>
          <p:cNvSpPr>
            <a:spLocks noGrp="1"/>
          </p:cNvSpPr>
          <p:nvPr>
            <p:ph type="sldNum" sz="quarter" idx="12"/>
          </p:nvPr>
        </p:nvSpPr>
        <p:spPr/>
        <p:txBody>
          <a:bodyPr/>
          <a:lstStyle/>
          <a:p>
            <a:pPr>
              <a:defRPr/>
            </a:pPr>
            <a:fld id="{FF410E16-09A8-407B-8A6C-A4A11CBD32AE}" type="slidenum">
              <a:rPr lang="nl-NL" smtClean="0"/>
              <a:pPr>
                <a:defRPr/>
              </a:pPr>
              <a:t>‹nr.›</a:t>
            </a:fld>
            <a:endParaRPr lang="nl-NL"/>
          </a:p>
        </p:txBody>
      </p:sp>
    </p:spTree>
    <p:extLst>
      <p:ext uri="{BB962C8B-B14F-4D97-AF65-F5344CB8AC3E}">
        <p14:creationId xmlns:p14="http://schemas.microsoft.com/office/powerpoint/2010/main" val="383129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pPr>
              <a:defRPr/>
            </a:pPr>
            <a:endParaRPr lang="nl-BE"/>
          </a:p>
        </p:txBody>
      </p:sp>
      <p:sp>
        <p:nvSpPr>
          <p:cNvPr id="4" name="Footer Placeholder 3"/>
          <p:cNvSpPr>
            <a:spLocks noGrp="1"/>
          </p:cNvSpPr>
          <p:nvPr>
            <p:ph type="ftr" sz="quarter" idx="11"/>
          </p:nvPr>
        </p:nvSpPr>
        <p:spPr/>
        <p:txBody>
          <a:bodyPr/>
          <a:lstStyle/>
          <a:p>
            <a:pPr>
              <a:defRPr/>
            </a:pPr>
            <a:endParaRPr lang="nl-BE"/>
          </a:p>
        </p:txBody>
      </p:sp>
      <p:sp>
        <p:nvSpPr>
          <p:cNvPr id="5" name="Slide Number Placeholder 4"/>
          <p:cNvSpPr>
            <a:spLocks noGrp="1"/>
          </p:cNvSpPr>
          <p:nvPr>
            <p:ph type="sldNum" sz="quarter" idx="12"/>
          </p:nvPr>
        </p:nvSpPr>
        <p:spPr/>
        <p:txBody>
          <a:bodyPr/>
          <a:lstStyle/>
          <a:p>
            <a:pPr>
              <a:defRPr/>
            </a:pPr>
            <a:fld id="{8923AB49-BC94-4F81-A881-070CBBF392DD}" type="slidenum">
              <a:rPr lang="nl-NL" smtClean="0"/>
              <a:pPr>
                <a:defRPr/>
              </a:pPr>
              <a:t>‹nr.›</a:t>
            </a:fld>
            <a:endParaRPr lang="nl-NL"/>
          </a:p>
        </p:txBody>
      </p:sp>
    </p:spTree>
    <p:extLst>
      <p:ext uri="{BB962C8B-B14F-4D97-AF65-F5344CB8AC3E}">
        <p14:creationId xmlns:p14="http://schemas.microsoft.com/office/powerpoint/2010/main" val="97435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nl-BE"/>
          </a:p>
        </p:txBody>
      </p:sp>
      <p:sp>
        <p:nvSpPr>
          <p:cNvPr id="3" name="Footer Placeholder 2"/>
          <p:cNvSpPr>
            <a:spLocks noGrp="1"/>
          </p:cNvSpPr>
          <p:nvPr>
            <p:ph type="ftr" sz="quarter" idx="11"/>
          </p:nvPr>
        </p:nvSpPr>
        <p:spPr/>
        <p:txBody>
          <a:bodyPr/>
          <a:lstStyle/>
          <a:p>
            <a:pPr>
              <a:defRPr/>
            </a:pPr>
            <a:endParaRPr lang="nl-BE"/>
          </a:p>
        </p:txBody>
      </p:sp>
      <p:sp>
        <p:nvSpPr>
          <p:cNvPr id="4" name="Slide Number Placeholder 3"/>
          <p:cNvSpPr>
            <a:spLocks noGrp="1"/>
          </p:cNvSpPr>
          <p:nvPr>
            <p:ph type="sldNum" sz="quarter" idx="12"/>
          </p:nvPr>
        </p:nvSpPr>
        <p:spPr/>
        <p:txBody>
          <a:bodyPr/>
          <a:lstStyle/>
          <a:p>
            <a:pPr>
              <a:defRPr/>
            </a:pPr>
            <a:fld id="{94BA16D0-3DE1-456B-8664-645BE3B8F3AF}" type="slidenum">
              <a:rPr lang="nl-NL" smtClean="0"/>
              <a:pPr>
                <a:defRPr/>
              </a:pPr>
              <a:t>‹nr.›</a:t>
            </a:fld>
            <a:endParaRPr lang="nl-NL"/>
          </a:p>
        </p:txBody>
      </p:sp>
    </p:spTree>
    <p:extLst>
      <p:ext uri="{BB962C8B-B14F-4D97-AF65-F5344CB8AC3E}">
        <p14:creationId xmlns:p14="http://schemas.microsoft.com/office/powerpoint/2010/main" val="2839208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pPr>
              <a:defRPr/>
            </a:pPr>
            <a:endParaRPr lang="nl-BE"/>
          </a:p>
        </p:txBody>
      </p:sp>
      <p:sp>
        <p:nvSpPr>
          <p:cNvPr id="6" name="Footer Placeholder 5"/>
          <p:cNvSpPr>
            <a:spLocks noGrp="1"/>
          </p:cNvSpPr>
          <p:nvPr>
            <p:ph type="ftr" sz="quarter" idx="11"/>
          </p:nvPr>
        </p:nvSpPr>
        <p:spPr/>
        <p:txBody>
          <a:bodyPr/>
          <a:lstStyle/>
          <a:p>
            <a:pPr>
              <a:defRPr/>
            </a:pPr>
            <a:endParaRPr lang="nl-BE"/>
          </a:p>
        </p:txBody>
      </p:sp>
      <p:sp>
        <p:nvSpPr>
          <p:cNvPr id="7" name="Slide Number Placeholder 6"/>
          <p:cNvSpPr>
            <a:spLocks noGrp="1"/>
          </p:cNvSpPr>
          <p:nvPr>
            <p:ph type="sldNum" sz="quarter" idx="12"/>
          </p:nvPr>
        </p:nvSpPr>
        <p:spPr/>
        <p:txBody>
          <a:bodyPr/>
          <a:lstStyle/>
          <a:p>
            <a:pPr>
              <a:defRPr/>
            </a:pPr>
            <a:fld id="{5033C064-9F61-40B9-A2A1-D2209E3F863E}" type="slidenum">
              <a:rPr lang="nl-NL" smtClean="0"/>
              <a:pPr>
                <a:defRPr/>
              </a:pPr>
              <a:t>‹nr.›</a:t>
            </a:fld>
            <a:endParaRPr lang="nl-NL"/>
          </a:p>
        </p:txBody>
      </p:sp>
    </p:spTree>
    <p:extLst>
      <p:ext uri="{BB962C8B-B14F-4D97-AF65-F5344CB8AC3E}">
        <p14:creationId xmlns:p14="http://schemas.microsoft.com/office/powerpoint/2010/main" val="2826390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pPr>
              <a:defRPr/>
            </a:pPr>
            <a:endParaRPr lang="nl-BE"/>
          </a:p>
        </p:txBody>
      </p:sp>
      <p:sp>
        <p:nvSpPr>
          <p:cNvPr id="6" name="Footer Placeholder 5"/>
          <p:cNvSpPr>
            <a:spLocks noGrp="1"/>
          </p:cNvSpPr>
          <p:nvPr>
            <p:ph type="ftr" sz="quarter" idx="11"/>
          </p:nvPr>
        </p:nvSpPr>
        <p:spPr/>
        <p:txBody>
          <a:bodyPr/>
          <a:lstStyle/>
          <a:p>
            <a:pPr>
              <a:defRPr/>
            </a:pPr>
            <a:endParaRPr lang="nl-BE"/>
          </a:p>
        </p:txBody>
      </p:sp>
      <p:sp>
        <p:nvSpPr>
          <p:cNvPr id="7" name="Slide Number Placeholder 6"/>
          <p:cNvSpPr>
            <a:spLocks noGrp="1"/>
          </p:cNvSpPr>
          <p:nvPr>
            <p:ph type="sldNum" sz="quarter" idx="12"/>
          </p:nvPr>
        </p:nvSpPr>
        <p:spPr/>
        <p:txBody>
          <a:bodyPr/>
          <a:lstStyle/>
          <a:p>
            <a:pPr>
              <a:defRPr/>
            </a:pPr>
            <a:fld id="{5C901A8A-4450-401E-A940-8468E3C9517D}" type="slidenum">
              <a:rPr lang="nl-NL" smtClean="0"/>
              <a:pPr>
                <a:defRPr/>
              </a:pPr>
              <a:t>‹nr.›</a:t>
            </a:fld>
            <a:endParaRPr lang="nl-NL"/>
          </a:p>
        </p:txBody>
      </p:sp>
    </p:spTree>
    <p:extLst>
      <p:ext uri="{BB962C8B-B14F-4D97-AF65-F5344CB8AC3E}">
        <p14:creationId xmlns:p14="http://schemas.microsoft.com/office/powerpoint/2010/main" val="2118910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sche 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nl-NL"/>
              <a:t>Klik om stijl te bewerken</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pPr>
              <a:defRPr/>
            </a:pPr>
            <a:endParaRPr lang="nl-BE"/>
          </a:p>
        </p:txBody>
      </p:sp>
      <p:sp>
        <p:nvSpPr>
          <p:cNvPr id="6" name="Footer Placeholder 5"/>
          <p:cNvSpPr>
            <a:spLocks noGrp="1"/>
          </p:cNvSpPr>
          <p:nvPr>
            <p:ph type="ftr" sz="quarter" idx="11"/>
          </p:nvPr>
        </p:nvSpPr>
        <p:spPr/>
        <p:txBody>
          <a:bodyPr/>
          <a:lstStyle/>
          <a:p>
            <a:pPr>
              <a:defRPr/>
            </a:pPr>
            <a:endParaRPr lang="nl-BE"/>
          </a:p>
        </p:txBody>
      </p:sp>
      <p:sp>
        <p:nvSpPr>
          <p:cNvPr id="7" name="Slide Number Placeholder 6"/>
          <p:cNvSpPr>
            <a:spLocks noGrp="1"/>
          </p:cNvSpPr>
          <p:nvPr>
            <p:ph type="sldNum" sz="quarter" idx="12"/>
          </p:nvPr>
        </p:nvSpPr>
        <p:spPr/>
        <p:txBody>
          <a:bodyPr/>
          <a:lstStyle/>
          <a:p>
            <a:pPr>
              <a:defRPr/>
            </a:pPr>
            <a:fld id="{BEDE5B3D-50FE-4FC7-B0BE-3A9F682D438E}" type="slidenum">
              <a:rPr lang="nl-NL" smtClean="0"/>
              <a:pPr>
                <a:defRPr/>
              </a:pPr>
              <a:t>‹nr.›</a:t>
            </a:fld>
            <a:endParaRPr lang="nl-NL"/>
          </a:p>
        </p:txBody>
      </p:sp>
    </p:spTree>
    <p:extLst>
      <p:ext uri="{BB962C8B-B14F-4D97-AF65-F5344CB8AC3E}">
        <p14:creationId xmlns:p14="http://schemas.microsoft.com/office/powerpoint/2010/main" val="496385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en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nl-NL"/>
              <a:t>Klik om stijl te bewerken</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pPr>
              <a:defRPr/>
            </a:pPr>
            <a:endParaRPr lang="nl-BE"/>
          </a:p>
        </p:txBody>
      </p:sp>
      <p:sp>
        <p:nvSpPr>
          <p:cNvPr id="6" name="Footer Placeholder 5"/>
          <p:cNvSpPr>
            <a:spLocks noGrp="1"/>
          </p:cNvSpPr>
          <p:nvPr>
            <p:ph type="ftr" sz="quarter" idx="11"/>
          </p:nvPr>
        </p:nvSpPr>
        <p:spPr/>
        <p:txBody>
          <a:bodyPr/>
          <a:lstStyle/>
          <a:p>
            <a:pPr>
              <a:defRPr/>
            </a:pPr>
            <a:endParaRPr lang="nl-BE"/>
          </a:p>
        </p:txBody>
      </p:sp>
      <p:sp>
        <p:nvSpPr>
          <p:cNvPr id="7" name="Slide Number Placeholder 6"/>
          <p:cNvSpPr>
            <a:spLocks noGrp="1"/>
          </p:cNvSpPr>
          <p:nvPr>
            <p:ph type="sldNum" sz="quarter" idx="12"/>
          </p:nvPr>
        </p:nvSpPr>
        <p:spPr/>
        <p:txBody>
          <a:bodyPr/>
          <a:lstStyle/>
          <a:p>
            <a:pPr>
              <a:defRPr/>
            </a:pPr>
            <a:fld id="{BEDE5B3D-50FE-4FC7-B0BE-3A9F682D438E}" type="slidenum">
              <a:rPr lang="nl-NL" smtClean="0"/>
              <a:pPr>
                <a:defRPr/>
              </a:pPr>
              <a:t>‹nr.›</a:t>
            </a:fld>
            <a:endParaRPr lang="nl-NL"/>
          </a:p>
        </p:txBody>
      </p:sp>
    </p:spTree>
    <p:extLst>
      <p:ext uri="{BB962C8B-B14F-4D97-AF65-F5344CB8AC3E}">
        <p14:creationId xmlns:p14="http://schemas.microsoft.com/office/powerpoint/2010/main" val="1845878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eraat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nl-NL"/>
              <a:t>Klik om stijl te bewerken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pPr>
              <a:defRPr/>
            </a:pPr>
            <a:endParaRPr lang="nl-BE"/>
          </a:p>
        </p:txBody>
      </p:sp>
      <p:sp>
        <p:nvSpPr>
          <p:cNvPr id="6" name="Footer Placeholder 5"/>
          <p:cNvSpPr>
            <a:spLocks noGrp="1"/>
          </p:cNvSpPr>
          <p:nvPr>
            <p:ph type="ftr" sz="quarter" idx="11"/>
          </p:nvPr>
        </p:nvSpPr>
        <p:spPr/>
        <p:txBody>
          <a:bodyPr/>
          <a:lstStyle/>
          <a:p>
            <a:pPr>
              <a:defRPr/>
            </a:pPr>
            <a:endParaRPr lang="nl-BE"/>
          </a:p>
        </p:txBody>
      </p:sp>
      <p:sp>
        <p:nvSpPr>
          <p:cNvPr id="7" name="Slide Number Placeholder 6"/>
          <p:cNvSpPr>
            <a:spLocks noGrp="1"/>
          </p:cNvSpPr>
          <p:nvPr>
            <p:ph type="sldNum" sz="quarter" idx="12"/>
          </p:nvPr>
        </p:nvSpPr>
        <p:spPr/>
        <p:txBody>
          <a:bodyPr/>
          <a:lstStyle/>
          <a:p>
            <a:pPr>
              <a:defRPr/>
            </a:pPr>
            <a:fld id="{BEDE5B3D-50FE-4FC7-B0BE-3A9F682D438E}" type="slidenum">
              <a:rPr lang="nl-NL" smtClean="0"/>
              <a:pPr>
                <a:defRPr/>
              </a:pPr>
              <a:t>‹nr.›</a:t>
            </a:fld>
            <a:endParaRPr lang="nl-NL"/>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47226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amkaartje">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nl-NL"/>
              <a:t>Klik om stijl te bewerken</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pPr>
              <a:defRPr/>
            </a:pPr>
            <a:endParaRPr lang="nl-BE"/>
          </a:p>
        </p:txBody>
      </p:sp>
      <p:sp>
        <p:nvSpPr>
          <p:cNvPr id="6" name="Footer Placeholder 5"/>
          <p:cNvSpPr>
            <a:spLocks noGrp="1"/>
          </p:cNvSpPr>
          <p:nvPr>
            <p:ph type="ftr" sz="quarter" idx="11"/>
          </p:nvPr>
        </p:nvSpPr>
        <p:spPr/>
        <p:txBody>
          <a:bodyPr/>
          <a:lstStyle/>
          <a:p>
            <a:pPr>
              <a:defRPr/>
            </a:pPr>
            <a:endParaRPr lang="nl-BE"/>
          </a:p>
        </p:txBody>
      </p:sp>
      <p:sp>
        <p:nvSpPr>
          <p:cNvPr id="7" name="Slide Number Placeholder 6"/>
          <p:cNvSpPr>
            <a:spLocks noGrp="1"/>
          </p:cNvSpPr>
          <p:nvPr>
            <p:ph type="sldNum" sz="quarter" idx="12"/>
          </p:nvPr>
        </p:nvSpPr>
        <p:spPr/>
        <p:txBody>
          <a:bodyPr/>
          <a:lstStyle/>
          <a:p>
            <a:pPr>
              <a:defRPr/>
            </a:pPr>
            <a:fld id="{BEDE5B3D-50FE-4FC7-B0BE-3A9F682D438E}" type="slidenum">
              <a:rPr lang="nl-NL" smtClean="0"/>
              <a:pPr>
                <a:defRPr/>
              </a:pPr>
              <a:t>‹nr.›</a:t>
            </a:fld>
            <a:endParaRPr lang="nl-NL"/>
          </a:p>
        </p:txBody>
      </p:sp>
    </p:spTree>
    <p:extLst>
      <p:ext uri="{BB962C8B-B14F-4D97-AF65-F5344CB8AC3E}">
        <p14:creationId xmlns:p14="http://schemas.microsoft.com/office/powerpoint/2010/main" val="1032676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omme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nl-NL"/>
              <a:t>Klik om stijl te bewerken</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nl-NL"/>
              <a:t>Klikken om de tekststijl van het model te bewerken</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nl-NL"/>
              <a:t>Klikken om de tekststijl van het model te bewerken</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p:txBody>
          <a:bodyPr/>
          <a:lstStyle/>
          <a:p>
            <a:pPr>
              <a:defRPr/>
            </a:pPr>
            <a:endParaRPr lang="nl-BE"/>
          </a:p>
        </p:txBody>
      </p:sp>
      <p:sp>
        <p:nvSpPr>
          <p:cNvPr id="4" name="Footer Placeholder 3"/>
          <p:cNvSpPr>
            <a:spLocks noGrp="1"/>
          </p:cNvSpPr>
          <p:nvPr>
            <p:ph type="ftr" sz="quarter" idx="11"/>
          </p:nvPr>
        </p:nvSpPr>
        <p:spPr/>
        <p:txBody>
          <a:bodyPr/>
          <a:lstStyle/>
          <a:p>
            <a:pPr>
              <a:defRPr/>
            </a:pPr>
            <a:endParaRPr lang="nl-BE"/>
          </a:p>
        </p:txBody>
      </p:sp>
      <p:sp>
        <p:nvSpPr>
          <p:cNvPr id="5" name="Slide Number Placeholder 4"/>
          <p:cNvSpPr>
            <a:spLocks noGrp="1"/>
          </p:cNvSpPr>
          <p:nvPr>
            <p:ph type="sldNum" sz="quarter" idx="12"/>
          </p:nvPr>
        </p:nvSpPr>
        <p:spPr/>
        <p:txBody>
          <a:bodyPr/>
          <a:lstStyle/>
          <a:p>
            <a:pPr>
              <a:defRPr/>
            </a:pPr>
            <a:fld id="{BEDE5B3D-50FE-4FC7-B0BE-3A9F682D438E}" type="slidenum">
              <a:rPr lang="nl-NL" smtClean="0"/>
              <a:pPr>
                <a:defRPr/>
              </a:pPr>
              <a:t>‹nr.›</a:t>
            </a:fld>
            <a:endParaRPr lang="nl-NL"/>
          </a:p>
        </p:txBody>
      </p:sp>
    </p:spTree>
    <p:extLst>
      <p:ext uri="{BB962C8B-B14F-4D97-AF65-F5344CB8AC3E}">
        <p14:creationId xmlns:p14="http://schemas.microsoft.com/office/powerpoint/2010/main" val="3973065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Afbeelding-kolom">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nl-NL"/>
              <a:t>Klik om stijl te bewerken</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nl-NL"/>
              <a:t>Klik op het pictogram als u een afbeelding wilt toevoegen</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p:txBody>
          <a:bodyPr/>
          <a:lstStyle/>
          <a:p>
            <a:pPr>
              <a:defRPr/>
            </a:pPr>
            <a:endParaRPr lang="nl-BE"/>
          </a:p>
        </p:txBody>
      </p:sp>
      <p:sp>
        <p:nvSpPr>
          <p:cNvPr id="4" name="Footer Placeholder 3"/>
          <p:cNvSpPr>
            <a:spLocks noGrp="1"/>
          </p:cNvSpPr>
          <p:nvPr>
            <p:ph type="ftr" sz="quarter" idx="11"/>
          </p:nvPr>
        </p:nvSpPr>
        <p:spPr/>
        <p:txBody>
          <a:bodyPr/>
          <a:lstStyle/>
          <a:p>
            <a:pPr>
              <a:defRPr/>
            </a:pPr>
            <a:endParaRPr lang="nl-BE"/>
          </a:p>
        </p:txBody>
      </p:sp>
      <p:sp>
        <p:nvSpPr>
          <p:cNvPr id="5" name="Slide Number Placeholder 4"/>
          <p:cNvSpPr>
            <a:spLocks noGrp="1"/>
          </p:cNvSpPr>
          <p:nvPr>
            <p:ph type="sldNum" sz="quarter" idx="12"/>
          </p:nvPr>
        </p:nvSpPr>
        <p:spPr/>
        <p:txBody>
          <a:bodyPr/>
          <a:lstStyle/>
          <a:p>
            <a:pPr>
              <a:defRPr/>
            </a:pPr>
            <a:fld id="{BEDE5B3D-50FE-4FC7-B0BE-3A9F682D438E}" type="slidenum">
              <a:rPr lang="nl-NL" smtClean="0"/>
              <a:pPr>
                <a:defRPr/>
              </a:pPr>
              <a:t>‹nr.›</a:t>
            </a:fld>
            <a:endParaRPr lang="nl-NL"/>
          </a:p>
        </p:txBody>
      </p:sp>
    </p:spTree>
    <p:extLst>
      <p:ext uri="{BB962C8B-B14F-4D97-AF65-F5344CB8AC3E}">
        <p14:creationId xmlns:p14="http://schemas.microsoft.com/office/powerpoint/2010/main" val="34388848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pPr>
              <a:defRPr/>
            </a:pPr>
            <a:endParaRPr lang="nl-BE"/>
          </a:p>
        </p:txBody>
      </p:sp>
      <p:sp>
        <p:nvSpPr>
          <p:cNvPr id="5" name="Footer Placeholder 4"/>
          <p:cNvSpPr>
            <a:spLocks noGrp="1"/>
          </p:cNvSpPr>
          <p:nvPr>
            <p:ph type="ftr" sz="quarter" idx="11"/>
          </p:nvPr>
        </p:nvSpPr>
        <p:spPr/>
        <p:txBody>
          <a:bodyPr/>
          <a:lstStyle/>
          <a:p>
            <a:pPr>
              <a:defRPr/>
            </a:pPr>
            <a:endParaRPr lang="nl-BE"/>
          </a:p>
        </p:txBody>
      </p:sp>
      <p:sp>
        <p:nvSpPr>
          <p:cNvPr id="6" name="Slide Number Placeholder 5"/>
          <p:cNvSpPr>
            <a:spLocks noGrp="1"/>
          </p:cNvSpPr>
          <p:nvPr>
            <p:ph type="sldNum" sz="quarter" idx="12"/>
          </p:nvPr>
        </p:nvSpPr>
        <p:spPr/>
        <p:txBody>
          <a:bodyPr/>
          <a:lstStyle/>
          <a:p>
            <a:pPr>
              <a:defRPr/>
            </a:pPr>
            <a:fld id="{9812A9F2-3504-4ECD-9694-A988B8E62EF8}" type="slidenum">
              <a:rPr lang="nl-NL" smtClean="0"/>
              <a:pPr>
                <a:defRPr/>
              </a:pPr>
              <a:t>‹nr.›</a:t>
            </a:fld>
            <a:endParaRPr lang="nl-NL"/>
          </a:p>
        </p:txBody>
      </p:sp>
    </p:spTree>
    <p:extLst>
      <p:ext uri="{BB962C8B-B14F-4D97-AF65-F5344CB8AC3E}">
        <p14:creationId xmlns:p14="http://schemas.microsoft.com/office/powerpoint/2010/main" val="2723356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nl-NL"/>
              <a:t>Klik om stijl te bewerken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pPr>
              <a:defRPr/>
            </a:pPr>
            <a:endParaRPr lang="nl-BE"/>
          </a:p>
        </p:txBody>
      </p:sp>
      <p:sp>
        <p:nvSpPr>
          <p:cNvPr id="5" name="Footer Placeholder 4"/>
          <p:cNvSpPr>
            <a:spLocks noGrp="1"/>
          </p:cNvSpPr>
          <p:nvPr>
            <p:ph type="ftr" sz="quarter" idx="11"/>
          </p:nvPr>
        </p:nvSpPr>
        <p:spPr/>
        <p:txBody>
          <a:bodyPr/>
          <a:lstStyle/>
          <a:p>
            <a:pPr>
              <a:defRPr/>
            </a:pPr>
            <a:endParaRPr lang="nl-BE"/>
          </a:p>
        </p:txBody>
      </p:sp>
      <p:sp>
        <p:nvSpPr>
          <p:cNvPr id="6" name="Slide Number Placeholder 5"/>
          <p:cNvSpPr>
            <a:spLocks noGrp="1"/>
          </p:cNvSpPr>
          <p:nvPr>
            <p:ph type="sldNum" sz="quarter" idx="12"/>
          </p:nvPr>
        </p:nvSpPr>
        <p:spPr/>
        <p:txBody>
          <a:bodyPr/>
          <a:lstStyle/>
          <a:p>
            <a:pPr>
              <a:defRPr/>
            </a:pPr>
            <a:fld id="{01B6625E-4070-4CAA-B886-21AA5034DFEF}" type="slidenum">
              <a:rPr lang="nl-NL" smtClean="0"/>
              <a:pPr>
                <a:defRPr/>
              </a:pPr>
              <a:t>‹nr.›</a:t>
            </a:fld>
            <a:endParaRPr lang="nl-NL"/>
          </a:p>
        </p:txBody>
      </p:sp>
    </p:spTree>
    <p:extLst>
      <p:ext uri="{BB962C8B-B14F-4D97-AF65-F5344CB8AC3E}">
        <p14:creationId xmlns:p14="http://schemas.microsoft.com/office/powerpoint/2010/main" val="26367969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TwoObj">
  <p:cSld name="Titel, tekst en 2 inhoudselementen">
    <p:spTree>
      <p:nvGrpSpPr>
        <p:cNvPr id="1" name=""/>
        <p:cNvGrpSpPr/>
        <p:nvPr/>
      </p:nvGrpSpPr>
      <p:grpSpPr>
        <a:xfrm>
          <a:off x="0" y="0"/>
          <a:ext cx="0" cy="0"/>
          <a:chOff x="0" y="0"/>
          <a:chExt cx="0" cy="0"/>
        </a:xfrm>
      </p:grpSpPr>
      <p:sp>
        <p:nvSpPr>
          <p:cNvPr id="2" name="Titel 1"/>
          <p:cNvSpPr>
            <a:spLocks noGrp="1"/>
          </p:cNvSpPr>
          <p:nvPr>
            <p:ph type="title"/>
          </p:nvPr>
        </p:nvSpPr>
        <p:spPr>
          <a:xfrm>
            <a:off x="402167" y="228600"/>
            <a:ext cx="11387667" cy="1143000"/>
          </a:xfrm>
        </p:spPr>
        <p:txBody>
          <a:bodyPr/>
          <a:lstStyle/>
          <a:p>
            <a:r>
              <a:rPr lang="nl-NL"/>
              <a:t>Klik om de stijl te bewerken</a:t>
            </a:r>
            <a:endParaRPr lang="nl-BE"/>
          </a:p>
        </p:txBody>
      </p:sp>
      <p:sp>
        <p:nvSpPr>
          <p:cNvPr id="3" name="Tijdelijke aanduiding voor tekst 2"/>
          <p:cNvSpPr>
            <a:spLocks noGrp="1"/>
          </p:cNvSpPr>
          <p:nvPr>
            <p:ph type="body" sz="half" idx="1"/>
          </p:nvPr>
        </p:nvSpPr>
        <p:spPr>
          <a:xfrm>
            <a:off x="402168" y="1600200"/>
            <a:ext cx="5592233" cy="4498975"/>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quarter" idx="2"/>
          </p:nvPr>
        </p:nvSpPr>
        <p:spPr>
          <a:xfrm>
            <a:off x="6197601" y="1600200"/>
            <a:ext cx="5592233" cy="2173288"/>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inhoud 4"/>
          <p:cNvSpPr>
            <a:spLocks noGrp="1"/>
          </p:cNvSpPr>
          <p:nvPr>
            <p:ph sz="quarter" idx="3"/>
          </p:nvPr>
        </p:nvSpPr>
        <p:spPr>
          <a:xfrm>
            <a:off x="6197601" y="3925889"/>
            <a:ext cx="5592233" cy="2173287"/>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Rectangle 154"/>
          <p:cNvSpPr>
            <a:spLocks noGrp="1" noChangeArrowheads="1"/>
          </p:cNvSpPr>
          <p:nvPr>
            <p:ph type="dt" sz="half" idx="10"/>
          </p:nvPr>
        </p:nvSpPr>
        <p:spPr>
          <a:ln/>
        </p:spPr>
        <p:txBody>
          <a:bodyPr/>
          <a:lstStyle>
            <a:lvl1pPr>
              <a:defRPr/>
            </a:lvl1pPr>
          </a:lstStyle>
          <a:p>
            <a:pPr>
              <a:defRPr/>
            </a:pPr>
            <a:endParaRPr lang="nl-BE"/>
          </a:p>
        </p:txBody>
      </p:sp>
      <p:sp>
        <p:nvSpPr>
          <p:cNvPr id="7" name="Rectangle 155"/>
          <p:cNvSpPr>
            <a:spLocks noGrp="1" noChangeArrowheads="1"/>
          </p:cNvSpPr>
          <p:nvPr>
            <p:ph type="ftr" sz="quarter" idx="11"/>
          </p:nvPr>
        </p:nvSpPr>
        <p:spPr>
          <a:ln/>
        </p:spPr>
        <p:txBody>
          <a:bodyPr/>
          <a:lstStyle>
            <a:lvl1pPr>
              <a:defRPr/>
            </a:lvl1pPr>
          </a:lstStyle>
          <a:p>
            <a:pPr>
              <a:defRPr/>
            </a:pPr>
            <a:endParaRPr lang="nl-BE"/>
          </a:p>
        </p:txBody>
      </p:sp>
      <p:sp>
        <p:nvSpPr>
          <p:cNvPr id="8" name="Rectangle 156"/>
          <p:cNvSpPr>
            <a:spLocks noGrp="1" noChangeArrowheads="1"/>
          </p:cNvSpPr>
          <p:nvPr>
            <p:ph type="sldNum" sz="quarter" idx="12"/>
          </p:nvPr>
        </p:nvSpPr>
        <p:spPr>
          <a:ln/>
        </p:spPr>
        <p:txBody>
          <a:bodyPr/>
          <a:lstStyle>
            <a:lvl1pPr>
              <a:defRPr/>
            </a:lvl1pPr>
          </a:lstStyle>
          <a:p>
            <a:pPr>
              <a:defRPr/>
            </a:pPr>
            <a:fld id="{E01F6FFE-CFB6-4922-A896-32F3D0389627}" type="slidenum">
              <a:rPr lang="nl-NL"/>
              <a:pPr>
                <a:defRPr/>
              </a:pPr>
              <a:t>‹nr.›</a:t>
            </a:fld>
            <a:endParaRPr lang="nl-NL"/>
          </a:p>
        </p:txBody>
      </p:sp>
    </p:spTree>
    <p:extLst>
      <p:ext uri="{BB962C8B-B14F-4D97-AF65-F5344CB8AC3E}">
        <p14:creationId xmlns:p14="http://schemas.microsoft.com/office/powerpoint/2010/main" val="3407718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el, tekst en inhoud">
    <p:spTree>
      <p:nvGrpSpPr>
        <p:cNvPr id="1" name=""/>
        <p:cNvGrpSpPr/>
        <p:nvPr/>
      </p:nvGrpSpPr>
      <p:grpSpPr>
        <a:xfrm>
          <a:off x="0" y="0"/>
          <a:ext cx="0" cy="0"/>
          <a:chOff x="0" y="0"/>
          <a:chExt cx="0" cy="0"/>
        </a:xfrm>
      </p:grpSpPr>
      <p:sp>
        <p:nvSpPr>
          <p:cNvPr id="2" name="Titel 1"/>
          <p:cNvSpPr>
            <a:spLocks noGrp="1"/>
          </p:cNvSpPr>
          <p:nvPr>
            <p:ph type="title"/>
          </p:nvPr>
        </p:nvSpPr>
        <p:spPr>
          <a:xfrm>
            <a:off x="402167" y="228600"/>
            <a:ext cx="11387667" cy="1143000"/>
          </a:xfrm>
        </p:spPr>
        <p:txBody>
          <a:bodyPr/>
          <a:lstStyle/>
          <a:p>
            <a:r>
              <a:rPr lang="nl-NL"/>
              <a:t>Klik om de stijl te bewerken</a:t>
            </a:r>
            <a:endParaRPr lang="nl-BE"/>
          </a:p>
        </p:txBody>
      </p:sp>
      <p:sp>
        <p:nvSpPr>
          <p:cNvPr id="3" name="Tijdelijke aanduiding voor tekst 2"/>
          <p:cNvSpPr>
            <a:spLocks noGrp="1"/>
          </p:cNvSpPr>
          <p:nvPr>
            <p:ph type="body" sz="half" idx="1"/>
          </p:nvPr>
        </p:nvSpPr>
        <p:spPr>
          <a:xfrm>
            <a:off x="402168" y="1600200"/>
            <a:ext cx="5592233" cy="4498975"/>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97601" y="1600200"/>
            <a:ext cx="5592233" cy="4498975"/>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Rectangle 154"/>
          <p:cNvSpPr>
            <a:spLocks noGrp="1" noChangeArrowheads="1"/>
          </p:cNvSpPr>
          <p:nvPr>
            <p:ph type="dt" sz="half" idx="10"/>
          </p:nvPr>
        </p:nvSpPr>
        <p:spPr>
          <a:ln/>
        </p:spPr>
        <p:txBody>
          <a:bodyPr/>
          <a:lstStyle>
            <a:lvl1pPr>
              <a:defRPr/>
            </a:lvl1pPr>
          </a:lstStyle>
          <a:p>
            <a:pPr>
              <a:defRPr/>
            </a:pPr>
            <a:endParaRPr lang="nl-BE"/>
          </a:p>
        </p:txBody>
      </p:sp>
      <p:sp>
        <p:nvSpPr>
          <p:cNvPr id="6" name="Rectangle 155"/>
          <p:cNvSpPr>
            <a:spLocks noGrp="1" noChangeArrowheads="1"/>
          </p:cNvSpPr>
          <p:nvPr>
            <p:ph type="ftr" sz="quarter" idx="11"/>
          </p:nvPr>
        </p:nvSpPr>
        <p:spPr>
          <a:ln/>
        </p:spPr>
        <p:txBody>
          <a:bodyPr/>
          <a:lstStyle>
            <a:lvl1pPr>
              <a:defRPr/>
            </a:lvl1pPr>
          </a:lstStyle>
          <a:p>
            <a:pPr>
              <a:defRPr/>
            </a:pPr>
            <a:endParaRPr lang="nl-BE"/>
          </a:p>
        </p:txBody>
      </p:sp>
      <p:sp>
        <p:nvSpPr>
          <p:cNvPr id="7" name="Rectangle 156"/>
          <p:cNvSpPr>
            <a:spLocks noGrp="1" noChangeArrowheads="1"/>
          </p:cNvSpPr>
          <p:nvPr>
            <p:ph type="sldNum" sz="quarter" idx="12"/>
          </p:nvPr>
        </p:nvSpPr>
        <p:spPr>
          <a:ln/>
        </p:spPr>
        <p:txBody>
          <a:bodyPr/>
          <a:lstStyle>
            <a:lvl1pPr>
              <a:defRPr/>
            </a:lvl1pPr>
          </a:lstStyle>
          <a:p>
            <a:pPr>
              <a:defRPr/>
            </a:pPr>
            <a:fld id="{1FD22FCD-78F2-43DA-A95E-7C22C3450B0F}" type="slidenum">
              <a:rPr lang="nl-NL"/>
              <a:pPr>
                <a:defRPr/>
              </a:pPr>
              <a:t>‹nr.›</a:t>
            </a:fld>
            <a:endParaRPr lang="nl-NL"/>
          </a:p>
        </p:txBody>
      </p:sp>
    </p:spTree>
    <p:extLst>
      <p:ext uri="{BB962C8B-B14F-4D97-AF65-F5344CB8AC3E}">
        <p14:creationId xmlns:p14="http://schemas.microsoft.com/office/powerpoint/2010/main" val="944405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fld id="{BEDE5B3D-50FE-4FC7-B0BE-3A9F682D438E}" type="slidenum">
              <a:rPr lang="nl-NL" smtClean="0"/>
              <a:pPr>
                <a:defRPr/>
              </a:pPr>
              <a:t>‹nr.›</a:t>
            </a:fld>
            <a:endParaRPr lang="nl-NL"/>
          </a:p>
        </p:txBody>
      </p:sp>
    </p:spTree>
    <p:extLst>
      <p:ext uri="{BB962C8B-B14F-4D97-AF65-F5344CB8AC3E}">
        <p14:creationId xmlns:p14="http://schemas.microsoft.com/office/powerpoint/2010/main" val="3000147105"/>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2.png"/><Relationship Id="rId1" Type="http://schemas.openxmlformats.org/officeDocument/2006/relationships/slideLayout" Target="../slideLayouts/slideLayout19.xml"/><Relationship Id="rId4" Type="http://schemas.openxmlformats.org/officeDocument/2006/relationships/image" Target="../media/image10.wmf"/></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4.bin"/><Relationship Id="rId1" Type="http://schemas.openxmlformats.org/officeDocument/2006/relationships/slideLayout" Target="../slideLayouts/slideLayout18.xml"/><Relationship Id="rId5" Type="http://schemas.openxmlformats.org/officeDocument/2006/relationships/image" Target="../media/image17.w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19.xml"/><Relationship Id="rId5" Type="http://schemas.openxmlformats.org/officeDocument/2006/relationships/image" Target="../media/image29.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www.youtube.com/watch?v=VrxXRoWNUM8"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2.gif"/><Relationship Id="rId4" Type="http://schemas.openxmlformats.org/officeDocument/2006/relationships/hyperlink" Target="https://www.youtube.com/watch?v=TfOPAuDgbiQ"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783632" y="4797152"/>
            <a:ext cx="9144000" cy="1641490"/>
          </a:xfrm>
        </p:spPr>
        <p:txBody>
          <a:bodyPr>
            <a:normAutofit/>
          </a:bodyPr>
          <a:lstStyle/>
          <a:p>
            <a:pPr eaLnBrk="1" hangingPunct="1">
              <a:defRPr/>
            </a:pPr>
            <a:r>
              <a:rPr lang="nl-BE" sz="5400" dirty="0"/>
              <a:t>EENPARIG CIRKELVORMIGE BEWEGING</a:t>
            </a:r>
            <a:endParaRPr lang="nl-NL"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08" y="-24183"/>
            <a:ext cx="10515600" cy="1325563"/>
          </a:xfrm>
        </p:spPr>
        <p:txBody>
          <a:bodyPr>
            <a:normAutofit/>
          </a:bodyPr>
          <a:lstStyle/>
          <a:p>
            <a:pPr marL="0" lvl="0" indent="0">
              <a:buNone/>
            </a:pPr>
            <a:r>
              <a:rPr lang="nl-BE" dirty="0"/>
              <a:t>L</a:t>
            </a:r>
            <a:r>
              <a:rPr dirty="0" err="1"/>
              <a:t>esdoelen</a:t>
            </a:r>
            <a:endParaRPr dirty="0"/>
          </a:p>
        </p:txBody>
      </p:sp>
      <p:sp>
        <p:nvSpPr>
          <p:cNvPr id="3" name="Content Placeholder 2"/>
          <p:cNvSpPr>
            <a:spLocks noGrp="1"/>
          </p:cNvSpPr>
          <p:nvPr>
            <p:ph idx="1"/>
          </p:nvPr>
        </p:nvSpPr>
        <p:spPr>
          <a:xfrm>
            <a:off x="335360" y="1124744"/>
            <a:ext cx="11593288" cy="5733256"/>
          </a:xfrm>
        </p:spPr>
        <p:txBody>
          <a:bodyPr>
            <a:normAutofit fontScale="85000" lnSpcReduction="20000"/>
          </a:bodyPr>
          <a:lstStyle/>
          <a:p>
            <a:pPr lvl="0">
              <a:lnSpc>
                <a:spcPct val="110000"/>
              </a:lnSpc>
              <a:spcBef>
                <a:spcPts val="1800"/>
              </a:spcBef>
            </a:pPr>
            <a:r>
              <a:rPr dirty="0" err="1"/>
              <a:t>Periodieke</a:t>
            </a:r>
            <a:r>
              <a:rPr dirty="0"/>
              <a:t> </a:t>
            </a:r>
            <a:r>
              <a:rPr dirty="0" err="1"/>
              <a:t>bewegingen</a:t>
            </a:r>
            <a:r>
              <a:rPr dirty="0"/>
              <a:t> </a:t>
            </a:r>
            <a:r>
              <a:rPr dirty="0" err="1"/>
              <a:t>onderscheiden</a:t>
            </a:r>
            <a:r>
              <a:rPr dirty="0"/>
              <a:t> </a:t>
            </a:r>
            <a:r>
              <a:rPr dirty="0" err="1"/>
              <a:t>en</a:t>
            </a:r>
            <a:r>
              <a:rPr dirty="0"/>
              <a:t> ECB </a:t>
            </a:r>
            <a:r>
              <a:rPr dirty="0" err="1"/>
              <a:t>herkennen</a:t>
            </a:r>
            <a:r>
              <a:rPr dirty="0"/>
              <a:t>.</a:t>
            </a:r>
          </a:p>
          <a:p>
            <a:pPr lvl="0">
              <a:lnSpc>
                <a:spcPct val="110000"/>
              </a:lnSpc>
              <a:spcBef>
                <a:spcPts val="1800"/>
              </a:spcBef>
            </a:pPr>
            <a:r>
              <a:rPr dirty="0"/>
              <a:t>ECB </a:t>
            </a:r>
            <a:r>
              <a:rPr dirty="0" err="1"/>
              <a:t>beschrijven</a:t>
            </a:r>
            <a:r>
              <a:rPr dirty="0"/>
              <a:t> met </a:t>
            </a:r>
            <a:r>
              <a:rPr dirty="0" err="1"/>
              <a:t>straal</a:t>
            </a:r>
            <a:r>
              <a:rPr dirty="0"/>
              <a:t> </a:t>
            </a:r>
            <a:r>
              <a:rPr dirty="0" err="1"/>
              <a:t>en</a:t>
            </a:r>
            <a:r>
              <a:rPr dirty="0"/>
              <a:t> </a:t>
            </a:r>
            <a:r>
              <a:rPr dirty="0" err="1"/>
              <a:t>snelheid</a:t>
            </a:r>
            <a:r>
              <a:rPr dirty="0"/>
              <a:t> </a:t>
            </a:r>
            <a:r>
              <a:rPr dirty="0" err="1"/>
              <a:t>en</a:t>
            </a:r>
            <a:r>
              <a:rPr dirty="0"/>
              <a:t> </a:t>
            </a:r>
            <a:r>
              <a:rPr dirty="0" err="1"/>
              <a:t>voorbeelden</a:t>
            </a:r>
            <a:r>
              <a:rPr dirty="0"/>
              <a:t> </a:t>
            </a:r>
            <a:r>
              <a:rPr dirty="0" err="1"/>
              <a:t>duiden</a:t>
            </a:r>
            <a:r>
              <a:rPr dirty="0"/>
              <a:t>.</a:t>
            </a:r>
          </a:p>
          <a:p>
            <a:pPr lvl="0">
              <a:lnSpc>
                <a:spcPct val="110000"/>
              </a:lnSpc>
              <a:spcBef>
                <a:spcPts val="1800"/>
              </a:spcBef>
            </a:pPr>
            <a:r>
              <a:rPr dirty="0" err="1"/>
              <a:t>Radialen</a:t>
            </a:r>
            <a:r>
              <a:rPr dirty="0"/>
              <a:t> </a:t>
            </a:r>
            <a:r>
              <a:rPr dirty="0" err="1"/>
              <a:t>gebruiken</a:t>
            </a:r>
            <a:r>
              <a:rPr dirty="0"/>
              <a:t> </a:t>
            </a:r>
            <a:r>
              <a:rPr dirty="0" err="1"/>
              <a:t>en</a:t>
            </a:r>
            <a:r>
              <a:rPr dirty="0"/>
              <a:t> </a:t>
            </a:r>
            <a:r>
              <a:rPr dirty="0" err="1"/>
              <a:t>graden</a:t>
            </a:r>
            <a:r>
              <a:rPr dirty="0"/>
              <a:t> ↔ </a:t>
            </a:r>
            <a:r>
              <a:rPr dirty="0" err="1"/>
              <a:t>radialen</a:t>
            </a:r>
            <a:r>
              <a:rPr dirty="0"/>
              <a:t> </a:t>
            </a:r>
            <a:r>
              <a:rPr dirty="0" err="1"/>
              <a:t>omzetten</a:t>
            </a:r>
            <a:r>
              <a:rPr dirty="0"/>
              <a:t>.</a:t>
            </a:r>
          </a:p>
          <a:p>
            <a:pPr lvl="0">
              <a:lnSpc>
                <a:spcPct val="110000"/>
              </a:lnSpc>
              <a:spcBef>
                <a:spcPts val="1800"/>
              </a:spcBef>
            </a:pPr>
            <a:r>
              <a:rPr dirty="0" err="1"/>
              <a:t>Hoeksnelheid</a:t>
            </a:r>
            <a:r>
              <a:rPr dirty="0"/>
              <a:t>, </a:t>
            </a:r>
            <a:r>
              <a:rPr dirty="0" err="1"/>
              <a:t>periode</a:t>
            </a:r>
            <a:r>
              <a:rPr dirty="0"/>
              <a:t> </a:t>
            </a:r>
            <a:r>
              <a:rPr dirty="0" err="1"/>
              <a:t>en</a:t>
            </a:r>
            <a:r>
              <a:rPr dirty="0"/>
              <a:t> </a:t>
            </a:r>
            <a:r>
              <a:rPr dirty="0" err="1"/>
              <a:t>frequentie</a:t>
            </a:r>
            <a:r>
              <a:rPr dirty="0"/>
              <a:t> </a:t>
            </a:r>
            <a:r>
              <a:rPr dirty="0" err="1"/>
              <a:t>definiëren</a:t>
            </a:r>
            <a:r>
              <a:rPr dirty="0"/>
              <a:t> </a:t>
            </a:r>
            <a:r>
              <a:rPr dirty="0" err="1"/>
              <a:t>en</a:t>
            </a:r>
            <a:r>
              <a:rPr dirty="0"/>
              <a:t> </a:t>
            </a:r>
            <a:r>
              <a:rPr dirty="0" err="1"/>
              <a:t>verbanden</a:t>
            </a:r>
            <a:r>
              <a:rPr dirty="0"/>
              <a:t> </a:t>
            </a:r>
            <a:r>
              <a:rPr dirty="0" err="1"/>
              <a:t>toepassen</a:t>
            </a:r>
            <a:r>
              <a:rPr dirty="0"/>
              <a:t>.</a:t>
            </a:r>
          </a:p>
          <a:p>
            <a:pPr lvl="0">
              <a:lnSpc>
                <a:spcPct val="110000"/>
              </a:lnSpc>
              <a:spcBef>
                <a:spcPts val="1800"/>
              </a:spcBef>
            </a:pPr>
            <a:r>
              <a:rPr dirty="0" err="1"/>
              <a:t>Baansnelheid</a:t>
            </a:r>
            <a:r>
              <a:rPr dirty="0"/>
              <a:t> </a:t>
            </a:r>
            <a:r>
              <a:rPr dirty="0" err="1"/>
              <a:t>berekenen</a:t>
            </a:r>
            <a:r>
              <a:rPr dirty="0"/>
              <a:t> in </a:t>
            </a:r>
            <a:r>
              <a:rPr dirty="0" err="1"/>
              <a:t>realistische</a:t>
            </a:r>
            <a:r>
              <a:rPr dirty="0"/>
              <a:t> </a:t>
            </a:r>
            <a:r>
              <a:rPr dirty="0" err="1"/>
              <a:t>contexten</a:t>
            </a:r>
            <a:r>
              <a:rPr dirty="0"/>
              <a:t> (rotor, </a:t>
            </a:r>
            <a:r>
              <a:rPr dirty="0" err="1"/>
              <a:t>evenaar</a:t>
            </a:r>
            <a:r>
              <a:rPr dirty="0"/>
              <a:t>, </a:t>
            </a:r>
            <a:r>
              <a:rPr dirty="0" err="1"/>
              <a:t>klok</a:t>
            </a:r>
            <a:r>
              <a:rPr dirty="0"/>
              <a:t>, hart).</a:t>
            </a:r>
          </a:p>
          <a:p>
            <a:pPr lvl="0">
              <a:lnSpc>
                <a:spcPct val="110000"/>
              </a:lnSpc>
              <a:spcBef>
                <a:spcPts val="1800"/>
              </a:spcBef>
            </a:pPr>
            <a:r>
              <a:rPr dirty="0" err="1"/>
              <a:t>Uitleggen</a:t>
            </a:r>
            <a:r>
              <a:rPr dirty="0"/>
              <a:t> </a:t>
            </a:r>
            <a:r>
              <a:rPr dirty="0" err="1"/>
              <a:t>waarom</a:t>
            </a:r>
            <a:r>
              <a:rPr dirty="0"/>
              <a:t> ECB </a:t>
            </a:r>
            <a:r>
              <a:rPr dirty="0" err="1"/>
              <a:t>een</a:t>
            </a:r>
            <a:r>
              <a:rPr dirty="0"/>
              <a:t> </a:t>
            </a:r>
            <a:r>
              <a:rPr dirty="0" err="1"/>
              <a:t>versnelling</a:t>
            </a:r>
            <a:r>
              <a:rPr dirty="0"/>
              <a:t> </a:t>
            </a:r>
            <a:r>
              <a:rPr dirty="0" err="1"/>
              <a:t>heeft</a:t>
            </a:r>
            <a:r>
              <a:rPr dirty="0"/>
              <a:t> </a:t>
            </a:r>
            <a:r>
              <a:rPr dirty="0" err="1"/>
              <a:t>en</a:t>
            </a:r>
            <a:r>
              <a:rPr dirty="0"/>
              <a:t> </a:t>
            </a:r>
            <a:r>
              <a:rPr dirty="0" err="1"/>
              <a:t>centripetale</a:t>
            </a:r>
            <a:r>
              <a:rPr dirty="0"/>
              <a:t> </a:t>
            </a:r>
            <a:r>
              <a:rPr dirty="0" err="1"/>
              <a:t>versnelling</a:t>
            </a:r>
            <a:r>
              <a:rPr dirty="0"/>
              <a:t> </a:t>
            </a:r>
            <a:r>
              <a:rPr dirty="0" err="1"/>
              <a:t>berekenen</a:t>
            </a:r>
            <a:r>
              <a:rPr dirty="0"/>
              <a:t>.</a:t>
            </a:r>
          </a:p>
          <a:p>
            <a:pPr lvl="0">
              <a:lnSpc>
                <a:spcPct val="110000"/>
              </a:lnSpc>
              <a:spcBef>
                <a:spcPts val="1800"/>
              </a:spcBef>
            </a:pPr>
            <a:r>
              <a:rPr dirty="0" err="1"/>
              <a:t>Centripetale</a:t>
            </a:r>
            <a:r>
              <a:rPr dirty="0"/>
              <a:t> </a:t>
            </a:r>
            <a:r>
              <a:rPr dirty="0" err="1"/>
              <a:t>kracht</a:t>
            </a:r>
            <a:r>
              <a:rPr dirty="0"/>
              <a:t> </a:t>
            </a:r>
            <a:r>
              <a:rPr dirty="0" err="1"/>
              <a:t>berekenen</a:t>
            </a:r>
            <a:r>
              <a:rPr dirty="0"/>
              <a:t> </a:t>
            </a:r>
            <a:r>
              <a:rPr dirty="0" err="1"/>
              <a:t>en</a:t>
            </a:r>
            <a:r>
              <a:rPr dirty="0"/>
              <a:t> de </a:t>
            </a:r>
            <a:r>
              <a:rPr dirty="0" err="1"/>
              <a:t>bronkracht</a:t>
            </a:r>
            <a:r>
              <a:rPr dirty="0"/>
              <a:t> </a:t>
            </a:r>
            <a:r>
              <a:rPr dirty="0" err="1"/>
              <a:t>identificeren</a:t>
            </a:r>
            <a:r>
              <a:rPr dirty="0"/>
              <a:t>.</a:t>
            </a:r>
          </a:p>
          <a:p>
            <a:pPr lvl="0">
              <a:lnSpc>
                <a:spcPct val="110000"/>
              </a:lnSpc>
              <a:spcBef>
                <a:spcPts val="1800"/>
              </a:spcBef>
            </a:pPr>
            <a:r>
              <a:rPr dirty="0" err="1"/>
              <a:t>Krachten</a:t>
            </a:r>
            <a:r>
              <a:rPr dirty="0"/>
              <a:t> </a:t>
            </a:r>
            <a:r>
              <a:rPr dirty="0" err="1"/>
              <a:t>ontbinden</a:t>
            </a:r>
            <a:r>
              <a:rPr dirty="0"/>
              <a:t> in </a:t>
            </a:r>
            <a:r>
              <a:rPr dirty="0" err="1"/>
              <a:t>normale</a:t>
            </a:r>
            <a:r>
              <a:rPr dirty="0"/>
              <a:t> </a:t>
            </a:r>
            <a:r>
              <a:rPr dirty="0" err="1"/>
              <a:t>en</a:t>
            </a:r>
            <a:r>
              <a:rPr dirty="0"/>
              <a:t> </a:t>
            </a:r>
            <a:r>
              <a:rPr dirty="0" err="1"/>
              <a:t>tangentiële</a:t>
            </a:r>
            <a:r>
              <a:rPr dirty="0"/>
              <a:t> </a:t>
            </a:r>
            <a:r>
              <a:rPr dirty="0" err="1"/>
              <a:t>componenten</a:t>
            </a:r>
            <a:r>
              <a:rPr dirty="0"/>
              <a:t>; ECB → </a:t>
            </a:r>
            <a:r>
              <a:rPr dirty="0" err="1"/>
              <a:t>enkel</a:t>
            </a:r>
            <a:r>
              <a:rPr dirty="0"/>
              <a:t> de </a:t>
            </a:r>
            <a:r>
              <a:rPr dirty="0" err="1"/>
              <a:t>normale</a:t>
            </a:r>
            <a:r>
              <a:rPr dirty="0"/>
              <a:t> component.</a:t>
            </a:r>
          </a:p>
          <a:p>
            <a:pPr lvl="0">
              <a:lnSpc>
                <a:spcPct val="110000"/>
              </a:lnSpc>
              <a:spcBef>
                <a:spcPts val="1800"/>
              </a:spcBef>
            </a:pPr>
            <a:r>
              <a:rPr dirty="0" err="1"/>
              <a:t>Satellietbanen</a:t>
            </a:r>
            <a:r>
              <a:rPr dirty="0"/>
              <a:t> </a:t>
            </a:r>
            <a:r>
              <a:rPr dirty="0" err="1"/>
              <a:t>analyseren</a:t>
            </a:r>
            <a:r>
              <a:rPr dirty="0"/>
              <a:t> via </a:t>
            </a:r>
            <a:r>
              <a:rPr dirty="0" err="1"/>
              <a:t>gravitatie</a:t>
            </a:r>
            <a:r>
              <a:rPr dirty="0"/>
              <a:t> = </a:t>
            </a:r>
            <a:r>
              <a:rPr dirty="0" err="1"/>
              <a:t>centripetale</a:t>
            </a:r>
            <a:r>
              <a:rPr dirty="0"/>
              <a:t> </a:t>
            </a:r>
            <a:r>
              <a:rPr dirty="0" err="1"/>
              <a:t>kracht</a:t>
            </a:r>
            <a:r>
              <a:rPr dirty="0"/>
              <a:t> (</a:t>
            </a:r>
            <a:r>
              <a:rPr dirty="0" err="1"/>
              <a:t>geostationair</a:t>
            </a:r>
            <a:r>
              <a:rPr dirty="0"/>
              <a:t>, PROBA, Galileo).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376" y="0"/>
            <a:ext cx="10515600" cy="1325563"/>
          </a:xfrm>
        </p:spPr>
        <p:txBody>
          <a:bodyPr/>
          <a:lstStyle/>
          <a:p>
            <a:pPr marL="0" lvl="0" indent="0">
              <a:buNone/>
            </a:pPr>
            <a:r>
              <a:rPr dirty="0" err="1"/>
              <a:t>Structuur</a:t>
            </a:r>
            <a:r>
              <a:rPr dirty="0"/>
              <a:t> van de PowerPoint</a:t>
            </a:r>
          </a:p>
        </p:txBody>
      </p:sp>
      <p:sp>
        <p:nvSpPr>
          <p:cNvPr id="3" name="Content Placeholder 2"/>
          <p:cNvSpPr>
            <a:spLocks noGrp="1"/>
          </p:cNvSpPr>
          <p:nvPr>
            <p:ph idx="1"/>
          </p:nvPr>
        </p:nvSpPr>
        <p:spPr>
          <a:xfrm>
            <a:off x="479376" y="1052736"/>
            <a:ext cx="11233248" cy="5616624"/>
          </a:xfrm>
        </p:spPr>
        <p:txBody>
          <a:bodyPr>
            <a:normAutofit fontScale="62500" lnSpcReduction="20000"/>
          </a:bodyPr>
          <a:lstStyle/>
          <a:p>
            <a:pPr marL="0" lvl="0" indent="0">
              <a:lnSpc>
                <a:spcPct val="120000"/>
              </a:lnSpc>
              <a:buNone/>
            </a:pPr>
            <a:r>
              <a:rPr b="1" dirty="0"/>
              <a:t>1. </a:t>
            </a:r>
            <a:r>
              <a:rPr b="1" dirty="0" err="1"/>
              <a:t>Periodieke</a:t>
            </a:r>
            <a:r>
              <a:rPr b="1" dirty="0"/>
              <a:t> </a:t>
            </a:r>
            <a:r>
              <a:rPr b="1" dirty="0" err="1"/>
              <a:t>bewegingen</a:t>
            </a:r>
            <a:r>
              <a:rPr b="1" dirty="0"/>
              <a:t> &amp; </a:t>
            </a:r>
            <a:r>
              <a:rPr b="1" dirty="0" err="1"/>
              <a:t>introductie</a:t>
            </a:r>
            <a:r>
              <a:rPr b="1" dirty="0"/>
              <a:t> ECB</a:t>
            </a:r>
            <a:br>
              <a:rPr dirty="0"/>
            </a:br>
            <a:r>
              <a:rPr dirty="0"/>
              <a:t>– Wat is </a:t>
            </a:r>
            <a:r>
              <a:rPr dirty="0" err="1"/>
              <a:t>een</a:t>
            </a:r>
            <a:r>
              <a:rPr dirty="0"/>
              <a:t> </a:t>
            </a:r>
            <a:r>
              <a:rPr dirty="0" err="1"/>
              <a:t>periodieke</a:t>
            </a:r>
            <a:r>
              <a:rPr dirty="0"/>
              <a:t> </a:t>
            </a:r>
            <a:r>
              <a:rPr dirty="0" err="1"/>
              <a:t>beweging</a:t>
            </a:r>
            <a:r>
              <a:rPr dirty="0"/>
              <a:t>?</a:t>
            </a:r>
            <a:br>
              <a:rPr dirty="0"/>
            </a:br>
            <a:r>
              <a:rPr dirty="0"/>
              <a:t>– </a:t>
            </a:r>
            <a:r>
              <a:rPr dirty="0" err="1"/>
              <a:t>Definitie</a:t>
            </a:r>
            <a:r>
              <a:rPr dirty="0"/>
              <a:t> </a:t>
            </a:r>
            <a:r>
              <a:rPr dirty="0" err="1"/>
              <a:t>en</a:t>
            </a:r>
            <a:r>
              <a:rPr dirty="0"/>
              <a:t> </a:t>
            </a:r>
            <a:r>
              <a:rPr dirty="0" err="1"/>
              <a:t>voorbeelden</a:t>
            </a:r>
            <a:r>
              <a:rPr dirty="0"/>
              <a:t> van ECB.</a:t>
            </a:r>
          </a:p>
          <a:p>
            <a:pPr marL="0" lvl="0" indent="0">
              <a:lnSpc>
                <a:spcPct val="120000"/>
              </a:lnSpc>
              <a:buNone/>
            </a:pPr>
            <a:r>
              <a:rPr b="1" dirty="0"/>
              <a:t>2. </a:t>
            </a:r>
            <a:r>
              <a:rPr b="1" dirty="0" err="1"/>
              <a:t>Radialen</a:t>
            </a:r>
            <a:r>
              <a:rPr b="1" dirty="0"/>
              <a:t>, </a:t>
            </a:r>
            <a:r>
              <a:rPr b="1" dirty="0" err="1"/>
              <a:t>periode</a:t>
            </a:r>
            <a:r>
              <a:rPr b="1" dirty="0"/>
              <a:t>, </a:t>
            </a:r>
            <a:r>
              <a:rPr b="1" dirty="0" err="1"/>
              <a:t>frequentie</a:t>
            </a:r>
            <a:r>
              <a:rPr b="1" dirty="0"/>
              <a:t> &amp; </a:t>
            </a:r>
            <a:r>
              <a:rPr b="1" dirty="0" err="1"/>
              <a:t>hoeksnelheid</a:t>
            </a:r>
            <a:br>
              <a:rPr dirty="0"/>
            </a:br>
            <a:r>
              <a:rPr dirty="0"/>
              <a:t>– </a:t>
            </a:r>
            <a:r>
              <a:rPr dirty="0" err="1"/>
              <a:t>Radiaaldefinitie</a:t>
            </a:r>
            <a:r>
              <a:rPr dirty="0"/>
              <a:t>, </a:t>
            </a:r>
            <a:r>
              <a:rPr dirty="0" err="1"/>
              <a:t>hoekmaten</a:t>
            </a:r>
            <a:r>
              <a:rPr dirty="0"/>
              <a:t>.</a:t>
            </a:r>
            <a:br>
              <a:rPr dirty="0"/>
            </a:br>
            <a:r>
              <a:rPr dirty="0"/>
              <a:t>– </a:t>
            </a:r>
            <a:r>
              <a:rPr dirty="0" err="1"/>
              <a:t>Verbanden</a:t>
            </a:r>
            <a:r>
              <a:rPr dirty="0"/>
              <a:t> ( </a:t>
            </a:r>
            <a:r>
              <a:rPr lang="nl-BE" dirty="0"/>
              <a:t>golflengte</a:t>
            </a:r>
            <a:r>
              <a:rPr dirty="0"/>
              <a:t>, T, f ).</a:t>
            </a:r>
          </a:p>
          <a:p>
            <a:pPr marL="0" lvl="0" indent="0">
              <a:lnSpc>
                <a:spcPct val="120000"/>
              </a:lnSpc>
              <a:buNone/>
            </a:pPr>
            <a:r>
              <a:rPr b="1" dirty="0"/>
              <a:t>3. </a:t>
            </a:r>
            <a:r>
              <a:rPr b="1" dirty="0" err="1"/>
              <a:t>Baansnelheid</a:t>
            </a:r>
            <a:br>
              <a:rPr dirty="0"/>
            </a:br>
            <a:r>
              <a:rPr dirty="0"/>
              <a:t>– </a:t>
            </a:r>
            <a:r>
              <a:rPr dirty="0" err="1"/>
              <a:t>Formules</a:t>
            </a:r>
            <a:r>
              <a:rPr dirty="0"/>
              <a:t> </a:t>
            </a:r>
            <a:r>
              <a:rPr dirty="0" err="1"/>
              <a:t>en</a:t>
            </a:r>
            <a:r>
              <a:rPr dirty="0"/>
              <a:t> </a:t>
            </a:r>
            <a:r>
              <a:rPr dirty="0" err="1"/>
              <a:t>toepassingen</a:t>
            </a:r>
            <a:r>
              <a:rPr dirty="0"/>
              <a:t>: </a:t>
            </a:r>
            <a:r>
              <a:rPr dirty="0" err="1"/>
              <a:t>rotorblad</a:t>
            </a:r>
            <a:r>
              <a:rPr dirty="0"/>
              <a:t>, </a:t>
            </a:r>
            <a:r>
              <a:rPr dirty="0" err="1"/>
              <a:t>klokwijzers</a:t>
            </a:r>
            <a:r>
              <a:rPr dirty="0"/>
              <a:t>, </a:t>
            </a:r>
            <a:r>
              <a:rPr dirty="0" err="1"/>
              <a:t>evenaar</a:t>
            </a:r>
            <a:r>
              <a:rPr dirty="0"/>
              <a:t>, </a:t>
            </a:r>
            <a:r>
              <a:rPr dirty="0" err="1"/>
              <a:t>hartslag</a:t>
            </a:r>
            <a:r>
              <a:rPr dirty="0"/>
              <a:t>.</a:t>
            </a:r>
          </a:p>
          <a:p>
            <a:pPr marL="0" lvl="0" indent="0">
              <a:lnSpc>
                <a:spcPct val="120000"/>
              </a:lnSpc>
              <a:buNone/>
            </a:pPr>
            <a:r>
              <a:rPr b="1" dirty="0"/>
              <a:t>4. </a:t>
            </a:r>
            <a:r>
              <a:rPr b="1" dirty="0" err="1"/>
              <a:t>Centripetale</a:t>
            </a:r>
            <a:r>
              <a:rPr b="1" dirty="0"/>
              <a:t> </a:t>
            </a:r>
            <a:r>
              <a:rPr b="1" dirty="0" err="1"/>
              <a:t>versnelling</a:t>
            </a:r>
            <a:r>
              <a:rPr b="1" dirty="0"/>
              <a:t> &amp; </a:t>
            </a:r>
            <a:r>
              <a:rPr b="1" dirty="0" err="1"/>
              <a:t>kracht</a:t>
            </a:r>
            <a:br>
              <a:rPr dirty="0"/>
            </a:br>
            <a:r>
              <a:rPr dirty="0"/>
              <a:t>– </a:t>
            </a:r>
            <a:r>
              <a:rPr dirty="0" err="1"/>
              <a:t>Waarom</a:t>
            </a:r>
            <a:r>
              <a:rPr dirty="0"/>
              <a:t> </a:t>
            </a:r>
            <a:r>
              <a:rPr dirty="0" err="1"/>
              <a:t>versnelling</a:t>
            </a:r>
            <a:r>
              <a:rPr dirty="0"/>
              <a:t>?</a:t>
            </a:r>
            <a:br>
              <a:rPr dirty="0"/>
            </a:br>
            <a:r>
              <a:rPr dirty="0"/>
              <a:t>– </a:t>
            </a:r>
            <a:r>
              <a:rPr dirty="0" err="1"/>
              <a:t>Toepassingen</a:t>
            </a:r>
            <a:r>
              <a:rPr dirty="0"/>
              <a:t>: auto in </a:t>
            </a:r>
            <a:r>
              <a:rPr dirty="0" err="1"/>
              <a:t>bocht</a:t>
            </a:r>
            <a:r>
              <a:rPr dirty="0"/>
              <a:t>, </a:t>
            </a:r>
            <a:r>
              <a:rPr dirty="0" err="1"/>
              <a:t>steen</a:t>
            </a:r>
            <a:r>
              <a:rPr dirty="0"/>
              <a:t> </a:t>
            </a:r>
            <a:r>
              <a:rPr dirty="0" err="1"/>
              <a:t>aan</a:t>
            </a:r>
            <a:r>
              <a:rPr dirty="0"/>
              <a:t> </a:t>
            </a:r>
            <a:r>
              <a:rPr dirty="0" err="1"/>
              <a:t>touw</a:t>
            </a:r>
            <a:r>
              <a:rPr dirty="0"/>
              <a:t>, </a:t>
            </a:r>
            <a:r>
              <a:rPr dirty="0" err="1"/>
              <a:t>maan-aarde</a:t>
            </a:r>
            <a:r>
              <a:rPr dirty="0"/>
              <a:t>.</a:t>
            </a:r>
          </a:p>
          <a:p>
            <a:pPr marL="0" lvl="0" indent="0">
              <a:lnSpc>
                <a:spcPct val="120000"/>
              </a:lnSpc>
              <a:buNone/>
            </a:pPr>
            <a:r>
              <a:rPr b="1" dirty="0"/>
              <a:t>5. </a:t>
            </a:r>
            <a:r>
              <a:rPr b="1" dirty="0" err="1"/>
              <a:t>Tangentiële</a:t>
            </a:r>
            <a:r>
              <a:rPr b="1" dirty="0"/>
              <a:t> </a:t>
            </a:r>
            <a:r>
              <a:rPr b="1" dirty="0" err="1"/>
              <a:t>en</a:t>
            </a:r>
            <a:r>
              <a:rPr b="1" dirty="0"/>
              <a:t> </a:t>
            </a:r>
            <a:r>
              <a:rPr b="1" dirty="0" err="1"/>
              <a:t>normale</a:t>
            </a:r>
            <a:r>
              <a:rPr b="1" dirty="0"/>
              <a:t> component</a:t>
            </a:r>
            <a:br>
              <a:rPr dirty="0"/>
            </a:br>
            <a:r>
              <a:rPr dirty="0"/>
              <a:t>– </a:t>
            </a:r>
            <a:r>
              <a:rPr dirty="0" err="1"/>
              <a:t>Krachtontbinding</a:t>
            </a:r>
            <a:r>
              <a:rPr dirty="0"/>
              <a:t>, </a:t>
            </a:r>
            <a:r>
              <a:rPr dirty="0" err="1"/>
              <a:t>acceleratiecomponenten</a:t>
            </a:r>
            <a:r>
              <a:rPr dirty="0"/>
              <a:t>.</a:t>
            </a:r>
            <a:br>
              <a:rPr dirty="0"/>
            </a:br>
            <a:r>
              <a:rPr dirty="0"/>
              <a:t>– ECB → </a:t>
            </a:r>
            <a:r>
              <a:rPr dirty="0" err="1"/>
              <a:t>alleen</a:t>
            </a:r>
            <a:r>
              <a:rPr dirty="0"/>
              <a:t> </a:t>
            </a:r>
            <a:r>
              <a:rPr dirty="0" err="1"/>
              <a:t>normale</a:t>
            </a:r>
            <a:r>
              <a:rPr dirty="0"/>
              <a:t> component.</a:t>
            </a:r>
          </a:p>
          <a:p>
            <a:pPr marL="0" lvl="0" indent="0">
              <a:lnSpc>
                <a:spcPct val="120000"/>
              </a:lnSpc>
              <a:buNone/>
            </a:pPr>
            <a:r>
              <a:rPr b="1" dirty="0"/>
              <a:t>6. </a:t>
            </a:r>
            <a:r>
              <a:rPr b="1" dirty="0" err="1"/>
              <a:t>Satellieten</a:t>
            </a:r>
            <a:r>
              <a:rPr b="1" dirty="0"/>
              <a:t> &amp; </a:t>
            </a:r>
            <a:r>
              <a:rPr b="1" dirty="0" err="1"/>
              <a:t>gravitatie</a:t>
            </a:r>
            <a:br>
              <a:rPr dirty="0"/>
            </a:br>
            <a:r>
              <a:rPr dirty="0"/>
              <a:t>– </a:t>
            </a:r>
            <a:r>
              <a:rPr dirty="0" err="1"/>
              <a:t>Gravitatie</a:t>
            </a:r>
            <a:r>
              <a:rPr dirty="0"/>
              <a:t> </a:t>
            </a:r>
            <a:r>
              <a:rPr dirty="0" err="1"/>
              <a:t>als</a:t>
            </a:r>
            <a:r>
              <a:rPr dirty="0"/>
              <a:t> </a:t>
            </a:r>
            <a:r>
              <a:rPr dirty="0" err="1"/>
              <a:t>centripetale</a:t>
            </a:r>
            <a:r>
              <a:rPr dirty="0"/>
              <a:t> </a:t>
            </a:r>
            <a:r>
              <a:rPr dirty="0" err="1"/>
              <a:t>kracht</a:t>
            </a:r>
            <a:r>
              <a:rPr dirty="0"/>
              <a:t>.</a:t>
            </a:r>
            <a:br>
              <a:rPr dirty="0"/>
            </a:br>
            <a:r>
              <a:rPr dirty="0"/>
              <a:t>– </a:t>
            </a:r>
            <a:r>
              <a:rPr dirty="0" err="1"/>
              <a:t>Geostationaire</a:t>
            </a:r>
            <a:r>
              <a:rPr dirty="0"/>
              <a:t> </a:t>
            </a:r>
            <a:r>
              <a:rPr dirty="0" err="1"/>
              <a:t>baan</a:t>
            </a:r>
            <a:r>
              <a:rPr dirty="0"/>
              <a:t>, PROBA, Galileo.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nl-BE" dirty="0"/>
              <a:t>Periodieke bewegingen</a:t>
            </a:r>
            <a:br>
              <a:rPr lang="nl-BE" dirty="0"/>
            </a:br>
            <a:endParaRPr lang="nl-BE" dirty="0"/>
          </a:p>
        </p:txBody>
      </p:sp>
      <p:sp>
        <p:nvSpPr>
          <p:cNvPr id="3" name="Tijdelijke aanduiding voor inhoud 2"/>
          <p:cNvSpPr>
            <a:spLocks noGrp="1"/>
          </p:cNvSpPr>
          <p:nvPr>
            <p:ph idx="1"/>
          </p:nvPr>
        </p:nvSpPr>
        <p:spPr/>
        <p:txBody>
          <a:bodyPr/>
          <a:lstStyle/>
          <a:p>
            <a:r>
              <a:rPr lang="nl-BE" dirty="0"/>
              <a:t>Bewegingen die zichzelf herhalen</a:t>
            </a:r>
          </a:p>
          <a:p>
            <a:r>
              <a:rPr lang="nl-BE" dirty="0"/>
              <a:t>Vb.: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nl-BE" dirty="0"/>
              <a:t>Periodieke bewegingen</a:t>
            </a:r>
            <a:br>
              <a:rPr lang="nl-BE" dirty="0"/>
            </a:br>
            <a:endParaRPr lang="nl-BE" dirty="0"/>
          </a:p>
        </p:txBody>
      </p:sp>
      <p:sp>
        <p:nvSpPr>
          <p:cNvPr id="3" name="Tijdelijke aanduiding voor inhoud 2"/>
          <p:cNvSpPr>
            <a:spLocks noGrp="1"/>
          </p:cNvSpPr>
          <p:nvPr>
            <p:ph idx="1"/>
          </p:nvPr>
        </p:nvSpPr>
        <p:spPr/>
        <p:txBody>
          <a:bodyPr>
            <a:normAutofit/>
          </a:bodyPr>
          <a:lstStyle/>
          <a:p>
            <a:r>
              <a:rPr lang="nl-BE" sz="3600" dirty="0"/>
              <a:t>Bewegingen die zichzelf herhalen</a:t>
            </a:r>
          </a:p>
          <a:p>
            <a:r>
              <a:rPr lang="nl-BE" sz="3600" dirty="0"/>
              <a:t>Vb.: </a:t>
            </a:r>
          </a:p>
          <a:p>
            <a:pPr lvl="1"/>
            <a:r>
              <a:rPr lang="nl-BE" sz="3200" dirty="0"/>
              <a:t>Beweging van de aarde rond de zon</a:t>
            </a:r>
          </a:p>
          <a:p>
            <a:pPr lvl="1"/>
            <a:r>
              <a:rPr lang="nl-BE" sz="3200" dirty="0"/>
              <a:t>Slingerbeweging </a:t>
            </a:r>
          </a:p>
          <a:p>
            <a:pPr lvl="1"/>
            <a:r>
              <a:rPr lang="nl-BE" sz="3200" dirty="0"/>
              <a:t>Samentrekking van het hart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a:xfrm>
            <a:off x="1524000" y="0"/>
            <a:ext cx="9144000" cy="1143000"/>
          </a:xfrm>
        </p:spPr>
        <p:txBody>
          <a:bodyPr/>
          <a:lstStyle/>
          <a:p>
            <a:pPr eaLnBrk="1" hangingPunct="1">
              <a:defRPr/>
            </a:pPr>
            <a:r>
              <a:rPr lang="nl-BE" sz="4000"/>
              <a:t>Eenparig cirkelvormige beweging (ECB)</a:t>
            </a:r>
            <a:endParaRPr lang="nl-NL" sz="4000"/>
          </a:p>
        </p:txBody>
      </p:sp>
      <p:sp>
        <p:nvSpPr>
          <p:cNvPr id="15363" name="Rectangle 3"/>
          <p:cNvSpPr>
            <a:spLocks noGrp="1" noRot="1" noChangeArrowheads="1"/>
          </p:cNvSpPr>
          <p:nvPr>
            <p:ph idx="1"/>
          </p:nvPr>
        </p:nvSpPr>
        <p:spPr>
          <a:xfrm>
            <a:off x="1524000" y="1628776"/>
            <a:ext cx="9144000" cy="4498975"/>
          </a:xfrm>
        </p:spPr>
        <p:txBody>
          <a:bodyPr/>
          <a:lstStyle/>
          <a:p>
            <a:pPr eaLnBrk="1" hangingPunct="1">
              <a:lnSpc>
                <a:spcPct val="90000"/>
              </a:lnSpc>
              <a:defRPr/>
            </a:pPr>
            <a:r>
              <a:rPr lang="nl-BE" dirty="0"/>
              <a:t>Eenparig cirkelvormige beweging:</a:t>
            </a:r>
          </a:p>
          <a:p>
            <a:pPr lvl="1" eaLnBrk="1" hangingPunct="1">
              <a:lnSpc>
                <a:spcPct val="90000"/>
              </a:lnSpc>
              <a:defRPr/>
            </a:pPr>
            <a:r>
              <a:rPr lang="nl-BE" dirty="0"/>
              <a:t>Constante grootte van snelheid</a:t>
            </a:r>
          </a:p>
          <a:p>
            <a:pPr lvl="1" eaLnBrk="1" hangingPunct="1">
              <a:lnSpc>
                <a:spcPct val="90000"/>
              </a:lnSpc>
              <a:defRPr/>
            </a:pPr>
            <a:r>
              <a:rPr lang="nl-BE" dirty="0"/>
              <a:t>Baan met constante kromming r</a:t>
            </a:r>
          </a:p>
          <a:p>
            <a:pPr eaLnBrk="1" hangingPunct="1">
              <a:lnSpc>
                <a:spcPct val="90000"/>
              </a:lnSpc>
              <a:defRPr/>
            </a:pPr>
            <a:r>
              <a:rPr lang="nl-BE" dirty="0"/>
              <a:t>Betekenis van eenparig:</a:t>
            </a:r>
          </a:p>
          <a:p>
            <a:pPr lvl="1" eaLnBrk="1" hangingPunct="1">
              <a:lnSpc>
                <a:spcPct val="90000"/>
              </a:lnSpc>
              <a:defRPr/>
            </a:pPr>
            <a:r>
              <a:rPr lang="nl-BE" dirty="0"/>
              <a:t>Constante grootte van snelheid</a:t>
            </a:r>
          </a:p>
          <a:p>
            <a:pPr eaLnBrk="1" hangingPunct="1">
              <a:lnSpc>
                <a:spcPct val="90000"/>
              </a:lnSpc>
              <a:defRPr/>
            </a:pPr>
            <a:r>
              <a:rPr lang="nl-BE" dirty="0"/>
              <a:t>Voorbeelden:	</a:t>
            </a:r>
          </a:p>
          <a:p>
            <a:pPr lvl="1" eaLnBrk="1" hangingPunct="1">
              <a:lnSpc>
                <a:spcPct val="90000"/>
              </a:lnSpc>
              <a:defRPr/>
            </a:pPr>
            <a:r>
              <a:rPr lang="nl-BE" dirty="0"/>
              <a:t>Stofje op een platenspeler</a:t>
            </a:r>
          </a:p>
          <a:p>
            <a:pPr lvl="1" eaLnBrk="1" hangingPunct="1">
              <a:lnSpc>
                <a:spcPct val="90000"/>
              </a:lnSpc>
              <a:defRPr/>
            </a:pPr>
            <a:r>
              <a:rPr lang="nl-BE" dirty="0"/>
              <a:t>Wijzer van een uurwerk</a:t>
            </a:r>
          </a:p>
          <a:p>
            <a:pPr lvl="1" eaLnBrk="1" hangingPunct="1">
              <a:lnSpc>
                <a:spcPct val="90000"/>
              </a:lnSpc>
              <a:defRPr/>
            </a:pPr>
            <a:r>
              <a:rPr lang="nl-BE" dirty="0"/>
              <a:t>Maan rond aarde </a:t>
            </a:r>
            <a:r>
              <a:rPr lang="nl-BE" i="1" dirty="0"/>
              <a:t>(benadering)</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xEl>
                                              <p:pRg st="4" end="4"/>
                                            </p:txEl>
                                          </p:spTgt>
                                        </p:tgtEl>
                                        <p:attrNameLst>
                                          <p:attrName>style.visibility</p:attrName>
                                        </p:attrNameLst>
                                      </p:cBhvr>
                                      <p:to>
                                        <p:strVal val="visible"/>
                                      </p:to>
                                    </p:set>
                                    <p:anim calcmode="lin" valueType="num">
                                      <p:cBhvr additive="base">
                                        <p:cTn id="7"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3">
                                            <p:txEl>
                                              <p:pRg st="6" end="6"/>
                                            </p:txEl>
                                          </p:spTgt>
                                        </p:tgtEl>
                                        <p:attrNameLst>
                                          <p:attrName>style.visibility</p:attrName>
                                        </p:attrNameLst>
                                      </p:cBhvr>
                                      <p:to>
                                        <p:strVal val="visible"/>
                                      </p:to>
                                    </p:set>
                                    <p:anim calcmode="lin" valueType="num">
                                      <p:cBhvr additive="base">
                                        <p:cTn id="13" dur="5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5363">
                                            <p:txEl>
                                              <p:pRg st="7" end="7"/>
                                            </p:txEl>
                                          </p:spTgt>
                                        </p:tgtEl>
                                        <p:attrNameLst>
                                          <p:attrName>style.visibility</p:attrName>
                                        </p:attrNameLst>
                                      </p:cBhvr>
                                      <p:to>
                                        <p:strVal val="visible"/>
                                      </p:to>
                                    </p:set>
                                    <p:anim calcmode="lin" valueType="num">
                                      <p:cBhvr additive="base">
                                        <p:cTn id="17" dur="500" fill="hold"/>
                                        <p:tgtEl>
                                          <p:spTgt spid="15363">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363">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5363">
                                            <p:txEl>
                                              <p:pRg st="8" end="8"/>
                                            </p:txEl>
                                          </p:spTgt>
                                        </p:tgtEl>
                                        <p:attrNameLst>
                                          <p:attrName>style.visibility</p:attrName>
                                        </p:attrNameLst>
                                      </p:cBhvr>
                                      <p:to>
                                        <p:strVal val="visible"/>
                                      </p:to>
                                    </p:set>
                                    <p:anim calcmode="lin" valueType="num">
                                      <p:cBhvr additive="base">
                                        <p:cTn id="21" dur="500" fill="hold"/>
                                        <p:tgtEl>
                                          <p:spTgt spid="15363">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536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a:xfrm>
            <a:off x="1524000" y="0"/>
            <a:ext cx="9144000" cy="1143000"/>
          </a:xfrm>
        </p:spPr>
        <p:txBody>
          <a:bodyPr/>
          <a:lstStyle/>
          <a:p>
            <a:pPr eaLnBrk="1" hangingPunct="1">
              <a:defRPr/>
            </a:pPr>
            <a:r>
              <a:rPr lang="nl-BE" sz="4000"/>
              <a:t>Eenparig cirkelvormige beweging (ECB)</a:t>
            </a:r>
            <a:endParaRPr lang="nl-NL" sz="4000"/>
          </a:p>
        </p:txBody>
      </p:sp>
      <p:sp>
        <p:nvSpPr>
          <p:cNvPr id="16387" name="Rectangle 3"/>
          <p:cNvSpPr>
            <a:spLocks noGrp="1" noRot="1" noChangeArrowheads="1"/>
          </p:cNvSpPr>
          <p:nvPr>
            <p:ph idx="1"/>
          </p:nvPr>
        </p:nvSpPr>
        <p:spPr/>
        <p:txBody>
          <a:bodyPr/>
          <a:lstStyle/>
          <a:p>
            <a:pPr eaLnBrk="1" hangingPunct="1">
              <a:defRPr/>
            </a:pPr>
            <a:r>
              <a:rPr lang="nl-BE" dirty="0"/>
              <a:t>ECB kan volledig beschreven worden met twee gegevens.</a:t>
            </a:r>
          </a:p>
          <a:p>
            <a:pPr eaLnBrk="1" hangingPunct="1">
              <a:defRPr/>
            </a:pPr>
            <a:r>
              <a:rPr lang="nl-BE" dirty="0"/>
              <a:t>Welke gegevens zijn er nodig om de situatie </a:t>
            </a:r>
            <a:r>
              <a:rPr lang="nl-BE" dirty="0" err="1"/>
              <a:t>maan-aarde</a:t>
            </a:r>
            <a:r>
              <a:rPr lang="nl-BE" dirty="0"/>
              <a:t> te beschrijven?</a:t>
            </a:r>
          </a:p>
          <a:p>
            <a:pPr lvl="1" eaLnBrk="1" hangingPunct="1">
              <a:defRPr/>
            </a:pPr>
            <a:r>
              <a:rPr lang="nl-BE" dirty="0"/>
              <a:t>straal (afstand van maan tot middelpunt aarde)</a:t>
            </a:r>
          </a:p>
          <a:p>
            <a:pPr lvl="1" eaLnBrk="1" hangingPunct="1">
              <a:defRPr/>
            </a:pPr>
            <a:r>
              <a:rPr lang="nl-BE" dirty="0"/>
              <a:t>snelheid van de maan</a:t>
            </a:r>
            <a:endParaRPr lang="en-US" dirty="0">
              <a:cs typeface="Tahoma" pitchFamily="34" charset="0"/>
            </a:endParaRPr>
          </a:p>
          <a:p>
            <a:pPr lvl="1" eaLnBrk="1" hangingPunct="1">
              <a:buFont typeface="Wingdings" pitchFamily="2" charset="2"/>
              <a:buNone/>
              <a:defRPr/>
            </a:pPr>
            <a:endParaRPr lang="en-US" dirty="0">
              <a:cs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anim calcmode="lin" valueType="num">
                                      <p:cBhvr additive="base">
                                        <p:cTn id="7"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387">
                                            <p:txEl>
                                              <p:pRg st="3" end="3"/>
                                            </p:txEl>
                                          </p:spTgt>
                                        </p:tgtEl>
                                        <p:attrNameLst>
                                          <p:attrName>style.visibility</p:attrName>
                                        </p:attrNameLst>
                                      </p:cBhvr>
                                      <p:to>
                                        <p:strVal val="visible"/>
                                      </p:to>
                                    </p:set>
                                    <p:anim calcmode="lin" valueType="num">
                                      <p:cBhvr additive="base">
                                        <p:cTn id="11"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Grp="1" noRot="1" noChangeArrowheads="1"/>
          </p:cNvSpPr>
          <p:nvPr>
            <p:ph type="title"/>
          </p:nvPr>
        </p:nvSpPr>
        <p:spPr>
          <a:xfrm>
            <a:off x="1524000" y="0"/>
            <a:ext cx="9144000" cy="1143000"/>
          </a:xfrm>
        </p:spPr>
        <p:txBody>
          <a:bodyPr/>
          <a:lstStyle/>
          <a:p>
            <a:pPr eaLnBrk="1" hangingPunct="1">
              <a:defRPr/>
            </a:pPr>
            <a:r>
              <a:rPr lang="nl-BE" sz="4000"/>
              <a:t>Eenparig cirkelvormige beweging (ECB)</a:t>
            </a:r>
            <a:endParaRPr lang="nl-NL" sz="4000"/>
          </a:p>
        </p:txBody>
      </p:sp>
      <p:sp>
        <p:nvSpPr>
          <p:cNvPr id="18435" name="Rectangle 3"/>
          <p:cNvSpPr>
            <a:spLocks noGrp="1" noRot="1" noChangeArrowheads="1"/>
          </p:cNvSpPr>
          <p:nvPr>
            <p:ph idx="1"/>
          </p:nvPr>
        </p:nvSpPr>
        <p:spPr/>
        <p:txBody>
          <a:bodyPr/>
          <a:lstStyle/>
          <a:p>
            <a:pPr eaLnBrk="1" hangingPunct="1">
              <a:lnSpc>
                <a:spcPct val="90000"/>
              </a:lnSpc>
              <a:defRPr/>
            </a:pPr>
            <a:r>
              <a:rPr lang="nl-BE" dirty="0"/>
              <a:t>Als men straal en snelheid van cirkelend voorwerp kent, kent men heel de beweging.</a:t>
            </a:r>
          </a:p>
          <a:p>
            <a:pPr eaLnBrk="1" hangingPunct="1">
              <a:lnSpc>
                <a:spcPct val="90000"/>
              </a:lnSpc>
              <a:defRPr/>
            </a:pPr>
            <a:endParaRPr lang="nl-BE" dirty="0"/>
          </a:p>
          <a:p>
            <a:pPr eaLnBrk="1" hangingPunct="1">
              <a:lnSpc>
                <a:spcPct val="90000"/>
              </a:lnSpc>
              <a:defRPr/>
            </a:pPr>
            <a:r>
              <a:rPr lang="nl-BE" dirty="0"/>
              <a:t>Snelheid meten is niet eenvoudig.</a:t>
            </a:r>
          </a:p>
          <a:p>
            <a:pPr eaLnBrk="1" hangingPunct="1">
              <a:lnSpc>
                <a:spcPct val="90000"/>
              </a:lnSpc>
              <a:defRPr/>
            </a:pPr>
            <a:endParaRPr lang="nl-BE" dirty="0"/>
          </a:p>
          <a:p>
            <a:pPr eaLnBrk="1" hangingPunct="1">
              <a:lnSpc>
                <a:spcPct val="90000"/>
              </a:lnSpc>
              <a:defRPr/>
            </a:pPr>
            <a:r>
              <a:rPr lang="nl-BE" dirty="0"/>
              <a:t>OPLOSSINGEN:	</a:t>
            </a:r>
          </a:p>
          <a:p>
            <a:pPr lvl="1" eaLnBrk="1" hangingPunct="1">
              <a:lnSpc>
                <a:spcPct val="90000"/>
              </a:lnSpc>
              <a:defRPr/>
            </a:pPr>
            <a:r>
              <a:rPr lang="nl-BE" dirty="0"/>
              <a:t>Tijd meten die nodig is voor het doorlopen van 1 volledige cyclus</a:t>
            </a:r>
          </a:p>
          <a:p>
            <a:pPr lvl="1" eaLnBrk="1" hangingPunct="1">
              <a:lnSpc>
                <a:spcPct val="90000"/>
              </a:lnSpc>
              <a:defRPr/>
            </a:pPr>
            <a:r>
              <a:rPr lang="nl-BE" dirty="0"/>
              <a:t>Aantal cyclussen meten die per tijdseenheid doorlopen worden.</a:t>
            </a:r>
          </a:p>
          <a:p>
            <a:pPr lvl="1" eaLnBrk="1" hangingPunct="1">
              <a:lnSpc>
                <a:spcPct val="90000"/>
              </a:lnSpc>
              <a:defRPr/>
            </a:pPr>
            <a:r>
              <a:rPr lang="nl-BE" dirty="0"/>
              <a:t>Vb. maan: rotatietijd (</a:t>
            </a:r>
            <a:r>
              <a:rPr lang="en-US" dirty="0">
                <a:cs typeface="Tahoma" pitchFamily="34" charset="0"/>
              </a:rPr>
              <a:t>± 28 </a:t>
            </a:r>
            <a:r>
              <a:rPr lang="en-US" dirty="0" err="1">
                <a:cs typeface="Tahoma" pitchFamily="34" charset="0"/>
              </a:rPr>
              <a:t>dagen</a:t>
            </a:r>
            <a:r>
              <a:rPr lang="en-US" dirty="0">
                <a:cs typeface="Tahoma" pitchFamily="34" charset="0"/>
              </a:rPr>
              <a:t>)</a:t>
            </a:r>
            <a:endParaRPr lang="nl-NL" dirty="0">
              <a:cs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xEl>
                                              <p:pRg st="5" end="5"/>
                                            </p:txEl>
                                          </p:spTgt>
                                        </p:tgtEl>
                                        <p:attrNameLst>
                                          <p:attrName>style.visibility</p:attrName>
                                        </p:attrNameLst>
                                      </p:cBhvr>
                                      <p:to>
                                        <p:strVal val="visible"/>
                                      </p:to>
                                    </p:set>
                                    <p:anim calcmode="lin" valueType="num">
                                      <p:cBhvr additive="base">
                                        <p:cTn id="7" dur="500" fill="hold"/>
                                        <p:tgtEl>
                                          <p:spTgt spid="18435">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435">
                                            <p:txEl>
                                              <p:pRg st="6" end="6"/>
                                            </p:txEl>
                                          </p:spTgt>
                                        </p:tgtEl>
                                        <p:attrNameLst>
                                          <p:attrName>style.visibility</p:attrName>
                                        </p:attrNameLst>
                                      </p:cBhvr>
                                      <p:to>
                                        <p:strVal val="visible"/>
                                      </p:to>
                                    </p:set>
                                    <p:anim calcmode="lin" valueType="num">
                                      <p:cBhvr additive="base">
                                        <p:cTn id="11" dur="500" fill="hold"/>
                                        <p:tgtEl>
                                          <p:spTgt spid="18435">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35">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435">
                                            <p:txEl>
                                              <p:pRg st="7" end="7"/>
                                            </p:txEl>
                                          </p:spTgt>
                                        </p:tgtEl>
                                        <p:attrNameLst>
                                          <p:attrName>style.visibility</p:attrName>
                                        </p:attrNameLst>
                                      </p:cBhvr>
                                      <p:to>
                                        <p:strVal val="visible"/>
                                      </p:to>
                                    </p:set>
                                    <p:anim calcmode="lin" valueType="num">
                                      <p:cBhvr additive="base">
                                        <p:cTn id="15" dur="500" fill="hold"/>
                                        <p:tgtEl>
                                          <p:spTgt spid="18435">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43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06B15A-4B4F-09D2-9AFC-7E12C1DE1D40}"/>
              </a:ext>
            </a:extLst>
          </p:cNvPr>
          <p:cNvSpPr>
            <a:spLocks noGrp="1"/>
          </p:cNvSpPr>
          <p:nvPr>
            <p:ph type="title"/>
          </p:nvPr>
        </p:nvSpPr>
        <p:spPr>
          <a:xfrm>
            <a:off x="1825625" y="-243408"/>
            <a:ext cx="8540750" cy="1143000"/>
          </a:xfrm>
        </p:spPr>
        <p:txBody>
          <a:bodyPr/>
          <a:lstStyle/>
          <a:p>
            <a:r>
              <a:rPr lang="nl-BE" dirty="0"/>
              <a:t>De cirkelbaan</a:t>
            </a:r>
          </a:p>
        </p:txBody>
      </p:sp>
      <p:pic>
        <p:nvPicPr>
          <p:cNvPr id="8" name="Afbeelding 7">
            <a:extLst>
              <a:ext uri="{FF2B5EF4-FFF2-40B4-BE49-F238E27FC236}">
                <a16:creationId xmlns:a16="http://schemas.microsoft.com/office/drawing/2014/main" id="{D368EC85-9F73-1A3A-BF90-BE67B1CEDCAF}"/>
              </a:ext>
            </a:extLst>
          </p:cNvPr>
          <p:cNvPicPr>
            <a:picLocks noChangeAspect="1"/>
          </p:cNvPicPr>
          <p:nvPr/>
        </p:nvPicPr>
        <p:blipFill>
          <a:blip r:embed="rId2"/>
          <a:stretch>
            <a:fillRect/>
          </a:stretch>
        </p:blipFill>
        <p:spPr>
          <a:xfrm>
            <a:off x="1524000" y="688835"/>
            <a:ext cx="6096000" cy="6164188"/>
          </a:xfrm>
          <a:prstGeom prst="rect">
            <a:avLst/>
          </a:prstGeom>
        </p:spPr>
      </p:pic>
      <p:pic>
        <p:nvPicPr>
          <p:cNvPr id="10" name="Afbeelding 9">
            <a:extLst>
              <a:ext uri="{FF2B5EF4-FFF2-40B4-BE49-F238E27FC236}">
                <a16:creationId xmlns:a16="http://schemas.microsoft.com/office/drawing/2014/main" id="{8C60952F-B546-8403-52B2-E42EEA2DD3F6}"/>
              </a:ext>
            </a:extLst>
          </p:cNvPr>
          <p:cNvPicPr>
            <a:picLocks noChangeAspect="1"/>
          </p:cNvPicPr>
          <p:nvPr/>
        </p:nvPicPr>
        <p:blipFill>
          <a:blip r:embed="rId3"/>
          <a:stretch>
            <a:fillRect/>
          </a:stretch>
        </p:blipFill>
        <p:spPr>
          <a:xfrm>
            <a:off x="7680176" y="2420889"/>
            <a:ext cx="2940496" cy="2859749"/>
          </a:xfrm>
          <a:prstGeom prst="rect">
            <a:avLst/>
          </a:prstGeom>
        </p:spPr>
      </p:pic>
    </p:spTree>
    <p:extLst>
      <p:ext uri="{BB962C8B-B14F-4D97-AF65-F5344CB8AC3E}">
        <p14:creationId xmlns:p14="http://schemas.microsoft.com/office/powerpoint/2010/main" val="124628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40186-7078-1DCD-0081-FE9596420D07}"/>
            </a:ext>
          </a:extLst>
        </p:cNvPr>
        <p:cNvGrpSpPr/>
        <p:nvPr/>
      </p:nvGrpSpPr>
      <p:grpSpPr>
        <a:xfrm>
          <a:off x="0" y="0"/>
          <a:ext cx="0" cy="0"/>
          <a:chOff x="0" y="0"/>
          <a:chExt cx="0" cy="0"/>
        </a:xfrm>
      </p:grpSpPr>
      <p:sp>
        <p:nvSpPr>
          <p:cNvPr id="61442" name="Rectangle 2">
            <a:extLst>
              <a:ext uri="{FF2B5EF4-FFF2-40B4-BE49-F238E27FC236}">
                <a16:creationId xmlns:a16="http://schemas.microsoft.com/office/drawing/2014/main" id="{BFF6512A-AE24-89D3-9F4F-E5BA7DA49B37}"/>
              </a:ext>
            </a:extLst>
          </p:cNvPr>
          <p:cNvSpPr>
            <a:spLocks noGrp="1" noRot="1" noChangeArrowheads="1"/>
          </p:cNvSpPr>
          <p:nvPr>
            <p:ph type="title"/>
          </p:nvPr>
        </p:nvSpPr>
        <p:spPr/>
        <p:txBody>
          <a:bodyPr/>
          <a:lstStyle/>
          <a:p>
            <a:pPr eaLnBrk="1" hangingPunct="1">
              <a:defRPr/>
            </a:pPr>
            <a:r>
              <a:rPr lang="nl-BE" sz="4000" dirty="0"/>
              <a:t>Radialen </a:t>
            </a:r>
            <a:endParaRPr lang="nl-NL" sz="4000" dirty="0"/>
          </a:p>
        </p:txBody>
      </p:sp>
      <p:sp>
        <p:nvSpPr>
          <p:cNvPr id="61443" name="Rectangle 3">
            <a:extLst>
              <a:ext uri="{FF2B5EF4-FFF2-40B4-BE49-F238E27FC236}">
                <a16:creationId xmlns:a16="http://schemas.microsoft.com/office/drawing/2014/main" id="{FC54FDDA-A82A-3949-3A64-7C9E31A686E4}"/>
              </a:ext>
            </a:extLst>
          </p:cNvPr>
          <p:cNvSpPr>
            <a:spLocks noGrp="1" noRot="1" noChangeArrowheads="1"/>
          </p:cNvSpPr>
          <p:nvPr>
            <p:ph idx="1"/>
          </p:nvPr>
        </p:nvSpPr>
        <p:spPr>
          <a:xfrm>
            <a:off x="407368" y="1825625"/>
            <a:ext cx="11233248" cy="4351338"/>
          </a:xfrm>
        </p:spPr>
        <p:txBody>
          <a:bodyPr>
            <a:normAutofit/>
          </a:bodyPr>
          <a:lstStyle/>
          <a:p>
            <a:pPr lvl="1" eaLnBrk="1" hangingPunct="1">
              <a:defRPr/>
            </a:pPr>
            <a:r>
              <a:rPr lang="nl-BE" sz="3200" dirty="0">
                <a:cs typeface="Tahoma" pitchFamily="34" charset="0"/>
              </a:rPr>
              <a:t>Hoek uitgedrukt radialen (of graden).</a:t>
            </a:r>
          </a:p>
          <a:p>
            <a:pPr marL="457200" lvl="1" indent="0" eaLnBrk="1" hangingPunct="1">
              <a:buNone/>
              <a:defRPr/>
            </a:pPr>
            <a:endParaRPr lang="nl-BE" sz="3200" dirty="0">
              <a:cs typeface="Tahoma" pitchFamily="34" charset="0"/>
            </a:endParaRPr>
          </a:p>
          <a:p>
            <a:pPr lvl="1" eaLnBrk="1" hangingPunct="1">
              <a:defRPr/>
            </a:pPr>
            <a:r>
              <a:rPr lang="nl-BE" sz="3200" u="sng" dirty="0">
                <a:cs typeface="Tahoma" pitchFamily="34" charset="0"/>
              </a:rPr>
              <a:t>1 rad</a:t>
            </a:r>
            <a:r>
              <a:rPr lang="nl-BE" sz="3200" dirty="0">
                <a:cs typeface="Tahoma" pitchFamily="34" charset="0"/>
              </a:rPr>
              <a:t>= grootte van een hoek die staat op een </a:t>
            </a:r>
            <a:r>
              <a:rPr lang="nl-BE" sz="3200" dirty="0" err="1">
                <a:cs typeface="Tahoma" pitchFamily="34" charset="0"/>
              </a:rPr>
              <a:t>cirkelboogje</a:t>
            </a:r>
            <a:r>
              <a:rPr lang="nl-BE" sz="3200" dirty="0">
                <a:cs typeface="Tahoma" pitchFamily="34" charset="0"/>
              </a:rPr>
              <a:t> met de lengte van de straal.</a:t>
            </a:r>
          </a:p>
        </p:txBody>
      </p:sp>
      <p:pic>
        <p:nvPicPr>
          <p:cNvPr id="52225" name="Picture 1">
            <a:extLst>
              <a:ext uri="{FF2B5EF4-FFF2-40B4-BE49-F238E27FC236}">
                <a16:creationId xmlns:a16="http://schemas.microsoft.com/office/drawing/2014/main" id="{A87D4432-F921-3CCA-FA80-21E45C80272E}"/>
              </a:ext>
            </a:extLst>
          </p:cNvPr>
          <p:cNvPicPr>
            <a:picLocks noChangeAspect="1" noChangeArrowheads="1"/>
          </p:cNvPicPr>
          <p:nvPr/>
        </p:nvPicPr>
        <p:blipFill>
          <a:blip r:embed="rId2" cstate="print"/>
          <a:srcRect/>
          <a:stretch>
            <a:fillRect/>
          </a:stretch>
        </p:blipFill>
        <p:spPr bwMode="auto">
          <a:xfrm>
            <a:off x="4295801" y="4293096"/>
            <a:ext cx="3248025" cy="2152650"/>
          </a:xfrm>
          <a:prstGeom prst="rect">
            <a:avLst/>
          </a:prstGeom>
          <a:noFill/>
          <a:ln w="9525">
            <a:noFill/>
            <a:miter lim="800000"/>
            <a:headEnd/>
            <a:tailEnd/>
          </a:ln>
        </p:spPr>
      </p:pic>
    </p:spTree>
    <p:extLst>
      <p:ext uri="{BB962C8B-B14F-4D97-AF65-F5344CB8AC3E}">
        <p14:creationId xmlns:p14="http://schemas.microsoft.com/office/powerpoint/2010/main" val="568193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461D66-6F52-6171-B08A-0544F101BBAF}"/>
              </a:ext>
            </a:extLst>
          </p:cNvPr>
          <p:cNvSpPr>
            <a:spLocks noGrp="1"/>
          </p:cNvSpPr>
          <p:nvPr>
            <p:ph type="title"/>
          </p:nvPr>
        </p:nvSpPr>
        <p:spPr>
          <a:xfrm>
            <a:off x="3214110" y="-171400"/>
            <a:ext cx="8540750" cy="1143000"/>
          </a:xfrm>
        </p:spPr>
        <p:txBody>
          <a:bodyPr/>
          <a:lstStyle/>
          <a:p>
            <a:r>
              <a:rPr lang="nl-BE" dirty="0"/>
              <a:t>Hoeksnelheid</a:t>
            </a:r>
          </a:p>
        </p:txBody>
      </p:sp>
      <p:pic>
        <p:nvPicPr>
          <p:cNvPr id="7" name="Afbeelding 6">
            <a:extLst>
              <a:ext uri="{FF2B5EF4-FFF2-40B4-BE49-F238E27FC236}">
                <a16:creationId xmlns:a16="http://schemas.microsoft.com/office/drawing/2014/main" id="{1F68D5C8-5007-3B56-21B3-D595F9822E7E}"/>
              </a:ext>
            </a:extLst>
          </p:cNvPr>
          <p:cNvPicPr>
            <a:picLocks noChangeAspect="1"/>
          </p:cNvPicPr>
          <p:nvPr/>
        </p:nvPicPr>
        <p:blipFill>
          <a:blip r:embed="rId2"/>
          <a:stretch>
            <a:fillRect/>
          </a:stretch>
        </p:blipFill>
        <p:spPr>
          <a:xfrm>
            <a:off x="3233936" y="805483"/>
            <a:ext cx="5724128" cy="6067241"/>
          </a:xfrm>
          <a:prstGeom prst="rect">
            <a:avLst/>
          </a:prstGeom>
        </p:spPr>
      </p:pic>
    </p:spTree>
    <p:extLst>
      <p:ext uri="{BB962C8B-B14F-4D97-AF65-F5344CB8AC3E}">
        <p14:creationId xmlns:p14="http://schemas.microsoft.com/office/powerpoint/2010/main" val="1919901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5E9DA-4DE2-BB45-F559-CFF452F51817}"/>
            </a:ext>
          </a:extLst>
        </p:cNvPr>
        <p:cNvGrpSpPr/>
        <p:nvPr/>
      </p:nvGrpSpPr>
      <p:grpSpPr>
        <a:xfrm>
          <a:off x="0" y="0"/>
          <a:ext cx="0" cy="0"/>
          <a:chOff x="0" y="0"/>
          <a:chExt cx="0" cy="0"/>
        </a:xfrm>
      </p:grpSpPr>
      <p:sp>
        <p:nvSpPr>
          <p:cNvPr id="65538" name="Rectangle 2">
            <a:extLst>
              <a:ext uri="{FF2B5EF4-FFF2-40B4-BE49-F238E27FC236}">
                <a16:creationId xmlns:a16="http://schemas.microsoft.com/office/drawing/2014/main" id="{BD1D1509-F969-ADA6-3BB8-A95C1489B745}"/>
              </a:ext>
            </a:extLst>
          </p:cNvPr>
          <p:cNvSpPr>
            <a:spLocks noGrp="1" noRot="1" noChangeArrowheads="1"/>
          </p:cNvSpPr>
          <p:nvPr>
            <p:ph type="title"/>
          </p:nvPr>
        </p:nvSpPr>
        <p:spPr>
          <a:xfrm>
            <a:off x="1847851" y="0"/>
            <a:ext cx="8820149" cy="1143000"/>
          </a:xfrm>
        </p:spPr>
        <p:txBody>
          <a:bodyPr>
            <a:normAutofit/>
          </a:bodyPr>
          <a:lstStyle/>
          <a:p>
            <a:pPr eaLnBrk="1" hangingPunct="1">
              <a:defRPr/>
            </a:pPr>
            <a:r>
              <a:rPr lang="nl-BE" sz="4800" dirty="0"/>
              <a:t>Hoeksnelheid</a:t>
            </a:r>
            <a:endParaRPr lang="nl-NL" sz="4800" dirty="0"/>
          </a:p>
        </p:txBody>
      </p:sp>
      <p:sp>
        <p:nvSpPr>
          <p:cNvPr id="65539" name="Rectangle 3">
            <a:extLst>
              <a:ext uri="{FF2B5EF4-FFF2-40B4-BE49-F238E27FC236}">
                <a16:creationId xmlns:a16="http://schemas.microsoft.com/office/drawing/2014/main" id="{D9BE52B6-79CA-EF5F-9BF0-044E3DED7846}"/>
              </a:ext>
            </a:extLst>
          </p:cNvPr>
          <p:cNvSpPr>
            <a:spLocks noGrp="1" noRot="1" noChangeArrowheads="1"/>
          </p:cNvSpPr>
          <p:nvPr>
            <p:ph type="body" sz="half" idx="1"/>
          </p:nvPr>
        </p:nvSpPr>
        <p:spPr>
          <a:xfrm>
            <a:off x="1847851" y="1385888"/>
            <a:ext cx="8158163" cy="5472112"/>
          </a:xfrm>
        </p:spPr>
        <p:txBody>
          <a:bodyPr/>
          <a:lstStyle/>
          <a:p>
            <a:pPr eaLnBrk="1" hangingPunct="1">
              <a:defRPr/>
            </a:pPr>
            <a:r>
              <a:rPr lang="nl-BE" sz="3600" dirty="0" err="1">
                <a:ea typeface="Arial Unicode MS" pitchFamily="34" charset="-128"/>
                <a:cs typeface="Arial Unicode MS" pitchFamily="34" charset="-128"/>
              </a:rPr>
              <a:t>Def</a:t>
            </a:r>
            <a:r>
              <a:rPr lang="nl-BE" sz="3600" dirty="0">
                <a:ea typeface="Arial Unicode MS" pitchFamily="34" charset="-128"/>
                <a:cs typeface="Arial Unicode MS" pitchFamily="34" charset="-128"/>
              </a:rPr>
              <a:t>.: </a:t>
            </a:r>
          </a:p>
          <a:p>
            <a:pPr eaLnBrk="1" hangingPunct="1">
              <a:defRPr/>
            </a:pPr>
            <a:endParaRPr lang="nl-BE" sz="3600" dirty="0">
              <a:ea typeface="Arial Unicode MS" pitchFamily="34" charset="-128"/>
              <a:cs typeface="Arial Unicode MS" pitchFamily="34" charset="-128"/>
            </a:endParaRPr>
          </a:p>
          <a:p>
            <a:pPr eaLnBrk="1" hangingPunct="1">
              <a:defRPr/>
            </a:pPr>
            <a:endParaRPr lang="nl-BE" sz="3600" dirty="0">
              <a:ea typeface="Arial Unicode MS" pitchFamily="34" charset="-128"/>
              <a:cs typeface="Arial Unicode MS" pitchFamily="34" charset="-128"/>
            </a:endParaRPr>
          </a:p>
          <a:p>
            <a:pPr eaLnBrk="1" hangingPunct="1">
              <a:defRPr/>
            </a:pPr>
            <a:endParaRPr lang="nl-BE" sz="3600" dirty="0">
              <a:ea typeface="Arial Unicode MS" pitchFamily="34" charset="-128"/>
              <a:cs typeface="Arial Unicode MS" pitchFamily="34" charset="-128"/>
            </a:endParaRPr>
          </a:p>
          <a:p>
            <a:pPr eaLnBrk="1" hangingPunct="1">
              <a:defRPr/>
            </a:pPr>
            <a:endParaRPr lang="nl-BE" sz="3600" dirty="0">
              <a:ea typeface="Arial Unicode MS" pitchFamily="34" charset="-128"/>
              <a:cs typeface="Arial Unicode MS" pitchFamily="34" charset="-128"/>
            </a:endParaRPr>
          </a:p>
          <a:p>
            <a:pPr eaLnBrk="1" hangingPunct="1">
              <a:defRPr/>
            </a:pPr>
            <a:r>
              <a:rPr lang="nl-BE" sz="3600" dirty="0">
                <a:ea typeface="Arial Unicode MS" pitchFamily="34" charset="-128"/>
                <a:cs typeface="Arial Unicode MS" pitchFamily="34" charset="-128"/>
              </a:rPr>
              <a:t>Eenheid: rad/s</a:t>
            </a:r>
          </a:p>
          <a:p>
            <a:pPr eaLnBrk="1" hangingPunct="1">
              <a:defRPr/>
            </a:pPr>
            <a:endParaRPr lang="nl-NL" sz="2800" dirty="0">
              <a:ea typeface="Arial Unicode MS" pitchFamily="34" charset="-128"/>
              <a:cs typeface="Arial Unicode MS" pitchFamily="34" charset="-128"/>
            </a:endParaRPr>
          </a:p>
        </p:txBody>
      </p:sp>
      <p:graphicFrame>
        <p:nvGraphicFramePr>
          <p:cNvPr id="8194" name="Object 4">
            <a:extLst>
              <a:ext uri="{FF2B5EF4-FFF2-40B4-BE49-F238E27FC236}">
                <a16:creationId xmlns:a16="http://schemas.microsoft.com/office/drawing/2014/main" id="{A52F122C-8256-6A3E-E17A-4F3B6A6B816A}"/>
              </a:ext>
            </a:extLst>
          </p:cNvPr>
          <p:cNvGraphicFramePr>
            <a:graphicFrameLocks noGrp="1" noChangeAspect="1"/>
          </p:cNvGraphicFramePr>
          <p:nvPr>
            <p:ph sz="quarter" idx="2"/>
          </p:nvPr>
        </p:nvGraphicFramePr>
        <p:xfrm>
          <a:off x="2208213" y="2276475"/>
          <a:ext cx="7488237" cy="1570038"/>
        </p:xfrm>
        <a:graphic>
          <a:graphicData uri="http://schemas.openxmlformats.org/presentationml/2006/ole">
            <mc:AlternateContent xmlns:mc="http://schemas.openxmlformats.org/markup-compatibility/2006">
              <mc:Choice xmlns:v="urn:schemas-microsoft-com:vml" Requires="v">
                <p:oleObj name="Vergelijking" r:id="rId2" imgW="3149600" imgH="660400" progId="Equation.3">
                  <p:embed/>
                </p:oleObj>
              </mc:Choice>
              <mc:Fallback>
                <p:oleObj name="Vergelijking" r:id="rId2" imgW="3149600" imgH="660400" progId="Equation.3">
                  <p:embed/>
                  <p:pic>
                    <p:nvPicPr>
                      <p:cNvPr id="8194" name="Object 4">
                        <a:extLst>
                          <a:ext uri="{FF2B5EF4-FFF2-40B4-BE49-F238E27FC236}">
                            <a16:creationId xmlns:a16="http://schemas.microsoft.com/office/drawing/2014/main" id="{A52F122C-8256-6A3E-E17A-4F3B6A6B816A}"/>
                          </a:ext>
                        </a:extLst>
                      </p:cNvPr>
                      <p:cNvPicPr>
                        <a:picLocks noGrp="1"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2208213" y="2276475"/>
                        <a:ext cx="7488237" cy="1570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97366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337C4C-D5F4-8B37-8AB5-47BDAD38376B}"/>
              </a:ext>
            </a:extLst>
          </p:cNvPr>
          <p:cNvSpPr>
            <a:spLocks noGrp="1"/>
          </p:cNvSpPr>
          <p:nvPr>
            <p:ph type="title"/>
          </p:nvPr>
        </p:nvSpPr>
        <p:spPr>
          <a:xfrm>
            <a:off x="1825625" y="-195262"/>
            <a:ext cx="8540750" cy="1143000"/>
          </a:xfrm>
        </p:spPr>
        <p:txBody>
          <a:bodyPr/>
          <a:lstStyle/>
          <a:p>
            <a:r>
              <a:rPr lang="nl-BE" dirty="0" err="1"/>
              <a:t>Plaatsvector</a:t>
            </a:r>
            <a:endParaRPr lang="nl-BE" dirty="0"/>
          </a:p>
        </p:txBody>
      </p:sp>
      <p:sp>
        <p:nvSpPr>
          <p:cNvPr id="3" name="Tijdelijke aanduiding voor inhoud 2">
            <a:extLst>
              <a:ext uri="{FF2B5EF4-FFF2-40B4-BE49-F238E27FC236}">
                <a16:creationId xmlns:a16="http://schemas.microsoft.com/office/drawing/2014/main" id="{7814FA4F-D04B-4CE6-CA53-6614FFFED5C7}"/>
              </a:ext>
            </a:extLst>
          </p:cNvPr>
          <p:cNvSpPr>
            <a:spLocks noGrp="1"/>
          </p:cNvSpPr>
          <p:nvPr>
            <p:ph idx="1"/>
          </p:nvPr>
        </p:nvSpPr>
        <p:spPr>
          <a:xfrm>
            <a:off x="1825625" y="1489276"/>
            <a:ext cx="8540750" cy="4498975"/>
          </a:xfrm>
        </p:spPr>
        <p:txBody>
          <a:bodyPr/>
          <a:lstStyle/>
          <a:p>
            <a:endParaRPr lang="nl-BE"/>
          </a:p>
        </p:txBody>
      </p:sp>
      <p:pic>
        <p:nvPicPr>
          <p:cNvPr id="5" name="Afbeelding 4">
            <a:extLst>
              <a:ext uri="{FF2B5EF4-FFF2-40B4-BE49-F238E27FC236}">
                <a16:creationId xmlns:a16="http://schemas.microsoft.com/office/drawing/2014/main" id="{8570EC7B-2D84-755D-66BA-FA8B2AF3B2B5}"/>
              </a:ext>
            </a:extLst>
          </p:cNvPr>
          <p:cNvPicPr>
            <a:picLocks noChangeAspect="1"/>
          </p:cNvPicPr>
          <p:nvPr/>
        </p:nvPicPr>
        <p:blipFill>
          <a:blip r:embed="rId2"/>
          <a:stretch>
            <a:fillRect/>
          </a:stretch>
        </p:blipFill>
        <p:spPr>
          <a:xfrm>
            <a:off x="2871788" y="869751"/>
            <a:ext cx="6448425" cy="2127763"/>
          </a:xfrm>
          <a:prstGeom prst="rect">
            <a:avLst/>
          </a:prstGeom>
        </p:spPr>
      </p:pic>
      <p:pic>
        <p:nvPicPr>
          <p:cNvPr id="7" name="Afbeelding 6">
            <a:extLst>
              <a:ext uri="{FF2B5EF4-FFF2-40B4-BE49-F238E27FC236}">
                <a16:creationId xmlns:a16="http://schemas.microsoft.com/office/drawing/2014/main" id="{AACB2669-7EA4-9F10-3A20-802615E4BB17}"/>
              </a:ext>
            </a:extLst>
          </p:cNvPr>
          <p:cNvPicPr>
            <a:picLocks noChangeAspect="1"/>
          </p:cNvPicPr>
          <p:nvPr/>
        </p:nvPicPr>
        <p:blipFill>
          <a:blip r:embed="rId3"/>
          <a:stretch>
            <a:fillRect/>
          </a:stretch>
        </p:blipFill>
        <p:spPr>
          <a:xfrm>
            <a:off x="2871787" y="3216476"/>
            <a:ext cx="6448425" cy="2771775"/>
          </a:xfrm>
          <a:prstGeom prst="rect">
            <a:avLst/>
          </a:prstGeom>
        </p:spPr>
      </p:pic>
    </p:spTree>
    <p:extLst>
      <p:ext uri="{BB962C8B-B14F-4D97-AF65-F5344CB8AC3E}">
        <p14:creationId xmlns:p14="http://schemas.microsoft.com/office/powerpoint/2010/main" val="1703406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rrowheads="1"/>
          </p:cNvSpPr>
          <p:nvPr>
            <p:ph type="title"/>
          </p:nvPr>
        </p:nvSpPr>
        <p:spPr>
          <a:xfrm>
            <a:off x="1847850" y="0"/>
            <a:ext cx="8540750" cy="1143000"/>
          </a:xfrm>
        </p:spPr>
        <p:txBody>
          <a:bodyPr/>
          <a:lstStyle/>
          <a:p>
            <a:pPr eaLnBrk="1" hangingPunct="1">
              <a:defRPr/>
            </a:pPr>
            <a:r>
              <a:rPr lang="nl-BE"/>
              <a:t>Periode en frequentie</a:t>
            </a:r>
            <a:endParaRPr lang="nl-NL"/>
          </a:p>
        </p:txBody>
      </p:sp>
      <p:sp>
        <p:nvSpPr>
          <p:cNvPr id="26627" name="Rectangle 3"/>
          <p:cNvSpPr>
            <a:spLocks noGrp="1" noRot="1" noChangeArrowheads="1"/>
          </p:cNvSpPr>
          <p:nvPr>
            <p:ph type="body" sz="half" idx="1"/>
          </p:nvPr>
        </p:nvSpPr>
        <p:spPr>
          <a:xfrm>
            <a:off x="623392" y="981075"/>
            <a:ext cx="10585176" cy="5543550"/>
          </a:xfrm>
        </p:spPr>
        <p:txBody>
          <a:bodyPr/>
          <a:lstStyle/>
          <a:p>
            <a:pPr eaLnBrk="1" hangingPunct="1">
              <a:defRPr/>
            </a:pPr>
            <a:r>
              <a:rPr lang="nl-BE" sz="3200" dirty="0"/>
              <a:t>Periode: </a:t>
            </a:r>
          </a:p>
          <a:p>
            <a:pPr lvl="1" eaLnBrk="1" hangingPunct="1">
              <a:defRPr/>
            </a:pPr>
            <a:r>
              <a:rPr lang="nl-BE" sz="2800" dirty="0"/>
              <a:t>De tijd nodig voor het doorlopen van één volledige cyclus van de beweging.</a:t>
            </a:r>
          </a:p>
          <a:p>
            <a:pPr lvl="1" eaLnBrk="1" hangingPunct="1">
              <a:defRPr/>
            </a:pPr>
            <a:endParaRPr lang="nl-BE" sz="2800" dirty="0"/>
          </a:p>
          <a:p>
            <a:pPr lvl="1" eaLnBrk="1" hangingPunct="1">
              <a:defRPr/>
            </a:pPr>
            <a:endParaRPr lang="nl-BE" sz="2800" dirty="0"/>
          </a:p>
          <a:p>
            <a:pPr lvl="1" eaLnBrk="1" hangingPunct="1">
              <a:defRPr/>
            </a:pPr>
            <a:endParaRPr lang="nl-BE" sz="2800" dirty="0"/>
          </a:p>
          <a:p>
            <a:pPr eaLnBrk="1" hangingPunct="1">
              <a:defRPr/>
            </a:pPr>
            <a:r>
              <a:rPr lang="nl-BE" sz="3200" dirty="0"/>
              <a:t>Frequentie:</a:t>
            </a:r>
          </a:p>
          <a:p>
            <a:pPr lvl="1" eaLnBrk="1" hangingPunct="1">
              <a:defRPr/>
            </a:pPr>
            <a:r>
              <a:rPr lang="nl-BE" sz="2800" dirty="0"/>
              <a:t>Het aantal cyclussen dat wordt doorlopen per tijdseenheid. </a:t>
            </a:r>
          </a:p>
          <a:p>
            <a:pPr lvl="1" eaLnBrk="1" hangingPunct="1">
              <a:defRPr/>
            </a:pPr>
            <a:endParaRPr lang="nl-BE" sz="2400" dirty="0"/>
          </a:p>
          <a:p>
            <a:pPr lvl="1" eaLnBrk="1" hangingPunct="1">
              <a:defRPr/>
            </a:pPr>
            <a:endParaRPr lang="nl-BE" sz="2400" dirty="0"/>
          </a:p>
          <a:p>
            <a:pPr lvl="1" eaLnBrk="1" hangingPunct="1">
              <a:buFont typeface="Wingdings" pitchFamily="2" charset="2"/>
              <a:buNone/>
              <a:defRPr/>
            </a:pPr>
            <a:endParaRPr lang="nl-BE" sz="2400" dirty="0"/>
          </a:p>
          <a:p>
            <a:pPr lvl="1" eaLnBrk="1" hangingPunct="1">
              <a:buFont typeface="Wingdings" pitchFamily="2" charset="2"/>
              <a:buNone/>
              <a:defRPr/>
            </a:pPr>
            <a:endParaRPr lang="nl-BE" sz="2400" dirty="0"/>
          </a:p>
          <a:p>
            <a:pPr lvl="1" eaLnBrk="1" hangingPunct="1">
              <a:buFont typeface="Wingdings" pitchFamily="2" charset="2"/>
              <a:buNone/>
              <a:defRPr/>
            </a:pPr>
            <a:endParaRPr lang="nl-NL" sz="2400" dirty="0"/>
          </a:p>
        </p:txBody>
      </p:sp>
      <p:graphicFrame>
        <p:nvGraphicFramePr>
          <p:cNvPr id="26629" name="Group 5"/>
          <p:cNvGraphicFramePr>
            <a:graphicFrameLocks noGrp="1"/>
          </p:cNvGraphicFramePr>
          <p:nvPr>
            <p:ph sz="quarter" idx="2"/>
          </p:nvPr>
        </p:nvGraphicFramePr>
        <p:xfrm>
          <a:off x="2063750" y="2349501"/>
          <a:ext cx="7704138" cy="1080135"/>
        </p:xfrm>
        <a:graphic>
          <a:graphicData uri="http://schemas.openxmlformats.org/drawingml/2006/table">
            <a:tbl>
              <a:tblPr/>
              <a:tblGrid>
                <a:gridCol w="1925638">
                  <a:extLst>
                    <a:ext uri="{9D8B030D-6E8A-4147-A177-3AD203B41FA5}">
                      <a16:colId xmlns:a16="http://schemas.microsoft.com/office/drawing/2014/main" val="20000"/>
                    </a:ext>
                  </a:extLst>
                </a:gridCol>
                <a:gridCol w="1927225">
                  <a:extLst>
                    <a:ext uri="{9D8B030D-6E8A-4147-A177-3AD203B41FA5}">
                      <a16:colId xmlns:a16="http://schemas.microsoft.com/office/drawing/2014/main" val="20001"/>
                    </a:ext>
                  </a:extLst>
                </a:gridCol>
                <a:gridCol w="1925637">
                  <a:extLst>
                    <a:ext uri="{9D8B030D-6E8A-4147-A177-3AD203B41FA5}">
                      <a16:colId xmlns:a16="http://schemas.microsoft.com/office/drawing/2014/main" val="20002"/>
                    </a:ext>
                  </a:extLst>
                </a:gridCol>
                <a:gridCol w="1925638">
                  <a:extLst>
                    <a:ext uri="{9D8B030D-6E8A-4147-A177-3AD203B41FA5}">
                      <a16:colId xmlns:a16="http://schemas.microsoft.com/office/drawing/2014/main" val="20003"/>
                    </a:ext>
                  </a:extLst>
                </a:gridCol>
              </a:tblGrid>
              <a:tr h="5048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Grootheid</a:t>
                      </a:r>
                      <a:endParaRPr kumimoji="0" lang="nl-NL"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Symbool</a:t>
                      </a:r>
                      <a:endParaRPr kumimoji="0" lang="nl-NL"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Eenheid</a:t>
                      </a:r>
                      <a:endParaRPr kumimoji="0" lang="nl-NL"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Symbool</a:t>
                      </a:r>
                      <a:endParaRPr kumimoji="0" lang="nl-NL"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5619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periode</a:t>
                      </a:r>
                      <a:endParaRPr kumimoji="0" lang="nl-NL"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T</a:t>
                      </a:r>
                      <a:endParaRPr kumimoji="0" lang="nl-NL"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seconde</a:t>
                      </a:r>
                      <a:endParaRPr kumimoji="0" lang="nl-NL"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s</a:t>
                      </a:r>
                      <a:endParaRPr kumimoji="0" lang="nl-NL"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6646" name="Group 22"/>
          <p:cNvGraphicFramePr>
            <a:graphicFrameLocks noGrp="1"/>
          </p:cNvGraphicFramePr>
          <p:nvPr/>
        </p:nvGraphicFramePr>
        <p:xfrm>
          <a:off x="2063750" y="5013326"/>
          <a:ext cx="7704138" cy="1080135"/>
        </p:xfrm>
        <a:graphic>
          <a:graphicData uri="http://schemas.openxmlformats.org/drawingml/2006/table">
            <a:tbl>
              <a:tblPr/>
              <a:tblGrid>
                <a:gridCol w="1925638">
                  <a:extLst>
                    <a:ext uri="{9D8B030D-6E8A-4147-A177-3AD203B41FA5}">
                      <a16:colId xmlns:a16="http://schemas.microsoft.com/office/drawing/2014/main" val="20000"/>
                    </a:ext>
                  </a:extLst>
                </a:gridCol>
                <a:gridCol w="1927225">
                  <a:extLst>
                    <a:ext uri="{9D8B030D-6E8A-4147-A177-3AD203B41FA5}">
                      <a16:colId xmlns:a16="http://schemas.microsoft.com/office/drawing/2014/main" val="20001"/>
                    </a:ext>
                  </a:extLst>
                </a:gridCol>
                <a:gridCol w="1925637">
                  <a:extLst>
                    <a:ext uri="{9D8B030D-6E8A-4147-A177-3AD203B41FA5}">
                      <a16:colId xmlns:a16="http://schemas.microsoft.com/office/drawing/2014/main" val="20002"/>
                    </a:ext>
                  </a:extLst>
                </a:gridCol>
                <a:gridCol w="1925638">
                  <a:extLst>
                    <a:ext uri="{9D8B030D-6E8A-4147-A177-3AD203B41FA5}">
                      <a16:colId xmlns:a16="http://schemas.microsoft.com/office/drawing/2014/main" val="20003"/>
                    </a:ext>
                  </a:extLst>
                </a:gridCol>
              </a:tblGrid>
              <a:tr h="5048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dirty="0">
                          <a:ln>
                            <a:noFill/>
                          </a:ln>
                          <a:solidFill>
                            <a:srgbClr val="000000"/>
                          </a:solidFill>
                          <a:effectLst>
                            <a:outerShdw blurRad="38100" dist="38100" dir="2700000" algn="tl">
                              <a:srgbClr val="FFFFFF"/>
                            </a:outerShdw>
                          </a:effectLst>
                          <a:latin typeface="Tahoma" pitchFamily="34" charset="0"/>
                          <a:cs typeface="Arial" charset="0"/>
                        </a:rPr>
                        <a:t>Grootheid</a:t>
                      </a:r>
                      <a:endParaRPr kumimoji="0" lang="nl-NL" sz="2800" b="0" i="0" u="none" strike="noStrike" cap="none" normalizeH="0" baseline="0" dirty="0">
                        <a:ln>
                          <a:noFill/>
                        </a:ln>
                        <a:solidFill>
                          <a:srgbClr val="000000"/>
                        </a:solidFill>
                        <a:effectLst>
                          <a:outerShdw blurRad="38100" dist="38100" dir="2700000" algn="tl">
                            <a:srgbClr val="FFFFFF"/>
                          </a:outerShdw>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Symbool</a:t>
                      </a:r>
                      <a:endParaRPr kumimoji="0" lang="nl-NL"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Eenheid</a:t>
                      </a:r>
                      <a:endParaRPr kumimoji="0" lang="nl-NL"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Symbool</a:t>
                      </a:r>
                      <a:endParaRPr kumimoji="0" lang="nl-NL" sz="28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5619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frequentie</a:t>
                      </a:r>
                      <a:endParaRPr kumimoji="0" lang="nl-NL"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f</a:t>
                      </a:r>
                      <a:endParaRPr kumimoji="0" lang="nl-NL"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hertz</a:t>
                      </a:r>
                      <a:endParaRPr kumimoji="0" lang="nl-NL" sz="28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nl-BE"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Hz</a:t>
                      </a:r>
                      <a:endParaRPr kumimoji="0" lang="nl-NL" sz="28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53632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1847850" y="260350"/>
            <a:ext cx="8540750" cy="1143000"/>
          </a:xfrm>
        </p:spPr>
        <p:txBody>
          <a:bodyPr/>
          <a:lstStyle/>
          <a:p>
            <a:pPr eaLnBrk="1" hangingPunct="1">
              <a:defRPr/>
            </a:pPr>
            <a:r>
              <a:rPr lang="nl-BE"/>
              <a:t>Periode en frequentie</a:t>
            </a:r>
            <a:endParaRPr lang="nl-NL"/>
          </a:p>
        </p:txBody>
      </p:sp>
      <p:sp>
        <p:nvSpPr>
          <p:cNvPr id="17411" name="Rectangle 3"/>
          <p:cNvSpPr>
            <a:spLocks noGrp="1" noRot="1" noChangeArrowheads="1"/>
          </p:cNvSpPr>
          <p:nvPr>
            <p:ph type="body" sz="half" idx="1"/>
          </p:nvPr>
        </p:nvSpPr>
        <p:spPr>
          <a:xfrm>
            <a:off x="623392" y="1674814"/>
            <a:ext cx="10729192" cy="5183187"/>
          </a:xfrm>
        </p:spPr>
        <p:txBody>
          <a:bodyPr/>
          <a:lstStyle/>
          <a:p>
            <a:pPr eaLnBrk="1" hangingPunct="1">
              <a:defRPr/>
            </a:pPr>
            <a:r>
              <a:rPr lang="nl-BE" sz="3600" dirty="0"/>
              <a:t>Verband tussen frequentie en periode:</a:t>
            </a:r>
          </a:p>
          <a:p>
            <a:pPr eaLnBrk="1" hangingPunct="1">
              <a:defRPr/>
            </a:pPr>
            <a:endParaRPr lang="nl-BE" sz="3600" dirty="0"/>
          </a:p>
          <a:p>
            <a:pPr eaLnBrk="1" hangingPunct="1">
              <a:defRPr/>
            </a:pPr>
            <a:endParaRPr lang="nl-BE" sz="3600" dirty="0"/>
          </a:p>
          <a:p>
            <a:pPr eaLnBrk="1" hangingPunct="1">
              <a:defRPr/>
            </a:pPr>
            <a:endParaRPr lang="nl-BE" sz="3600" dirty="0"/>
          </a:p>
          <a:p>
            <a:pPr eaLnBrk="1" hangingPunct="1">
              <a:defRPr/>
            </a:pPr>
            <a:r>
              <a:rPr lang="nl-BE" sz="3600" dirty="0"/>
              <a:t>Eenheid frequentie:</a:t>
            </a:r>
          </a:p>
          <a:p>
            <a:pPr lvl="1" eaLnBrk="1" hangingPunct="1">
              <a:defRPr/>
            </a:pPr>
            <a:r>
              <a:rPr lang="nl-BE" sz="3200" dirty="0"/>
              <a:t>1 Hz = 1 s</a:t>
            </a:r>
            <a:r>
              <a:rPr lang="nl-BE" sz="3200" baseline="30000" dirty="0"/>
              <a:t>-1</a:t>
            </a:r>
            <a:endParaRPr lang="nl-BE" sz="3200" dirty="0"/>
          </a:p>
          <a:p>
            <a:pPr lvl="1" eaLnBrk="1" hangingPunct="1">
              <a:buFont typeface="Wingdings" pitchFamily="2" charset="2"/>
              <a:buNone/>
              <a:defRPr/>
            </a:pPr>
            <a:endParaRPr lang="nl-NL" sz="2400" dirty="0"/>
          </a:p>
        </p:txBody>
      </p:sp>
      <p:graphicFrame>
        <p:nvGraphicFramePr>
          <p:cNvPr id="1026" name="Object 4"/>
          <p:cNvGraphicFramePr>
            <a:graphicFrameLocks noGrp="1" noChangeAspect="1"/>
          </p:cNvGraphicFramePr>
          <p:nvPr>
            <p:ph sz="quarter" idx="2"/>
          </p:nvPr>
        </p:nvGraphicFramePr>
        <p:xfrm>
          <a:off x="5375275" y="2276475"/>
          <a:ext cx="1368425" cy="1247775"/>
        </p:xfrm>
        <a:graphic>
          <a:graphicData uri="http://schemas.openxmlformats.org/presentationml/2006/ole">
            <mc:AlternateContent xmlns:mc="http://schemas.openxmlformats.org/markup-compatibility/2006">
              <mc:Choice xmlns:v="urn:schemas-microsoft-com:vml" Requires="v">
                <p:oleObj name="Vergelijking" r:id="rId2" imgW="431613" imgH="393529" progId="Equation.3">
                  <p:embed/>
                </p:oleObj>
              </mc:Choice>
              <mc:Fallback>
                <p:oleObj name="Vergelijking" r:id="rId2" imgW="431613" imgH="393529" progId="Equation.3">
                  <p:embed/>
                  <p:pic>
                    <p:nvPicPr>
                      <p:cNvPr id="1026" name="Object 4"/>
                      <p:cNvPicPr>
                        <a:picLocks noGrp="1"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5375275" y="2276475"/>
                        <a:ext cx="1368425" cy="1247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46004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A18DA-7A19-5A6B-714F-714A650576FD}"/>
            </a:ext>
          </a:extLst>
        </p:cNvPr>
        <p:cNvGrpSpPr/>
        <p:nvPr/>
      </p:nvGrpSpPr>
      <p:grpSpPr>
        <a:xfrm>
          <a:off x="0" y="0"/>
          <a:ext cx="0" cy="0"/>
          <a:chOff x="0" y="0"/>
          <a:chExt cx="0" cy="0"/>
        </a:xfrm>
      </p:grpSpPr>
      <p:sp>
        <p:nvSpPr>
          <p:cNvPr id="70658" name="Rectangle 2">
            <a:extLst>
              <a:ext uri="{FF2B5EF4-FFF2-40B4-BE49-F238E27FC236}">
                <a16:creationId xmlns:a16="http://schemas.microsoft.com/office/drawing/2014/main" id="{57088BCB-9B5C-453D-7BB3-16E1CA1C99DD}"/>
              </a:ext>
            </a:extLst>
          </p:cNvPr>
          <p:cNvSpPr>
            <a:spLocks noGrp="1" noRot="1" noChangeArrowheads="1"/>
          </p:cNvSpPr>
          <p:nvPr>
            <p:ph type="title"/>
          </p:nvPr>
        </p:nvSpPr>
        <p:spPr/>
        <p:txBody>
          <a:bodyPr>
            <a:normAutofit/>
          </a:bodyPr>
          <a:lstStyle/>
          <a:p>
            <a:pPr eaLnBrk="1" hangingPunct="1">
              <a:defRPr/>
            </a:pPr>
            <a:r>
              <a:rPr lang="nl-BE" sz="4000" dirty="0"/>
              <a:t>Verband tussen hoeksnelheid en periode</a:t>
            </a:r>
            <a:endParaRPr lang="nl-NL" sz="4000" dirty="0"/>
          </a:p>
        </p:txBody>
      </p:sp>
      <mc:AlternateContent xmlns:mc="http://schemas.openxmlformats.org/markup-compatibility/2006" xmlns:a14="http://schemas.microsoft.com/office/drawing/2010/main">
        <mc:Choice Requires="a14">
          <p:sp>
            <p:nvSpPr>
              <p:cNvPr id="70659" name="Rectangle 3">
                <a:extLst>
                  <a:ext uri="{FF2B5EF4-FFF2-40B4-BE49-F238E27FC236}">
                    <a16:creationId xmlns:a16="http://schemas.microsoft.com/office/drawing/2014/main" id="{762087B1-BBCE-B7E2-A430-6DC327C3C297}"/>
                  </a:ext>
                </a:extLst>
              </p:cNvPr>
              <p:cNvSpPr>
                <a:spLocks noGrp="1" noRot="1" noChangeArrowheads="1"/>
              </p:cNvSpPr>
              <p:nvPr>
                <p:ph type="body" sz="half" idx="1"/>
              </p:nvPr>
            </p:nvSpPr>
            <p:spPr>
              <a:xfrm>
                <a:off x="551384" y="1628801"/>
                <a:ext cx="10585176" cy="4498975"/>
              </a:xfrm>
            </p:spPr>
            <p:txBody>
              <a:bodyPr/>
              <a:lstStyle/>
              <a:p>
                <a:pPr>
                  <a:spcBef>
                    <a:spcPts val="1800"/>
                  </a:spcBef>
                  <a:defRPr/>
                </a:pPr>
                <a:r>
                  <a:rPr lang="nl-BE" sz="2800" dirty="0"/>
                  <a:t>Hoeksnelheid ECB is </a:t>
                </a:r>
                <a:r>
                  <a:rPr lang="nl-BE" sz="2800" dirty="0" err="1"/>
                  <a:t>cte</a:t>
                </a:r>
                <a:r>
                  <a:rPr lang="nl-BE" sz="2800" dirty="0"/>
                  <a:t>. → </a:t>
                </a:r>
                <a14:m>
                  <m:oMath xmlns:m="http://schemas.openxmlformats.org/officeDocument/2006/math">
                    <m:r>
                      <a:rPr lang="nl-BE" sz="2800" i="1">
                        <a:latin typeface="Cambria Math" panose="02040503050406030204" pitchFamily="18" charset="0"/>
                        <a:ea typeface="Cambria Math" panose="02040503050406030204" pitchFamily="18" charset="0"/>
                      </a:rPr>
                      <m:t>𝜔</m:t>
                    </m:r>
                    <m:r>
                      <a:rPr lang="nl-BE" sz="2800" i="1">
                        <a:latin typeface="Cambria Math" panose="02040503050406030204" pitchFamily="18" charset="0"/>
                        <a:ea typeface="Cambria Math" panose="02040503050406030204" pitchFamily="18" charset="0"/>
                      </a:rPr>
                      <m:t>= </m:t>
                    </m:r>
                    <m:sSub>
                      <m:sSubPr>
                        <m:ctrlPr>
                          <a:rPr lang="nl-BE" sz="2800" i="1">
                            <a:latin typeface="Cambria Math" panose="02040503050406030204" pitchFamily="18" charset="0"/>
                            <a:ea typeface="Cambria Math" panose="02040503050406030204" pitchFamily="18" charset="0"/>
                          </a:rPr>
                        </m:ctrlPr>
                      </m:sSubPr>
                      <m:e>
                        <m:r>
                          <a:rPr lang="nl-BE" sz="2800" i="1">
                            <a:latin typeface="Cambria Math" panose="02040503050406030204" pitchFamily="18" charset="0"/>
                            <a:ea typeface="Cambria Math" panose="02040503050406030204" pitchFamily="18" charset="0"/>
                          </a:rPr>
                          <m:t>𝜔</m:t>
                        </m:r>
                      </m:e>
                      <m:sub>
                        <m:r>
                          <a:rPr lang="nl-BE" sz="2800" i="1">
                            <a:latin typeface="Cambria Math" panose="02040503050406030204" pitchFamily="18" charset="0"/>
                            <a:ea typeface="Cambria Math" panose="02040503050406030204" pitchFamily="18" charset="0"/>
                          </a:rPr>
                          <m:t>𝑔𝑒𝑚</m:t>
                        </m:r>
                      </m:sub>
                    </m:sSub>
                    <m:r>
                      <a:rPr lang="nl-BE" sz="2800" i="1">
                        <a:latin typeface="Cambria Math" panose="02040503050406030204" pitchFamily="18" charset="0"/>
                        <a:ea typeface="Cambria Math" panose="02040503050406030204" pitchFamily="18" charset="0"/>
                      </a:rPr>
                      <m:t>= </m:t>
                    </m:r>
                    <m:f>
                      <m:fPr>
                        <m:ctrlPr>
                          <a:rPr lang="nl-BE" sz="2800" i="1">
                            <a:latin typeface="Cambria Math" panose="02040503050406030204" pitchFamily="18" charset="0"/>
                            <a:ea typeface="Cambria Math" panose="02040503050406030204" pitchFamily="18" charset="0"/>
                          </a:rPr>
                        </m:ctrlPr>
                      </m:fPr>
                      <m:num>
                        <m:r>
                          <a:rPr lang="nl-BE" sz="2800" i="1">
                            <a:latin typeface="Cambria Math" panose="02040503050406030204" pitchFamily="18" charset="0"/>
                            <a:ea typeface="Cambria Math" panose="02040503050406030204" pitchFamily="18" charset="0"/>
                          </a:rPr>
                          <m:t>∆</m:t>
                        </m:r>
                        <m:r>
                          <a:rPr lang="nl-BE" sz="2800" i="1">
                            <a:latin typeface="Cambria Math" panose="02040503050406030204" pitchFamily="18" charset="0"/>
                            <a:ea typeface="Cambria Math" panose="02040503050406030204" pitchFamily="18" charset="0"/>
                          </a:rPr>
                          <m:t>𝜃</m:t>
                        </m:r>
                      </m:num>
                      <m:den>
                        <m:r>
                          <a:rPr lang="nl-BE" sz="2800" i="1">
                            <a:latin typeface="Cambria Math" panose="02040503050406030204" pitchFamily="18" charset="0"/>
                            <a:ea typeface="Cambria Math" panose="02040503050406030204" pitchFamily="18" charset="0"/>
                          </a:rPr>
                          <m:t>∆</m:t>
                        </m:r>
                        <m:r>
                          <a:rPr lang="nl-BE" sz="2800" i="1">
                            <a:latin typeface="Cambria Math" panose="02040503050406030204" pitchFamily="18" charset="0"/>
                            <a:ea typeface="Cambria Math" panose="02040503050406030204" pitchFamily="18" charset="0"/>
                          </a:rPr>
                          <m:t>𝑡</m:t>
                        </m:r>
                      </m:den>
                    </m:f>
                  </m:oMath>
                </a14:m>
                <a:r>
                  <a:rPr lang="nl-BE" sz="2800" dirty="0"/>
                  <a:t> </a:t>
                </a:r>
              </a:p>
              <a:p>
                <a:pPr>
                  <a:spcBef>
                    <a:spcPts val="1800"/>
                  </a:spcBef>
                  <a:defRPr/>
                </a:pPr>
                <a:r>
                  <a:rPr lang="nl-BE" sz="2800" dirty="0"/>
                  <a:t>Periode: tijd om 1 volledige cyclus (dus cirkel bij een ECB) te doorlopen → 360° of </a:t>
                </a:r>
                <a:r>
                  <a:rPr lang="nl-BE" sz="2800" dirty="0">
                    <a:latin typeface="Times New Roman" panose="02020603050405020304" pitchFamily="18" charset="0"/>
                    <a:cs typeface="Times New Roman" panose="02020603050405020304" pitchFamily="18" charset="0"/>
                  </a:rPr>
                  <a:t> </a:t>
                </a:r>
                <a14:m>
                  <m:oMath xmlns:m="http://schemas.openxmlformats.org/officeDocument/2006/math">
                    <m:r>
                      <a:rPr lang="nl-BE" sz="2800" i="1">
                        <a:latin typeface="Cambria Math" panose="02040503050406030204" pitchFamily="18" charset="0"/>
                        <a:cs typeface="Times New Roman" panose="02020603050405020304" pitchFamily="18" charset="0"/>
                      </a:rPr>
                      <m:t>2</m:t>
                    </m:r>
                    <m:r>
                      <a:rPr lang="el-GR" sz="2800" i="1">
                        <a:latin typeface="Cambria Math" panose="02040503050406030204" pitchFamily="18" charset="0"/>
                        <a:cs typeface="Times New Roman" panose="02020603050405020304" pitchFamily="18" charset="0"/>
                      </a:rPr>
                      <m:t>𝜋</m:t>
                    </m:r>
                  </m:oMath>
                </a14:m>
                <a:r>
                  <a:rPr lang="nl-BE" sz="2800" dirty="0"/>
                  <a:t> </a:t>
                </a:r>
              </a:p>
              <a:p>
                <a:pPr>
                  <a:spcBef>
                    <a:spcPts val="1800"/>
                  </a:spcBef>
                  <a:defRPr/>
                </a:pPr>
                <a:r>
                  <a:rPr lang="nl-BE" sz="2800" dirty="0"/>
                  <a:t>De </a:t>
                </a:r>
                <a:r>
                  <a:rPr lang="nl-BE" sz="2800" dirty="0" err="1"/>
                  <a:t>cte</a:t>
                </a:r>
                <a:r>
                  <a:rPr lang="nl-BE" sz="2800" dirty="0"/>
                  <a:t>. hoeksnelheid van een ECB kan dus genoteerd worden als de verhouding van een volledige hoek (</a:t>
                </a:r>
                <a14:m>
                  <m:oMath xmlns:m="http://schemas.openxmlformats.org/officeDocument/2006/math">
                    <m:r>
                      <a:rPr lang="nl-BE" sz="2800" i="1">
                        <a:latin typeface="Cambria Math" panose="02040503050406030204" pitchFamily="18" charset="0"/>
                        <a:cs typeface="Times New Roman" panose="02020603050405020304" pitchFamily="18" charset="0"/>
                      </a:rPr>
                      <m:t>2</m:t>
                    </m:r>
                    <m:r>
                      <a:rPr lang="el-GR" sz="2800" i="1">
                        <a:latin typeface="Cambria Math" panose="02040503050406030204" pitchFamily="18" charset="0"/>
                        <a:cs typeface="Times New Roman" panose="02020603050405020304" pitchFamily="18" charset="0"/>
                      </a:rPr>
                      <m:t>𝜋</m:t>
                    </m:r>
                    <m:r>
                      <a:rPr lang="nl-BE" sz="2800">
                        <a:latin typeface="Cambria Math" panose="02040503050406030204" pitchFamily="18" charset="0"/>
                        <a:cs typeface="Times New Roman" panose="02020603050405020304" pitchFamily="18" charset="0"/>
                      </a:rPr>
                      <m:t>)</m:t>
                    </m:r>
                  </m:oMath>
                </a14:m>
                <a:r>
                  <a:rPr lang="nl-BE" sz="2800" dirty="0">
                    <a:cs typeface="Tahoma" pitchFamily="34" charset="0"/>
                  </a:rPr>
                  <a:t> tot de periode T.</a:t>
                </a:r>
              </a:p>
              <a:p>
                <a:pPr eaLnBrk="1" hangingPunct="1">
                  <a:buFont typeface="Arial" charset="0"/>
                  <a:buNone/>
                  <a:defRPr/>
                </a:pPr>
                <a:r>
                  <a:rPr lang="nl-BE" sz="2800" dirty="0">
                    <a:cs typeface="Tahoma" pitchFamily="34" charset="0"/>
                  </a:rPr>
                  <a:t>			</a:t>
                </a:r>
                <a:endParaRPr lang="el-GR" sz="2800" dirty="0">
                  <a:cs typeface="Tahoma" pitchFamily="34" charset="0"/>
                </a:endParaRPr>
              </a:p>
            </p:txBody>
          </p:sp>
        </mc:Choice>
        <mc:Fallback xmlns="">
          <p:sp>
            <p:nvSpPr>
              <p:cNvPr id="70659" name="Rectangle 3">
                <a:extLst>
                  <a:ext uri="{FF2B5EF4-FFF2-40B4-BE49-F238E27FC236}">
                    <a16:creationId xmlns:a16="http://schemas.microsoft.com/office/drawing/2014/main" id="{762087B1-BBCE-B7E2-A430-6DC327C3C297}"/>
                  </a:ext>
                </a:extLst>
              </p:cNvPr>
              <p:cNvSpPr>
                <a:spLocks noGrp="1" noRot="1" noChangeAspect="1" noMove="1" noResize="1" noEditPoints="1" noAdjustHandles="1" noChangeArrowheads="1" noChangeShapeType="1" noTextEdit="1"/>
              </p:cNvSpPr>
              <p:nvPr>
                <p:ph type="body" sz="half" idx="1"/>
              </p:nvPr>
            </p:nvSpPr>
            <p:spPr>
              <a:xfrm>
                <a:off x="551384" y="1628801"/>
                <a:ext cx="10585176" cy="4498975"/>
              </a:xfrm>
              <a:blipFill>
                <a:blip r:embed="rId2"/>
                <a:stretch>
                  <a:fillRect/>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AC493B11-BEEB-18ED-081D-F3C9033BCFFD}"/>
                  </a:ext>
                </a:extLst>
              </p:cNvPr>
              <p:cNvSpPr txBox="1"/>
              <p:nvPr/>
            </p:nvSpPr>
            <p:spPr>
              <a:xfrm>
                <a:off x="4295800" y="5217837"/>
                <a:ext cx="2448272" cy="11524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nl-BE" sz="4000" i="1">
                          <a:latin typeface="Cambria Math" panose="02040503050406030204" pitchFamily="18" charset="0"/>
                          <a:ea typeface="Cambria Math" panose="02040503050406030204" pitchFamily="18" charset="0"/>
                        </a:rPr>
                        <m:t>𝜔</m:t>
                      </m:r>
                      <m:r>
                        <a:rPr lang="nl-BE" sz="4000" i="1">
                          <a:latin typeface="Cambria Math" panose="02040503050406030204" pitchFamily="18" charset="0"/>
                          <a:ea typeface="Cambria Math" panose="02040503050406030204" pitchFamily="18" charset="0"/>
                        </a:rPr>
                        <m:t>=</m:t>
                      </m:r>
                      <m:f>
                        <m:fPr>
                          <m:ctrlPr>
                            <a:rPr lang="nl-BE" sz="4000" i="1">
                              <a:latin typeface="Cambria Math" panose="02040503050406030204" pitchFamily="18" charset="0"/>
                              <a:ea typeface="Cambria Math" panose="02040503050406030204" pitchFamily="18" charset="0"/>
                            </a:rPr>
                          </m:ctrlPr>
                        </m:fPr>
                        <m:num>
                          <m:r>
                            <a:rPr lang="nl-BE" sz="4000" i="1">
                              <a:latin typeface="Cambria Math" panose="02040503050406030204" pitchFamily="18" charset="0"/>
                              <a:ea typeface="Cambria Math" panose="02040503050406030204" pitchFamily="18" charset="0"/>
                            </a:rPr>
                            <m:t>2</m:t>
                          </m:r>
                          <m:r>
                            <a:rPr lang="nl-BE" sz="4000" i="1">
                              <a:latin typeface="Cambria Math" panose="02040503050406030204" pitchFamily="18" charset="0"/>
                              <a:ea typeface="Cambria Math" panose="02040503050406030204" pitchFamily="18" charset="0"/>
                            </a:rPr>
                            <m:t>𝜋</m:t>
                          </m:r>
                        </m:num>
                        <m:den>
                          <m:r>
                            <a:rPr lang="nl-BE" sz="4000" i="1">
                              <a:latin typeface="Cambria Math" panose="02040503050406030204" pitchFamily="18" charset="0"/>
                              <a:ea typeface="Cambria Math" panose="02040503050406030204" pitchFamily="18" charset="0"/>
                            </a:rPr>
                            <m:t>𝑇</m:t>
                          </m:r>
                        </m:den>
                      </m:f>
                    </m:oMath>
                  </m:oMathPara>
                </a14:m>
                <a:endParaRPr lang="nl-BE" sz="4000" dirty="0"/>
              </a:p>
            </p:txBody>
          </p:sp>
        </mc:Choice>
        <mc:Fallback xmlns="">
          <p:sp>
            <p:nvSpPr>
              <p:cNvPr id="4" name="Tekstvak 3">
                <a:extLst>
                  <a:ext uri="{FF2B5EF4-FFF2-40B4-BE49-F238E27FC236}">
                    <a16:creationId xmlns:a16="http://schemas.microsoft.com/office/drawing/2014/main" id="{AC493B11-BEEB-18ED-081D-F3C9033BCFFD}"/>
                  </a:ext>
                </a:extLst>
              </p:cNvPr>
              <p:cNvSpPr txBox="1">
                <a:spLocks noRot="1" noChangeAspect="1" noMove="1" noResize="1" noEditPoints="1" noAdjustHandles="1" noChangeArrowheads="1" noChangeShapeType="1" noTextEdit="1"/>
              </p:cNvSpPr>
              <p:nvPr/>
            </p:nvSpPr>
            <p:spPr>
              <a:xfrm>
                <a:off x="4295800" y="5217837"/>
                <a:ext cx="2448272" cy="1152495"/>
              </a:xfrm>
              <a:prstGeom prst="rect">
                <a:avLst/>
              </a:prstGeom>
              <a:blipFill>
                <a:blip r:embed="rId3"/>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3461743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61D67-0DF5-DAD9-4EDC-4FBF721AFABE}"/>
            </a:ext>
          </a:extLst>
        </p:cNvPr>
        <p:cNvGrpSpPr/>
        <p:nvPr/>
      </p:nvGrpSpPr>
      <p:grpSpPr>
        <a:xfrm>
          <a:off x="0" y="0"/>
          <a:ext cx="0" cy="0"/>
          <a:chOff x="0" y="0"/>
          <a:chExt cx="0" cy="0"/>
        </a:xfrm>
      </p:grpSpPr>
      <p:sp>
        <p:nvSpPr>
          <p:cNvPr id="70658" name="Rectangle 2">
            <a:extLst>
              <a:ext uri="{FF2B5EF4-FFF2-40B4-BE49-F238E27FC236}">
                <a16:creationId xmlns:a16="http://schemas.microsoft.com/office/drawing/2014/main" id="{E0035AF9-0A78-9253-EC9F-8D4B8AFB95D6}"/>
              </a:ext>
            </a:extLst>
          </p:cNvPr>
          <p:cNvSpPr>
            <a:spLocks noGrp="1" noRot="1" noChangeArrowheads="1"/>
          </p:cNvSpPr>
          <p:nvPr>
            <p:ph type="title"/>
          </p:nvPr>
        </p:nvSpPr>
        <p:spPr/>
        <p:txBody>
          <a:bodyPr>
            <a:normAutofit/>
          </a:bodyPr>
          <a:lstStyle/>
          <a:p>
            <a:pPr eaLnBrk="1" hangingPunct="1">
              <a:defRPr/>
            </a:pPr>
            <a:r>
              <a:rPr lang="nl-BE" sz="4000"/>
              <a:t>Verband tussen hoeksnelheid en frequentie</a:t>
            </a:r>
            <a:endParaRPr lang="nl-NL" sz="4000"/>
          </a:p>
        </p:txBody>
      </p:sp>
      <mc:AlternateContent xmlns:mc="http://schemas.openxmlformats.org/markup-compatibility/2006" xmlns:a14="http://schemas.microsoft.com/office/drawing/2010/main">
        <mc:Choice Requires="a14">
          <p:sp>
            <p:nvSpPr>
              <p:cNvPr id="70659" name="Rectangle 3">
                <a:extLst>
                  <a:ext uri="{FF2B5EF4-FFF2-40B4-BE49-F238E27FC236}">
                    <a16:creationId xmlns:a16="http://schemas.microsoft.com/office/drawing/2014/main" id="{DA469B86-206A-3A48-79BB-55560F2C3564}"/>
                  </a:ext>
                </a:extLst>
              </p:cNvPr>
              <p:cNvSpPr>
                <a:spLocks noGrp="1" noRot="1" noChangeArrowheads="1"/>
              </p:cNvSpPr>
              <p:nvPr>
                <p:ph type="body" sz="half" idx="1"/>
              </p:nvPr>
            </p:nvSpPr>
            <p:spPr>
              <a:xfrm>
                <a:off x="983432" y="1844676"/>
                <a:ext cx="9577064" cy="4498975"/>
              </a:xfrm>
            </p:spPr>
            <p:txBody>
              <a:bodyPr/>
              <a:lstStyle/>
              <a:p>
                <a:pPr eaLnBrk="1" hangingPunct="1">
                  <a:defRPr/>
                </a:pPr>
                <a:r>
                  <a:rPr lang="nl-BE" sz="3600" dirty="0">
                    <a:cs typeface="Tahoma" pitchFamily="34" charset="0"/>
                  </a:rPr>
                  <a:t>Aangezien </a:t>
                </a:r>
                <a14:m>
                  <m:oMath xmlns:m="http://schemas.openxmlformats.org/officeDocument/2006/math">
                    <m:r>
                      <a:rPr lang="nl-BE" sz="3600" b="0" i="1" smtClean="0">
                        <a:latin typeface="Cambria Math" panose="02040503050406030204" pitchFamily="18" charset="0"/>
                        <a:cs typeface="Tahoma" pitchFamily="34" charset="0"/>
                      </a:rPr>
                      <m:t>𝑓</m:t>
                    </m:r>
                    <m:r>
                      <a:rPr lang="nl-BE" sz="3600" b="0" i="1" smtClean="0">
                        <a:latin typeface="Cambria Math" panose="02040503050406030204" pitchFamily="18" charset="0"/>
                        <a:cs typeface="Tahoma" pitchFamily="34" charset="0"/>
                      </a:rPr>
                      <m:t>=</m:t>
                    </m:r>
                    <m:f>
                      <m:fPr>
                        <m:ctrlPr>
                          <a:rPr lang="nl-BE" sz="3600" b="0" i="1" smtClean="0">
                            <a:latin typeface="Cambria Math" panose="02040503050406030204" pitchFamily="18" charset="0"/>
                            <a:cs typeface="Tahoma" pitchFamily="34" charset="0"/>
                          </a:rPr>
                        </m:ctrlPr>
                      </m:fPr>
                      <m:num>
                        <m:r>
                          <a:rPr lang="nl-BE" sz="3600" b="0" i="1" smtClean="0">
                            <a:latin typeface="Cambria Math" panose="02040503050406030204" pitchFamily="18" charset="0"/>
                            <a:cs typeface="Tahoma" pitchFamily="34" charset="0"/>
                          </a:rPr>
                          <m:t>1</m:t>
                        </m:r>
                      </m:num>
                      <m:den>
                        <m:r>
                          <a:rPr lang="nl-BE" sz="3600" b="0" i="1" smtClean="0">
                            <a:latin typeface="Cambria Math" panose="02040503050406030204" pitchFamily="18" charset="0"/>
                            <a:cs typeface="Tahoma" pitchFamily="34" charset="0"/>
                          </a:rPr>
                          <m:t>𝑇</m:t>
                        </m:r>
                      </m:den>
                    </m:f>
                  </m:oMath>
                </a14:m>
                <a:r>
                  <a:rPr lang="nl-BE" sz="3600" dirty="0">
                    <a:cs typeface="Tahoma" pitchFamily="34" charset="0"/>
                  </a:rPr>
                  <a:t> is het verband tussen f en </a:t>
                </a:r>
                <a:r>
                  <a:rPr lang="el-GR" sz="3600" dirty="0">
                    <a:cs typeface="Tahoma" pitchFamily="34" charset="0"/>
                  </a:rPr>
                  <a:t>ω</a:t>
                </a:r>
                <a:r>
                  <a:rPr lang="nl-BE" sz="3600" dirty="0">
                    <a:cs typeface="Tahoma" pitchFamily="34" charset="0"/>
                  </a:rPr>
                  <a:t>:</a:t>
                </a:r>
              </a:p>
              <a:p>
                <a:pPr eaLnBrk="1" hangingPunct="1">
                  <a:buFont typeface="Arial" charset="0"/>
                  <a:buNone/>
                  <a:defRPr/>
                </a:pPr>
                <a:r>
                  <a:rPr lang="nl-BE" sz="2800" dirty="0">
                    <a:cs typeface="Tahoma" pitchFamily="34" charset="0"/>
                  </a:rPr>
                  <a:t>			</a:t>
                </a:r>
                <a:endParaRPr lang="el-GR" sz="2800" dirty="0">
                  <a:cs typeface="Tahoma" pitchFamily="34" charset="0"/>
                </a:endParaRPr>
              </a:p>
            </p:txBody>
          </p:sp>
        </mc:Choice>
        <mc:Fallback xmlns="">
          <p:sp>
            <p:nvSpPr>
              <p:cNvPr id="70659" name="Rectangle 3">
                <a:extLst>
                  <a:ext uri="{FF2B5EF4-FFF2-40B4-BE49-F238E27FC236}">
                    <a16:creationId xmlns:a16="http://schemas.microsoft.com/office/drawing/2014/main" id="{DA469B86-206A-3A48-79BB-55560F2C3564}"/>
                  </a:ext>
                </a:extLst>
              </p:cNvPr>
              <p:cNvSpPr>
                <a:spLocks noGrp="1" noRot="1" noChangeAspect="1" noMove="1" noResize="1" noEditPoints="1" noAdjustHandles="1" noChangeArrowheads="1" noChangeShapeType="1" noTextEdit="1"/>
              </p:cNvSpPr>
              <p:nvPr>
                <p:ph type="body" sz="half" idx="1"/>
              </p:nvPr>
            </p:nvSpPr>
            <p:spPr>
              <a:xfrm>
                <a:off x="983432" y="1844676"/>
                <a:ext cx="9577064" cy="4498975"/>
              </a:xfrm>
              <a:blipFill>
                <a:blip r:embed="rId2"/>
                <a:stretch>
                  <a:fillRect/>
                </a:stretch>
              </a:blipFill>
            </p:spPr>
            <p:txBody>
              <a:bodyPr/>
              <a:lstStyle/>
              <a:p>
                <a:r>
                  <a:rPr lang="nl-BE">
                    <a:noFill/>
                  </a:rPr>
                  <a:t> </a:t>
                </a:r>
              </a:p>
            </p:txBody>
          </p:sp>
        </mc:Fallback>
      </mc:AlternateContent>
      <p:graphicFrame>
        <p:nvGraphicFramePr>
          <p:cNvPr id="9218" name="Object 4">
            <a:extLst>
              <a:ext uri="{FF2B5EF4-FFF2-40B4-BE49-F238E27FC236}">
                <a16:creationId xmlns:a16="http://schemas.microsoft.com/office/drawing/2014/main" id="{7787126D-FECB-08E6-1234-278FBB6A6280}"/>
              </a:ext>
            </a:extLst>
          </p:cNvPr>
          <p:cNvGraphicFramePr>
            <a:graphicFrameLocks noGrp="1" noChangeAspect="1"/>
          </p:cNvGraphicFramePr>
          <p:nvPr>
            <p:ph sz="half" idx="2"/>
            <p:extLst>
              <p:ext uri="{D42A27DB-BD31-4B8C-83A1-F6EECF244321}">
                <p14:modId xmlns:p14="http://schemas.microsoft.com/office/powerpoint/2010/main" val="18607460"/>
              </p:ext>
            </p:extLst>
          </p:nvPr>
        </p:nvGraphicFramePr>
        <p:xfrm>
          <a:off x="4583113" y="3419475"/>
          <a:ext cx="2590800" cy="863600"/>
        </p:xfrm>
        <a:graphic>
          <a:graphicData uri="http://schemas.openxmlformats.org/presentationml/2006/ole">
            <mc:AlternateContent xmlns:mc="http://schemas.openxmlformats.org/markup-compatibility/2006">
              <mc:Choice xmlns:v="urn:schemas-microsoft-com:vml" Requires="v">
                <p:oleObj name="Vergelijking" r:id="rId3" imgW="609336" imgH="203112" progId="Equation.3">
                  <p:embed/>
                </p:oleObj>
              </mc:Choice>
              <mc:Fallback>
                <p:oleObj name="Vergelijking" r:id="rId3" imgW="609336" imgH="203112" progId="Equation.3">
                  <p:embed/>
                  <p:pic>
                    <p:nvPicPr>
                      <p:cNvPr id="9218" name="Object 4">
                        <a:extLst>
                          <a:ext uri="{FF2B5EF4-FFF2-40B4-BE49-F238E27FC236}">
                            <a16:creationId xmlns:a16="http://schemas.microsoft.com/office/drawing/2014/main" id="{7787126D-FECB-08E6-1234-278FBB6A6280}"/>
                          </a:ext>
                        </a:extLst>
                      </p:cNvPr>
                      <p:cNvPicPr>
                        <a:picLocks noGrp="1" noChangeAspect="1" noChangeArrowheads="1"/>
                      </p:cNvPicPr>
                      <p:nvPr/>
                    </p:nvPicPr>
                    <p:blipFill>
                      <a:blip r:embed="rId4">
                        <a:lum bright="100000"/>
                        <a:extLst>
                          <a:ext uri="{28A0092B-C50C-407E-A947-70E740481C1C}">
                            <a14:useLocalDpi xmlns:a14="http://schemas.microsoft.com/office/drawing/2010/main" val="0"/>
                          </a:ext>
                        </a:extLst>
                      </a:blip>
                      <a:srcRect/>
                      <a:stretch>
                        <a:fillRect/>
                      </a:stretch>
                    </p:blipFill>
                    <p:spPr bwMode="auto">
                      <a:xfrm>
                        <a:off x="4583113" y="3419475"/>
                        <a:ext cx="25908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64424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E5B28076-E5ED-2A45-0073-3FD66C999B41}"/>
              </a:ext>
            </a:extLst>
          </p:cNvPr>
          <p:cNvSpPr/>
          <p:nvPr/>
        </p:nvSpPr>
        <p:spPr>
          <a:xfrm>
            <a:off x="4583832" y="6165304"/>
            <a:ext cx="2952328" cy="692696"/>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el 1">
            <a:extLst>
              <a:ext uri="{FF2B5EF4-FFF2-40B4-BE49-F238E27FC236}">
                <a16:creationId xmlns:a16="http://schemas.microsoft.com/office/drawing/2014/main" id="{3CAA5D3D-D14D-2B12-DA6D-DEF03C79C967}"/>
              </a:ext>
            </a:extLst>
          </p:cNvPr>
          <p:cNvSpPr>
            <a:spLocks noGrp="1"/>
          </p:cNvSpPr>
          <p:nvPr>
            <p:ph type="title"/>
          </p:nvPr>
        </p:nvSpPr>
        <p:spPr>
          <a:xfrm>
            <a:off x="1825625" y="-176164"/>
            <a:ext cx="8540750" cy="1143000"/>
          </a:xfrm>
        </p:spPr>
        <p:txBody>
          <a:bodyPr/>
          <a:lstStyle/>
          <a:p>
            <a:r>
              <a:rPr lang="nl-BE" dirty="0"/>
              <a:t>Baansnelheid</a:t>
            </a:r>
          </a:p>
        </p:txBody>
      </p:sp>
      <p:pic>
        <p:nvPicPr>
          <p:cNvPr id="6" name="Afbeelding 5">
            <a:extLst>
              <a:ext uri="{FF2B5EF4-FFF2-40B4-BE49-F238E27FC236}">
                <a16:creationId xmlns:a16="http://schemas.microsoft.com/office/drawing/2014/main" id="{4D50AFFF-1948-4B08-54B4-C5F9BDD27F5C}"/>
              </a:ext>
            </a:extLst>
          </p:cNvPr>
          <p:cNvPicPr>
            <a:picLocks noChangeAspect="1"/>
          </p:cNvPicPr>
          <p:nvPr/>
        </p:nvPicPr>
        <p:blipFill>
          <a:blip r:embed="rId2"/>
          <a:stretch>
            <a:fillRect/>
          </a:stretch>
        </p:blipFill>
        <p:spPr>
          <a:xfrm>
            <a:off x="2214563" y="836713"/>
            <a:ext cx="7762875" cy="2047875"/>
          </a:xfrm>
          <a:prstGeom prst="rect">
            <a:avLst/>
          </a:prstGeom>
        </p:spPr>
      </p:pic>
      <p:pic>
        <p:nvPicPr>
          <p:cNvPr id="8" name="Afbeelding 7">
            <a:extLst>
              <a:ext uri="{FF2B5EF4-FFF2-40B4-BE49-F238E27FC236}">
                <a16:creationId xmlns:a16="http://schemas.microsoft.com/office/drawing/2014/main" id="{F84BEA76-E62B-E3E6-71C7-872F674537F3}"/>
              </a:ext>
            </a:extLst>
          </p:cNvPr>
          <p:cNvPicPr>
            <a:picLocks noChangeAspect="1"/>
          </p:cNvPicPr>
          <p:nvPr/>
        </p:nvPicPr>
        <p:blipFill>
          <a:blip r:embed="rId3"/>
          <a:stretch>
            <a:fillRect/>
          </a:stretch>
        </p:blipFill>
        <p:spPr>
          <a:xfrm>
            <a:off x="2212963" y="2996953"/>
            <a:ext cx="7762875" cy="2159597"/>
          </a:xfrm>
          <a:prstGeom prst="rect">
            <a:avLst/>
          </a:prstGeom>
        </p:spPr>
      </p:pic>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A7A91F46-E8CF-A2F6-01AE-146D8EBC7CCE}"/>
                  </a:ext>
                </a:extLst>
              </p:cNvPr>
              <p:cNvSpPr txBox="1"/>
              <p:nvPr/>
            </p:nvSpPr>
            <p:spPr>
              <a:xfrm>
                <a:off x="4514481" y="5156550"/>
                <a:ext cx="5544616" cy="1742015"/>
              </a:xfrm>
              <a:prstGeom prst="rect">
                <a:avLst/>
              </a:prstGeom>
              <a:noFill/>
            </p:spPr>
            <p:txBody>
              <a:bodyPr wrap="square">
                <a:spAutoFit/>
              </a:bodyPr>
              <a:lstStyle/>
              <a:p>
                <a:pPr eaLnBrk="1" hangingPunct="1">
                  <a:defRPr/>
                </a:pPr>
                <a14:m>
                  <m:oMath xmlns:m="http://schemas.openxmlformats.org/officeDocument/2006/math">
                    <m:r>
                      <a:rPr lang="nl-BE" sz="2800" i="1">
                        <a:latin typeface="Cambria Math" panose="02040503050406030204" pitchFamily="18" charset="0"/>
                      </a:rPr>
                      <m:t>𝑣</m:t>
                    </m:r>
                    <m:r>
                      <a:rPr lang="nl-BE" sz="2800" i="1">
                        <a:latin typeface="Cambria Math" panose="02040503050406030204" pitchFamily="18" charset="0"/>
                      </a:rPr>
                      <m:t>=</m:t>
                    </m:r>
                    <m:r>
                      <a:rPr lang="nl-BE" sz="2800" i="1">
                        <a:latin typeface="Cambria Math" panose="02040503050406030204" pitchFamily="18" charset="0"/>
                      </a:rPr>
                      <m:t>𝑅</m:t>
                    </m:r>
                    <m:r>
                      <a:rPr lang="nl-BE" sz="2800" i="1">
                        <a:latin typeface="Cambria Math" panose="02040503050406030204" pitchFamily="18" charset="0"/>
                      </a:rPr>
                      <m:t> . </m:t>
                    </m:r>
                    <m:r>
                      <a:rPr lang="nl-BE" sz="2800" i="1">
                        <a:latin typeface="Cambria Math" panose="02040503050406030204" pitchFamily="18" charset="0"/>
                        <a:ea typeface="Cambria Math" panose="02040503050406030204" pitchFamily="18" charset="0"/>
                      </a:rPr>
                      <m:t>𝜔</m:t>
                    </m:r>
                    <m:r>
                      <a:rPr lang="nl-BE" sz="2800" i="1">
                        <a:latin typeface="Cambria Math" panose="02040503050406030204" pitchFamily="18" charset="0"/>
                        <a:ea typeface="Cambria Math" panose="02040503050406030204" pitchFamily="18" charset="0"/>
                      </a:rPr>
                      <m:t>=</m:t>
                    </m:r>
                    <m:r>
                      <a:rPr lang="nl-BE" sz="2800" i="1">
                        <a:latin typeface="Cambria Math" panose="02040503050406030204" pitchFamily="18" charset="0"/>
                        <a:ea typeface="Cambria Math" panose="02040503050406030204" pitchFamily="18" charset="0"/>
                      </a:rPr>
                      <m:t>𝑅</m:t>
                    </m:r>
                    <m:r>
                      <a:rPr lang="nl-BE" sz="2800" i="1">
                        <a:latin typeface="Cambria Math" panose="02040503050406030204" pitchFamily="18" charset="0"/>
                        <a:ea typeface="Cambria Math" panose="02040503050406030204" pitchFamily="18" charset="0"/>
                      </a:rPr>
                      <m:t> . </m:t>
                    </m:r>
                    <m:f>
                      <m:fPr>
                        <m:ctrlPr>
                          <a:rPr lang="nl-BE" sz="2800" i="1">
                            <a:latin typeface="Cambria Math" panose="02040503050406030204" pitchFamily="18" charset="0"/>
                            <a:ea typeface="Cambria Math" panose="02040503050406030204" pitchFamily="18" charset="0"/>
                          </a:rPr>
                        </m:ctrlPr>
                      </m:fPr>
                      <m:num>
                        <m:r>
                          <a:rPr lang="nl-BE" sz="2800" i="1">
                            <a:latin typeface="Cambria Math" panose="02040503050406030204" pitchFamily="18" charset="0"/>
                            <a:ea typeface="Cambria Math" panose="02040503050406030204" pitchFamily="18" charset="0"/>
                          </a:rPr>
                          <m:t>2</m:t>
                        </m:r>
                        <m:r>
                          <a:rPr lang="nl-BE" sz="2800" i="1">
                            <a:latin typeface="Cambria Math" panose="02040503050406030204" pitchFamily="18" charset="0"/>
                            <a:ea typeface="Cambria Math" panose="02040503050406030204" pitchFamily="18" charset="0"/>
                          </a:rPr>
                          <m:t>𝜋</m:t>
                        </m:r>
                      </m:num>
                      <m:den>
                        <m:r>
                          <a:rPr lang="nl-BE" sz="2800" i="1">
                            <a:latin typeface="Cambria Math" panose="02040503050406030204" pitchFamily="18" charset="0"/>
                            <a:ea typeface="Cambria Math" panose="02040503050406030204" pitchFamily="18" charset="0"/>
                          </a:rPr>
                          <m:t>𝑇</m:t>
                        </m:r>
                      </m:den>
                    </m:f>
                  </m:oMath>
                </a14:m>
                <a:r>
                  <a:rPr lang="nl-BE" sz="2800" dirty="0"/>
                  <a:t> </a:t>
                </a:r>
              </a:p>
              <a:p>
                <a:pPr eaLnBrk="1" hangingPunct="1">
                  <a:defRPr/>
                </a:pPr>
                <a:endParaRPr lang="nl-BE" sz="2400" dirty="0"/>
              </a:p>
              <a:p>
                <a:pPr eaLnBrk="1" hangingPunct="1">
                  <a:defRPr/>
                </a:pPr>
                <a14:m>
                  <m:oMath xmlns:m="http://schemas.openxmlformats.org/officeDocument/2006/math">
                    <m:r>
                      <a:rPr lang="nl-BE" sz="2800" i="1">
                        <a:solidFill>
                          <a:srgbClr val="000000"/>
                        </a:solidFill>
                        <a:latin typeface="Cambria Math" panose="02040503050406030204" pitchFamily="18" charset="0"/>
                        <a:ea typeface="Cambria Math" panose="02040503050406030204" pitchFamily="18" charset="0"/>
                      </a:rPr>
                      <m:t>𝑣</m:t>
                    </m:r>
                    <m:r>
                      <a:rPr lang="nl-BE" sz="2800" i="1">
                        <a:solidFill>
                          <a:srgbClr val="000000"/>
                        </a:solidFill>
                        <a:latin typeface="Cambria Math" panose="02040503050406030204" pitchFamily="18" charset="0"/>
                        <a:ea typeface="Cambria Math" panose="02040503050406030204" pitchFamily="18" charset="0"/>
                      </a:rPr>
                      <m:t>= </m:t>
                    </m:r>
                    <m:f>
                      <m:fPr>
                        <m:ctrlPr>
                          <a:rPr lang="nl-BE" sz="2800" i="1">
                            <a:solidFill>
                              <a:srgbClr val="000000"/>
                            </a:solidFill>
                            <a:latin typeface="Cambria Math" panose="02040503050406030204" pitchFamily="18" charset="0"/>
                            <a:ea typeface="Cambria Math" panose="02040503050406030204" pitchFamily="18" charset="0"/>
                          </a:rPr>
                        </m:ctrlPr>
                      </m:fPr>
                      <m:num>
                        <m:r>
                          <a:rPr lang="nl-BE" sz="2800" i="1">
                            <a:solidFill>
                              <a:srgbClr val="000000"/>
                            </a:solidFill>
                            <a:latin typeface="Cambria Math" panose="02040503050406030204" pitchFamily="18" charset="0"/>
                            <a:ea typeface="Cambria Math" panose="02040503050406030204" pitchFamily="18" charset="0"/>
                          </a:rPr>
                          <m:t>2</m:t>
                        </m:r>
                        <m:r>
                          <a:rPr lang="nl-BE" sz="2800" i="1">
                            <a:solidFill>
                              <a:srgbClr val="000000"/>
                            </a:solidFill>
                            <a:latin typeface="Cambria Math" panose="02040503050406030204" pitchFamily="18" charset="0"/>
                            <a:ea typeface="Cambria Math" panose="02040503050406030204" pitchFamily="18" charset="0"/>
                          </a:rPr>
                          <m:t>𝜋</m:t>
                        </m:r>
                        <m:r>
                          <a:rPr lang="nl-BE" sz="2800" i="1">
                            <a:solidFill>
                              <a:srgbClr val="000000"/>
                            </a:solidFill>
                            <a:latin typeface="Cambria Math" panose="02040503050406030204" pitchFamily="18" charset="0"/>
                            <a:ea typeface="Cambria Math" panose="02040503050406030204" pitchFamily="18" charset="0"/>
                          </a:rPr>
                          <m:t>.</m:t>
                        </m:r>
                        <m:r>
                          <a:rPr lang="nl-BE" sz="2800" i="1">
                            <a:solidFill>
                              <a:srgbClr val="000000"/>
                            </a:solidFill>
                            <a:latin typeface="Cambria Math" panose="02040503050406030204" pitchFamily="18" charset="0"/>
                            <a:ea typeface="Cambria Math" panose="02040503050406030204" pitchFamily="18" charset="0"/>
                          </a:rPr>
                          <m:t>𝑅</m:t>
                        </m:r>
                      </m:num>
                      <m:den>
                        <m:r>
                          <a:rPr lang="nl-BE" sz="2800" i="1">
                            <a:solidFill>
                              <a:srgbClr val="000000"/>
                            </a:solidFill>
                            <a:latin typeface="Cambria Math" panose="02040503050406030204" pitchFamily="18" charset="0"/>
                            <a:ea typeface="Cambria Math" panose="02040503050406030204" pitchFamily="18" charset="0"/>
                          </a:rPr>
                          <m:t>𝑇</m:t>
                        </m:r>
                      </m:den>
                    </m:f>
                  </m:oMath>
                </a14:m>
                <a:r>
                  <a:rPr lang="nl-BE" sz="2800" dirty="0">
                    <a:solidFill>
                      <a:srgbClr val="000000"/>
                    </a:solidFill>
                  </a:rPr>
                  <a:t> =</a:t>
                </a:r>
                <a:r>
                  <a:rPr lang="nl-BE" sz="2800" dirty="0">
                    <a:solidFill>
                      <a:srgbClr val="000000"/>
                    </a:solidFill>
                    <a:ea typeface="Cambria Math" panose="02040503050406030204" pitchFamily="18" charset="0"/>
                  </a:rPr>
                  <a:t> </a:t>
                </a:r>
                <a14:m>
                  <m:oMath xmlns:m="http://schemas.openxmlformats.org/officeDocument/2006/math">
                    <m:r>
                      <a:rPr lang="nl-BE" sz="2800" i="1">
                        <a:solidFill>
                          <a:srgbClr val="000000"/>
                        </a:solidFill>
                        <a:latin typeface="Cambria Math" panose="02040503050406030204" pitchFamily="18" charset="0"/>
                        <a:ea typeface="Cambria Math" panose="02040503050406030204" pitchFamily="18" charset="0"/>
                      </a:rPr>
                      <m:t>2</m:t>
                    </m:r>
                    <m:r>
                      <a:rPr lang="nl-BE" sz="2800" i="1">
                        <a:solidFill>
                          <a:srgbClr val="000000"/>
                        </a:solidFill>
                        <a:latin typeface="Cambria Math" panose="02040503050406030204" pitchFamily="18" charset="0"/>
                        <a:ea typeface="Cambria Math" panose="02040503050406030204" pitchFamily="18" charset="0"/>
                      </a:rPr>
                      <m:t>𝜋</m:t>
                    </m:r>
                    <m:r>
                      <a:rPr lang="nl-BE" sz="2800" i="1">
                        <a:solidFill>
                          <a:srgbClr val="000000"/>
                        </a:solidFill>
                        <a:latin typeface="Cambria Math" panose="02040503050406030204" pitchFamily="18" charset="0"/>
                        <a:ea typeface="Cambria Math" panose="02040503050406030204" pitchFamily="18" charset="0"/>
                      </a:rPr>
                      <m:t>.</m:t>
                    </m:r>
                    <m:r>
                      <a:rPr lang="nl-BE" sz="2800" i="1">
                        <a:solidFill>
                          <a:srgbClr val="000000"/>
                        </a:solidFill>
                        <a:latin typeface="Cambria Math" panose="02040503050406030204" pitchFamily="18" charset="0"/>
                        <a:ea typeface="Cambria Math" panose="02040503050406030204" pitchFamily="18" charset="0"/>
                      </a:rPr>
                      <m:t>𝑅</m:t>
                    </m:r>
                    <m:r>
                      <a:rPr lang="nl-BE" sz="2800" i="1">
                        <a:solidFill>
                          <a:srgbClr val="000000"/>
                        </a:solidFill>
                        <a:latin typeface="Cambria Math" panose="02040503050406030204" pitchFamily="18" charset="0"/>
                        <a:ea typeface="Cambria Math" panose="02040503050406030204" pitchFamily="18" charset="0"/>
                      </a:rPr>
                      <m:t>.</m:t>
                    </m:r>
                    <m:r>
                      <a:rPr lang="nl-BE" sz="2800" i="1">
                        <a:solidFill>
                          <a:srgbClr val="000000"/>
                        </a:solidFill>
                        <a:latin typeface="Cambria Math" panose="02040503050406030204" pitchFamily="18" charset="0"/>
                        <a:ea typeface="Cambria Math" panose="02040503050406030204" pitchFamily="18" charset="0"/>
                      </a:rPr>
                      <m:t>𝑓</m:t>
                    </m:r>
                  </m:oMath>
                </a14:m>
                <a:endParaRPr lang="nl-BE" sz="2800" dirty="0">
                  <a:solidFill>
                    <a:srgbClr val="000000"/>
                  </a:solidFill>
                </a:endParaRPr>
              </a:p>
            </p:txBody>
          </p:sp>
        </mc:Choice>
        <mc:Fallback xmlns="">
          <p:sp>
            <p:nvSpPr>
              <p:cNvPr id="10" name="Tekstvak 9">
                <a:extLst>
                  <a:ext uri="{FF2B5EF4-FFF2-40B4-BE49-F238E27FC236}">
                    <a16:creationId xmlns:a16="http://schemas.microsoft.com/office/drawing/2014/main" id="{A7A91F46-E8CF-A2F6-01AE-146D8EBC7CCE}"/>
                  </a:ext>
                </a:extLst>
              </p:cNvPr>
              <p:cNvSpPr txBox="1">
                <a:spLocks noRot="1" noChangeAspect="1" noMove="1" noResize="1" noEditPoints="1" noAdjustHandles="1" noChangeArrowheads="1" noChangeShapeType="1" noTextEdit="1"/>
              </p:cNvSpPr>
              <p:nvPr/>
            </p:nvSpPr>
            <p:spPr>
              <a:xfrm>
                <a:off x="4514481" y="5156550"/>
                <a:ext cx="5544616" cy="1742015"/>
              </a:xfrm>
              <a:prstGeom prst="rect">
                <a:avLst/>
              </a:prstGeom>
              <a:blipFill>
                <a:blip r:embed="rId4"/>
                <a:stretch>
                  <a:fillRect b="-699"/>
                </a:stretch>
              </a:blipFill>
            </p:spPr>
            <p:txBody>
              <a:bodyPr/>
              <a:lstStyle/>
              <a:p>
                <a:r>
                  <a:rPr lang="nl-BE">
                    <a:noFill/>
                  </a:rPr>
                  <a:t> </a:t>
                </a:r>
              </a:p>
            </p:txBody>
          </p:sp>
        </mc:Fallback>
      </mc:AlternateContent>
    </p:spTree>
    <p:extLst>
      <p:ext uri="{BB962C8B-B14F-4D97-AF65-F5344CB8AC3E}">
        <p14:creationId xmlns:p14="http://schemas.microsoft.com/office/powerpoint/2010/main" val="867903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a:xfrm>
            <a:off x="1847850" y="0"/>
            <a:ext cx="8540750" cy="1143000"/>
          </a:xfrm>
        </p:spPr>
        <p:txBody>
          <a:bodyPr/>
          <a:lstStyle/>
          <a:p>
            <a:pPr eaLnBrk="1" hangingPunct="1">
              <a:defRPr/>
            </a:pPr>
            <a:r>
              <a:rPr lang="nl-BE"/>
              <a:t>Vragen</a:t>
            </a:r>
            <a:endParaRPr lang="nl-NL"/>
          </a:p>
        </p:txBody>
      </p:sp>
      <p:sp>
        <p:nvSpPr>
          <p:cNvPr id="20483" name="Rectangle 3"/>
          <p:cNvSpPr>
            <a:spLocks noGrp="1" noRot="1" noChangeArrowheads="1"/>
          </p:cNvSpPr>
          <p:nvPr>
            <p:ph idx="1"/>
          </p:nvPr>
        </p:nvSpPr>
        <p:spPr>
          <a:xfrm>
            <a:off x="479376" y="1052514"/>
            <a:ext cx="11377264" cy="4498975"/>
          </a:xfrm>
        </p:spPr>
        <p:txBody>
          <a:bodyPr>
            <a:normAutofit/>
          </a:bodyPr>
          <a:lstStyle/>
          <a:p>
            <a:pPr eaLnBrk="1" hangingPunct="1">
              <a:defRPr/>
            </a:pPr>
            <a:r>
              <a:rPr lang="nl-BE" sz="3200" dirty="0"/>
              <a:t>Wat is de periode van de beweging van de maan rond de aarde?</a:t>
            </a:r>
          </a:p>
          <a:p>
            <a:pPr lvl="1" eaLnBrk="1" hangingPunct="1">
              <a:defRPr/>
            </a:pPr>
            <a:r>
              <a:rPr lang="en-US" sz="2800" i="1" dirty="0">
                <a:cs typeface="Tahoma" pitchFamily="34" charset="0"/>
              </a:rPr>
              <a:t>± 28 </a:t>
            </a:r>
            <a:r>
              <a:rPr lang="en-US" sz="2800" i="1" dirty="0" err="1">
                <a:cs typeface="Tahoma" pitchFamily="34" charset="0"/>
              </a:rPr>
              <a:t>dagen</a:t>
            </a:r>
            <a:endParaRPr lang="en-US" sz="2800" i="1" dirty="0">
              <a:cs typeface="Tahoma" pitchFamily="34" charset="0"/>
            </a:endParaRPr>
          </a:p>
          <a:p>
            <a:pPr marL="457200" lvl="1" indent="0" eaLnBrk="1" hangingPunct="1">
              <a:buNone/>
              <a:defRPr/>
            </a:pPr>
            <a:endParaRPr lang="en-US" sz="2800" i="1" dirty="0">
              <a:cs typeface="Tahoma" pitchFamily="34" charset="0"/>
            </a:endParaRPr>
          </a:p>
          <a:p>
            <a:pPr eaLnBrk="1" hangingPunct="1">
              <a:defRPr/>
            </a:pPr>
            <a:r>
              <a:rPr lang="en-US" sz="3200" dirty="0">
                <a:cs typeface="Tahoma" pitchFamily="34" charset="0"/>
              </a:rPr>
              <a:t>Met </a:t>
            </a:r>
            <a:r>
              <a:rPr lang="en-US" sz="3200" dirty="0" err="1">
                <a:cs typeface="Tahoma" pitchFamily="34" charset="0"/>
              </a:rPr>
              <a:t>welke</a:t>
            </a:r>
            <a:r>
              <a:rPr lang="en-US" sz="3200" dirty="0">
                <a:cs typeface="Tahoma" pitchFamily="34" charset="0"/>
              </a:rPr>
              <a:t> </a:t>
            </a:r>
            <a:r>
              <a:rPr lang="en-US" sz="3200" dirty="0" err="1">
                <a:cs typeface="Tahoma" pitchFamily="34" charset="0"/>
              </a:rPr>
              <a:t>frequentie</a:t>
            </a:r>
            <a:r>
              <a:rPr lang="en-US" sz="3200" dirty="0">
                <a:cs typeface="Tahoma" pitchFamily="34" charset="0"/>
              </a:rPr>
              <a:t> </a:t>
            </a:r>
            <a:r>
              <a:rPr lang="en-US" sz="3200" dirty="0" err="1">
                <a:cs typeface="Tahoma" pitchFamily="34" charset="0"/>
              </a:rPr>
              <a:t>draait</a:t>
            </a:r>
            <a:r>
              <a:rPr lang="en-US" sz="3200" dirty="0">
                <a:cs typeface="Tahoma" pitchFamily="34" charset="0"/>
              </a:rPr>
              <a:t> </a:t>
            </a:r>
            <a:r>
              <a:rPr lang="en-US" sz="3200" dirty="0" err="1">
                <a:cs typeface="Tahoma" pitchFamily="34" charset="0"/>
              </a:rPr>
              <a:t>een</a:t>
            </a:r>
            <a:r>
              <a:rPr lang="en-US" sz="3200" dirty="0">
                <a:cs typeface="Tahoma" pitchFamily="34" charset="0"/>
              </a:rPr>
              <a:t> LP op </a:t>
            </a:r>
            <a:r>
              <a:rPr lang="en-US" sz="3200" dirty="0" err="1">
                <a:cs typeface="Tahoma" pitchFamily="34" charset="0"/>
              </a:rPr>
              <a:t>een</a:t>
            </a:r>
            <a:r>
              <a:rPr lang="en-US" sz="3200" dirty="0">
                <a:cs typeface="Tahoma" pitchFamily="34" charset="0"/>
              </a:rPr>
              <a:t> </a:t>
            </a:r>
            <a:r>
              <a:rPr lang="en-US" sz="3200" dirty="0" err="1">
                <a:cs typeface="Tahoma" pitchFamily="34" charset="0"/>
              </a:rPr>
              <a:t>platenspeler</a:t>
            </a:r>
            <a:r>
              <a:rPr lang="en-US" sz="3200" dirty="0">
                <a:cs typeface="Tahoma" pitchFamily="34" charset="0"/>
              </a:rPr>
              <a:t>?</a:t>
            </a:r>
          </a:p>
          <a:p>
            <a:pPr lvl="1" eaLnBrk="1" hangingPunct="1">
              <a:defRPr/>
            </a:pPr>
            <a:r>
              <a:rPr lang="en-US" sz="2800" i="1" dirty="0">
                <a:cs typeface="Tahoma" pitchFamily="34" charset="0"/>
              </a:rPr>
              <a:t>33 </a:t>
            </a:r>
            <a:r>
              <a:rPr lang="en-US" sz="2800" i="1" dirty="0" err="1">
                <a:cs typeface="Tahoma" pitchFamily="34" charset="0"/>
              </a:rPr>
              <a:t>toeren</a:t>
            </a:r>
            <a:r>
              <a:rPr lang="en-US" sz="2800" i="1" dirty="0">
                <a:cs typeface="Tahoma" pitchFamily="34" charset="0"/>
              </a:rPr>
              <a:t>/</a:t>
            </a:r>
            <a:r>
              <a:rPr lang="en-US" sz="2800" i="1" dirty="0" err="1">
                <a:cs typeface="Tahoma" pitchFamily="34" charset="0"/>
              </a:rPr>
              <a:t>minuut</a:t>
            </a:r>
            <a:r>
              <a:rPr lang="en-US" sz="2800" i="1" dirty="0">
                <a:cs typeface="Tahoma" pitchFamily="34" charset="0"/>
              </a:rPr>
              <a:t> </a:t>
            </a:r>
            <a:r>
              <a:rPr lang="en-US" sz="2800" i="1" dirty="0">
                <a:latin typeface="Arial Unicode MS" pitchFamily="34" charset="-128"/>
                <a:ea typeface="Arial Unicode MS" pitchFamily="34" charset="-128"/>
                <a:cs typeface="Arial Unicode MS" pitchFamily="34" charset="-128"/>
              </a:rPr>
              <a:t>→ 0,55 Hz</a:t>
            </a:r>
          </a:p>
        </p:txBody>
      </p:sp>
      <p:pic>
        <p:nvPicPr>
          <p:cNvPr id="17412" name="Picture 4"/>
          <p:cNvPicPr>
            <a:picLocks noChangeAspect="1" noChangeArrowheads="1"/>
          </p:cNvPicPr>
          <p:nvPr/>
        </p:nvPicPr>
        <p:blipFill>
          <a:blip r:embed="rId2" cstate="print"/>
          <a:srcRect/>
          <a:stretch>
            <a:fillRect/>
          </a:stretch>
        </p:blipFill>
        <p:spPr bwMode="auto">
          <a:xfrm>
            <a:off x="4583114" y="4508500"/>
            <a:ext cx="2808287" cy="1989138"/>
          </a:xfrm>
          <a:prstGeom prst="rect">
            <a:avLst/>
          </a:prstGeom>
          <a:noFill/>
          <a:ln w="9525">
            <a:noFill/>
            <a:miter lim="800000"/>
            <a:headEnd/>
            <a:tailEnd/>
          </a:ln>
        </p:spPr>
      </p:pic>
    </p:spTree>
    <p:extLst>
      <p:ext uri="{BB962C8B-B14F-4D97-AF65-F5344CB8AC3E}">
        <p14:creationId xmlns:p14="http://schemas.microsoft.com/office/powerpoint/2010/main" val="313670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4" end="4"/>
                                            </p:txEl>
                                          </p:spTgt>
                                        </p:tgtEl>
                                        <p:attrNameLst>
                                          <p:attrName>style.visibility</p:attrName>
                                        </p:attrNameLst>
                                      </p:cBhvr>
                                      <p:to>
                                        <p:strVal val="visible"/>
                                      </p:to>
                                    </p:set>
                                    <p:anim calcmode="lin" valueType="num">
                                      <p:cBhvr additive="base">
                                        <p:cTn id="13"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p:txBody>
          <a:bodyPr/>
          <a:lstStyle/>
          <a:p>
            <a:pPr eaLnBrk="1" hangingPunct="1">
              <a:defRPr/>
            </a:pPr>
            <a:r>
              <a:rPr lang="nl-BE"/>
              <a:t>Berekening</a:t>
            </a:r>
            <a:endParaRPr lang="nl-NL"/>
          </a:p>
        </p:txBody>
      </p:sp>
      <p:sp>
        <p:nvSpPr>
          <p:cNvPr id="21507" name="Rectangle 3"/>
          <p:cNvSpPr>
            <a:spLocks noGrp="1" noRot="1" noChangeArrowheads="1"/>
          </p:cNvSpPr>
          <p:nvPr>
            <p:ph type="body" sz="half" idx="1"/>
          </p:nvPr>
        </p:nvSpPr>
        <p:spPr>
          <a:xfrm>
            <a:off x="1825626" y="1600201"/>
            <a:ext cx="8158163" cy="4498975"/>
          </a:xfrm>
        </p:spPr>
        <p:txBody>
          <a:bodyPr/>
          <a:lstStyle/>
          <a:p>
            <a:pPr eaLnBrk="1" hangingPunct="1">
              <a:defRPr/>
            </a:pPr>
            <a:r>
              <a:rPr lang="nl-BE" sz="2800"/>
              <a:t>Een wagen rijdt aan constante snelheid over een cirkelvormige baan. Stel dat de wagen 20 s nodig heeft om 1 maal rond te rijden. </a:t>
            </a:r>
            <a:br>
              <a:rPr lang="nl-BE" sz="2800"/>
            </a:br>
            <a:r>
              <a:rPr lang="nl-BE" sz="2800"/>
              <a:t>Wat zijn dan de frequentie en de periode van deze beweging?</a:t>
            </a:r>
          </a:p>
          <a:p>
            <a:pPr lvl="1" eaLnBrk="1" hangingPunct="1">
              <a:buFont typeface="Wingdings" pitchFamily="2" charset="2"/>
              <a:buNone/>
              <a:defRPr/>
            </a:pPr>
            <a:r>
              <a:rPr lang="nl-BE" sz="2400"/>
              <a:t> </a:t>
            </a:r>
            <a:endParaRPr lang="nl-NL" sz="2400"/>
          </a:p>
        </p:txBody>
      </p:sp>
      <p:graphicFrame>
        <p:nvGraphicFramePr>
          <p:cNvPr id="21508" name="Object 4"/>
          <p:cNvGraphicFramePr>
            <a:graphicFrameLocks noGrp="1" noChangeAspect="1"/>
          </p:cNvGraphicFramePr>
          <p:nvPr>
            <p:ph sz="quarter" idx="2"/>
          </p:nvPr>
        </p:nvGraphicFramePr>
        <p:xfrm>
          <a:off x="3359150" y="5013325"/>
          <a:ext cx="4895850" cy="1076325"/>
        </p:xfrm>
        <a:graphic>
          <a:graphicData uri="http://schemas.openxmlformats.org/presentationml/2006/ole">
            <mc:AlternateContent xmlns:mc="http://schemas.openxmlformats.org/markup-compatibility/2006">
              <mc:Choice xmlns:v="urn:schemas-microsoft-com:vml" Requires="v">
                <p:oleObj name="Vergelijking" r:id="rId2" imgW="1790700" imgH="393700" progId="Equation.3">
                  <p:embed/>
                </p:oleObj>
              </mc:Choice>
              <mc:Fallback>
                <p:oleObj name="Vergelijking" r:id="rId2" imgW="1790700" imgH="393700" progId="Equation.3">
                  <p:embed/>
                  <p:pic>
                    <p:nvPicPr>
                      <p:cNvPr id="21508" name="Object 4"/>
                      <p:cNvPicPr>
                        <a:picLocks noGrp="1" noChangeAspect="1" noChangeArrowheads="1"/>
                      </p:cNvPicPr>
                      <p:nvPr/>
                    </p:nvPicPr>
                    <p:blipFill>
                      <a:blip r:embed="rId3">
                        <a:lum bright="100000"/>
                        <a:extLst>
                          <a:ext uri="{28A0092B-C50C-407E-A947-70E740481C1C}">
                            <a14:useLocalDpi xmlns:a14="http://schemas.microsoft.com/office/drawing/2010/main" val="0"/>
                          </a:ext>
                        </a:extLst>
                      </a:blip>
                      <a:srcRect/>
                      <a:stretch>
                        <a:fillRect/>
                      </a:stretch>
                    </p:blipFill>
                    <p:spPr bwMode="auto">
                      <a:xfrm>
                        <a:off x="3359150" y="5013325"/>
                        <a:ext cx="4895850" cy="1076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0" name="Object 6"/>
          <p:cNvGraphicFramePr>
            <a:graphicFrameLocks noGrp="1" noChangeAspect="1"/>
          </p:cNvGraphicFramePr>
          <p:nvPr>
            <p:ph sz="quarter" idx="3"/>
          </p:nvPr>
        </p:nvGraphicFramePr>
        <p:xfrm>
          <a:off x="4800600" y="4149725"/>
          <a:ext cx="1871663" cy="639763"/>
        </p:xfrm>
        <a:graphic>
          <a:graphicData uri="http://schemas.openxmlformats.org/presentationml/2006/ole">
            <mc:AlternateContent xmlns:mc="http://schemas.openxmlformats.org/markup-compatibility/2006">
              <mc:Choice xmlns:v="urn:schemas-microsoft-com:vml" Requires="v">
                <p:oleObj name="Vergelijking" r:id="rId4" imgW="520248" imgH="177646" progId="Equation.3">
                  <p:embed/>
                </p:oleObj>
              </mc:Choice>
              <mc:Fallback>
                <p:oleObj name="Vergelijking" r:id="rId4" imgW="520248" imgH="177646" progId="Equation.3">
                  <p:embed/>
                  <p:pic>
                    <p:nvPicPr>
                      <p:cNvPr id="21510" name="Object 6"/>
                      <p:cNvPicPr>
                        <a:picLocks noGrp="1"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4800600" y="4149725"/>
                        <a:ext cx="1871663" cy="639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5932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10"/>
                                        </p:tgtEl>
                                        <p:attrNameLst>
                                          <p:attrName>style.visibility</p:attrName>
                                        </p:attrNameLst>
                                      </p:cBhvr>
                                      <p:to>
                                        <p:strVal val="visible"/>
                                      </p:to>
                                    </p:set>
                                    <p:anim calcmode="lin" valueType="num">
                                      <p:cBhvr additive="base">
                                        <p:cTn id="7" dur="500" fill="hold"/>
                                        <p:tgtEl>
                                          <p:spTgt spid="21510"/>
                                        </p:tgtEl>
                                        <p:attrNameLst>
                                          <p:attrName>ppt_x</p:attrName>
                                        </p:attrNameLst>
                                      </p:cBhvr>
                                      <p:tavLst>
                                        <p:tav tm="0">
                                          <p:val>
                                            <p:strVal val="#ppt_x"/>
                                          </p:val>
                                        </p:tav>
                                        <p:tav tm="100000">
                                          <p:val>
                                            <p:strVal val="#ppt_x"/>
                                          </p:val>
                                        </p:tav>
                                      </p:tavLst>
                                    </p:anim>
                                    <p:anim calcmode="lin" valueType="num">
                                      <p:cBhvr additive="base">
                                        <p:cTn id="8" dur="500" fill="hold"/>
                                        <p:tgtEl>
                                          <p:spTgt spid="215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508"/>
                                        </p:tgtEl>
                                        <p:attrNameLst>
                                          <p:attrName>style.visibility</p:attrName>
                                        </p:attrNameLst>
                                      </p:cBhvr>
                                      <p:to>
                                        <p:strVal val="visible"/>
                                      </p:to>
                                    </p:set>
                                    <p:anim calcmode="lin" valueType="num">
                                      <p:cBhvr additive="base">
                                        <p:cTn id="11" dur="500" fill="hold"/>
                                        <p:tgtEl>
                                          <p:spTgt spid="21508"/>
                                        </p:tgtEl>
                                        <p:attrNameLst>
                                          <p:attrName>ppt_x</p:attrName>
                                        </p:attrNameLst>
                                      </p:cBhvr>
                                      <p:tavLst>
                                        <p:tav tm="0">
                                          <p:val>
                                            <p:strVal val="#ppt_x"/>
                                          </p:val>
                                        </p:tav>
                                        <p:tav tm="100000">
                                          <p:val>
                                            <p:strVal val="#ppt_x"/>
                                          </p:val>
                                        </p:tav>
                                      </p:tavLst>
                                    </p:anim>
                                    <p:anim calcmode="lin" valueType="num">
                                      <p:cBhvr additive="base">
                                        <p:cTn id="12"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p:txBody>
          <a:bodyPr/>
          <a:lstStyle/>
          <a:p>
            <a:pPr eaLnBrk="1" hangingPunct="1">
              <a:defRPr/>
            </a:pPr>
            <a:r>
              <a:rPr lang="nl-BE"/>
              <a:t>Opgave A</a:t>
            </a:r>
            <a:endParaRPr lang="nl-NL"/>
          </a:p>
        </p:txBody>
      </p:sp>
      <p:sp>
        <p:nvSpPr>
          <p:cNvPr id="3075" name="Rectangle 3"/>
          <p:cNvSpPr>
            <a:spLocks noGrp="1" noRot="1" noChangeArrowheads="1"/>
          </p:cNvSpPr>
          <p:nvPr>
            <p:ph idx="1"/>
          </p:nvPr>
        </p:nvSpPr>
        <p:spPr>
          <a:xfrm>
            <a:off x="479376" y="1825625"/>
            <a:ext cx="11521280" cy="4351338"/>
          </a:xfrm>
        </p:spPr>
        <p:txBody>
          <a:bodyPr>
            <a:normAutofit/>
          </a:bodyPr>
          <a:lstStyle/>
          <a:p>
            <a:pPr eaLnBrk="1" hangingPunct="1">
              <a:lnSpc>
                <a:spcPct val="150000"/>
              </a:lnSpc>
              <a:spcBef>
                <a:spcPts val="1200"/>
              </a:spcBef>
              <a:defRPr/>
            </a:pPr>
            <a:r>
              <a:rPr lang="nl-BE" sz="3200" dirty="0"/>
              <a:t>Bereken de snelheid van de tip van een  rotorblad van een helikopter in zijn beweging rond de centrale as. </a:t>
            </a:r>
            <a:br>
              <a:rPr lang="nl-BE" sz="3200" dirty="0"/>
            </a:br>
            <a:r>
              <a:rPr lang="nl-BE" sz="3200" dirty="0"/>
              <a:t>De lengte van een rotorblad is 3,75 m en dit maakt 480 omwentelingen per minuut.</a:t>
            </a:r>
            <a:br>
              <a:rPr lang="nl-BE" sz="3200" dirty="0"/>
            </a:br>
            <a:r>
              <a:rPr lang="nl-BE" sz="3200" dirty="0"/>
              <a:t>Bereken de snelheid in meter per seconde en in kilometer per uur.</a:t>
            </a:r>
            <a:endParaRPr lang="nl-NL"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a:xfrm>
            <a:off x="1825625" y="-99392"/>
            <a:ext cx="8540750" cy="1143000"/>
          </a:xfrm>
        </p:spPr>
        <p:txBody>
          <a:bodyPr/>
          <a:lstStyle/>
          <a:p>
            <a:pPr eaLnBrk="1" hangingPunct="1">
              <a:defRPr/>
            </a:pPr>
            <a:r>
              <a:rPr lang="nl-BE" dirty="0"/>
              <a:t>Opgave A</a:t>
            </a:r>
            <a:endParaRPr lang="nl-NL" dirty="0"/>
          </a:p>
        </p:txBody>
      </p:sp>
      <mc:AlternateContent xmlns:mc="http://schemas.openxmlformats.org/markup-compatibility/2006" xmlns:a14="http://schemas.microsoft.com/office/drawing/2010/main">
        <mc:Choice Requires="a14">
          <p:sp>
            <p:nvSpPr>
              <p:cNvPr id="3075" name="Rectangle 3"/>
              <p:cNvSpPr>
                <a:spLocks noGrp="1" noRot="1" noChangeArrowheads="1"/>
              </p:cNvSpPr>
              <p:nvPr>
                <p:ph type="body" idx="1"/>
              </p:nvPr>
            </p:nvSpPr>
            <p:spPr>
              <a:xfrm>
                <a:off x="407368" y="1052737"/>
                <a:ext cx="11593288" cy="5472607"/>
              </a:xfrm>
            </p:spPr>
            <p:txBody>
              <a:bodyPr/>
              <a:lstStyle/>
              <a:p>
                <a:pPr eaLnBrk="1" hangingPunct="1">
                  <a:defRPr/>
                </a:pPr>
                <a:r>
                  <a:rPr lang="nl-BE" sz="3200" dirty="0"/>
                  <a:t>Bereken de snelheid van de tip van een  rotorblad van een helikopter in zijn beweging rond de centrale as. </a:t>
                </a:r>
                <a:br>
                  <a:rPr lang="nl-BE" sz="3200" dirty="0"/>
                </a:br>
                <a:r>
                  <a:rPr lang="nl-BE" sz="3200" dirty="0"/>
                  <a:t>De lengte van een rotorblad is 3,75 m en dit maakt 480 omwentelingen per minuut.</a:t>
                </a:r>
                <a:br>
                  <a:rPr lang="nl-BE" sz="3200" dirty="0"/>
                </a:br>
                <a:r>
                  <a:rPr lang="nl-BE" sz="3200" dirty="0"/>
                  <a:t>Bereken de snelheid in meter per seconde en in kilometer per uur.</a:t>
                </a:r>
              </a:p>
              <a:p>
                <a:pPr eaLnBrk="1" hangingPunct="1">
                  <a:defRPr/>
                </a:pPr>
                <a14:m>
                  <m:oMath xmlns:m="http://schemas.openxmlformats.org/officeDocument/2006/math">
                    <m:r>
                      <a:rPr lang="nl-BE" sz="3200" i="1">
                        <a:latin typeface="Cambria Math" panose="02040503050406030204" pitchFamily="18" charset="0"/>
                      </a:rPr>
                      <m:t>𝑓</m:t>
                    </m:r>
                    <m:r>
                      <a:rPr lang="nl-BE" sz="3200" i="1">
                        <a:latin typeface="Cambria Math" panose="02040503050406030204" pitchFamily="18" charset="0"/>
                      </a:rPr>
                      <m:t>=</m:t>
                    </m:r>
                    <m:f>
                      <m:fPr>
                        <m:ctrlPr>
                          <a:rPr lang="nl-BE" sz="3200" i="1">
                            <a:latin typeface="Cambria Math" panose="02040503050406030204" pitchFamily="18" charset="0"/>
                          </a:rPr>
                        </m:ctrlPr>
                      </m:fPr>
                      <m:num>
                        <m:r>
                          <a:rPr lang="nl-BE" sz="3200" i="1">
                            <a:latin typeface="Cambria Math" panose="02040503050406030204" pitchFamily="18" charset="0"/>
                          </a:rPr>
                          <m:t>480</m:t>
                        </m:r>
                      </m:num>
                      <m:den>
                        <m:r>
                          <a:rPr lang="nl-BE" sz="3200" i="1">
                            <a:latin typeface="Cambria Math" panose="02040503050406030204" pitchFamily="18" charset="0"/>
                          </a:rPr>
                          <m:t>60,0</m:t>
                        </m:r>
                      </m:den>
                    </m:f>
                    <m:r>
                      <a:rPr lang="nl-BE" sz="3200" i="1">
                        <a:latin typeface="Cambria Math" panose="02040503050406030204" pitchFamily="18" charset="0"/>
                      </a:rPr>
                      <m:t>=8,00</m:t>
                    </m:r>
                    <m:r>
                      <a:rPr lang="nl-BE" sz="3200" i="1">
                        <a:latin typeface="Cambria Math" panose="02040503050406030204" pitchFamily="18" charset="0"/>
                      </a:rPr>
                      <m:t>𝐻𝑧</m:t>
                    </m:r>
                  </m:oMath>
                </a14:m>
                <a:endParaRPr lang="nl-BE" sz="3200" dirty="0"/>
              </a:p>
              <a:p>
                <a:pPr eaLnBrk="1" hangingPunct="1">
                  <a:defRPr/>
                </a:pPr>
                <a14:m>
                  <m:oMath xmlns:m="http://schemas.openxmlformats.org/officeDocument/2006/math">
                    <m:r>
                      <a:rPr lang="nl-BE" sz="3200" i="1">
                        <a:latin typeface="Cambria Math" panose="02040503050406030204" pitchFamily="18" charset="0"/>
                      </a:rPr>
                      <m:t>𝑣</m:t>
                    </m:r>
                    <m:r>
                      <a:rPr lang="nl-BE" sz="3200" i="1">
                        <a:latin typeface="Cambria Math" panose="02040503050406030204" pitchFamily="18" charset="0"/>
                      </a:rPr>
                      <m:t>=</m:t>
                    </m:r>
                    <m:f>
                      <m:fPr>
                        <m:ctrlPr>
                          <a:rPr lang="nl-BE" sz="3200" i="1">
                            <a:latin typeface="Cambria Math" panose="02040503050406030204" pitchFamily="18" charset="0"/>
                          </a:rPr>
                        </m:ctrlPr>
                      </m:fPr>
                      <m:num>
                        <m:r>
                          <a:rPr lang="nl-BE" sz="3200" i="1">
                            <a:latin typeface="Cambria Math" panose="02040503050406030204" pitchFamily="18" charset="0"/>
                          </a:rPr>
                          <m:t>2</m:t>
                        </m:r>
                        <m:r>
                          <a:rPr lang="nl-BE" sz="3200" i="1">
                            <a:latin typeface="Cambria Math" panose="02040503050406030204" pitchFamily="18" charset="0"/>
                            <a:ea typeface="Cambria Math" panose="02040503050406030204" pitchFamily="18" charset="0"/>
                          </a:rPr>
                          <m:t>𝜋</m:t>
                        </m:r>
                        <m:r>
                          <a:rPr lang="nl-BE" sz="3200" i="1">
                            <a:latin typeface="Cambria Math" panose="02040503050406030204" pitchFamily="18" charset="0"/>
                            <a:ea typeface="Cambria Math" panose="02040503050406030204" pitchFamily="18" charset="0"/>
                          </a:rPr>
                          <m:t>.</m:t>
                        </m:r>
                        <m:r>
                          <a:rPr lang="nl-BE" sz="3200" i="1">
                            <a:latin typeface="Cambria Math" panose="02040503050406030204" pitchFamily="18" charset="0"/>
                            <a:ea typeface="Cambria Math" panose="02040503050406030204" pitchFamily="18" charset="0"/>
                          </a:rPr>
                          <m:t>𝑟</m:t>
                        </m:r>
                      </m:num>
                      <m:den>
                        <m:r>
                          <a:rPr lang="nl-BE" sz="3200" i="1">
                            <a:latin typeface="Cambria Math" panose="02040503050406030204" pitchFamily="18" charset="0"/>
                          </a:rPr>
                          <m:t>𝑇</m:t>
                        </m:r>
                      </m:den>
                    </m:f>
                    <m:r>
                      <a:rPr lang="nl-BE" sz="3200" i="1">
                        <a:latin typeface="Cambria Math" panose="02040503050406030204" pitchFamily="18" charset="0"/>
                      </a:rPr>
                      <m:t>=2</m:t>
                    </m:r>
                    <m:r>
                      <a:rPr lang="nl-BE" sz="3200" i="1">
                        <a:latin typeface="Cambria Math" panose="02040503050406030204" pitchFamily="18" charset="0"/>
                        <a:ea typeface="Cambria Math" panose="02040503050406030204" pitchFamily="18" charset="0"/>
                      </a:rPr>
                      <m:t>𝜋</m:t>
                    </m:r>
                    <m:r>
                      <a:rPr lang="nl-BE" sz="3200" i="1">
                        <a:latin typeface="Cambria Math" panose="02040503050406030204" pitchFamily="18" charset="0"/>
                        <a:ea typeface="Cambria Math" panose="02040503050406030204" pitchFamily="18" charset="0"/>
                      </a:rPr>
                      <m:t>.</m:t>
                    </m:r>
                    <m:r>
                      <a:rPr lang="nl-BE" sz="3200" i="1">
                        <a:latin typeface="Cambria Math" panose="02040503050406030204" pitchFamily="18" charset="0"/>
                        <a:ea typeface="Cambria Math" panose="02040503050406030204" pitchFamily="18" charset="0"/>
                      </a:rPr>
                      <m:t>𝑟</m:t>
                    </m:r>
                    <m:r>
                      <a:rPr lang="nl-BE" sz="3200" i="1">
                        <a:latin typeface="Cambria Math" panose="02040503050406030204" pitchFamily="18" charset="0"/>
                        <a:ea typeface="Cambria Math" panose="02040503050406030204" pitchFamily="18" charset="0"/>
                      </a:rPr>
                      <m:t>.</m:t>
                    </m:r>
                    <m:r>
                      <a:rPr lang="nl-BE" sz="3200" i="1">
                        <a:latin typeface="Cambria Math" panose="02040503050406030204" pitchFamily="18" charset="0"/>
                        <a:ea typeface="Cambria Math" panose="02040503050406030204" pitchFamily="18" charset="0"/>
                      </a:rPr>
                      <m:t>𝑓</m:t>
                    </m:r>
                    <m:r>
                      <a:rPr lang="nl-BE" sz="3200" i="1">
                        <a:latin typeface="Cambria Math" panose="02040503050406030204" pitchFamily="18" charset="0"/>
                        <a:ea typeface="Cambria Math" panose="02040503050406030204" pitchFamily="18" charset="0"/>
                      </a:rPr>
                      <m:t>=2</m:t>
                    </m:r>
                    <m:r>
                      <a:rPr lang="nl-BE" sz="3200" i="1">
                        <a:latin typeface="Cambria Math" panose="02040503050406030204" pitchFamily="18" charset="0"/>
                        <a:ea typeface="Cambria Math" panose="02040503050406030204" pitchFamily="18" charset="0"/>
                      </a:rPr>
                      <m:t>𝜋</m:t>
                    </m:r>
                    <m:r>
                      <a:rPr lang="nl-BE" sz="3200" i="1">
                        <a:latin typeface="Cambria Math" panose="02040503050406030204" pitchFamily="18" charset="0"/>
                        <a:ea typeface="Cambria Math" panose="02040503050406030204" pitchFamily="18" charset="0"/>
                      </a:rPr>
                      <m:t> . 3,75 . 8,00=188</m:t>
                    </m:r>
                    <m:f>
                      <m:fPr>
                        <m:ctrlPr>
                          <a:rPr lang="nl-BE" sz="3200" i="1">
                            <a:latin typeface="Cambria Math" panose="02040503050406030204" pitchFamily="18" charset="0"/>
                            <a:ea typeface="Cambria Math" panose="02040503050406030204" pitchFamily="18" charset="0"/>
                          </a:rPr>
                        </m:ctrlPr>
                      </m:fPr>
                      <m:num>
                        <m:r>
                          <a:rPr lang="nl-BE" sz="3200" i="1">
                            <a:latin typeface="Cambria Math" panose="02040503050406030204" pitchFamily="18" charset="0"/>
                            <a:ea typeface="Cambria Math" panose="02040503050406030204" pitchFamily="18" charset="0"/>
                          </a:rPr>
                          <m:t>𝑚</m:t>
                        </m:r>
                      </m:num>
                      <m:den>
                        <m:r>
                          <a:rPr lang="nl-BE" sz="3200" i="1">
                            <a:latin typeface="Cambria Math" panose="02040503050406030204" pitchFamily="18" charset="0"/>
                            <a:ea typeface="Cambria Math" panose="02040503050406030204" pitchFamily="18" charset="0"/>
                          </a:rPr>
                          <m:t>𝑠</m:t>
                        </m:r>
                      </m:den>
                    </m:f>
                  </m:oMath>
                </a14:m>
                <a:endParaRPr lang="nl-BE" sz="3200" dirty="0">
                  <a:ea typeface="Cambria Math" panose="02040503050406030204" pitchFamily="18" charset="0"/>
                </a:endParaRPr>
              </a:p>
              <a:p>
                <a:pPr eaLnBrk="1" hangingPunct="1">
                  <a:defRPr/>
                </a:pPr>
                <a14:m>
                  <m:oMath xmlns:m="http://schemas.openxmlformats.org/officeDocument/2006/math">
                    <m:r>
                      <a:rPr lang="nl-BE" sz="3200" i="1">
                        <a:latin typeface="Cambria Math" panose="02040503050406030204" pitchFamily="18" charset="0"/>
                      </a:rPr>
                      <m:t>𝑣</m:t>
                    </m:r>
                    <m:r>
                      <a:rPr lang="nl-BE" sz="3200" i="1">
                        <a:latin typeface="Cambria Math" panose="02040503050406030204" pitchFamily="18" charset="0"/>
                      </a:rPr>
                      <m:t>=188.  3,60=679 </m:t>
                    </m:r>
                    <m:r>
                      <a:rPr lang="nl-BE" sz="3200" i="1">
                        <a:latin typeface="Cambria Math" panose="02040503050406030204" pitchFamily="18" charset="0"/>
                      </a:rPr>
                      <m:t>𝑘𝑚</m:t>
                    </m:r>
                    <m:r>
                      <a:rPr lang="nl-BE" sz="3200" i="1">
                        <a:latin typeface="Cambria Math" panose="02040503050406030204" pitchFamily="18" charset="0"/>
                      </a:rPr>
                      <m:t>/</m:t>
                    </m:r>
                    <m:r>
                      <a:rPr lang="nl-BE" sz="3200" i="1">
                        <a:latin typeface="Cambria Math" panose="02040503050406030204" pitchFamily="18" charset="0"/>
                      </a:rPr>
                      <m:t>h</m:t>
                    </m:r>
                  </m:oMath>
                </a14:m>
                <a:endParaRPr lang="nl-BE" sz="3200" dirty="0"/>
              </a:p>
              <a:p>
                <a:pPr eaLnBrk="1" hangingPunct="1">
                  <a:defRPr/>
                </a:pPr>
                <a:endParaRPr lang="nl-NL" sz="2400" dirty="0"/>
              </a:p>
            </p:txBody>
          </p:sp>
        </mc:Choice>
        <mc:Fallback xmlns="">
          <p:sp>
            <p:nvSpPr>
              <p:cNvPr id="3075" name="Rectangle 3"/>
              <p:cNvSpPr>
                <a:spLocks noGrp="1" noRot="1" noChangeAspect="1" noMove="1" noResize="1" noEditPoints="1" noAdjustHandles="1" noChangeArrowheads="1" noChangeShapeType="1" noTextEdit="1"/>
              </p:cNvSpPr>
              <p:nvPr>
                <p:ph type="body" idx="1"/>
              </p:nvPr>
            </p:nvSpPr>
            <p:spPr>
              <a:xfrm>
                <a:off x="407368" y="1052737"/>
                <a:ext cx="11593288" cy="5472607"/>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1992387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p:txBody>
          <a:bodyPr/>
          <a:lstStyle/>
          <a:p>
            <a:pPr eaLnBrk="1" hangingPunct="1">
              <a:defRPr/>
            </a:pPr>
            <a:r>
              <a:rPr lang="nl-BE"/>
              <a:t>Opgave B</a:t>
            </a:r>
            <a:endParaRPr lang="nl-NL"/>
          </a:p>
        </p:txBody>
      </p:sp>
      <p:sp>
        <p:nvSpPr>
          <p:cNvPr id="4099" name="Rectangle 3"/>
          <p:cNvSpPr>
            <a:spLocks noGrp="1" noRot="1" noChangeArrowheads="1"/>
          </p:cNvSpPr>
          <p:nvPr>
            <p:ph idx="1"/>
          </p:nvPr>
        </p:nvSpPr>
        <p:spPr/>
        <p:txBody>
          <a:bodyPr/>
          <a:lstStyle/>
          <a:p>
            <a:pPr eaLnBrk="1" hangingPunct="1">
              <a:defRPr/>
            </a:pPr>
            <a:r>
              <a:rPr lang="nl-BE"/>
              <a:t>Wat is de periode van de lange wijzer van een normale klok?</a:t>
            </a:r>
            <a:endParaRPr lang="nl-NL"/>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a:xfrm>
            <a:off x="1825625" y="-90264"/>
            <a:ext cx="8540750" cy="1143000"/>
          </a:xfrm>
        </p:spPr>
        <p:txBody>
          <a:bodyPr/>
          <a:lstStyle/>
          <a:p>
            <a:pPr eaLnBrk="1" hangingPunct="1">
              <a:defRPr/>
            </a:pPr>
            <a:r>
              <a:rPr lang="nl-BE" dirty="0"/>
              <a:t>Opgave B</a:t>
            </a:r>
            <a:endParaRPr lang="nl-NL" dirty="0"/>
          </a:p>
        </p:txBody>
      </p:sp>
      <mc:AlternateContent xmlns:mc="http://schemas.openxmlformats.org/markup-compatibility/2006" xmlns:a14="http://schemas.microsoft.com/office/drawing/2010/main">
        <mc:Choice Requires="a14">
          <p:sp>
            <p:nvSpPr>
              <p:cNvPr id="4099" name="Rectangle 3"/>
              <p:cNvSpPr>
                <a:spLocks noGrp="1" noRot="1" noChangeArrowheads="1"/>
              </p:cNvSpPr>
              <p:nvPr>
                <p:ph type="body" idx="1"/>
              </p:nvPr>
            </p:nvSpPr>
            <p:spPr>
              <a:xfrm>
                <a:off x="1825625" y="980729"/>
                <a:ext cx="8540750" cy="4498975"/>
              </a:xfrm>
            </p:spPr>
            <p:txBody>
              <a:bodyPr/>
              <a:lstStyle/>
              <a:p>
                <a:pPr eaLnBrk="1" hangingPunct="1">
                  <a:defRPr/>
                </a:pPr>
                <a:r>
                  <a:rPr lang="nl-BE" dirty="0"/>
                  <a:t>Wat is de periode van de lange wijzer van een normale klok?</a:t>
                </a:r>
              </a:p>
              <a:p>
                <a:pPr eaLnBrk="1" hangingPunct="1">
                  <a:defRPr/>
                </a:pPr>
                <a14:m>
                  <m:oMath xmlns:m="http://schemas.openxmlformats.org/officeDocument/2006/math">
                    <m:r>
                      <a:rPr lang="nl-BE" b="0" i="1" smtClean="0">
                        <a:latin typeface="Cambria Math" panose="02040503050406030204" pitchFamily="18" charset="0"/>
                      </a:rPr>
                      <m:t>𝑇</m:t>
                    </m:r>
                    <m:r>
                      <a:rPr lang="nl-BE" b="0" i="1" smtClean="0">
                        <a:latin typeface="Cambria Math" panose="02040503050406030204" pitchFamily="18" charset="0"/>
                      </a:rPr>
                      <m:t>=3600 </m:t>
                    </m:r>
                    <m:r>
                      <a:rPr lang="nl-BE" b="0" i="1" smtClean="0">
                        <a:latin typeface="Cambria Math" panose="02040503050406030204" pitchFamily="18" charset="0"/>
                      </a:rPr>
                      <m:t>𝑠</m:t>
                    </m:r>
                    <m:r>
                      <a:rPr lang="nl-BE" b="0" i="1" smtClean="0">
                        <a:latin typeface="Cambria Math" panose="02040503050406030204" pitchFamily="18" charset="0"/>
                      </a:rPr>
                      <m:t> </m:t>
                    </m:r>
                  </m:oMath>
                </a14:m>
                <a:endParaRPr lang="nl-BE" b="0" dirty="0"/>
              </a:p>
              <a:p>
                <a:pPr eaLnBrk="1" hangingPunct="1">
                  <a:defRPr/>
                </a:pPr>
                <a:endParaRPr lang="nl-NL" dirty="0"/>
              </a:p>
            </p:txBody>
          </p:sp>
        </mc:Choice>
        <mc:Fallback xmlns="">
          <p:sp>
            <p:nvSpPr>
              <p:cNvPr id="4099" name="Rectangle 3"/>
              <p:cNvSpPr>
                <a:spLocks noGrp="1" noRot="1" noChangeAspect="1" noMove="1" noResize="1" noEditPoints="1" noAdjustHandles="1" noChangeArrowheads="1" noChangeShapeType="1" noTextEdit="1"/>
              </p:cNvSpPr>
              <p:nvPr>
                <p:ph type="body" idx="1"/>
              </p:nvPr>
            </p:nvSpPr>
            <p:spPr>
              <a:xfrm>
                <a:off x="1825625" y="980729"/>
                <a:ext cx="8540750" cy="4498975"/>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3965030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rrowheads="1"/>
          </p:cNvSpPr>
          <p:nvPr>
            <p:ph type="title"/>
          </p:nvPr>
        </p:nvSpPr>
        <p:spPr/>
        <p:txBody>
          <a:bodyPr/>
          <a:lstStyle/>
          <a:p>
            <a:pPr eaLnBrk="1" hangingPunct="1">
              <a:defRPr/>
            </a:pPr>
            <a:r>
              <a:rPr lang="nl-BE"/>
              <a:t>Opgave C</a:t>
            </a:r>
            <a:endParaRPr lang="nl-NL"/>
          </a:p>
        </p:txBody>
      </p:sp>
      <p:sp>
        <p:nvSpPr>
          <p:cNvPr id="5123" name="Rectangle 3"/>
          <p:cNvSpPr>
            <a:spLocks noGrp="1" noRot="1" noChangeArrowheads="1"/>
          </p:cNvSpPr>
          <p:nvPr>
            <p:ph idx="1"/>
          </p:nvPr>
        </p:nvSpPr>
        <p:spPr>
          <a:xfrm>
            <a:off x="767408" y="1825625"/>
            <a:ext cx="11161240" cy="4351338"/>
          </a:xfrm>
        </p:spPr>
        <p:txBody>
          <a:bodyPr>
            <a:normAutofit/>
          </a:bodyPr>
          <a:lstStyle/>
          <a:p>
            <a:pPr eaLnBrk="1" hangingPunct="1">
              <a:defRPr/>
            </a:pPr>
            <a:r>
              <a:rPr lang="nl-BE" sz="3200" dirty="0"/>
              <a:t>Meet en bereken de periode en de frequentie van je hartslag.</a:t>
            </a:r>
            <a:endParaRPr lang="nl-NL"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p:txBody>
          <a:bodyPr/>
          <a:lstStyle/>
          <a:p>
            <a:pPr eaLnBrk="1" hangingPunct="1">
              <a:defRPr/>
            </a:pPr>
            <a:r>
              <a:rPr lang="nl-BE"/>
              <a:t>Opgave D</a:t>
            </a:r>
            <a:endParaRPr lang="nl-NL"/>
          </a:p>
        </p:txBody>
      </p:sp>
      <p:sp>
        <p:nvSpPr>
          <p:cNvPr id="6147" name="Rectangle 3"/>
          <p:cNvSpPr>
            <a:spLocks noGrp="1" noRot="1" noChangeArrowheads="1"/>
          </p:cNvSpPr>
          <p:nvPr>
            <p:ph idx="1"/>
          </p:nvPr>
        </p:nvSpPr>
        <p:spPr>
          <a:xfrm>
            <a:off x="623392" y="1825625"/>
            <a:ext cx="10730408" cy="4351338"/>
          </a:xfrm>
        </p:spPr>
        <p:txBody>
          <a:bodyPr>
            <a:normAutofit/>
          </a:bodyPr>
          <a:lstStyle/>
          <a:p>
            <a:pPr eaLnBrk="1" hangingPunct="1">
              <a:defRPr/>
            </a:pPr>
            <a:r>
              <a:rPr lang="nl-BE" sz="3600" dirty="0"/>
              <a:t>Met welke snelheid draait een bewoner op de evenaar rond de aardas?</a:t>
            </a:r>
            <a:endParaRPr lang="nl-NL"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p:txBody>
          <a:bodyPr/>
          <a:lstStyle/>
          <a:p>
            <a:pPr eaLnBrk="1" hangingPunct="1">
              <a:defRPr/>
            </a:pPr>
            <a:r>
              <a:rPr lang="nl-BE"/>
              <a:t>Opgave D</a:t>
            </a:r>
            <a:endParaRPr lang="nl-NL"/>
          </a:p>
        </p:txBody>
      </p:sp>
      <mc:AlternateContent xmlns:mc="http://schemas.openxmlformats.org/markup-compatibility/2006" xmlns:a14="http://schemas.microsoft.com/office/drawing/2010/main">
        <mc:Choice Requires="a14">
          <p:sp>
            <p:nvSpPr>
              <p:cNvPr id="6147" name="Rectangle 3"/>
              <p:cNvSpPr>
                <a:spLocks noGrp="1" noRot="1" noChangeArrowheads="1"/>
              </p:cNvSpPr>
              <p:nvPr>
                <p:ph type="body" idx="1"/>
              </p:nvPr>
            </p:nvSpPr>
            <p:spPr/>
            <p:txBody>
              <a:bodyPr/>
              <a:lstStyle/>
              <a:p>
                <a:pPr eaLnBrk="1" hangingPunct="1">
                  <a:defRPr/>
                </a:pPr>
                <a:r>
                  <a:rPr lang="nl-BE" dirty="0"/>
                  <a:t>Met welke snelheid draait een bewoner op de evenaar rond de aardas?</a:t>
                </a:r>
              </a:p>
              <a:p>
                <a:pPr eaLnBrk="1" hangingPunct="1">
                  <a:defRPr/>
                </a:pPr>
                <a:endParaRPr lang="nl-BE" dirty="0"/>
              </a:p>
              <a:p>
                <a:pPr eaLnBrk="1" hangingPunct="1">
                  <a:defRPr/>
                </a:pPr>
                <a14:m>
                  <m:oMath xmlns:m="http://schemas.openxmlformats.org/officeDocument/2006/math">
                    <m:sSub>
                      <m:sSubPr>
                        <m:ctrlPr>
                          <a:rPr lang="nl-NL" i="1" smtClean="0">
                            <a:latin typeface="Cambria Math" panose="02040503050406030204" pitchFamily="18" charset="0"/>
                          </a:rPr>
                        </m:ctrlPr>
                      </m:sSubPr>
                      <m:e>
                        <m:r>
                          <a:rPr lang="nl-BE" b="0" i="1" smtClean="0">
                            <a:latin typeface="Cambria Math" panose="02040503050406030204" pitchFamily="18" charset="0"/>
                          </a:rPr>
                          <m:t>𝑟</m:t>
                        </m:r>
                      </m:e>
                      <m:sub>
                        <m:r>
                          <a:rPr lang="nl-BE" b="0" i="1" smtClean="0">
                            <a:latin typeface="Cambria Math" panose="02040503050406030204" pitchFamily="18" charset="0"/>
                          </a:rPr>
                          <m:t>𝑎𝑎𝑟𝑑𝑒</m:t>
                        </m:r>
                      </m:sub>
                    </m:sSub>
                    <m:r>
                      <a:rPr lang="nl-BE" b="0" i="1" smtClean="0">
                        <a:latin typeface="Cambria Math" panose="02040503050406030204" pitchFamily="18" charset="0"/>
                      </a:rPr>
                      <m:t>=6370 </m:t>
                    </m:r>
                    <m:r>
                      <a:rPr lang="nl-BE" b="0" i="1" smtClean="0">
                        <a:latin typeface="Cambria Math" panose="02040503050406030204" pitchFamily="18" charset="0"/>
                      </a:rPr>
                      <m:t>𝑘𝑚</m:t>
                    </m:r>
                    <m:r>
                      <a:rPr lang="nl-BE" b="0" i="1" smtClean="0">
                        <a:latin typeface="Cambria Math" panose="02040503050406030204" pitchFamily="18" charset="0"/>
                      </a:rPr>
                      <m:t>=6370.</m:t>
                    </m:r>
                    <m:sSup>
                      <m:sSupPr>
                        <m:ctrlPr>
                          <a:rPr lang="nl-BE" b="0" i="1" smtClean="0">
                            <a:latin typeface="Cambria Math" panose="02040503050406030204" pitchFamily="18" charset="0"/>
                          </a:rPr>
                        </m:ctrlPr>
                      </m:sSupPr>
                      <m:e>
                        <m:r>
                          <a:rPr lang="nl-BE" b="0" i="1" smtClean="0">
                            <a:latin typeface="Cambria Math" panose="02040503050406030204" pitchFamily="18" charset="0"/>
                          </a:rPr>
                          <m:t>10</m:t>
                        </m:r>
                      </m:e>
                      <m:sup>
                        <m:r>
                          <a:rPr lang="nl-BE" b="0" i="1" smtClean="0">
                            <a:latin typeface="Cambria Math" panose="02040503050406030204" pitchFamily="18" charset="0"/>
                          </a:rPr>
                          <m:t>3</m:t>
                        </m:r>
                      </m:sup>
                    </m:sSup>
                    <m:r>
                      <a:rPr lang="nl-BE" b="0" i="1" smtClean="0">
                        <a:latin typeface="Cambria Math" panose="02040503050406030204" pitchFamily="18" charset="0"/>
                      </a:rPr>
                      <m:t> </m:t>
                    </m:r>
                    <m:r>
                      <a:rPr lang="nl-BE" b="0" i="1" smtClean="0">
                        <a:latin typeface="Cambria Math" panose="02040503050406030204" pitchFamily="18" charset="0"/>
                      </a:rPr>
                      <m:t>𝑚</m:t>
                    </m:r>
                  </m:oMath>
                </a14:m>
                <a:endParaRPr lang="nl-BE" b="0" dirty="0"/>
              </a:p>
              <a:p>
                <a:pPr eaLnBrk="1" hangingPunct="1">
                  <a:defRPr/>
                </a:pPr>
                <a14:m>
                  <m:oMath xmlns:m="http://schemas.openxmlformats.org/officeDocument/2006/math">
                    <m:r>
                      <a:rPr lang="nl-BE" b="0" i="1" smtClean="0">
                        <a:latin typeface="Cambria Math" panose="02040503050406030204" pitchFamily="18" charset="0"/>
                      </a:rPr>
                      <m:t>𝑣</m:t>
                    </m:r>
                    <m:r>
                      <a:rPr lang="nl-BE" b="0" i="1" smtClean="0">
                        <a:latin typeface="Cambria Math" panose="02040503050406030204" pitchFamily="18" charset="0"/>
                      </a:rPr>
                      <m:t>=</m:t>
                    </m:r>
                    <m:f>
                      <m:fPr>
                        <m:ctrlPr>
                          <a:rPr lang="nl-BE" b="0" i="1" smtClean="0">
                            <a:latin typeface="Cambria Math" panose="02040503050406030204" pitchFamily="18" charset="0"/>
                          </a:rPr>
                        </m:ctrlPr>
                      </m:fPr>
                      <m:num>
                        <m:r>
                          <a:rPr lang="nl-BE" b="0" i="1" smtClean="0">
                            <a:latin typeface="Cambria Math" panose="02040503050406030204" pitchFamily="18" charset="0"/>
                          </a:rPr>
                          <m:t>2</m:t>
                        </m:r>
                        <m:r>
                          <a:rPr lang="nl-BE" b="0" i="1" smtClean="0">
                            <a:latin typeface="Cambria Math" panose="02040503050406030204" pitchFamily="18" charset="0"/>
                            <a:ea typeface="Cambria Math" panose="02040503050406030204" pitchFamily="18" charset="0"/>
                          </a:rPr>
                          <m:t>𝜋</m:t>
                        </m:r>
                        <m:r>
                          <a:rPr lang="nl-BE" b="0" i="1" smtClean="0">
                            <a:latin typeface="Cambria Math" panose="02040503050406030204" pitchFamily="18" charset="0"/>
                            <a:ea typeface="Cambria Math" panose="02040503050406030204" pitchFamily="18" charset="0"/>
                          </a:rPr>
                          <m:t>.6370.</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3</m:t>
                            </m:r>
                          </m:sup>
                        </m:sSup>
                      </m:num>
                      <m:den>
                        <m:r>
                          <a:rPr lang="nl-BE" b="0" i="1" smtClean="0">
                            <a:latin typeface="Cambria Math" panose="02040503050406030204" pitchFamily="18" charset="0"/>
                          </a:rPr>
                          <m:t>24,00 . 3600</m:t>
                        </m:r>
                      </m:den>
                    </m:f>
                    <m:r>
                      <a:rPr lang="nl-BE" b="0" i="1" smtClean="0">
                        <a:latin typeface="Cambria Math" panose="02040503050406030204" pitchFamily="18" charset="0"/>
                      </a:rPr>
                      <m:t>=463,2</m:t>
                    </m:r>
                    <m:f>
                      <m:fPr>
                        <m:ctrlPr>
                          <a:rPr lang="nl-BE" b="0" i="1" smtClean="0">
                            <a:latin typeface="Cambria Math" panose="02040503050406030204" pitchFamily="18" charset="0"/>
                          </a:rPr>
                        </m:ctrlPr>
                      </m:fPr>
                      <m:num>
                        <m:r>
                          <a:rPr lang="nl-BE" b="0" i="1" smtClean="0">
                            <a:latin typeface="Cambria Math" panose="02040503050406030204" pitchFamily="18" charset="0"/>
                          </a:rPr>
                          <m:t>𝑚</m:t>
                        </m:r>
                      </m:num>
                      <m:den>
                        <m:r>
                          <a:rPr lang="nl-BE" b="0" i="1" smtClean="0">
                            <a:latin typeface="Cambria Math" panose="02040503050406030204" pitchFamily="18" charset="0"/>
                          </a:rPr>
                          <m:t>𝑠</m:t>
                        </m:r>
                      </m:den>
                    </m:f>
                    <m:r>
                      <a:rPr lang="nl-BE" b="0" i="1" smtClean="0">
                        <a:latin typeface="Cambria Math" panose="02040503050406030204" pitchFamily="18" charset="0"/>
                      </a:rPr>
                      <m:t>=1667</m:t>
                    </m:r>
                    <m:r>
                      <a:rPr lang="nl-BE" b="0" i="1" smtClean="0">
                        <a:latin typeface="Cambria Math" panose="02040503050406030204" pitchFamily="18" charset="0"/>
                      </a:rPr>
                      <m:t>𝑘𝑚</m:t>
                    </m:r>
                    <m:r>
                      <a:rPr lang="nl-BE" b="0" i="1" smtClean="0">
                        <a:latin typeface="Cambria Math" panose="02040503050406030204" pitchFamily="18" charset="0"/>
                      </a:rPr>
                      <m:t>/</m:t>
                    </m:r>
                    <m:r>
                      <a:rPr lang="nl-BE" b="0" i="1" smtClean="0">
                        <a:latin typeface="Cambria Math" panose="02040503050406030204" pitchFamily="18" charset="0"/>
                      </a:rPr>
                      <m:t>h</m:t>
                    </m:r>
                  </m:oMath>
                </a14:m>
                <a:endParaRPr lang="nl-NL" dirty="0"/>
              </a:p>
            </p:txBody>
          </p:sp>
        </mc:Choice>
        <mc:Fallback xmlns="">
          <p:sp>
            <p:nvSpPr>
              <p:cNvPr id="6147" name="Rectangle 3"/>
              <p:cNvSpPr>
                <a:spLocks noGrp="1" noRot="1" noChangeAspect="1" noMove="1" noResize="1" noEditPoints="1" noAdjustHandles="1" noChangeArrowheads="1" noChangeShapeType="1" noTextEdit="1"/>
              </p:cNvSpPr>
              <p:nvPr>
                <p:ph type="body" idx="1"/>
              </p:nvPr>
            </p:nvSpPr>
            <p:spPr>
              <a:blipFill>
                <a:blip r:embed="rId2"/>
                <a:stretch>
                  <a:fillRect l="-1141" t="-2033"/>
                </a:stretch>
              </a:blipFill>
            </p:spPr>
            <p:txBody>
              <a:bodyPr/>
              <a:lstStyle/>
              <a:p>
                <a:r>
                  <a:rPr lang="nl-BE">
                    <a:noFill/>
                  </a:rPr>
                  <a:t> </a:t>
                </a:r>
              </a:p>
            </p:txBody>
          </p:sp>
        </mc:Fallback>
      </mc:AlternateContent>
    </p:spTree>
    <p:extLst>
      <p:ext uri="{BB962C8B-B14F-4D97-AF65-F5344CB8AC3E}">
        <p14:creationId xmlns:p14="http://schemas.microsoft.com/office/powerpoint/2010/main" val="3619371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p:txBody>
          <a:bodyPr/>
          <a:lstStyle/>
          <a:p>
            <a:pPr eaLnBrk="1" hangingPunct="1">
              <a:defRPr/>
            </a:pPr>
            <a:r>
              <a:rPr lang="nl-BE"/>
              <a:t>Opgave E</a:t>
            </a:r>
            <a:endParaRPr lang="nl-NL"/>
          </a:p>
        </p:txBody>
      </p:sp>
      <p:sp>
        <p:nvSpPr>
          <p:cNvPr id="7171" name="Rectangle 3"/>
          <p:cNvSpPr>
            <a:spLocks noGrp="1" noRot="1" noChangeArrowheads="1"/>
          </p:cNvSpPr>
          <p:nvPr>
            <p:ph idx="1"/>
          </p:nvPr>
        </p:nvSpPr>
        <p:spPr>
          <a:xfrm>
            <a:off x="551384" y="1825625"/>
            <a:ext cx="11233248" cy="4351338"/>
          </a:xfrm>
        </p:spPr>
        <p:txBody>
          <a:bodyPr>
            <a:normAutofit/>
          </a:bodyPr>
          <a:lstStyle/>
          <a:p>
            <a:pPr eaLnBrk="1" hangingPunct="1">
              <a:defRPr/>
            </a:pPr>
            <a:r>
              <a:rPr lang="nl-BE" sz="3200" dirty="0"/>
              <a:t>Met welke snelheid draai jij hier op 51° NB rond de aardas?</a:t>
            </a:r>
            <a:endParaRPr lang="nl-NL" sz="3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p:txBody>
          <a:bodyPr/>
          <a:lstStyle/>
          <a:p>
            <a:pPr eaLnBrk="1" hangingPunct="1">
              <a:defRPr/>
            </a:pPr>
            <a:r>
              <a:rPr lang="nl-BE"/>
              <a:t>Opgave E</a:t>
            </a:r>
            <a:endParaRPr lang="nl-NL"/>
          </a:p>
        </p:txBody>
      </p:sp>
      <p:sp>
        <p:nvSpPr>
          <p:cNvPr id="7171" name="Rectangle 3"/>
          <p:cNvSpPr>
            <a:spLocks noGrp="1" noRot="1" noChangeArrowheads="1"/>
          </p:cNvSpPr>
          <p:nvPr>
            <p:ph idx="1"/>
          </p:nvPr>
        </p:nvSpPr>
        <p:spPr>
          <a:xfrm>
            <a:off x="551384" y="1600200"/>
            <a:ext cx="11233248" cy="5029200"/>
          </a:xfrm>
        </p:spPr>
        <p:txBody>
          <a:bodyPr>
            <a:normAutofit/>
          </a:bodyPr>
          <a:lstStyle/>
          <a:p>
            <a:pPr eaLnBrk="1" hangingPunct="1">
              <a:defRPr/>
            </a:pPr>
            <a:r>
              <a:rPr lang="nl-BE" sz="3200" dirty="0"/>
              <a:t>Met welke snelheid draai jij hier op 51° NB rond de aardas?</a:t>
            </a:r>
          </a:p>
          <a:p>
            <a:pPr eaLnBrk="1" hangingPunct="1">
              <a:defRPr/>
            </a:pPr>
            <a:endParaRPr lang="nl-BE" sz="3200" dirty="0"/>
          </a:p>
          <a:p>
            <a:pPr eaLnBrk="1" hangingPunct="1">
              <a:defRPr/>
            </a:pPr>
            <a:endParaRPr lang="nl-BE" sz="3200" dirty="0"/>
          </a:p>
          <a:p>
            <a:pPr eaLnBrk="1" hangingPunct="1">
              <a:defRPr/>
            </a:pPr>
            <a:endParaRPr lang="nl-BE" sz="3200" dirty="0"/>
          </a:p>
          <a:p>
            <a:pPr eaLnBrk="1" hangingPunct="1">
              <a:defRPr/>
            </a:pPr>
            <a:endParaRPr lang="nl-BE" sz="3200" dirty="0"/>
          </a:p>
          <a:p>
            <a:pPr marL="0" indent="0">
              <a:buNone/>
              <a:defRPr/>
            </a:pPr>
            <a:endParaRPr lang="nl-BE" sz="3200" dirty="0"/>
          </a:p>
          <a:p>
            <a:pPr eaLnBrk="1" hangingPunct="1">
              <a:defRPr/>
            </a:pPr>
            <a:r>
              <a:rPr lang="nl-BE" sz="3200" i="1" dirty="0"/>
              <a:t>Benadering → aarde is in werkelijkheid afgeplat aan de polen</a:t>
            </a:r>
            <a:endParaRPr lang="nl-NL" sz="3200" i="1" dirty="0"/>
          </a:p>
        </p:txBody>
      </p:sp>
      <p:pic>
        <p:nvPicPr>
          <p:cNvPr id="4" name="Afbeelding 3">
            <a:extLst>
              <a:ext uri="{FF2B5EF4-FFF2-40B4-BE49-F238E27FC236}">
                <a16:creationId xmlns:a16="http://schemas.microsoft.com/office/drawing/2014/main" id="{19EF5C01-4502-4807-8CC1-5694CAB2BA07}"/>
              </a:ext>
            </a:extLst>
          </p:cNvPr>
          <p:cNvPicPr>
            <a:picLocks noChangeAspect="1"/>
          </p:cNvPicPr>
          <p:nvPr/>
        </p:nvPicPr>
        <p:blipFill>
          <a:blip r:embed="rId2"/>
          <a:stretch>
            <a:fillRect/>
          </a:stretch>
        </p:blipFill>
        <p:spPr>
          <a:xfrm>
            <a:off x="4511824" y="2564904"/>
            <a:ext cx="2010957" cy="2010957"/>
          </a:xfrm>
          <a:prstGeom prst="rect">
            <a:avLst/>
          </a:prstGeom>
        </p:spPr>
      </p:pic>
    </p:spTree>
    <p:extLst>
      <p:ext uri="{BB962C8B-B14F-4D97-AF65-F5344CB8AC3E}">
        <p14:creationId xmlns:p14="http://schemas.microsoft.com/office/powerpoint/2010/main" val="2548945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p:txBody>
          <a:bodyPr/>
          <a:lstStyle/>
          <a:p>
            <a:pPr eaLnBrk="1" hangingPunct="1">
              <a:defRPr/>
            </a:pPr>
            <a:r>
              <a:rPr lang="nl-BE"/>
              <a:t>Opgave E</a:t>
            </a:r>
            <a:endParaRPr lang="nl-NL"/>
          </a:p>
        </p:txBody>
      </p:sp>
      <p:sp>
        <p:nvSpPr>
          <p:cNvPr id="7171" name="Rectangle 3"/>
          <p:cNvSpPr>
            <a:spLocks noGrp="1" noRot="1" noChangeArrowheads="1"/>
          </p:cNvSpPr>
          <p:nvPr>
            <p:ph idx="1"/>
          </p:nvPr>
        </p:nvSpPr>
        <p:spPr>
          <a:xfrm>
            <a:off x="479376" y="1600200"/>
            <a:ext cx="11449272" cy="5029200"/>
          </a:xfrm>
        </p:spPr>
        <p:txBody>
          <a:bodyPr>
            <a:normAutofit lnSpcReduction="10000"/>
          </a:bodyPr>
          <a:lstStyle/>
          <a:p>
            <a:pPr eaLnBrk="1" hangingPunct="1">
              <a:defRPr/>
            </a:pPr>
            <a:r>
              <a:rPr lang="nl-BE" sz="3200" dirty="0"/>
              <a:t>Met welke snelheid draai jij hier op 51° NB rond de aardas?</a:t>
            </a:r>
          </a:p>
          <a:p>
            <a:pPr eaLnBrk="1" hangingPunct="1">
              <a:defRPr/>
            </a:pPr>
            <a:endParaRPr lang="nl-BE" sz="3200" dirty="0"/>
          </a:p>
          <a:p>
            <a:pPr eaLnBrk="1" hangingPunct="1">
              <a:defRPr/>
            </a:pPr>
            <a:endParaRPr lang="nl-BE" sz="3200" dirty="0"/>
          </a:p>
          <a:p>
            <a:pPr eaLnBrk="1" hangingPunct="1">
              <a:defRPr/>
            </a:pPr>
            <a:endParaRPr lang="nl-BE" sz="3200" dirty="0"/>
          </a:p>
          <a:p>
            <a:pPr eaLnBrk="1" hangingPunct="1">
              <a:defRPr/>
            </a:pPr>
            <a:endParaRPr lang="nl-BE" sz="3200" dirty="0"/>
          </a:p>
          <a:p>
            <a:pPr marL="0" indent="0">
              <a:buNone/>
              <a:defRPr/>
            </a:pPr>
            <a:endParaRPr lang="nl-BE" sz="3200" dirty="0"/>
          </a:p>
          <a:p>
            <a:pPr marL="0" indent="0">
              <a:buNone/>
              <a:defRPr/>
            </a:pPr>
            <a:endParaRPr lang="nl-BE" sz="3200" dirty="0"/>
          </a:p>
          <a:p>
            <a:pPr marL="0" indent="0">
              <a:buNone/>
              <a:defRPr/>
            </a:pPr>
            <a:endParaRPr lang="nl-BE" sz="3200" dirty="0"/>
          </a:p>
          <a:p>
            <a:pPr eaLnBrk="1" hangingPunct="1">
              <a:defRPr/>
            </a:pPr>
            <a:r>
              <a:rPr lang="nl-BE" sz="3200" i="1" dirty="0"/>
              <a:t>Benadering → aarde is in werkelijkheid afgeplat aan de polen</a:t>
            </a:r>
            <a:endParaRPr lang="nl-NL" sz="3200" i="1" dirty="0"/>
          </a:p>
        </p:txBody>
      </p:sp>
      <mc:AlternateContent xmlns:mc="http://schemas.openxmlformats.org/markup-compatibility/2006" xmlns:a14="http://schemas.microsoft.com/office/drawing/2010/main">
        <mc:Choice Requires="a14">
          <p:sp>
            <p:nvSpPr>
              <p:cNvPr id="3" name="Rechthoek 2">
                <a:extLst>
                  <a:ext uri="{FF2B5EF4-FFF2-40B4-BE49-F238E27FC236}">
                    <a16:creationId xmlns:a16="http://schemas.microsoft.com/office/drawing/2014/main" id="{72FD87F6-0164-4DC8-B805-40F477E9208A}"/>
                  </a:ext>
                </a:extLst>
              </p:cNvPr>
              <p:cNvSpPr/>
              <p:nvPr/>
            </p:nvSpPr>
            <p:spPr>
              <a:xfrm>
                <a:off x="1847528" y="2636912"/>
                <a:ext cx="7632848" cy="2349874"/>
              </a:xfrm>
              <a:prstGeom prst="rect">
                <a:avLst/>
              </a:prstGeom>
            </p:spPr>
            <p:txBody>
              <a:bodyPr wrap="square">
                <a:spAutoFit/>
              </a:bodyPr>
              <a:lstStyle/>
              <a:p>
                <a:pPr algn="ctr" eaLnBrk="1" hangingPunct="1">
                  <a:defRPr/>
                </a:pPr>
                <a14:m>
                  <m:oMathPara xmlns:m="http://schemas.openxmlformats.org/officeDocument/2006/math">
                    <m:oMathParaPr>
                      <m:jc m:val="centerGroup"/>
                    </m:oMathParaPr>
                    <m:oMath xmlns:m="http://schemas.openxmlformats.org/officeDocument/2006/math">
                      <m:sSub>
                        <m:sSubPr>
                          <m:ctrlPr>
                            <a:rPr lang="nl-NL" sz="2400" i="1" smtClean="0">
                              <a:latin typeface="Cambria Math" panose="02040503050406030204" pitchFamily="18" charset="0"/>
                            </a:rPr>
                          </m:ctrlPr>
                        </m:sSubPr>
                        <m:e>
                          <m:r>
                            <a:rPr lang="nl-BE" sz="2400" i="1">
                              <a:latin typeface="Cambria Math" panose="02040503050406030204" pitchFamily="18" charset="0"/>
                            </a:rPr>
                            <m:t>𝑟</m:t>
                          </m:r>
                        </m:e>
                        <m:sub>
                          <m:r>
                            <a:rPr lang="nl-BE" sz="2400" i="1">
                              <a:latin typeface="Cambria Math" panose="02040503050406030204" pitchFamily="18" charset="0"/>
                            </a:rPr>
                            <m:t>𝑎𝑎𝑟𝑑𝑒</m:t>
                          </m:r>
                        </m:sub>
                      </m:sSub>
                      <m:r>
                        <a:rPr lang="nl-BE" sz="2400" i="1">
                          <a:latin typeface="Cambria Math" panose="02040503050406030204" pitchFamily="18" charset="0"/>
                        </a:rPr>
                        <m:t>=6370 </m:t>
                      </m:r>
                      <m:r>
                        <a:rPr lang="nl-BE" sz="2400" i="1">
                          <a:latin typeface="Cambria Math" panose="02040503050406030204" pitchFamily="18" charset="0"/>
                        </a:rPr>
                        <m:t>𝑘𝑚</m:t>
                      </m:r>
                      <m:r>
                        <a:rPr lang="nl-BE" sz="2400" i="1">
                          <a:latin typeface="Cambria Math" panose="02040503050406030204" pitchFamily="18" charset="0"/>
                        </a:rPr>
                        <m:t>=6370.</m:t>
                      </m:r>
                      <m:sSup>
                        <m:sSupPr>
                          <m:ctrlPr>
                            <a:rPr lang="nl-BE" sz="2400" i="1">
                              <a:latin typeface="Cambria Math" panose="02040503050406030204" pitchFamily="18" charset="0"/>
                            </a:rPr>
                          </m:ctrlPr>
                        </m:sSupPr>
                        <m:e>
                          <m:r>
                            <a:rPr lang="nl-BE" sz="2400" i="1">
                              <a:latin typeface="Cambria Math" panose="02040503050406030204" pitchFamily="18" charset="0"/>
                            </a:rPr>
                            <m:t>10</m:t>
                          </m:r>
                        </m:e>
                        <m:sup>
                          <m:r>
                            <a:rPr lang="nl-BE" sz="2400" i="1">
                              <a:latin typeface="Cambria Math" panose="02040503050406030204" pitchFamily="18" charset="0"/>
                            </a:rPr>
                            <m:t>3</m:t>
                          </m:r>
                        </m:sup>
                      </m:sSup>
                      <m:r>
                        <a:rPr lang="nl-BE" sz="2400" i="1">
                          <a:latin typeface="Cambria Math" panose="02040503050406030204" pitchFamily="18" charset="0"/>
                        </a:rPr>
                        <m:t> </m:t>
                      </m:r>
                      <m:r>
                        <a:rPr lang="nl-BE" sz="2400" i="1">
                          <a:latin typeface="Cambria Math" panose="02040503050406030204" pitchFamily="18" charset="0"/>
                        </a:rPr>
                        <m:t>𝑚</m:t>
                      </m:r>
                    </m:oMath>
                  </m:oMathPara>
                </a14:m>
                <a:endParaRPr lang="nl-BE" sz="2400" dirty="0"/>
              </a:p>
              <a:p>
                <a:pPr algn="ctr" eaLnBrk="1" hangingPunct="1">
                  <a:defRPr/>
                </a:pPr>
                <a:endParaRPr lang="nl-BE" sz="2400" dirty="0"/>
              </a:p>
              <a:p>
                <a:pPr algn="ctr" eaLnBrk="1" hangingPunct="1">
                  <a:defRPr/>
                </a:pPr>
                <a14:m>
                  <m:oMath xmlns:m="http://schemas.openxmlformats.org/officeDocument/2006/math">
                    <m:r>
                      <a:rPr lang="nl-BE" sz="2400" i="1">
                        <a:latin typeface="Cambria Math" panose="02040503050406030204" pitchFamily="18" charset="0"/>
                      </a:rPr>
                      <m:t>𝑥</m:t>
                    </m:r>
                    <m:r>
                      <a:rPr lang="nl-BE" sz="2400" i="1">
                        <a:latin typeface="Cambria Math" panose="02040503050406030204" pitchFamily="18" charset="0"/>
                      </a:rPr>
                      <m:t>=</m:t>
                    </m:r>
                    <m:r>
                      <a:rPr lang="nl-BE" sz="2400">
                        <a:latin typeface="Cambria Math" panose="02040503050406030204" pitchFamily="18" charset="0"/>
                      </a:rPr>
                      <m:t>6370.</m:t>
                    </m:r>
                    <m:sSup>
                      <m:sSupPr>
                        <m:ctrlPr>
                          <a:rPr lang="nl-BE" sz="2400" i="1">
                            <a:latin typeface="Cambria Math" panose="02040503050406030204" pitchFamily="18" charset="0"/>
                          </a:rPr>
                        </m:ctrlPr>
                      </m:sSupPr>
                      <m:e>
                        <m:r>
                          <a:rPr lang="nl-BE" sz="2400" i="1">
                            <a:latin typeface="Cambria Math" panose="02040503050406030204" pitchFamily="18" charset="0"/>
                          </a:rPr>
                          <m:t>10</m:t>
                        </m:r>
                      </m:e>
                      <m:sup>
                        <m:r>
                          <a:rPr lang="nl-BE" sz="2400" i="1">
                            <a:latin typeface="Cambria Math" panose="02040503050406030204" pitchFamily="18" charset="0"/>
                          </a:rPr>
                          <m:t>3</m:t>
                        </m:r>
                      </m:sup>
                    </m:sSup>
                    <m:r>
                      <a:rPr lang="nl-BE" sz="2400" i="1">
                        <a:latin typeface="Cambria Math" panose="02040503050406030204" pitchFamily="18" charset="0"/>
                      </a:rPr>
                      <m:t>.</m:t>
                    </m:r>
                    <m:r>
                      <a:rPr lang="nl-BE" sz="2400" i="1">
                        <a:latin typeface="Cambria Math" panose="02040503050406030204" pitchFamily="18" charset="0"/>
                      </a:rPr>
                      <m:t>𝑐𝑜𝑠</m:t>
                    </m:r>
                    <m:r>
                      <a:rPr lang="nl-BE" sz="2400" i="1">
                        <a:latin typeface="Cambria Math" panose="02040503050406030204" pitchFamily="18" charset="0"/>
                      </a:rPr>
                      <m:t>51°=4009</m:t>
                    </m:r>
                  </m:oMath>
                </a14:m>
                <a:r>
                  <a:rPr lang="nl-BE" sz="2400" dirty="0"/>
                  <a:t> </a:t>
                </a:r>
                <a14:m>
                  <m:oMath xmlns:m="http://schemas.openxmlformats.org/officeDocument/2006/math">
                    <m:r>
                      <a:rPr lang="nl-BE" sz="2400">
                        <a:latin typeface="Cambria Math" panose="02040503050406030204" pitchFamily="18" charset="0"/>
                      </a:rPr>
                      <m:t>.</m:t>
                    </m:r>
                    <m:sSup>
                      <m:sSupPr>
                        <m:ctrlPr>
                          <a:rPr lang="nl-BE" sz="2400" i="1">
                            <a:latin typeface="Cambria Math" panose="02040503050406030204" pitchFamily="18" charset="0"/>
                          </a:rPr>
                        </m:ctrlPr>
                      </m:sSupPr>
                      <m:e>
                        <m:r>
                          <a:rPr lang="nl-BE" sz="2400" i="1">
                            <a:latin typeface="Cambria Math" panose="02040503050406030204" pitchFamily="18" charset="0"/>
                          </a:rPr>
                          <m:t>10</m:t>
                        </m:r>
                      </m:e>
                      <m:sup>
                        <m:r>
                          <a:rPr lang="nl-BE" sz="2400" i="1">
                            <a:latin typeface="Cambria Math" panose="02040503050406030204" pitchFamily="18" charset="0"/>
                          </a:rPr>
                          <m:t>3</m:t>
                        </m:r>
                      </m:sup>
                    </m:sSup>
                  </m:oMath>
                </a14:m>
                <a:r>
                  <a:rPr lang="nl-BE" sz="2400" dirty="0"/>
                  <a:t>m</a:t>
                </a:r>
              </a:p>
              <a:p>
                <a:pPr algn="ctr" eaLnBrk="1" hangingPunct="1">
                  <a:defRPr/>
                </a:pPr>
                <a:endParaRPr lang="nl-BE" sz="2400" dirty="0"/>
              </a:p>
              <a:p>
                <a:pPr algn="ctr" eaLnBrk="1" hangingPunct="1">
                  <a:defRPr/>
                </a:pPr>
                <a14:m>
                  <m:oMathPara xmlns:m="http://schemas.openxmlformats.org/officeDocument/2006/math">
                    <m:oMathParaPr>
                      <m:jc m:val="centerGroup"/>
                    </m:oMathParaPr>
                    <m:oMath xmlns:m="http://schemas.openxmlformats.org/officeDocument/2006/math">
                      <m:r>
                        <a:rPr lang="nl-BE" sz="2400" i="1">
                          <a:latin typeface="Cambria Math" panose="02040503050406030204" pitchFamily="18" charset="0"/>
                        </a:rPr>
                        <m:t>𝑣</m:t>
                      </m:r>
                      <m:r>
                        <a:rPr lang="nl-BE" sz="2400" i="1">
                          <a:latin typeface="Cambria Math" panose="02040503050406030204" pitchFamily="18" charset="0"/>
                        </a:rPr>
                        <m:t>=</m:t>
                      </m:r>
                      <m:f>
                        <m:fPr>
                          <m:ctrlPr>
                            <a:rPr lang="nl-BE" sz="2400" i="1">
                              <a:latin typeface="Cambria Math" panose="02040503050406030204" pitchFamily="18" charset="0"/>
                            </a:rPr>
                          </m:ctrlPr>
                        </m:fPr>
                        <m:num>
                          <m:r>
                            <a:rPr lang="nl-BE" sz="2400" i="1">
                              <a:latin typeface="Cambria Math" panose="02040503050406030204" pitchFamily="18" charset="0"/>
                            </a:rPr>
                            <m:t>2</m:t>
                          </m:r>
                          <m:r>
                            <a:rPr lang="nl-BE" sz="2400" i="1">
                              <a:latin typeface="Cambria Math" panose="02040503050406030204" pitchFamily="18" charset="0"/>
                              <a:ea typeface="Cambria Math" panose="02040503050406030204" pitchFamily="18" charset="0"/>
                            </a:rPr>
                            <m:t>𝜋</m:t>
                          </m:r>
                          <m:r>
                            <a:rPr lang="nl-BE" sz="2400" i="1">
                              <a:latin typeface="Cambria Math" panose="02040503050406030204" pitchFamily="18" charset="0"/>
                              <a:ea typeface="Cambria Math" panose="02040503050406030204" pitchFamily="18" charset="0"/>
                            </a:rPr>
                            <m:t>.4009.</m:t>
                          </m:r>
                          <m:sSup>
                            <m:sSupPr>
                              <m:ctrlPr>
                                <a:rPr lang="nl-BE" sz="2400" i="1">
                                  <a:latin typeface="Cambria Math" panose="02040503050406030204" pitchFamily="18" charset="0"/>
                                </a:rPr>
                              </m:ctrlPr>
                            </m:sSupPr>
                            <m:e>
                              <m:r>
                                <a:rPr lang="nl-BE" sz="2400" i="1">
                                  <a:latin typeface="Cambria Math" panose="02040503050406030204" pitchFamily="18" charset="0"/>
                                </a:rPr>
                                <m:t>10</m:t>
                              </m:r>
                            </m:e>
                            <m:sup>
                              <m:r>
                                <a:rPr lang="nl-BE" sz="2400" i="1">
                                  <a:latin typeface="Cambria Math" panose="02040503050406030204" pitchFamily="18" charset="0"/>
                                </a:rPr>
                                <m:t>3</m:t>
                              </m:r>
                            </m:sup>
                          </m:sSup>
                        </m:num>
                        <m:den>
                          <m:r>
                            <a:rPr lang="nl-BE" sz="2400" i="1">
                              <a:latin typeface="Cambria Math" panose="02040503050406030204" pitchFamily="18" charset="0"/>
                            </a:rPr>
                            <m:t>24,00 . 3600</m:t>
                          </m:r>
                        </m:den>
                      </m:f>
                      <m:r>
                        <a:rPr lang="nl-BE" sz="2400" i="1">
                          <a:latin typeface="Cambria Math" panose="02040503050406030204" pitchFamily="18" charset="0"/>
                        </a:rPr>
                        <m:t>=291,5</m:t>
                      </m:r>
                      <m:f>
                        <m:fPr>
                          <m:ctrlPr>
                            <a:rPr lang="nl-BE" sz="2400" i="1">
                              <a:latin typeface="Cambria Math" panose="02040503050406030204" pitchFamily="18" charset="0"/>
                            </a:rPr>
                          </m:ctrlPr>
                        </m:fPr>
                        <m:num>
                          <m:r>
                            <a:rPr lang="nl-BE" sz="2400" i="1">
                              <a:latin typeface="Cambria Math" panose="02040503050406030204" pitchFamily="18" charset="0"/>
                            </a:rPr>
                            <m:t>𝑚</m:t>
                          </m:r>
                        </m:num>
                        <m:den>
                          <m:r>
                            <a:rPr lang="nl-BE" sz="2400" i="1">
                              <a:latin typeface="Cambria Math" panose="02040503050406030204" pitchFamily="18" charset="0"/>
                            </a:rPr>
                            <m:t>𝑠</m:t>
                          </m:r>
                        </m:den>
                      </m:f>
                      <m:r>
                        <a:rPr lang="nl-BE" sz="2400" i="1">
                          <a:latin typeface="Cambria Math" panose="02040503050406030204" pitchFamily="18" charset="0"/>
                        </a:rPr>
                        <m:t>=1049</m:t>
                      </m:r>
                      <m:r>
                        <a:rPr lang="nl-BE" sz="2400" i="1">
                          <a:latin typeface="Cambria Math" panose="02040503050406030204" pitchFamily="18" charset="0"/>
                        </a:rPr>
                        <m:t>𝑘𝑚</m:t>
                      </m:r>
                      <m:r>
                        <a:rPr lang="nl-BE" sz="2400" i="1">
                          <a:latin typeface="Cambria Math" panose="02040503050406030204" pitchFamily="18" charset="0"/>
                        </a:rPr>
                        <m:t>/</m:t>
                      </m:r>
                      <m:r>
                        <a:rPr lang="nl-BE" sz="2400" i="1">
                          <a:latin typeface="Cambria Math" panose="02040503050406030204" pitchFamily="18" charset="0"/>
                        </a:rPr>
                        <m:t>h</m:t>
                      </m:r>
                    </m:oMath>
                  </m:oMathPara>
                </a14:m>
                <a:endParaRPr lang="nl-NL" sz="2400" dirty="0"/>
              </a:p>
            </p:txBody>
          </p:sp>
        </mc:Choice>
        <mc:Fallback xmlns="">
          <p:sp>
            <p:nvSpPr>
              <p:cNvPr id="3" name="Rechthoek 2">
                <a:extLst>
                  <a:ext uri="{FF2B5EF4-FFF2-40B4-BE49-F238E27FC236}">
                    <a16:creationId xmlns:a16="http://schemas.microsoft.com/office/drawing/2014/main" id="{72FD87F6-0164-4DC8-B805-40F477E9208A}"/>
                  </a:ext>
                </a:extLst>
              </p:cNvPr>
              <p:cNvSpPr>
                <a:spLocks noRot="1" noChangeAspect="1" noMove="1" noResize="1" noEditPoints="1" noAdjustHandles="1" noChangeArrowheads="1" noChangeShapeType="1" noTextEdit="1"/>
              </p:cNvSpPr>
              <p:nvPr/>
            </p:nvSpPr>
            <p:spPr>
              <a:xfrm>
                <a:off x="1847528" y="2636912"/>
                <a:ext cx="7632848" cy="2349874"/>
              </a:xfrm>
              <a:prstGeom prst="rect">
                <a:avLst/>
              </a:prstGeom>
              <a:blipFill>
                <a:blip r:embed="rId3"/>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4236056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1774825" y="0"/>
            <a:ext cx="8540750" cy="1143000"/>
          </a:xfrm>
        </p:spPr>
        <p:txBody>
          <a:bodyPr/>
          <a:lstStyle/>
          <a:p>
            <a:pPr eaLnBrk="1" hangingPunct="1">
              <a:defRPr/>
            </a:pPr>
            <a:r>
              <a:rPr lang="nl-BE"/>
              <a:t>Extra opgave</a:t>
            </a:r>
            <a:endParaRPr lang="nl-NL"/>
          </a:p>
        </p:txBody>
      </p:sp>
      <p:sp>
        <p:nvSpPr>
          <p:cNvPr id="8195" name="Rectangle 3"/>
          <p:cNvSpPr>
            <a:spLocks noGrp="1" noRot="1" noChangeArrowheads="1"/>
          </p:cNvSpPr>
          <p:nvPr>
            <p:ph idx="1"/>
          </p:nvPr>
        </p:nvSpPr>
        <p:spPr>
          <a:xfrm>
            <a:off x="479376" y="1125539"/>
            <a:ext cx="10657184" cy="4973637"/>
          </a:xfrm>
        </p:spPr>
        <p:txBody>
          <a:bodyPr/>
          <a:lstStyle/>
          <a:p>
            <a:pPr eaLnBrk="1" hangingPunct="1">
              <a:lnSpc>
                <a:spcPct val="150000"/>
              </a:lnSpc>
              <a:defRPr/>
            </a:pPr>
            <a:r>
              <a:rPr lang="nl-BE" dirty="0"/>
              <a:t>Waarom worden raketten van plaatsen dicht bij de evenaar, in oostelijke richting afgevuurd?</a:t>
            </a:r>
          </a:p>
          <a:p>
            <a:pPr lvl="1" eaLnBrk="1" hangingPunct="1">
              <a:lnSpc>
                <a:spcPct val="150000"/>
              </a:lnSpc>
              <a:defRPr/>
            </a:pPr>
            <a:r>
              <a:rPr lang="nl-BE" i="1" dirty="0">
                <a:latin typeface="+mj-lt"/>
              </a:rPr>
              <a:t>Dichter bij evenaar </a:t>
            </a:r>
            <a:r>
              <a:rPr lang="nl-BE" i="1" dirty="0">
                <a:latin typeface="+mj-lt"/>
                <a:ea typeface="Arial Unicode MS" pitchFamily="34" charset="-128"/>
                <a:cs typeface="Arial Unicode MS" pitchFamily="34" charset="-128"/>
              </a:rPr>
              <a:t>→ grotere beginsnelheid </a:t>
            </a:r>
            <a:br>
              <a:rPr lang="nl-BE" i="1" dirty="0">
                <a:latin typeface="+mj-lt"/>
                <a:ea typeface="Arial Unicode MS" pitchFamily="34" charset="-128"/>
                <a:cs typeface="Arial Unicode MS" pitchFamily="34" charset="-128"/>
              </a:rPr>
            </a:br>
            <a:r>
              <a:rPr lang="nl-BE" i="1" dirty="0">
                <a:latin typeface="+mj-lt"/>
                <a:ea typeface="Arial Unicode MS" pitchFamily="34" charset="-128"/>
                <a:cs typeface="Arial Unicode MS" pitchFamily="34" charset="-128"/>
              </a:rPr>
              <a:t>(er wordt </a:t>
            </a:r>
            <a:r>
              <a:rPr lang="nl-NL" i="1" dirty="0">
                <a:latin typeface="+mj-lt"/>
              </a:rPr>
              <a:t>optimaal gebruik gemaakt van de rotatie van de aarde) </a:t>
            </a:r>
            <a:endParaRPr lang="nl-BE" i="1" dirty="0">
              <a:latin typeface="+mj-lt"/>
              <a:ea typeface="Arial Unicode MS" pitchFamily="34" charset="-128"/>
              <a:cs typeface="Arial Unicode MS" pitchFamily="34" charset="-128"/>
            </a:endParaRPr>
          </a:p>
          <a:p>
            <a:pPr lvl="1" eaLnBrk="1" hangingPunct="1">
              <a:lnSpc>
                <a:spcPct val="150000"/>
              </a:lnSpc>
              <a:defRPr/>
            </a:pPr>
            <a:r>
              <a:rPr lang="nl-BE" i="1" dirty="0">
                <a:latin typeface="+mj-lt"/>
                <a:ea typeface="Arial Unicode MS" pitchFamily="34" charset="-128"/>
                <a:cs typeface="Arial Unicode MS" pitchFamily="34" charset="-128"/>
              </a:rPr>
              <a:t>Oostelijke richting → draaizin aarde</a:t>
            </a:r>
            <a:r>
              <a:rPr lang="nl-BE" dirty="0">
                <a:latin typeface="+mj-lt"/>
                <a:ea typeface="Arial Unicode MS" pitchFamily="34" charset="-128"/>
                <a:cs typeface="Arial Unicode MS" pitchFamily="34" charset="-128"/>
              </a:rPr>
              <a:t>  </a:t>
            </a:r>
          </a:p>
          <a:p>
            <a:pPr eaLnBrk="1" hangingPunct="1">
              <a:defRPr/>
            </a:pPr>
            <a:endParaRPr lang="nl-NL" dirty="0"/>
          </a:p>
        </p:txBody>
      </p:sp>
      <p:pic>
        <p:nvPicPr>
          <p:cNvPr id="8196" name="Picture 4" descr="300px-Rotating_earth_(slower)"/>
          <p:cNvPicPr>
            <a:picLocks noChangeAspect="1" noChangeArrowheads="1" noCrop="1"/>
          </p:cNvPicPr>
          <p:nvPr/>
        </p:nvPicPr>
        <p:blipFill>
          <a:blip r:embed="rId2" cstate="print"/>
          <a:srcRect/>
          <a:stretch>
            <a:fillRect/>
          </a:stretch>
        </p:blipFill>
        <p:spPr bwMode="auto">
          <a:xfrm>
            <a:off x="4872039" y="4724401"/>
            <a:ext cx="1908175" cy="19081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anim calcmode="lin" valueType="num">
                                      <p:cBhvr additive="base">
                                        <p:cTn id="7"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anim calcmode="lin" valueType="num">
                                      <p:cBhvr additive="base">
                                        <p:cTn id="11"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19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196"/>
                                        </p:tgtEl>
                                        <p:attrNameLst>
                                          <p:attrName>style.visibility</p:attrName>
                                        </p:attrNameLst>
                                      </p:cBhvr>
                                      <p:to>
                                        <p:strVal val="visible"/>
                                      </p:to>
                                    </p:set>
                                    <p:anim calcmode="lin" valueType="num">
                                      <p:cBhvr additive="base">
                                        <p:cTn id="15" dur="500" fill="hold"/>
                                        <p:tgtEl>
                                          <p:spTgt spid="8196"/>
                                        </p:tgtEl>
                                        <p:attrNameLst>
                                          <p:attrName>ppt_x</p:attrName>
                                        </p:attrNameLst>
                                      </p:cBhvr>
                                      <p:tavLst>
                                        <p:tav tm="0">
                                          <p:val>
                                            <p:strVal val="#ppt_x"/>
                                          </p:val>
                                        </p:tav>
                                        <p:tav tm="100000">
                                          <p:val>
                                            <p:strVal val="#ppt_x"/>
                                          </p:val>
                                        </p:tav>
                                      </p:tavLst>
                                    </p:anim>
                                    <p:anim calcmode="lin" valueType="num">
                                      <p:cBhvr additive="base">
                                        <p:cTn id="16" dur="500" fill="hold"/>
                                        <p:tgtEl>
                                          <p:spTgt spid="8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a:xfrm>
            <a:off x="1774825" y="0"/>
            <a:ext cx="8540750" cy="1143000"/>
          </a:xfrm>
        </p:spPr>
        <p:txBody>
          <a:bodyPr/>
          <a:lstStyle/>
          <a:p>
            <a:pPr eaLnBrk="1" hangingPunct="1">
              <a:defRPr/>
            </a:pPr>
            <a:r>
              <a:rPr lang="nl-BE"/>
              <a:t>Extra opgave</a:t>
            </a:r>
            <a:endParaRPr lang="nl-NL"/>
          </a:p>
        </p:txBody>
      </p:sp>
      <p:sp>
        <p:nvSpPr>
          <p:cNvPr id="30723" name="Rectangle 3"/>
          <p:cNvSpPr>
            <a:spLocks noGrp="1" noRot="1" noChangeArrowheads="1"/>
          </p:cNvSpPr>
          <p:nvPr>
            <p:ph idx="1"/>
          </p:nvPr>
        </p:nvSpPr>
        <p:spPr>
          <a:xfrm>
            <a:off x="335360" y="1125539"/>
            <a:ext cx="10031015" cy="4973637"/>
          </a:xfrm>
        </p:spPr>
        <p:txBody>
          <a:bodyPr>
            <a:noAutofit/>
          </a:bodyPr>
          <a:lstStyle/>
          <a:p>
            <a:pPr eaLnBrk="1" hangingPunct="1">
              <a:lnSpc>
                <a:spcPct val="90000"/>
              </a:lnSpc>
              <a:defRPr/>
            </a:pPr>
            <a:r>
              <a:rPr lang="nl-BE" sz="3200" dirty="0"/>
              <a:t>Ken je lanceerplaatsen?</a:t>
            </a:r>
          </a:p>
          <a:p>
            <a:pPr lvl="1" eaLnBrk="1" hangingPunct="1">
              <a:lnSpc>
                <a:spcPct val="90000"/>
              </a:lnSpc>
              <a:defRPr/>
            </a:pPr>
            <a:r>
              <a:rPr lang="nl-BE" sz="2800" i="1" dirty="0"/>
              <a:t>Cape </a:t>
            </a:r>
            <a:r>
              <a:rPr lang="nl-BE" sz="2800" i="1" dirty="0" err="1"/>
              <a:t>Canaveral</a:t>
            </a:r>
            <a:r>
              <a:rPr lang="nl-BE" sz="2800" i="1" dirty="0"/>
              <a:t> (Florida)</a:t>
            </a:r>
          </a:p>
          <a:p>
            <a:pPr lvl="1" eaLnBrk="1" hangingPunct="1">
              <a:lnSpc>
                <a:spcPct val="90000"/>
              </a:lnSpc>
              <a:defRPr/>
            </a:pPr>
            <a:endParaRPr lang="nl-BE" sz="2800" i="1" dirty="0"/>
          </a:p>
          <a:p>
            <a:pPr lvl="1" eaLnBrk="1" hangingPunct="1">
              <a:lnSpc>
                <a:spcPct val="90000"/>
              </a:lnSpc>
              <a:defRPr/>
            </a:pPr>
            <a:endParaRPr lang="nl-BE" sz="2800" i="1" dirty="0"/>
          </a:p>
          <a:p>
            <a:pPr lvl="1" eaLnBrk="1" hangingPunct="1">
              <a:lnSpc>
                <a:spcPct val="90000"/>
              </a:lnSpc>
              <a:defRPr/>
            </a:pPr>
            <a:endParaRPr lang="nl-BE" sz="2800" i="1" dirty="0"/>
          </a:p>
          <a:p>
            <a:pPr lvl="1" eaLnBrk="1" hangingPunct="1">
              <a:lnSpc>
                <a:spcPct val="90000"/>
              </a:lnSpc>
              <a:defRPr/>
            </a:pPr>
            <a:endParaRPr lang="nl-BE" sz="2800" i="1" dirty="0"/>
          </a:p>
          <a:p>
            <a:pPr lvl="1" eaLnBrk="1" hangingPunct="1">
              <a:lnSpc>
                <a:spcPct val="90000"/>
              </a:lnSpc>
              <a:defRPr/>
            </a:pPr>
            <a:endParaRPr lang="nl-BE" sz="2800" i="1" dirty="0"/>
          </a:p>
          <a:p>
            <a:pPr lvl="1" eaLnBrk="1" hangingPunct="1">
              <a:lnSpc>
                <a:spcPct val="90000"/>
              </a:lnSpc>
              <a:defRPr/>
            </a:pPr>
            <a:r>
              <a:rPr lang="nl-NL" sz="2800" i="1" dirty="0"/>
              <a:t>Sea </a:t>
            </a:r>
            <a:r>
              <a:rPr lang="nl-NL" sz="2800" i="1" dirty="0" err="1"/>
              <a:t>Launch</a:t>
            </a:r>
            <a:r>
              <a:rPr lang="nl-NL" sz="2800" i="1" dirty="0"/>
              <a:t>: </a:t>
            </a:r>
          </a:p>
          <a:p>
            <a:pPr lvl="2" eaLnBrk="1" hangingPunct="1">
              <a:lnSpc>
                <a:spcPct val="90000"/>
              </a:lnSpc>
              <a:defRPr/>
            </a:pPr>
            <a:r>
              <a:rPr lang="nl-NL" sz="2400" i="1" dirty="0"/>
              <a:t>ruimtevaartuiglancering van op een mobiel  platform </a:t>
            </a:r>
          </a:p>
          <a:p>
            <a:pPr lvl="2" eaLnBrk="1" hangingPunct="1">
              <a:lnSpc>
                <a:spcPct val="90000"/>
              </a:lnSpc>
              <a:defRPr/>
            </a:pPr>
            <a:r>
              <a:rPr lang="nl-NL" sz="2400" i="1" dirty="0"/>
              <a:t>lanceringen vanaf de evenaar </a:t>
            </a:r>
          </a:p>
          <a:p>
            <a:pPr lvl="2" eaLnBrk="1" hangingPunct="1">
              <a:lnSpc>
                <a:spcPct val="90000"/>
              </a:lnSpc>
              <a:defRPr/>
            </a:pPr>
            <a:r>
              <a:rPr lang="nl-NL" sz="2400" i="1" dirty="0"/>
              <a:t>Zenit 3SL raketten</a:t>
            </a:r>
          </a:p>
          <a:p>
            <a:pPr lvl="2" eaLnBrk="1" hangingPunct="1">
              <a:lnSpc>
                <a:spcPct val="90000"/>
              </a:lnSpc>
              <a:defRPr/>
            </a:pPr>
            <a:r>
              <a:rPr lang="nl-NL" sz="2400" i="1" dirty="0"/>
              <a:t>Lading: communicatiesatellieten</a:t>
            </a:r>
          </a:p>
        </p:txBody>
      </p:sp>
      <p:pic>
        <p:nvPicPr>
          <p:cNvPr id="30726" name="Picture 6"/>
          <p:cNvPicPr>
            <a:picLocks noChangeAspect="1" noChangeArrowheads="1"/>
          </p:cNvPicPr>
          <p:nvPr/>
        </p:nvPicPr>
        <p:blipFill>
          <a:blip r:embed="rId3" cstate="print"/>
          <a:srcRect/>
          <a:stretch>
            <a:fillRect/>
          </a:stretch>
        </p:blipFill>
        <p:spPr bwMode="auto">
          <a:xfrm>
            <a:off x="6672064" y="1636551"/>
            <a:ext cx="2428875" cy="2447925"/>
          </a:xfrm>
          <a:prstGeom prst="rect">
            <a:avLst/>
          </a:prstGeom>
          <a:noFill/>
          <a:ln w="9525">
            <a:noFill/>
            <a:miter lim="800000"/>
            <a:headEnd/>
            <a:tailEnd/>
          </a:ln>
        </p:spPr>
      </p:pic>
      <p:pic>
        <p:nvPicPr>
          <p:cNvPr id="30727" name="Picture 7"/>
          <p:cNvPicPr>
            <a:picLocks noChangeAspect="1" noChangeArrowheads="1"/>
          </p:cNvPicPr>
          <p:nvPr/>
        </p:nvPicPr>
        <p:blipFill>
          <a:blip r:embed="rId4" cstate="print"/>
          <a:srcRect/>
          <a:stretch>
            <a:fillRect/>
          </a:stretch>
        </p:blipFill>
        <p:spPr bwMode="auto">
          <a:xfrm>
            <a:off x="3589954" y="2350926"/>
            <a:ext cx="2428875" cy="1733550"/>
          </a:xfrm>
          <a:prstGeom prst="rect">
            <a:avLst/>
          </a:prstGeom>
          <a:noFill/>
          <a:ln w="9525">
            <a:noFill/>
            <a:miter lim="800000"/>
            <a:headEnd/>
            <a:tailEnd/>
          </a:ln>
        </p:spPr>
      </p:pic>
      <p:pic>
        <p:nvPicPr>
          <p:cNvPr id="30728" name="Picture 8"/>
          <p:cNvPicPr>
            <a:picLocks noChangeAspect="1" noChangeArrowheads="1"/>
          </p:cNvPicPr>
          <p:nvPr/>
        </p:nvPicPr>
        <p:blipFill>
          <a:blip r:embed="rId5" cstate="print"/>
          <a:srcRect/>
          <a:stretch>
            <a:fillRect/>
          </a:stretch>
        </p:blipFill>
        <p:spPr bwMode="auto">
          <a:xfrm>
            <a:off x="8400256" y="4797185"/>
            <a:ext cx="3168650" cy="17081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anim calcmode="lin" valueType="num">
                                      <p:cBhvr additive="base">
                                        <p:cTn id="7" dur="5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23">
                                            <p:txEl>
                                              <p:pRg st="7" end="7"/>
                                            </p:txEl>
                                          </p:spTgt>
                                        </p:tgtEl>
                                        <p:attrNameLst>
                                          <p:attrName>style.visibility</p:attrName>
                                        </p:attrNameLst>
                                      </p:cBhvr>
                                      <p:to>
                                        <p:strVal val="visible"/>
                                      </p:to>
                                    </p:set>
                                    <p:anim calcmode="lin" valueType="num">
                                      <p:cBhvr additive="base">
                                        <p:cTn id="11" dur="500" fill="hold"/>
                                        <p:tgtEl>
                                          <p:spTgt spid="3072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72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723">
                                            <p:txEl>
                                              <p:pRg st="8" end="8"/>
                                            </p:txEl>
                                          </p:spTgt>
                                        </p:tgtEl>
                                        <p:attrNameLst>
                                          <p:attrName>style.visibility</p:attrName>
                                        </p:attrNameLst>
                                      </p:cBhvr>
                                      <p:to>
                                        <p:strVal val="visible"/>
                                      </p:to>
                                    </p:set>
                                    <p:anim calcmode="lin" valueType="num">
                                      <p:cBhvr additive="base">
                                        <p:cTn id="15" dur="500" fill="hold"/>
                                        <p:tgtEl>
                                          <p:spTgt spid="3072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072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723">
                                            <p:txEl>
                                              <p:pRg st="9" end="9"/>
                                            </p:txEl>
                                          </p:spTgt>
                                        </p:tgtEl>
                                        <p:attrNameLst>
                                          <p:attrName>style.visibility</p:attrName>
                                        </p:attrNameLst>
                                      </p:cBhvr>
                                      <p:to>
                                        <p:strVal val="visible"/>
                                      </p:to>
                                    </p:set>
                                    <p:anim calcmode="lin" valueType="num">
                                      <p:cBhvr additive="base">
                                        <p:cTn id="19" dur="500" fill="hold"/>
                                        <p:tgtEl>
                                          <p:spTgt spid="3072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0723">
                                            <p:txEl>
                                              <p:pRg st="10" end="10"/>
                                            </p:txEl>
                                          </p:spTgt>
                                        </p:tgtEl>
                                        <p:attrNameLst>
                                          <p:attrName>style.visibility</p:attrName>
                                        </p:attrNameLst>
                                      </p:cBhvr>
                                      <p:to>
                                        <p:strVal val="visible"/>
                                      </p:to>
                                    </p:set>
                                    <p:anim calcmode="lin" valueType="num">
                                      <p:cBhvr additive="base">
                                        <p:cTn id="23" dur="500" fill="hold"/>
                                        <p:tgtEl>
                                          <p:spTgt spid="3072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072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0723">
                                            <p:txEl>
                                              <p:pRg st="11" end="11"/>
                                            </p:txEl>
                                          </p:spTgt>
                                        </p:tgtEl>
                                        <p:attrNameLst>
                                          <p:attrName>style.visibility</p:attrName>
                                        </p:attrNameLst>
                                      </p:cBhvr>
                                      <p:to>
                                        <p:strVal val="visible"/>
                                      </p:to>
                                    </p:set>
                                    <p:anim calcmode="lin" valueType="num">
                                      <p:cBhvr additive="base">
                                        <p:cTn id="27" dur="500" fill="hold"/>
                                        <p:tgtEl>
                                          <p:spTgt spid="3072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072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0726"/>
                                        </p:tgtEl>
                                        <p:attrNameLst>
                                          <p:attrName>style.visibility</p:attrName>
                                        </p:attrNameLst>
                                      </p:cBhvr>
                                      <p:to>
                                        <p:strVal val="visible"/>
                                      </p:to>
                                    </p:set>
                                    <p:anim calcmode="lin" valueType="num">
                                      <p:cBhvr additive="base">
                                        <p:cTn id="31" dur="500" fill="hold"/>
                                        <p:tgtEl>
                                          <p:spTgt spid="30726"/>
                                        </p:tgtEl>
                                        <p:attrNameLst>
                                          <p:attrName>ppt_x</p:attrName>
                                        </p:attrNameLst>
                                      </p:cBhvr>
                                      <p:tavLst>
                                        <p:tav tm="0">
                                          <p:val>
                                            <p:strVal val="#ppt_x"/>
                                          </p:val>
                                        </p:tav>
                                        <p:tav tm="100000">
                                          <p:val>
                                            <p:strVal val="#ppt_x"/>
                                          </p:val>
                                        </p:tav>
                                      </p:tavLst>
                                    </p:anim>
                                    <p:anim calcmode="lin" valueType="num">
                                      <p:cBhvr additive="base">
                                        <p:cTn id="32" dur="500" fill="hold"/>
                                        <p:tgtEl>
                                          <p:spTgt spid="3072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0727"/>
                                        </p:tgtEl>
                                        <p:attrNameLst>
                                          <p:attrName>style.visibility</p:attrName>
                                        </p:attrNameLst>
                                      </p:cBhvr>
                                      <p:to>
                                        <p:strVal val="visible"/>
                                      </p:to>
                                    </p:set>
                                    <p:anim calcmode="lin" valueType="num">
                                      <p:cBhvr additive="base">
                                        <p:cTn id="35" dur="500" fill="hold"/>
                                        <p:tgtEl>
                                          <p:spTgt spid="30727"/>
                                        </p:tgtEl>
                                        <p:attrNameLst>
                                          <p:attrName>ppt_x</p:attrName>
                                        </p:attrNameLst>
                                      </p:cBhvr>
                                      <p:tavLst>
                                        <p:tav tm="0">
                                          <p:val>
                                            <p:strVal val="#ppt_x"/>
                                          </p:val>
                                        </p:tav>
                                        <p:tav tm="100000">
                                          <p:val>
                                            <p:strVal val="#ppt_x"/>
                                          </p:val>
                                        </p:tav>
                                      </p:tavLst>
                                    </p:anim>
                                    <p:anim calcmode="lin" valueType="num">
                                      <p:cBhvr additive="base">
                                        <p:cTn id="36" dur="500" fill="hold"/>
                                        <p:tgtEl>
                                          <p:spTgt spid="3072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0728"/>
                                        </p:tgtEl>
                                        <p:attrNameLst>
                                          <p:attrName>style.visibility</p:attrName>
                                        </p:attrNameLst>
                                      </p:cBhvr>
                                      <p:to>
                                        <p:strVal val="visible"/>
                                      </p:to>
                                    </p:set>
                                    <p:anim calcmode="lin" valueType="num">
                                      <p:cBhvr additive="base">
                                        <p:cTn id="39" dur="500" fill="hold"/>
                                        <p:tgtEl>
                                          <p:spTgt spid="30728"/>
                                        </p:tgtEl>
                                        <p:attrNameLst>
                                          <p:attrName>ppt_x</p:attrName>
                                        </p:attrNameLst>
                                      </p:cBhvr>
                                      <p:tavLst>
                                        <p:tav tm="0">
                                          <p:val>
                                            <p:strVal val="#ppt_x"/>
                                          </p:val>
                                        </p:tav>
                                        <p:tav tm="100000">
                                          <p:val>
                                            <p:strVal val="#ppt_x"/>
                                          </p:val>
                                        </p:tav>
                                      </p:tavLst>
                                    </p:anim>
                                    <p:anim calcmode="lin" valueType="num">
                                      <p:cBhvr additive="base">
                                        <p:cTn id="40" dur="500" fill="hold"/>
                                        <p:tgtEl>
                                          <p:spTgt spid="307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rrowheads="1"/>
          </p:cNvSpPr>
          <p:nvPr>
            <p:ph type="title"/>
          </p:nvPr>
        </p:nvSpPr>
        <p:spPr/>
        <p:txBody>
          <a:bodyPr/>
          <a:lstStyle/>
          <a:p>
            <a:pPr eaLnBrk="1" hangingPunct="1">
              <a:defRPr/>
            </a:pPr>
            <a:r>
              <a:rPr lang="nl-BE" dirty="0"/>
              <a:t>Opgave F </a:t>
            </a:r>
            <a:r>
              <a:rPr lang="nl-BE" i="1" dirty="0"/>
              <a:t>(Mercurius: extra oef)</a:t>
            </a:r>
            <a:endParaRPr lang="nl-NL" i="1" dirty="0"/>
          </a:p>
        </p:txBody>
      </p:sp>
      <p:sp>
        <p:nvSpPr>
          <p:cNvPr id="9219" name="Rectangle 3"/>
          <p:cNvSpPr>
            <a:spLocks noGrp="1" noRot="1" noChangeArrowheads="1"/>
          </p:cNvSpPr>
          <p:nvPr>
            <p:ph type="body" sz="half" idx="1"/>
          </p:nvPr>
        </p:nvSpPr>
        <p:spPr>
          <a:xfrm>
            <a:off x="479376" y="1600201"/>
            <a:ext cx="11310458" cy="4498975"/>
          </a:xfrm>
        </p:spPr>
        <p:txBody>
          <a:bodyPr>
            <a:normAutofit/>
          </a:bodyPr>
          <a:lstStyle/>
          <a:p>
            <a:pPr eaLnBrk="1" hangingPunct="1">
              <a:defRPr/>
            </a:pPr>
            <a:r>
              <a:rPr lang="nl-BE" sz="3200" dirty="0"/>
              <a:t>Vergelijk de snelheid van een deeltje op het oppervlak van Mercurius met de snelheid van een deeltje op het oppervlak van Jupiter aan de hand van de volgende gegevens:</a:t>
            </a:r>
          </a:p>
        </p:txBody>
      </p:sp>
      <p:graphicFrame>
        <p:nvGraphicFramePr>
          <p:cNvPr id="9265" name="Group 49"/>
          <p:cNvGraphicFramePr>
            <a:graphicFrameLocks noGrp="1"/>
          </p:cNvGraphicFramePr>
          <p:nvPr>
            <p:ph sz="half" idx="2"/>
          </p:nvPr>
        </p:nvGraphicFramePr>
        <p:xfrm>
          <a:off x="2351089" y="3644901"/>
          <a:ext cx="7272337" cy="1819275"/>
        </p:xfrm>
        <a:graphic>
          <a:graphicData uri="http://schemas.openxmlformats.org/drawingml/2006/table">
            <a:tbl>
              <a:tblPr/>
              <a:tblGrid>
                <a:gridCol w="2505075">
                  <a:extLst>
                    <a:ext uri="{9D8B030D-6E8A-4147-A177-3AD203B41FA5}">
                      <a16:colId xmlns:a16="http://schemas.microsoft.com/office/drawing/2014/main" val="20000"/>
                    </a:ext>
                  </a:extLst>
                </a:gridCol>
                <a:gridCol w="2282825">
                  <a:extLst>
                    <a:ext uri="{9D8B030D-6E8A-4147-A177-3AD203B41FA5}">
                      <a16:colId xmlns:a16="http://schemas.microsoft.com/office/drawing/2014/main" val="20001"/>
                    </a:ext>
                  </a:extLst>
                </a:gridCol>
                <a:gridCol w="2484437">
                  <a:extLst>
                    <a:ext uri="{9D8B030D-6E8A-4147-A177-3AD203B41FA5}">
                      <a16:colId xmlns:a16="http://schemas.microsoft.com/office/drawing/2014/main" val="20002"/>
                    </a:ext>
                  </a:extLst>
                </a:gridCol>
              </a:tblGrid>
              <a:tr h="606425">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 </a:t>
                      </a:r>
                    </a:p>
                  </a:txBody>
                  <a:tcPr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Jupiter</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Mercurius</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606425">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rotatieperiode</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BE"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9h50min30s</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BE"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58d15h30min</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6425">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diameter in km</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BE"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142800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BE"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4878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rrowheads="1"/>
          </p:cNvSpPr>
          <p:nvPr>
            <p:ph type="title"/>
          </p:nvPr>
        </p:nvSpPr>
        <p:spPr>
          <a:xfrm>
            <a:off x="1825625" y="-171400"/>
            <a:ext cx="8540750" cy="1143000"/>
          </a:xfrm>
        </p:spPr>
        <p:txBody>
          <a:bodyPr/>
          <a:lstStyle/>
          <a:p>
            <a:pPr eaLnBrk="1" hangingPunct="1">
              <a:defRPr/>
            </a:pPr>
            <a:r>
              <a:rPr lang="nl-BE"/>
              <a:t>Opgave F</a:t>
            </a:r>
            <a:endParaRPr lang="nl-NL"/>
          </a:p>
        </p:txBody>
      </p:sp>
      <mc:AlternateContent xmlns:mc="http://schemas.openxmlformats.org/markup-compatibility/2006" xmlns:a14="http://schemas.microsoft.com/office/drawing/2010/main">
        <mc:Choice Requires="a14">
          <p:sp>
            <p:nvSpPr>
              <p:cNvPr id="9219" name="Rectangle 3"/>
              <p:cNvSpPr>
                <a:spLocks noGrp="1" noRot="1" noChangeArrowheads="1"/>
              </p:cNvSpPr>
              <p:nvPr>
                <p:ph type="body" sz="half" idx="1"/>
              </p:nvPr>
            </p:nvSpPr>
            <p:spPr>
              <a:xfrm>
                <a:off x="335360" y="908720"/>
                <a:ext cx="11665296" cy="5544616"/>
              </a:xfrm>
            </p:spPr>
            <p:txBody>
              <a:bodyPr>
                <a:normAutofit fontScale="62500" lnSpcReduction="20000"/>
              </a:bodyPr>
              <a:lstStyle/>
              <a:p>
                <a:pPr eaLnBrk="1" hangingPunct="1">
                  <a:defRPr/>
                </a:pPr>
                <a:r>
                  <a:rPr lang="nl-BE" sz="4000" dirty="0"/>
                  <a:t>Vergelijk de snelheid van een deeltje op het oppervlak van Mercurius met de snelheid van een deeltje op het oppervlak van Jupiter aan de hand van de volgende gegevens:</a:t>
                </a:r>
              </a:p>
              <a:p>
                <a:pPr eaLnBrk="1" hangingPunct="1">
                  <a:defRPr/>
                </a:pPr>
                <a:endParaRPr lang="nl-BE" sz="4000" dirty="0"/>
              </a:p>
              <a:p>
                <a:pPr eaLnBrk="1" hangingPunct="1">
                  <a:defRPr/>
                </a:pPr>
                <a:endParaRPr lang="nl-BE" sz="4000" dirty="0"/>
              </a:p>
              <a:p>
                <a:pPr eaLnBrk="1" hangingPunct="1">
                  <a:defRPr/>
                </a:pPr>
                <a:endParaRPr lang="nl-BE" sz="4000" dirty="0"/>
              </a:p>
              <a:p>
                <a:pPr eaLnBrk="1" hangingPunct="1">
                  <a:defRPr/>
                </a:pPr>
                <a:endParaRPr lang="nl-BE" sz="4000" dirty="0"/>
              </a:p>
              <a:p>
                <a:pPr eaLnBrk="1" hangingPunct="1">
                  <a:defRPr/>
                </a:pPr>
                <a:endParaRPr lang="nl-BE" sz="4000" dirty="0"/>
              </a:p>
              <a:p>
                <a:pPr eaLnBrk="1" hangingPunct="1">
                  <a:defRPr/>
                </a:pPr>
                <a:endParaRPr lang="nl-BE" sz="4000" dirty="0"/>
              </a:p>
              <a:p>
                <a:pPr eaLnBrk="1" hangingPunct="1">
                  <a:defRPr/>
                </a:pPr>
                <a:endParaRPr lang="nl-BE" sz="4000" dirty="0"/>
              </a:p>
              <a:p>
                <a:pPr eaLnBrk="1" hangingPunct="1">
                  <a:defRPr/>
                </a:pPr>
                <a14:m>
                  <m:oMath xmlns:m="http://schemas.openxmlformats.org/officeDocument/2006/math">
                    <m:r>
                      <a:rPr lang="nl-BE" sz="4000" i="1">
                        <a:latin typeface="Cambria Math" panose="02040503050406030204" pitchFamily="18" charset="0"/>
                      </a:rPr>
                      <m:t>𝑣</m:t>
                    </m:r>
                    <m:r>
                      <a:rPr lang="nl-BE" sz="4000" i="1">
                        <a:latin typeface="Cambria Math" panose="02040503050406030204" pitchFamily="18" charset="0"/>
                      </a:rPr>
                      <m:t>=</m:t>
                    </m:r>
                    <m:f>
                      <m:fPr>
                        <m:ctrlPr>
                          <a:rPr lang="nl-BE" sz="4000" i="1">
                            <a:latin typeface="Cambria Math" panose="02040503050406030204" pitchFamily="18" charset="0"/>
                          </a:rPr>
                        </m:ctrlPr>
                      </m:fPr>
                      <m:num>
                        <m:r>
                          <a:rPr lang="nl-BE" sz="4000" i="1">
                            <a:latin typeface="Cambria Math" panose="02040503050406030204" pitchFamily="18" charset="0"/>
                          </a:rPr>
                          <m:t>2</m:t>
                        </m:r>
                        <m:r>
                          <a:rPr lang="nl-BE" sz="4000" i="1">
                            <a:latin typeface="Cambria Math" panose="02040503050406030204" pitchFamily="18" charset="0"/>
                            <a:ea typeface="Cambria Math" panose="02040503050406030204" pitchFamily="18" charset="0"/>
                          </a:rPr>
                          <m:t>𝜋</m:t>
                        </m:r>
                        <m:r>
                          <a:rPr lang="nl-BE" sz="4000" i="1">
                            <a:latin typeface="Cambria Math" panose="02040503050406030204" pitchFamily="18" charset="0"/>
                            <a:ea typeface="Cambria Math" panose="02040503050406030204" pitchFamily="18" charset="0"/>
                          </a:rPr>
                          <m:t>.</m:t>
                        </m:r>
                        <m:r>
                          <a:rPr lang="nl-BE" sz="4000" i="1">
                            <a:latin typeface="Cambria Math" panose="02040503050406030204" pitchFamily="18" charset="0"/>
                            <a:ea typeface="Cambria Math" panose="02040503050406030204" pitchFamily="18" charset="0"/>
                          </a:rPr>
                          <m:t>𝑟</m:t>
                        </m:r>
                        <m:r>
                          <a:rPr lang="nl-BE" sz="4000" i="1">
                            <a:latin typeface="Cambria Math" panose="02040503050406030204" pitchFamily="18" charset="0"/>
                          </a:rPr>
                          <m:t> </m:t>
                        </m:r>
                      </m:num>
                      <m:den>
                        <m:r>
                          <a:rPr lang="nl-BE" sz="4000" i="1">
                            <a:latin typeface="Cambria Math" panose="02040503050406030204" pitchFamily="18" charset="0"/>
                          </a:rPr>
                          <m:t>𝑇</m:t>
                        </m:r>
                      </m:den>
                    </m:f>
                    <m:r>
                      <a:rPr lang="nl-BE" sz="4000" i="1">
                        <a:latin typeface="Cambria Math" panose="02040503050406030204" pitchFamily="18" charset="0"/>
                      </a:rPr>
                      <m:t>=</m:t>
                    </m:r>
                    <m:f>
                      <m:fPr>
                        <m:ctrlPr>
                          <a:rPr lang="nl-BE" sz="4000" i="1">
                            <a:latin typeface="Cambria Math" panose="02040503050406030204" pitchFamily="18" charset="0"/>
                          </a:rPr>
                        </m:ctrlPr>
                      </m:fPr>
                      <m:num>
                        <m:r>
                          <a:rPr lang="nl-BE" sz="4000" i="1">
                            <a:latin typeface="Cambria Math" panose="02040503050406030204" pitchFamily="18" charset="0"/>
                            <a:ea typeface="Cambria Math" panose="02040503050406030204" pitchFamily="18" charset="0"/>
                          </a:rPr>
                          <m:t>𝜋</m:t>
                        </m:r>
                        <m:r>
                          <a:rPr lang="nl-BE" sz="4000" i="1">
                            <a:latin typeface="Cambria Math" panose="02040503050406030204" pitchFamily="18" charset="0"/>
                            <a:ea typeface="Cambria Math" panose="02040503050406030204" pitchFamily="18" charset="0"/>
                          </a:rPr>
                          <m:t>.</m:t>
                        </m:r>
                        <m:r>
                          <a:rPr lang="nl-BE" sz="4000" i="1">
                            <a:latin typeface="Cambria Math" panose="02040503050406030204" pitchFamily="18" charset="0"/>
                            <a:ea typeface="Cambria Math" panose="02040503050406030204" pitchFamily="18" charset="0"/>
                          </a:rPr>
                          <m:t>𝑑</m:t>
                        </m:r>
                        <m:r>
                          <a:rPr lang="nl-BE" sz="4000" i="1">
                            <a:latin typeface="Cambria Math" panose="02040503050406030204" pitchFamily="18" charset="0"/>
                          </a:rPr>
                          <m:t> </m:t>
                        </m:r>
                      </m:num>
                      <m:den>
                        <m:r>
                          <a:rPr lang="nl-BE" sz="4000" i="1">
                            <a:latin typeface="Cambria Math" panose="02040503050406030204" pitchFamily="18" charset="0"/>
                          </a:rPr>
                          <m:t>𝑇</m:t>
                        </m:r>
                      </m:den>
                    </m:f>
                    <m:r>
                      <a:rPr lang="nl-BE" sz="4000" i="1">
                        <a:latin typeface="Cambria Math" panose="02040503050406030204" pitchFamily="18" charset="0"/>
                      </a:rPr>
                      <m:t>=</m:t>
                    </m:r>
                    <m:f>
                      <m:fPr>
                        <m:ctrlPr>
                          <a:rPr lang="nl-BE" sz="4000" i="1">
                            <a:latin typeface="Cambria Math" panose="02040503050406030204" pitchFamily="18" charset="0"/>
                          </a:rPr>
                        </m:ctrlPr>
                      </m:fPr>
                      <m:num>
                        <m:r>
                          <a:rPr lang="nl-BE" sz="4000" i="1">
                            <a:latin typeface="Cambria Math" panose="02040503050406030204" pitchFamily="18" charset="0"/>
                            <a:ea typeface="Cambria Math" panose="02040503050406030204" pitchFamily="18" charset="0"/>
                          </a:rPr>
                          <m:t>𝜋</m:t>
                        </m:r>
                        <m:r>
                          <a:rPr lang="nl-BE" sz="4000" i="1">
                            <a:latin typeface="Cambria Math" panose="02040503050406030204" pitchFamily="18" charset="0"/>
                            <a:ea typeface="Cambria Math" panose="02040503050406030204" pitchFamily="18" charset="0"/>
                          </a:rPr>
                          <m:t> .  142800.</m:t>
                        </m:r>
                        <m:sSup>
                          <m:sSupPr>
                            <m:ctrlPr>
                              <a:rPr lang="nl-BE" sz="4000" i="1">
                                <a:latin typeface="Cambria Math" panose="02040503050406030204" pitchFamily="18" charset="0"/>
                              </a:rPr>
                            </m:ctrlPr>
                          </m:sSupPr>
                          <m:e>
                            <m:r>
                              <a:rPr lang="nl-BE" sz="4000" i="1">
                                <a:latin typeface="Cambria Math" panose="02040503050406030204" pitchFamily="18" charset="0"/>
                              </a:rPr>
                              <m:t>10</m:t>
                            </m:r>
                          </m:e>
                          <m:sup>
                            <m:r>
                              <a:rPr lang="nl-BE" sz="4000" i="1">
                                <a:latin typeface="Cambria Math" panose="02040503050406030204" pitchFamily="18" charset="0"/>
                              </a:rPr>
                              <m:t>3</m:t>
                            </m:r>
                          </m:sup>
                        </m:sSup>
                      </m:num>
                      <m:den>
                        <m:r>
                          <a:rPr lang="nl-BE" sz="4000" i="1">
                            <a:latin typeface="Cambria Math" panose="02040503050406030204" pitchFamily="18" charset="0"/>
                          </a:rPr>
                          <m:t>9. 3600 + 50.60 + 30</m:t>
                        </m:r>
                      </m:den>
                    </m:f>
                    <m:r>
                      <a:rPr lang="nl-BE" sz="4000" i="1">
                        <a:latin typeface="Cambria Math" panose="02040503050406030204" pitchFamily="18" charset="0"/>
                      </a:rPr>
                      <m:t>=12662</m:t>
                    </m:r>
                    <m:f>
                      <m:fPr>
                        <m:ctrlPr>
                          <a:rPr lang="nl-BE" sz="4000" i="1">
                            <a:latin typeface="Cambria Math" panose="02040503050406030204" pitchFamily="18" charset="0"/>
                          </a:rPr>
                        </m:ctrlPr>
                      </m:fPr>
                      <m:num>
                        <m:r>
                          <a:rPr lang="nl-BE" sz="4000" i="1">
                            <a:latin typeface="Cambria Math" panose="02040503050406030204" pitchFamily="18" charset="0"/>
                          </a:rPr>
                          <m:t>𝑚</m:t>
                        </m:r>
                      </m:num>
                      <m:den>
                        <m:r>
                          <a:rPr lang="nl-BE" sz="4000" i="1">
                            <a:latin typeface="Cambria Math" panose="02040503050406030204" pitchFamily="18" charset="0"/>
                          </a:rPr>
                          <m:t>𝑠</m:t>
                        </m:r>
                      </m:den>
                    </m:f>
                    <m:r>
                      <a:rPr lang="nl-BE" sz="4000" i="1">
                        <a:latin typeface="Cambria Math" panose="02040503050406030204" pitchFamily="18" charset="0"/>
                      </a:rPr>
                      <m:t>=45584</m:t>
                    </m:r>
                    <m:f>
                      <m:fPr>
                        <m:ctrlPr>
                          <a:rPr lang="nl-BE" sz="4000" i="1">
                            <a:latin typeface="Cambria Math" panose="02040503050406030204" pitchFamily="18" charset="0"/>
                          </a:rPr>
                        </m:ctrlPr>
                      </m:fPr>
                      <m:num>
                        <m:r>
                          <a:rPr lang="nl-BE" sz="4000" i="1">
                            <a:latin typeface="Cambria Math" panose="02040503050406030204" pitchFamily="18" charset="0"/>
                          </a:rPr>
                          <m:t>𝑘𝑚</m:t>
                        </m:r>
                      </m:num>
                      <m:den>
                        <m:r>
                          <a:rPr lang="nl-BE" sz="4000" i="1">
                            <a:latin typeface="Cambria Math" panose="02040503050406030204" pitchFamily="18" charset="0"/>
                          </a:rPr>
                          <m:t>h</m:t>
                        </m:r>
                      </m:den>
                    </m:f>
                  </m:oMath>
                </a14:m>
                <a:endParaRPr lang="nl-BE" sz="4000" dirty="0"/>
              </a:p>
              <a:p>
                <a:pPr eaLnBrk="1" hangingPunct="1">
                  <a:defRPr/>
                </a:pPr>
                <a:endParaRPr lang="nl-BE" sz="4000" dirty="0"/>
              </a:p>
              <a:p>
                <a:pPr eaLnBrk="1" hangingPunct="1">
                  <a:defRPr/>
                </a:pPr>
                <a14:m>
                  <m:oMath xmlns:m="http://schemas.openxmlformats.org/officeDocument/2006/math">
                    <m:r>
                      <a:rPr lang="nl-BE" sz="4000" i="1">
                        <a:latin typeface="Cambria Math" panose="02040503050406030204" pitchFamily="18" charset="0"/>
                      </a:rPr>
                      <m:t>𝑣</m:t>
                    </m:r>
                    <m:r>
                      <a:rPr lang="nl-BE" sz="4000" i="1">
                        <a:latin typeface="Cambria Math" panose="02040503050406030204" pitchFamily="18" charset="0"/>
                      </a:rPr>
                      <m:t>=</m:t>
                    </m:r>
                    <m:f>
                      <m:fPr>
                        <m:ctrlPr>
                          <a:rPr lang="nl-BE" sz="4000" i="1">
                            <a:latin typeface="Cambria Math" panose="02040503050406030204" pitchFamily="18" charset="0"/>
                          </a:rPr>
                        </m:ctrlPr>
                      </m:fPr>
                      <m:num>
                        <m:r>
                          <a:rPr lang="nl-BE" sz="4000" i="1">
                            <a:latin typeface="Cambria Math" panose="02040503050406030204" pitchFamily="18" charset="0"/>
                          </a:rPr>
                          <m:t>2</m:t>
                        </m:r>
                        <m:r>
                          <a:rPr lang="nl-BE" sz="4000" i="1">
                            <a:latin typeface="Cambria Math" panose="02040503050406030204" pitchFamily="18" charset="0"/>
                            <a:ea typeface="Cambria Math" panose="02040503050406030204" pitchFamily="18" charset="0"/>
                          </a:rPr>
                          <m:t>𝜋</m:t>
                        </m:r>
                        <m:r>
                          <a:rPr lang="nl-BE" sz="4000" i="1">
                            <a:latin typeface="Cambria Math" panose="02040503050406030204" pitchFamily="18" charset="0"/>
                            <a:ea typeface="Cambria Math" panose="02040503050406030204" pitchFamily="18" charset="0"/>
                          </a:rPr>
                          <m:t>.</m:t>
                        </m:r>
                        <m:r>
                          <a:rPr lang="nl-BE" sz="4000" i="1">
                            <a:latin typeface="Cambria Math" panose="02040503050406030204" pitchFamily="18" charset="0"/>
                            <a:ea typeface="Cambria Math" panose="02040503050406030204" pitchFamily="18" charset="0"/>
                          </a:rPr>
                          <m:t>𝑟</m:t>
                        </m:r>
                        <m:r>
                          <a:rPr lang="nl-BE" sz="4000" i="1">
                            <a:latin typeface="Cambria Math" panose="02040503050406030204" pitchFamily="18" charset="0"/>
                          </a:rPr>
                          <m:t> </m:t>
                        </m:r>
                      </m:num>
                      <m:den>
                        <m:r>
                          <a:rPr lang="nl-BE" sz="4000" i="1">
                            <a:latin typeface="Cambria Math" panose="02040503050406030204" pitchFamily="18" charset="0"/>
                          </a:rPr>
                          <m:t>𝑇</m:t>
                        </m:r>
                      </m:den>
                    </m:f>
                    <m:r>
                      <a:rPr lang="nl-BE" sz="4000" i="1">
                        <a:latin typeface="Cambria Math" panose="02040503050406030204" pitchFamily="18" charset="0"/>
                      </a:rPr>
                      <m:t>=</m:t>
                    </m:r>
                    <m:f>
                      <m:fPr>
                        <m:ctrlPr>
                          <a:rPr lang="nl-BE" sz="4000" i="1">
                            <a:latin typeface="Cambria Math" panose="02040503050406030204" pitchFamily="18" charset="0"/>
                          </a:rPr>
                        </m:ctrlPr>
                      </m:fPr>
                      <m:num>
                        <m:r>
                          <a:rPr lang="nl-BE" sz="4000" i="1">
                            <a:latin typeface="Cambria Math" panose="02040503050406030204" pitchFamily="18" charset="0"/>
                            <a:ea typeface="Cambria Math" panose="02040503050406030204" pitchFamily="18" charset="0"/>
                          </a:rPr>
                          <m:t>𝜋</m:t>
                        </m:r>
                        <m:r>
                          <a:rPr lang="nl-BE" sz="4000" i="1">
                            <a:latin typeface="Cambria Math" panose="02040503050406030204" pitchFamily="18" charset="0"/>
                            <a:ea typeface="Cambria Math" panose="02040503050406030204" pitchFamily="18" charset="0"/>
                          </a:rPr>
                          <m:t>.</m:t>
                        </m:r>
                        <m:r>
                          <a:rPr lang="nl-BE" sz="4000" i="1">
                            <a:latin typeface="Cambria Math" panose="02040503050406030204" pitchFamily="18" charset="0"/>
                            <a:ea typeface="Cambria Math" panose="02040503050406030204" pitchFamily="18" charset="0"/>
                          </a:rPr>
                          <m:t>𝑑</m:t>
                        </m:r>
                        <m:r>
                          <a:rPr lang="nl-BE" sz="4000" i="1">
                            <a:latin typeface="Cambria Math" panose="02040503050406030204" pitchFamily="18" charset="0"/>
                          </a:rPr>
                          <m:t> </m:t>
                        </m:r>
                      </m:num>
                      <m:den>
                        <m:r>
                          <a:rPr lang="nl-BE" sz="4000" i="1">
                            <a:latin typeface="Cambria Math" panose="02040503050406030204" pitchFamily="18" charset="0"/>
                          </a:rPr>
                          <m:t>𝑇</m:t>
                        </m:r>
                      </m:den>
                    </m:f>
                    <m:r>
                      <a:rPr lang="nl-BE" sz="4000" i="1">
                        <a:latin typeface="Cambria Math" panose="02040503050406030204" pitchFamily="18" charset="0"/>
                      </a:rPr>
                      <m:t>=</m:t>
                    </m:r>
                    <m:f>
                      <m:fPr>
                        <m:ctrlPr>
                          <a:rPr lang="nl-BE" sz="4000" i="1">
                            <a:latin typeface="Cambria Math" panose="02040503050406030204" pitchFamily="18" charset="0"/>
                          </a:rPr>
                        </m:ctrlPr>
                      </m:fPr>
                      <m:num>
                        <m:r>
                          <a:rPr lang="nl-BE" sz="4000" i="1">
                            <a:latin typeface="Cambria Math" panose="02040503050406030204" pitchFamily="18" charset="0"/>
                            <a:ea typeface="Cambria Math" panose="02040503050406030204" pitchFamily="18" charset="0"/>
                          </a:rPr>
                          <m:t>𝜋</m:t>
                        </m:r>
                        <m:r>
                          <a:rPr lang="nl-BE" sz="4000" i="1">
                            <a:latin typeface="Cambria Math" panose="02040503050406030204" pitchFamily="18" charset="0"/>
                            <a:ea typeface="Cambria Math" panose="02040503050406030204" pitchFamily="18" charset="0"/>
                          </a:rPr>
                          <m:t> . 4878.</m:t>
                        </m:r>
                        <m:sSup>
                          <m:sSupPr>
                            <m:ctrlPr>
                              <a:rPr lang="nl-BE" sz="4000" i="1">
                                <a:latin typeface="Cambria Math" panose="02040503050406030204" pitchFamily="18" charset="0"/>
                              </a:rPr>
                            </m:ctrlPr>
                          </m:sSupPr>
                          <m:e>
                            <m:r>
                              <a:rPr lang="nl-BE" sz="4000" i="1">
                                <a:latin typeface="Cambria Math" panose="02040503050406030204" pitchFamily="18" charset="0"/>
                              </a:rPr>
                              <m:t>10</m:t>
                            </m:r>
                          </m:e>
                          <m:sup>
                            <m:r>
                              <a:rPr lang="nl-BE" sz="4000" i="1">
                                <a:latin typeface="Cambria Math" panose="02040503050406030204" pitchFamily="18" charset="0"/>
                              </a:rPr>
                              <m:t>3</m:t>
                            </m:r>
                          </m:sup>
                        </m:sSup>
                      </m:num>
                      <m:den>
                        <m:r>
                          <a:rPr lang="nl-BE" sz="4000" i="1">
                            <a:latin typeface="Cambria Math" panose="02040503050406030204" pitchFamily="18" charset="0"/>
                          </a:rPr>
                          <m:t>58.24,00.3600+15. 3600 +30.60 </m:t>
                        </m:r>
                      </m:den>
                    </m:f>
                    <m:r>
                      <a:rPr lang="nl-BE" sz="4000" i="1">
                        <a:latin typeface="Cambria Math" panose="02040503050406030204" pitchFamily="18" charset="0"/>
                      </a:rPr>
                      <m:t>=3,024</m:t>
                    </m:r>
                    <m:f>
                      <m:fPr>
                        <m:ctrlPr>
                          <a:rPr lang="nl-BE" sz="4000" i="1">
                            <a:latin typeface="Cambria Math" panose="02040503050406030204" pitchFamily="18" charset="0"/>
                          </a:rPr>
                        </m:ctrlPr>
                      </m:fPr>
                      <m:num>
                        <m:r>
                          <a:rPr lang="nl-BE" sz="4000" i="1">
                            <a:latin typeface="Cambria Math" panose="02040503050406030204" pitchFamily="18" charset="0"/>
                          </a:rPr>
                          <m:t>𝑚</m:t>
                        </m:r>
                      </m:num>
                      <m:den>
                        <m:r>
                          <a:rPr lang="nl-BE" sz="4000" i="1">
                            <a:latin typeface="Cambria Math" panose="02040503050406030204" pitchFamily="18" charset="0"/>
                          </a:rPr>
                          <m:t>𝑠</m:t>
                        </m:r>
                      </m:den>
                    </m:f>
                    <m:r>
                      <a:rPr lang="nl-BE" sz="4000" i="1">
                        <a:latin typeface="Cambria Math" panose="02040503050406030204" pitchFamily="18" charset="0"/>
                      </a:rPr>
                      <m:t>=10,89</m:t>
                    </m:r>
                    <m:f>
                      <m:fPr>
                        <m:ctrlPr>
                          <a:rPr lang="nl-BE" sz="4000" i="1">
                            <a:latin typeface="Cambria Math" panose="02040503050406030204" pitchFamily="18" charset="0"/>
                          </a:rPr>
                        </m:ctrlPr>
                      </m:fPr>
                      <m:num>
                        <m:r>
                          <a:rPr lang="nl-BE" sz="4000" i="1">
                            <a:latin typeface="Cambria Math" panose="02040503050406030204" pitchFamily="18" charset="0"/>
                          </a:rPr>
                          <m:t>𝑘𝑚</m:t>
                        </m:r>
                      </m:num>
                      <m:den>
                        <m:r>
                          <a:rPr lang="nl-BE" sz="4000" i="1">
                            <a:latin typeface="Cambria Math" panose="02040503050406030204" pitchFamily="18" charset="0"/>
                          </a:rPr>
                          <m:t>h</m:t>
                        </m:r>
                      </m:den>
                    </m:f>
                  </m:oMath>
                </a14:m>
                <a:endParaRPr lang="nl-BE" sz="2000" dirty="0"/>
              </a:p>
              <a:p>
                <a:pPr eaLnBrk="1" hangingPunct="1">
                  <a:defRPr/>
                </a:pPr>
                <a:endParaRPr lang="nl-BE" sz="2000" dirty="0"/>
              </a:p>
              <a:p>
                <a:pPr eaLnBrk="1" hangingPunct="1">
                  <a:defRPr/>
                </a:pPr>
                <a:endParaRPr lang="nl-BE" sz="2000" dirty="0"/>
              </a:p>
              <a:p>
                <a:pPr eaLnBrk="1" hangingPunct="1">
                  <a:defRPr/>
                </a:pPr>
                <a:endParaRPr lang="nl-BE" sz="2000" dirty="0"/>
              </a:p>
              <a:p>
                <a:pPr eaLnBrk="1" hangingPunct="1">
                  <a:defRPr/>
                </a:pPr>
                <a:endParaRPr lang="nl-BE" sz="2000" dirty="0"/>
              </a:p>
              <a:p>
                <a:pPr eaLnBrk="1" hangingPunct="1">
                  <a:defRPr/>
                </a:pPr>
                <a:endParaRPr lang="nl-BE" sz="2000" dirty="0"/>
              </a:p>
              <a:p>
                <a:pPr eaLnBrk="1" hangingPunct="1">
                  <a:defRPr/>
                </a:pPr>
                <a:endParaRPr lang="nl-BE" sz="2000" dirty="0"/>
              </a:p>
              <a:p>
                <a:pPr eaLnBrk="1" hangingPunct="1">
                  <a:defRPr/>
                </a:pPr>
                <a:endParaRPr lang="nl-BE" sz="2000" dirty="0"/>
              </a:p>
            </p:txBody>
          </p:sp>
        </mc:Choice>
        <mc:Fallback xmlns="">
          <p:sp>
            <p:nvSpPr>
              <p:cNvPr id="9219" name="Rectangle 3"/>
              <p:cNvSpPr>
                <a:spLocks noGrp="1" noRot="1" noChangeAspect="1" noMove="1" noResize="1" noEditPoints="1" noAdjustHandles="1" noChangeArrowheads="1" noChangeShapeType="1" noTextEdit="1"/>
              </p:cNvSpPr>
              <p:nvPr>
                <p:ph type="body" sz="half" idx="1"/>
              </p:nvPr>
            </p:nvSpPr>
            <p:spPr>
              <a:xfrm>
                <a:off x="335360" y="908720"/>
                <a:ext cx="11665296" cy="5544616"/>
              </a:xfrm>
              <a:blipFill>
                <a:blip r:embed="rId2"/>
                <a:stretch>
                  <a:fillRect/>
                </a:stretch>
              </a:blipFill>
            </p:spPr>
            <p:txBody>
              <a:bodyPr/>
              <a:lstStyle/>
              <a:p>
                <a:r>
                  <a:rPr lang="nl-BE">
                    <a:noFill/>
                  </a:rPr>
                  <a:t> </a:t>
                </a:r>
              </a:p>
            </p:txBody>
          </p:sp>
        </mc:Fallback>
      </mc:AlternateContent>
      <p:graphicFrame>
        <p:nvGraphicFramePr>
          <p:cNvPr id="9265" name="Group 49"/>
          <p:cNvGraphicFramePr>
            <a:graphicFrameLocks noGrp="1"/>
          </p:cNvGraphicFramePr>
          <p:nvPr>
            <p:ph sz="half" idx="2"/>
            <p:extLst>
              <p:ext uri="{D42A27DB-BD31-4B8C-83A1-F6EECF244321}">
                <p14:modId xmlns:p14="http://schemas.microsoft.com/office/powerpoint/2010/main" val="2985133530"/>
              </p:ext>
            </p:extLst>
          </p:nvPr>
        </p:nvGraphicFramePr>
        <p:xfrm>
          <a:off x="2459832" y="2049778"/>
          <a:ext cx="7272337" cy="1819275"/>
        </p:xfrm>
        <a:graphic>
          <a:graphicData uri="http://schemas.openxmlformats.org/drawingml/2006/table">
            <a:tbl>
              <a:tblPr/>
              <a:tblGrid>
                <a:gridCol w="2505075">
                  <a:extLst>
                    <a:ext uri="{9D8B030D-6E8A-4147-A177-3AD203B41FA5}">
                      <a16:colId xmlns:a16="http://schemas.microsoft.com/office/drawing/2014/main" val="20000"/>
                    </a:ext>
                  </a:extLst>
                </a:gridCol>
                <a:gridCol w="2282825">
                  <a:extLst>
                    <a:ext uri="{9D8B030D-6E8A-4147-A177-3AD203B41FA5}">
                      <a16:colId xmlns:a16="http://schemas.microsoft.com/office/drawing/2014/main" val="20001"/>
                    </a:ext>
                  </a:extLst>
                </a:gridCol>
                <a:gridCol w="2484437">
                  <a:extLst>
                    <a:ext uri="{9D8B030D-6E8A-4147-A177-3AD203B41FA5}">
                      <a16:colId xmlns:a16="http://schemas.microsoft.com/office/drawing/2014/main" val="20002"/>
                    </a:ext>
                  </a:extLst>
                </a:gridCol>
              </a:tblGrid>
              <a:tr h="606425">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 </a:t>
                      </a:r>
                    </a:p>
                  </a:txBody>
                  <a:tcPr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Jupiter</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Mercurius</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606425">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a:ln>
                            <a:noFill/>
                          </a:ln>
                          <a:solidFill>
                            <a:srgbClr val="000000"/>
                          </a:solidFill>
                          <a:effectLst>
                            <a:outerShdw blurRad="38100" dist="38100" dir="2700000" algn="tl">
                              <a:srgbClr val="FFFFFF"/>
                            </a:outerShdw>
                          </a:effectLst>
                          <a:latin typeface="Tahoma" pitchFamily="34" charset="0"/>
                          <a:cs typeface="Arial" charset="0"/>
                        </a:rPr>
                        <a:t>rotatieperiode</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BE"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9h50min30s</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BE"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58d15h30min</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6425">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NL" sz="2400" b="0" i="0" u="none" strike="noStrike" cap="none" normalizeH="0" baseline="0" dirty="0">
                          <a:ln>
                            <a:noFill/>
                          </a:ln>
                          <a:solidFill>
                            <a:srgbClr val="000000"/>
                          </a:solidFill>
                          <a:effectLst>
                            <a:outerShdw blurRad="38100" dist="38100" dir="2700000" algn="tl">
                              <a:srgbClr val="FFFFFF"/>
                            </a:outerShdw>
                          </a:effectLst>
                          <a:latin typeface="Tahoma" pitchFamily="34" charset="0"/>
                          <a:cs typeface="Arial" charset="0"/>
                        </a:rPr>
                        <a:t>diameter in km</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BE" sz="2400" b="0" i="0" u="none" strike="noStrike" cap="none" normalizeH="0" baseline="0">
                          <a:ln>
                            <a:noFill/>
                          </a:ln>
                          <a:solidFill>
                            <a:schemeClr val="tx1"/>
                          </a:solidFill>
                          <a:effectLst>
                            <a:outerShdw blurRad="38100" dist="38100" dir="2700000" algn="tl">
                              <a:srgbClr val="000000"/>
                            </a:outerShdw>
                          </a:effectLst>
                          <a:latin typeface="Tahoma" pitchFamily="34" charset="0"/>
                          <a:cs typeface="Arial" charset="0"/>
                        </a:rPr>
                        <a:t>142800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
                          <a:schemeClr val="hlink"/>
                        </a:buClr>
                        <a:buSzPct val="80000"/>
                        <a:buFont typeface="Arial" charset="0"/>
                        <a:buNone/>
                        <a:tabLst/>
                      </a:pPr>
                      <a:r>
                        <a:rPr kumimoji="0" lang="nl-BE" sz="2400" b="0" i="0" u="none" strike="noStrike" cap="none" normalizeH="0" baseline="0" dirty="0">
                          <a:ln>
                            <a:noFill/>
                          </a:ln>
                          <a:solidFill>
                            <a:schemeClr val="tx1"/>
                          </a:solidFill>
                          <a:effectLst>
                            <a:outerShdw blurRad="38100" dist="38100" dir="2700000" algn="tl">
                              <a:srgbClr val="000000"/>
                            </a:outerShdw>
                          </a:effectLst>
                          <a:latin typeface="Tahoma" pitchFamily="34" charset="0"/>
                          <a:cs typeface="Arial" charset="0"/>
                        </a:rPr>
                        <a:t>4878</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2790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p:txBody>
          <a:bodyPr/>
          <a:lstStyle/>
          <a:p>
            <a:pPr eaLnBrk="1" hangingPunct="1">
              <a:defRPr/>
            </a:pPr>
            <a:r>
              <a:rPr lang="nl-BE" sz="4000"/>
              <a:t>Centripetale kracht en centripetale versnelling</a:t>
            </a:r>
            <a:endParaRPr lang="nl-NL" sz="4000"/>
          </a:p>
        </p:txBody>
      </p:sp>
      <p:sp>
        <p:nvSpPr>
          <p:cNvPr id="33795" name="Rectangle 3"/>
          <p:cNvSpPr>
            <a:spLocks noGrp="1" noRot="1" noChangeArrowheads="1"/>
          </p:cNvSpPr>
          <p:nvPr>
            <p:ph idx="1"/>
          </p:nvPr>
        </p:nvSpPr>
        <p:spPr>
          <a:xfrm>
            <a:off x="407368" y="1825625"/>
            <a:ext cx="11521280" cy="4351338"/>
          </a:xfrm>
        </p:spPr>
        <p:txBody>
          <a:bodyPr/>
          <a:lstStyle/>
          <a:p>
            <a:pPr eaLnBrk="1" hangingPunct="1">
              <a:lnSpc>
                <a:spcPct val="90000"/>
              </a:lnSpc>
              <a:defRPr/>
            </a:pPr>
            <a:r>
              <a:rPr lang="nl-BE" sz="3200" dirty="0"/>
              <a:t>Wat kan je zeker besluiten als je een beweging ziet waarin een bocht zit?</a:t>
            </a:r>
          </a:p>
          <a:p>
            <a:pPr lvl="1">
              <a:spcAft>
                <a:spcPts val="1800"/>
              </a:spcAft>
              <a:defRPr/>
            </a:pPr>
            <a:r>
              <a:rPr lang="nl-BE" sz="2800" dirty="0"/>
              <a:t>Resulterende kracht zorgt voor richtingsverandering.</a:t>
            </a:r>
          </a:p>
          <a:p>
            <a:pPr eaLnBrk="1" hangingPunct="1">
              <a:lnSpc>
                <a:spcPct val="90000"/>
              </a:lnSpc>
              <a:defRPr/>
            </a:pPr>
            <a:r>
              <a:rPr lang="nl-BE" sz="3200" dirty="0"/>
              <a:t>Welke verschillende effecten kan krachtuitwerking hebben?</a:t>
            </a:r>
          </a:p>
          <a:p>
            <a:pPr lvl="1" eaLnBrk="1" hangingPunct="1">
              <a:lnSpc>
                <a:spcPct val="90000"/>
              </a:lnSpc>
              <a:defRPr/>
            </a:pPr>
            <a:r>
              <a:rPr lang="nl-BE" sz="2800" dirty="0"/>
              <a:t>richtingsverandering</a:t>
            </a:r>
          </a:p>
          <a:p>
            <a:pPr lvl="1" eaLnBrk="1" hangingPunct="1">
              <a:lnSpc>
                <a:spcPct val="90000"/>
              </a:lnSpc>
              <a:defRPr/>
            </a:pPr>
            <a:r>
              <a:rPr lang="nl-BE" sz="2800" dirty="0"/>
              <a:t>Snelheidsverandering (grootte en zin)</a:t>
            </a:r>
          </a:p>
          <a:p>
            <a:pPr lvl="1" eaLnBrk="1" hangingPunct="1">
              <a:lnSpc>
                <a:spcPct val="90000"/>
              </a:lnSpc>
              <a:defRPr/>
            </a:pPr>
            <a:r>
              <a:rPr lang="nl-BE" sz="2800" dirty="0"/>
              <a:t>vervorming</a:t>
            </a:r>
          </a:p>
          <a:p>
            <a:pPr lvl="1" eaLnBrk="1" hangingPunct="1">
              <a:lnSpc>
                <a:spcPct val="90000"/>
              </a:lnSpc>
              <a:defRPr/>
            </a:pP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 calcmode="lin" valueType="num">
                                      <p:cBhvr additive="base">
                                        <p:cTn id="7" dur="500" fill="hold"/>
                                        <p:tgtEl>
                                          <p:spTgt spid="337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3795">
                                            <p:txEl>
                                              <p:pRg st="3" end="3"/>
                                            </p:txEl>
                                          </p:spTgt>
                                        </p:tgtEl>
                                        <p:attrNameLst>
                                          <p:attrName>style.visibility</p:attrName>
                                        </p:attrNameLst>
                                      </p:cBhvr>
                                      <p:to>
                                        <p:strVal val="visible"/>
                                      </p:to>
                                    </p:set>
                                    <p:anim calcmode="lin" valueType="num">
                                      <p:cBhvr additive="base">
                                        <p:cTn id="13"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795">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3795">
                                            <p:txEl>
                                              <p:pRg st="4" end="4"/>
                                            </p:txEl>
                                          </p:spTgt>
                                        </p:tgtEl>
                                        <p:attrNameLst>
                                          <p:attrName>style.visibility</p:attrName>
                                        </p:attrNameLst>
                                      </p:cBhvr>
                                      <p:to>
                                        <p:strVal val="visible"/>
                                      </p:to>
                                    </p:set>
                                    <p:anim calcmode="lin" valueType="num">
                                      <p:cBhvr additive="base">
                                        <p:cTn id="17"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795">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3795">
                                            <p:txEl>
                                              <p:pRg st="5" end="5"/>
                                            </p:txEl>
                                          </p:spTgt>
                                        </p:tgtEl>
                                        <p:attrNameLst>
                                          <p:attrName>style.visibility</p:attrName>
                                        </p:attrNameLst>
                                      </p:cBhvr>
                                      <p:to>
                                        <p:strVal val="visible"/>
                                      </p:to>
                                    </p:set>
                                    <p:anim calcmode="lin" valueType="num">
                                      <p:cBhvr additive="base">
                                        <p:cTn id="21" dur="500" fill="hold"/>
                                        <p:tgtEl>
                                          <p:spTgt spid="3379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79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rrowheads="1"/>
          </p:cNvSpPr>
          <p:nvPr>
            <p:ph type="title"/>
          </p:nvPr>
        </p:nvSpPr>
        <p:spPr/>
        <p:txBody>
          <a:bodyPr/>
          <a:lstStyle/>
          <a:p>
            <a:pPr eaLnBrk="1" hangingPunct="1">
              <a:defRPr/>
            </a:pPr>
            <a:r>
              <a:rPr lang="nl-BE" sz="4000" dirty="0"/>
              <a:t>Centripetale kracht en centripetale versnelling</a:t>
            </a:r>
            <a:endParaRPr lang="nl-NL" sz="4000" dirty="0"/>
          </a:p>
        </p:txBody>
      </p:sp>
      <p:sp>
        <p:nvSpPr>
          <p:cNvPr id="34819" name="Rectangle 3"/>
          <p:cNvSpPr>
            <a:spLocks noGrp="1" noRot="1" noChangeArrowheads="1"/>
          </p:cNvSpPr>
          <p:nvPr>
            <p:ph idx="1"/>
          </p:nvPr>
        </p:nvSpPr>
        <p:spPr>
          <a:xfrm>
            <a:off x="479376" y="1844824"/>
            <a:ext cx="11449272" cy="4176464"/>
          </a:xfrm>
        </p:spPr>
        <p:txBody>
          <a:bodyPr>
            <a:normAutofit/>
          </a:bodyPr>
          <a:lstStyle/>
          <a:p>
            <a:pPr>
              <a:spcAft>
                <a:spcPts val="2400"/>
              </a:spcAft>
              <a:defRPr/>
            </a:pPr>
            <a:r>
              <a:rPr lang="nl-BE" dirty="0"/>
              <a:t>Als er geen resulterende kracht op  bewegend voorwerp uitgeoefend wordt </a:t>
            </a:r>
            <a:r>
              <a:rPr lang="nl-BE" dirty="0">
                <a:latin typeface="Arial"/>
                <a:cs typeface="Arial"/>
              </a:rPr>
              <a:t>→ </a:t>
            </a:r>
            <a:r>
              <a:rPr lang="nl-BE" dirty="0"/>
              <a:t>ERB </a:t>
            </a:r>
            <a:r>
              <a:rPr lang="nl-BE" dirty="0">
                <a:latin typeface="Arial Unicode MS" pitchFamily="34" charset="-128"/>
                <a:ea typeface="Arial Unicode MS" pitchFamily="34" charset="-128"/>
                <a:cs typeface="Arial Unicode MS" pitchFamily="34" charset="-128"/>
              </a:rPr>
              <a:t>→ </a:t>
            </a:r>
            <a:r>
              <a:rPr lang="nl-BE" dirty="0">
                <a:ea typeface="Arial Unicode MS" pitchFamily="34" charset="-128"/>
                <a:cs typeface="Arial Unicode MS" pitchFamily="34" charset="-128"/>
              </a:rPr>
              <a:t>Wet van de traagheid (1</a:t>
            </a:r>
            <a:r>
              <a:rPr lang="nl-BE" baseline="30000" dirty="0">
                <a:ea typeface="Arial Unicode MS" pitchFamily="34" charset="-128"/>
                <a:cs typeface="Arial Unicode MS" pitchFamily="34" charset="-128"/>
              </a:rPr>
              <a:t>e</a:t>
            </a:r>
            <a:r>
              <a:rPr lang="nl-BE" dirty="0">
                <a:ea typeface="Arial Unicode MS" pitchFamily="34" charset="-128"/>
                <a:cs typeface="Arial Unicode MS" pitchFamily="34" charset="-128"/>
              </a:rPr>
              <a:t> wet van Newton)</a:t>
            </a:r>
          </a:p>
          <a:p>
            <a:pPr eaLnBrk="1" hangingPunct="1">
              <a:defRPr/>
            </a:pPr>
            <a:r>
              <a:rPr lang="nl-BE" dirty="0">
                <a:ea typeface="Arial Unicode MS" pitchFamily="34" charset="-128"/>
                <a:cs typeface="Arial Unicode MS" pitchFamily="34" charset="-128"/>
              </a:rPr>
              <a:t>Bij ECB:</a:t>
            </a:r>
          </a:p>
          <a:p>
            <a:pPr lvl="1" eaLnBrk="1" hangingPunct="1">
              <a:defRPr/>
            </a:pPr>
            <a:r>
              <a:rPr lang="nl-BE" dirty="0">
                <a:ea typeface="Arial Unicode MS" pitchFamily="34" charset="-128"/>
                <a:cs typeface="Arial Unicode MS" pitchFamily="34" charset="-128"/>
              </a:rPr>
              <a:t>blijft grootte van snelheidsvector </a:t>
            </a:r>
            <a:r>
              <a:rPr lang="nl-BE" dirty="0" err="1">
                <a:ea typeface="Arial Unicode MS" pitchFamily="34" charset="-128"/>
                <a:cs typeface="Arial Unicode MS" pitchFamily="34" charset="-128"/>
              </a:rPr>
              <a:t>cte</a:t>
            </a:r>
            <a:r>
              <a:rPr lang="nl-BE" dirty="0">
                <a:ea typeface="Arial Unicode MS" pitchFamily="34" charset="-128"/>
                <a:cs typeface="Arial Unicode MS" pitchFamily="34" charset="-128"/>
              </a:rPr>
              <a:t>.</a:t>
            </a:r>
          </a:p>
          <a:p>
            <a:pPr lvl="1" eaLnBrk="1" hangingPunct="1">
              <a:defRPr/>
            </a:pPr>
            <a:r>
              <a:rPr lang="nl-BE" dirty="0">
                <a:ea typeface="Arial Unicode MS" pitchFamily="34" charset="-128"/>
                <a:cs typeface="Arial Unicode MS" pitchFamily="34" charset="-128"/>
              </a:rPr>
              <a:t>verandert richting van snelheidsvector voortdurend</a:t>
            </a:r>
            <a:r>
              <a:rPr lang="nl-BE" dirty="0"/>
              <a:t> </a:t>
            </a:r>
            <a:r>
              <a:rPr lang="nl-BE" dirty="0">
                <a:latin typeface="Arial"/>
                <a:cs typeface="Arial"/>
              </a:rPr>
              <a:t>→ </a:t>
            </a:r>
            <a:r>
              <a:rPr lang="nl-BE" dirty="0"/>
              <a:t>steeds rakend aan baan</a:t>
            </a:r>
          </a:p>
          <a:p>
            <a:pPr lvl="1" eaLnBrk="1" hangingPunct="1">
              <a:defRPr/>
            </a:pPr>
            <a:r>
              <a:rPr lang="nl-BE" dirty="0"/>
              <a:t>voortdurende richtingsverandering door kracht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309F72-C23F-DA5D-01DA-0CEB591DFD79}"/>
              </a:ext>
            </a:extLst>
          </p:cNvPr>
          <p:cNvSpPr>
            <a:spLocks noGrp="1"/>
          </p:cNvSpPr>
          <p:nvPr>
            <p:ph type="title"/>
          </p:nvPr>
        </p:nvSpPr>
        <p:spPr>
          <a:xfrm>
            <a:off x="1825625" y="-147972"/>
            <a:ext cx="8540750" cy="1143000"/>
          </a:xfrm>
        </p:spPr>
        <p:txBody>
          <a:bodyPr/>
          <a:lstStyle/>
          <a:p>
            <a:r>
              <a:rPr lang="nl-BE" dirty="0"/>
              <a:t>Centripetale versnelling</a:t>
            </a:r>
          </a:p>
        </p:txBody>
      </p:sp>
      <mc:AlternateContent xmlns:mc="http://schemas.openxmlformats.org/markup-compatibility/2006" xmlns:a14="http://schemas.microsoft.com/office/drawing/2010/main">
        <mc:Choice Requires="a14">
          <p:sp>
            <p:nvSpPr>
              <p:cNvPr id="3" name="Tijdelijke aanduiding voor tekst 2">
                <a:extLst>
                  <a:ext uri="{FF2B5EF4-FFF2-40B4-BE49-F238E27FC236}">
                    <a16:creationId xmlns:a16="http://schemas.microsoft.com/office/drawing/2014/main" id="{31FC7EB8-562D-21F8-595F-3929DBD2E4AB}"/>
                  </a:ext>
                </a:extLst>
              </p:cNvPr>
              <p:cNvSpPr>
                <a:spLocks noGrp="1"/>
              </p:cNvSpPr>
              <p:nvPr>
                <p:ph type="body" sz="half" idx="1"/>
              </p:nvPr>
            </p:nvSpPr>
            <p:spPr>
              <a:xfrm>
                <a:off x="551384" y="5215126"/>
                <a:ext cx="11233248" cy="1659152"/>
              </a:xfrm>
            </p:spPr>
            <p:txBody>
              <a:bodyPr/>
              <a:lstStyle/>
              <a:p>
                <a:pPr>
                  <a:spcBef>
                    <a:spcPts val="1800"/>
                  </a:spcBef>
                </a:pPr>
                <a:r>
                  <a:rPr lang="nl-BE" sz="2400" dirty="0"/>
                  <a:t>Versnellingsvector ligt dus langs </a:t>
                </a:r>
                <a:r>
                  <a:rPr lang="nl-BE" sz="2400" dirty="0" err="1"/>
                  <a:t>plaatsvector</a:t>
                </a:r>
                <a:r>
                  <a:rPr lang="nl-BE" sz="2400" dirty="0"/>
                  <a:t>, zin is tegengesteld → wijst altijd naar centrum van cirkel → </a:t>
                </a:r>
                <a:r>
                  <a:rPr lang="nl-BE" sz="2400" u="sng" dirty="0"/>
                  <a:t>centripetale versnelling</a:t>
                </a:r>
                <a:r>
                  <a:rPr lang="nl-BE" sz="2400" dirty="0"/>
                  <a:t>.</a:t>
                </a:r>
              </a:p>
              <a:p>
                <a:pPr>
                  <a:spcBef>
                    <a:spcPts val="1800"/>
                  </a:spcBef>
                </a:pPr>
                <a:r>
                  <a:rPr lang="nl-BE" sz="2400" dirty="0"/>
                  <a:t>Grootte van de centripetale versnelling: </a:t>
                </a:r>
                <a14:m>
                  <m:oMath xmlns:m="http://schemas.openxmlformats.org/officeDocument/2006/math">
                    <m:r>
                      <a:rPr lang="nl-BE" sz="2400" i="1">
                        <a:latin typeface="Cambria Math" panose="02040503050406030204" pitchFamily="18" charset="0"/>
                      </a:rPr>
                      <m:t>𝑎</m:t>
                    </m:r>
                    <m:r>
                      <a:rPr lang="nl-BE" sz="2400" i="1">
                        <a:latin typeface="Cambria Math" panose="02040503050406030204" pitchFamily="18" charset="0"/>
                      </a:rPr>
                      <m:t>= </m:t>
                    </m:r>
                    <m:r>
                      <a:rPr lang="nl-BE" sz="2400" i="1">
                        <a:latin typeface="Cambria Math" panose="02040503050406030204" pitchFamily="18" charset="0"/>
                        <a:ea typeface="Cambria Math" panose="02040503050406030204" pitchFamily="18" charset="0"/>
                      </a:rPr>
                      <m:t>𝜔</m:t>
                    </m:r>
                    <m:r>
                      <a:rPr lang="nl-BE" sz="2400" i="1">
                        <a:latin typeface="Cambria Math" panose="02040503050406030204" pitchFamily="18" charset="0"/>
                        <a:ea typeface="Cambria Math" panose="02040503050406030204" pitchFamily="18" charset="0"/>
                      </a:rPr>
                      <m:t>² . </m:t>
                    </m:r>
                    <m:r>
                      <a:rPr lang="nl-BE" sz="2400" i="1">
                        <a:latin typeface="Cambria Math" panose="02040503050406030204" pitchFamily="18" charset="0"/>
                        <a:ea typeface="Cambria Math" panose="02040503050406030204" pitchFamily="18" charset="0"/>
                      </a:rPr>
                      <m:t>𝑅</m:t>
                    </m:r>
                  </m:oMath>
                </a14:m>
                <a:endParaRPr lang="nl-BE" sz="2400" dirty="0"/>
              </a:p>
              <a:p>
                <a:pPr marL="0" indent="0">
                  <a:buNone/>
                </a:pPr>
                <a:endParaRPr lang="nl-BE" sz="2800" dirty="0"/>
              </a:p>
            </p:txBody>
          </p:sp>
        </mc:Choice>
        <mc:Fallback xmlns="">
          <p:sp>
            <p:nvSpPr>
              <p:cNvPr id="3" name="Tijdelijke aanduiding voor tekst 2">
                <a:extLst>
                  <a:ext uri="{FF2B5EF4-FFF2-40B4-BE49-F238E27FC236}">
                    <a16:creationId xmlns:a16="http://schemas.microsoft.com/office/drawing/2014/main" id="{31FC7EB8-562D-21F8-595F-3929DBD2E4AB}"/>
                  </a:ext>
                </a:extLst>
              </p:cNvPr>
              <p:cNvSpPr>
                <a:spLocks noGrp="1" noRot="1" noChangeAspect="1" noMove="1" noResize="1" noEditPoints="1" noAdjustHandles="1" noChangeArrowheads="1" noChangeShapeType="1" noTextEdit="1"/>
              </p:cNvSpPr>
              <p:nvPr>
                <p:ph type="body" sz="half" idx="1"/>
              </p:nvPr>
            </p:nvSpPr>
            <p:spPr>
              <a:xfrm>
                <a:off x="551384" y="5215126"/>
                <a:ext cx="11233248" cy="1659152"/>
              </a:xfrm>
              <a:blipFill>
                <a:blip r:embed="rId2"/>
                <a:stretch>
                  <a:fillRect/>
                </a:stretch>
              </a:blipFill>
            </p:spPr>
            <p:txBody>
              <a:bodyPr/>
              <a:lstStyle/>
              <a:p>
                <a:r>
                  <a:rPr lang="nl-BE">
                    <a:noFill/>
                  </a:rPr>
                  <a:t> </a:t>
                </a:r>
              </a:p>
            </p:txBody>
          </p:sp>
        </mc:Fallback>
      </mc:AlternateContent>
      <p:pic>
        <p:nvPicPr>
          <p:cNvPr id="6" name="Afbeelding 5">
            <a:extLst>
              <a:ext uri="{FF2B5EF4-FFF2-40B4-BE49-F238E27FC236}">
                <a16:creationId xmlns:a16="http://schemas.microsoft.com/office/drawing/2014/main" id="{403E3860-F965-0D4A-97E3-C17359F836D4}"/>
              </a:ext>
            </a:extLst>
          </p:cNvPr>
          <p:cNvPicPr>
            <a:picLocks noChangeAspect="1"/>
          </p:cNvPicPr>
          <p:nvPr/>
        </p:nvPicPr>
        <p:blipFill>
          <a:blip r:embed="rId3"/>
          <a:stretch>
            <a:fillRect/>
          </a:stretch>
        </p:blipFill>
        <p:spPr>
          <a:xfrm>
            <a:off x="2219325" y="764705"/>
            <a:ext cx="7753350" cy="3076575"/>
          </a:xfrm>
          <a:prstGeom prst="rect">
            <a:avLst/>
          </a:prstGeom>
        </p:spPr>
      </p:pic>
      <p:pic>
        <p:nvPicPr>
          <p:cNvPr id="10" name="Afbeelding 9">
            <a:extLst>
              <a:ext uri="{FF2B5EF4-FFF2-40B4-BE49-F238E27FC236}">
                <a16:creationId xmlns:a16="http://schemas.microsoft.com/office/drawing/2014/main" id="{3ADA2638-2C2F-AC1A-74DB-D5F38C8A2CFB}"/>
              </a:ext>
            </a:extLst>
          </p:cNvPr>
          <p:cNvPicPr>
            <a:picLocks noChangeAspect="1"/>
          </p:cNvPicPr>
          <p:nvPr/>
        </p:nvPicPr>
        <p:blipFill>
          <a:blip r:embed="rId4"/>
          <a:stretch>
            <a:fillRect/>
          </a:stretch>
        </p:blipFill>
        <p:spPr>
          <a:xfrm>
            <a:off x="2219326" y="3841279"/>
            <a:ext cx="7757447" cy="1326834"/>
          </a:xfrm>
          <a:prstGeom prst="rect">
            <a:avLst/>
          </a:prstGeom>
        </p:spPr>
      </p:pic>
      <p:pic>
        <p:nvPicPr>
          <p:cNvPr id="12" name="Afbeelding 11">
            <a:extLst>
              <a:ext uri="{FF2B5EF4-FFF2-40B4-BE49-F238E27FC236}">
                <a16:creationId xmlns:a16="http://schemas.microsoft.com/office/drawing/2014/main" id="{69DB2CE7-5292-9380-4881-FC05C3EAB3F7}"/>
              </a:ext>
            </a:extLst>
          </p:cNvPr>
          <p:cNvPicPr>
            <a:picLocks noChangeAspect="1"/>
          </p:cNvPicPr>
          <p:nvPr/>
        </p:nvPicPr>
        <p:blipFill>
          <a:blip r:embed="rId5"/>
          <a:stretch>
            <a:fillRect/>
          </a:stretch>
        </p:blipFill>
        <p:spPr>
          <a:xfrm>
            <a:off x="4367809" y="4468205"/>
            <a:ext cx="2619375" cy="285750"/>
          </a:xfrm>
          <a:prstGeom prst="rect">
            <a:avLst/>
          </a:prstGeom>
        </p:spPr>
      </p:pic>
    </p:spTree>
    <p:extLst>
      <p:ext uri="{BB962C8B-B14F-4D97-AF65-F5344CB8AC3E}">
        <p14:creationId xmlns:p14="http://schemas.microsoft.com/office/powerpoint/2010/main" val="173749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3D6213-97C7-B6E7-973A-C712B3E58A9D}"/>
              </a:ext>
            </a:extLst>
          </p:cNvPr>
          <p:cNvSpPr>
            <a:spLocks noGrp="1"/>
          </p:cNvSpPr>
          <p:nvPr>
            <p:ph type="title"/>
          </p:nvPr>
        </p:nvSpPr>
        <p:spPr/>
        <p:txBody>
          <a:bodyPr/>
          <a:lstStyle/>
          <a:p>
            <a:r>
              <a:rPr lang="nl-BE" dirty="0"/>
              <a:t>Centripetale kracht</a:t>
            </a:r>
          </a:p>
        </p:txBody>
      </p:sp>
      <p:sp>
        <p:nvSpPr>
          <p:cNvPr id="3" name="Tijdelijke aanduiding voor tekst 2">
            <a:extLst>
              <a:ext uri="{FF2B5EF4-FFF2-40B4-BE49-F238E27FC236}">
                <a16:creationId xmlns:a16="http://schemas.microsoft.com/office/drawing/2014/main" id="{255C1BA4-C1A5-8505-B488-3A611498EE3E}"/>
              </a:ext>
            </a:extLst>
          </p:cNvPr>
          <p:cNvSpPr>
            <a:spLocks noGrp="1"/>
          </p:cNvSpPr>
          <p:nvPr>
            <p:ph type="body" sz="half" idx="1"/>
          </p:nvPr>
        </p:nvSpPr>
        <p:spPr>
          <a:xfrm>
            <a:off x="402168" y="1600201"/>
            <a:ext cx="11387666" cy="4498975"/>
          </a:xfrm>
        </p:spPr>
        <p:txBody>
          <a:bodyPr>
            <a:normAutofit/>
          </a:bodyPr>
          <a:lstStyle/>
          <a:p>
            <a:r>
              <a:rPr lang="nl-BE" sz="3200" dirty="0"/>
              <a:t>Op basis van 2</a:t>
            </a:r>
            <a:r>
              <a:rPr lang="nl-BE" sz="3200" baseline="30000" dirty="0"/>
              <a:t>e</a:t>
            </a:r>
            <a:r>
              <a:rPr lang="nl-BE" sz="3200" dirty="0"/>
              <a:t> wet van Newton:</a:t>
            </a:r>
          </a:p>
          <a:p>
            <a:endParaRPr lang="nl-BE" sz="3200" dirty="0"/>
          </a:p>
          <a:p>
            <a:endParaRPr lang="nl-BE" sz="3200" dirty="0"/>
          </a:p>
          <a:p>
            <a:pPr marL="0" indent="0">
              <a:buNone/>
            </a:pPr>
            <a:r>
              <a:rPr lang="nl-BE" sz="3200" dirty="0"/>
              <a:t>		→ centripetale kracht</a:t>
            </a:r>
          </a:p>
          <a:p>
            <a:pPr marL="0" indent="0">
              <a:buNone/>
            </a:pPr>
            <a:endParaRPr lang="nl-BE" sz="3200" dirty="0"/>
          </a:p>
          <a:p>
            <a:r>
              <a:rPr lang="nl-BE" sz="3200" dirty="0"/>
              <a:t>krachtenvector en versnellingsvector (centripetale versnelling) hebben steeds zelfde richting en zin → centripetale kracht wijst altijd naar het midden van de cirkelbaan.</a:t>
            </a:r>
            <a:endParaRPr lang="nl-BE" sz="4000" dirty="0"/>
          </a:p>
        </p:txBody>
      </p:sp>
      <p:pic>
        <p:nvPicPr>
          <p:cNvPr id="6" name="Afbeelding 5">
            <a:extLst>
              <a:ext uri="{FF2B5EF4-FFF2-40B4-BE49-F238E27FC236}">
                <a16:creationId xmlns:a16="http://schemas.microsoft.com/office/drawing/2014/main" id="{5910FDD4-C2A8-3E43-9883-C4CC6B1F318F}"/>
              </a:ext>
            </a:extLst>
          </p:cNvPr>
          <p:cNvPicPr>
            <a:picLocks noChangeAspect="1"/>
          </p:cNvPicPr>
          <p:nvPr/>
        </p:nvPicPr>
        <p:blipFill>
          <a:blip r:embed="rId2"/>
          <a:stretch>
            <a:fillRect/>
          </a:stretch>
        </p:blipFill>
        <p:spPr>
          <a:xfrm>
            <a:off x="4943873" y="2486981"/>
            <a:ext cx="3496889" cy="504056"/>
          </a:xfrm>
          <a:prstGeom prst="rect">
            <a:avLst/>
          </a:prstGeom>
        </p:spPr>
      </p:pic>
      <p:pic>
        <p:nvPicPr>
          <p:cNvPr id="10" name="Afbeelding 9">
            <a:extLst>
              <a:ext uri="{FF2B5EF4-FFF2-40B4-BE49-F238E27FC236}">
                <a16:creationId xmlns:a16="http://schemas.microsoft.com/office/drawing/2014/main" id="{D85F3864-45C7-1BBE-33E4-E4DE1481EFC5}"/>
              </a:ext>
            </a:extLst>
          </p:cNvPr>
          <p:cNvPicPr>
            <a:picLocks noChangeAspect="1"/>
          </p:cNvPicPr>
          <p:nvPr/>
        </p:nvPicPr>
        <p:blipFill>
          <a:blip r:embed="rId3"/>
          <a:stretch>
            <a:fillRect/>
          </a:stretch>
        </p:blipFill>
        <p:spPr>
          <a:xfrm>
            <a:off x="2422365" y="2486981"/>
            <a:ext cx="1523624" cy="504056"/>
          </a:xfrm>
          <a:prstGeom prst="rect">
            <a:avLst/>
          </a:prstGeom>
        </p:spPr>
      </p:pic>
    </p:spTree>
    <p:extLst>
      <p:ext uri="{BB962C8B-B14F-4D97-AF65-F5344CB8AC3E}">
        <p14:creationId xmlns:p14="http://schemas.microsoft.com/office/powerpoint/2010/main" val="1955449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9E3847-AC4C-34C4-DA8E-E001AA75F427}"/>
              </a:ext>
            </a:extLst>
          </p:cNvPr>
          <p:cNvSpPr>
            <a:spLocks noGrp="1"/>
          </p:cNvSpPr>
          <p:nvPr>
            <p:ph type="title"/>
          </p:nvPr>
        </p:nvSpPr>
        <p:spPr>
          <a:xfrm>
            <a:off x="1524000" y="-149893"/>
            <a:ext cx="9144000" cy="1143000"/>
          </a:xfrm>
        </p:spPr>
        <p:txBody>
          <a:bodyPr>
            <a:normAutofit fontScale="90000"/>
          </a:bodyPr>
          <a:lstStyle/>
          <a:p>
            <a:r>
              <a:rPr lang="nl-BE" dirty="0"/>
              <a:t>Grootte van de centripetale kracht</a:t>
            </a:r>
          </a:p>
        </p:txBody>
      </p:sp>
      <p:sp>
        <p:nvSpPr>
          <p:cNvPr id="3" name="Tijdelijke aanduiding voor tekst 2">
            <a:extLst>
              <a:ext uri="{FF2B5EF4-FFF2-40B4-BE49-F238E27FC236}">
                <a16:creationId xmlns:a16="http://schemas.microsoft.com/office/drawing/2014/main" id="{0251140C-1CAE-F648-8FC3-D1A154A54F11}"/>
              </a:ext>
            </a:extLst>
          </p:cNvPr>
          <p:cNvSpPr>
            <a:spLocks noGrp="1"/>
          </p:cNvSpPr>
          <p:nvPr>
            <p:ph type="body" sz="half" idx="1"/>
          </p:nvPr>
        </p:nvSpPr>
        <p:spPr>
          <a:xfrm>
            <a:off x="659396" y="1363042"/>
            <a:ext cx="10873208" cy="5494958"/>
          </a:xfrm>
        </p:spPr>
        <p:txBody>
          <a:bodyPr/>
          <a:lstStyle/>
          <a:p>
            <a:r>
              <a:rPr lang="nl-BE" sz="3200" dirty="0">
                <a:effectLst>
                  <a:outerShdw blurRad="38100" dist="38100" dir="2700000" algn="tl">
                    <a:srgbClr val="000000"/>
                  </a:outerShdw>
                </a:effectLst>
              </a:rPr>
              <a:t>Voorwerp met massa m, dat met snelheid v cirkel (of bocht) met straal r beschrijft, ondervindt centripetale kracht</a:t>
            </a:r>
          </a:p>
          <a:p>
            <a:endParaRPr lang="nl-BE" sz="1400" dirty="0"/>
          </a:p>
          <a:p>
            <a:endParaRPr lang="nl-BE" sz="2000" dirty="0"/>
          </a:p>
          <a:p>
            <a:r>
              <a:rPr lang="nl-BE" dirty="0"/>
              <a:t>Grootte van </a:t>
            </a:r>
            <a:r>
              <a:rPr lang="nl-BE" dirty="0" err="1"/>
              <a:t>F</a:t>
            </a:r>
            <a:r>
              <a:rPr lang="nl-BE" baseline="-25000" dirty="0" err="1"/>
              <a:t>cp</a:t>
            </a:r>
            <a:r>
              <a:rPr lang="nl-BE" dirty="0"/>
              <a:t>:</a:t>
            </a:r>
          </a:p>
          <a:p>
            <a:endParaRPr lang="nl-BE" dirty="0"/>
          </a:p>
          <a:p>
            <a:endParaRPr lang="nl-BE" dirty="0"/>
          </a:p>
          <a:p>
            <a:r>
              <a:rPr lang="nl-BE" sz="3200" dirty="0">
                <a:effectLst>
                  <a:outerShdw blurRad="38100" dist="38100" dir="2700000" algn="tl">
                    <a:srgbClr val="000000"/>
                  </a:outerShdw>
                </a:effectLst>
              </a:rPr>
              <a:t>Vb.: Opdat wagen goed door bocht zou gaan, moet er voldoende wrijving zijn tussen banden en wegdek.</a:t>
            </a:r>
          </a:p>
          <a:p>
            <a:endParaRPr lang="nl-BE" dirty="0"/>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67007956-C9C3-A070-914D-9BCF2C5F8B71}"/>
                  </a:ext>
                </a:extLst>
              </p:cNvPr>
              <p:cNvSpPr txBox="1"/>
              <p:nvPr/>
            </p:nvSpPr>
            <p:spPr>
              <a:xfrm>
                <a:off x="3143672" y="2791869"/>
                <a:ext cx="5426910" cy="8585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nl-BE" sz="2800" i="1" smtClean="0">
                              <a:solidFill>
                                <a:schemeClr val="tx1"/>
                              </a:solidFill>
                              <a:latin typeface="Cambria Math" panose="02040503050406030204" pitchFamily="18" charset="0"/>
                            </a:rPr>
                          </m:ctrlPr>
                        </m:sSubPr>
                        <m:e>
                          <m:r>
                            <a:rPr lang="nl-BE" sz="2800" i="1">
                              <a:solidFill>
                                <a:schemeClr val="tx1"/>
                              </a:solidFill>
                              <a:latin typeface="Cambria Math" panose="02040503050406030204" pitchFamily="18" charset="0"/>
                            </a:rPr>
                            <m:t>𝐹</m:t>
                          </m:r>
                        </m:e>
                        <m:sub>
                          <m:r>
                            <a:rPr lang="nl-BE" sz="2800" i="1">
                              <a:solidFill>
                                <a:schemeClr val="tx1"/>
                              </a:solidFill>
                              <a:latin typeface="Cambria Math" panose="02040503050406030204" pitchFamily="18" charset="0"/>
                            </a:rPr>
                            <m:t>𝑐𝑝</m:t>
                          </m:r>
                        </m:sub>
                      </m:sSub>
                      <m:r>
                        <a:rPr lang="nl-BE" sz="2800" i="1">
                          <a:solidFill>
                            <a:schemeClr val="tx1"/>
                          </a:solidFill>
                          <a:latin typeface="Cambria Math" panose="02040503050406030204" pitchFamily="18" charset="0"/>
                        </a:rPr>
                        <m:t>=</m:t>
                      </m:r>
                      <m:r>
                        <a:rPr lang="nl-BE" sz="2800" i="1">
                          <a:solidFill>
                            <a:schemeClr val="tx1"/>
                          </a:solidFill>
                          <a:latin typeface="Cambria Math" panose="02040503050406030204" pitchFamily="18" charset="0"/>
                        </a:rPr>
                        <m:t>𝑚</m:t>
                      </m:r>
                      <m:r>
                        <a:rPr lang="nl-BE" sz="2800" i="1">
                          <a:solidFill>
                            <a:schemeClr val="tx1"/>
                          </a:solidFill>
                          <a:latin typeface="Cambria Math" panose="02040503050406030204" pitchFamily="18" charset="0"/>
                        </a:rPr>
                        <m:t> . </m:t>
                      </m:r>
                      <m:r>
                        <a:rPr lang="nl-BE" sz="2800" i="1">
                          <a:solidFill>
                            <a:schemeClr val="tx1"/>
                          </a:solidFill>
                          <a:latin typeface="Cambria Math" panose="02040503050406030204" pitchFamily="18" charset="0"/>
                        </a:rPr>
                        <m:t>𝑎</m:t>
                      </m:r>
                      <m:r>
                        <a:rPr lang="nl-BE" sz="2800" i="1">
                          <a:solidFill>
                            <a:schemeClr val="tx1"/>
                          </a:solidFill>
                          <a:latin typeface="Cambria Math" panose="02040503050406030204" pitchFamily="18" charset="0"/>
                        </a:rPr>
                        <m:t>=</m:t>
                      </m:r>
                      <m:r>
                        <a:rPr lang="nl-BE" sz="2800" i="1">
                          <a:solidFill>
                            <a:schemeClr val="tx1"/>
                          </a:solidFill>
                          <a:latin typeface="Cambria Math" panose="02040503050406030204" pitchFamily="18" charset="0"/>
                        </a:rPr>
                        <m:t>𝑚</m:t>
                      </m:r>
                      <m:r>
                        <a:rPr lang="nl-BE" sz="2800" i="1">
                          <a:solidFill>
                            <a:schemeClr val="tx1"/>
                          </a:solidFill>
                          <a:latin typeface="Cambria Math" panose="02040503050406030204" pitchFamily="18" charset="0"/>
                        </a:rPr>
                        <m:t> . </m:t>
                      </m:r>
                      <m:sSup>
                        <m:sSupPr>
                          <m:ctrlPr>
                            <a:rPr lang="nl-BE" sz="2800" i="1">
                              <a:solidFill>
                                <a:schemeClr val="tx1"/>
                              </a:solidFill>
                              <a:latin typeface="Cambria Math" panose="02040503050406030204" pitchFamily="18" charset="0"/>
                              <a:ea typeface="Cambria Math" panose="02040503050406030204" pitchFamily="18" charset="0"/>
                            </a:rPr>
                          </m:ctrlPr>
                        </m:sSupPr>
                        <m:e>
                          <m:r>
                            <a:rPr lang="nl-BE" sz="2800" i="1">
                              <a:solidFill>
                                <a:schemeClr val="tx1"/>
                              </a:solidFill>
                              <a:latin typeface="Cambria Math" panose="02040503050406030204" pitchFamily="18" charset="0"/>
                              <a:ea typeface="Cambria Math" panose="02040503050406030204" pitchFamily="18" charset="0"/>
                            </a:rPr>
                            <m:t>𝜔</m:t>
                          </m:r>
                        </m:e>
                        <m:sup>
                          <m:r>
                            <a:rPr lang="nl-BE" sz="2800" i="1">
                              <a:solidFill>
                                <a:schemeClr val="tx1"/>
                              </a:solidFill>
                              <a:latin typeface="Cambria Math" panose="02040503050406030204" pitchFamily="18" charset="0"/>
                              <a:ea typeface="Cambria Math" panose="02040503050406030204" pitchFamily="18" charset="0"/>
                            </a:rPr>
                            <m:t>2</m:t>
                          </m:r>
                        </m:sup>
                      </m:sSup>
                      <m:r>
                        <a:rPr lang="nl-BE" sz="2800" i="1">
                          <a:solidFill>
                            <a:schemeClr val="tx1"/>
                          </a:solidFill>
                          <a:latin typeface="Cambria Math" panose="02040503050406030204" pitchFamily="18" charset="0"/>
                          <a:ea typeface="Cambria Math" panose="02040503050406030204" pitchFamily="18" charset="0"/>
                        </a:rPr>
                        <m:t>. </m:t>
                      </m:r>
                      <m:r>
                        <a:rPr lang="nl-BE" sz="2800" b="0" i="1" smtClean="0">
                          <a:solidFill>
                            <a:schemeClr val="tx1"/>
                          </a:solidFill>
                          <a:latin typeface="Cambria Math" panose="02040503050406030204" pitchFamily="18" charset="0"/>
                          <a:ea typeface="Cambria Math" panose="02040503050406030204" pitchFamily="18" charset="0"/>
                        </a:rPr>
                        <m:t>𝑅</m:t>
                      </m:r>
                      <m:r>
                        <a:rPr lang="nl-BE" sz="2800" i="1">
                          <a:solidFill>
                            <a:schemeClr val="tx1"/>
                          </a:solidFill>
                          <a:latin typeface="Cambria Math" panose="02040503050406030204" pitchFamily="18" charset="0"/>
                          <a:ea typeface="Cambria Math" panose="02040503050406030204" pitchFamily="18" charset="0"/>
                        </a:rPr>
                        <m:t>= </m:t>
                      </m:r>
                      <m:f>
                        <m:fPr>
                          <m:ctrlPr>
                            <a:rPr lang="nl-BE" sz="2800" i="1">
                              <a:solidFill>
                                <a:schemeClr val="tx1"/>
                              </a:solidFill>
                              <a:latin typeface="Cambria Math" panose="02040503050406030204" pitchFamily="18" charset="0"/>
                              <a:ea typeface="Cambria Math" panose="02040503050406030204" pitchFamily="18" charset="0"/>
                            </a:rPr>
                          </m:ctrlPr>
                        </m:fPr>
                        <m:num>
                          <m:r>
                            <a:rPr lang="nl-BE" sz="2800" i="1">
                              <a:solidFill>
                                <a:schemeClr val="tx1"/>
                              </a:solidFill>
                              <a:latin typeface="Cambria Math" panose="02040503050406030204" pitchFamily="18" charset="0"/>
                              <a:ea typeface="Cambria Math" panose="02040503050406030204" pitchFamily="18" charset="0"/>
                            </a:rPr>
                            <m:t>𝑚</m:t>
                          </m:r>
                          <m:r>
                            <a:rPr lang="nl-BE" sz="2800" i="1">
                              <a:solidFill>
                                <a:schemeClr val="tx1"/>
                              </a:solidFill>
                              <a:latin typeface="Cambria Math" panose="02040503050406030204" pitchFamily="18" charset="0"/>
                              <a:ea typeface="Cambria Math" panose="02040503050406030204" pitchFamily="18" charset="0"/>
                            </a:rPr>
                            <m:t> . </m:t>
                          </m:r>
                          <m:r>
                            <a:rPr lang="nl-BE" sz="2800" i="1">
                              <a:solidFill>
                                <a:schemeClr val="tx1"/>
                              </a:solidFill>
                              <a:latin typeface="Cambria Math" panose="02040503050406030204" pitchFamily="18" charset="0"/>
                              <a:ea typeface="Cambria Math" panose="02040503050406030204" pitchFamily="18" charset="0"/>
                            </a:rPr>
                            <m:t>𝑣</m:t>
                          </m:r>
                          <m:r>
                            <a:rPr lang="nl-BE" sz="2800" i="1">
                              <a:solidFill>
                                <a:schemeClr val="tx1"/>
                              </a:solidFill>
                              <a:latin typeface="Cambria Math" panose="02040503050406030204" pitchFamily="18" charset="0"/>
                              <a:ea typeface="Cambria Math" panose="02040503050406030204" pitchFamily="18" charset="0"/>
                            </a:rPr>
                            <m:t>²</m:t>
                          </m:r>
                        </m:num>
                        <m:den>
                          <m:r>
                            <a:rPr lang="nl-BE" sz="2800" b="0" i="1" smtClean="0">
                              <a:solidFill>
                                <a:schemeClr val="tx1"/>
                              </a:solidFill>
                              <a:latin typeface="Cambria Math" panose="02040503050406030204" pitchFamily="18" charset="0"/>
                              <a:ea typeface="Cambria Math" panose="02040503050406030204" pitchFamily="18" charset="0"/>
                            </a:rPr>
                            <m:t>𝑅</m:t>
                          </m:r>
                        </m:den>
                      </m:f>
                    </m:oMath>
                  </m:oMathPara>
                </a14:m>
                <a:endParaRPr lang="nl-BE" dirty="0"/>
              </a:p>
            </p:txBody>
          </p:sp>
        </mc:Choice>
        <mc:Fallback xmlns="">
          <p:sp>
            <p:nvSpPr>
              <p:cNvPr id="7" name="Tekstvak 6">
                <a:extLst>
                  <a:ext uri="{FF2B5EF4-FFF2-40B4-BE49-F238E27FC236}">
                    <a16:creationId xmlns:a16="http://schemas.microsoft.com/office/drawing/2014/main" id="{67007956-C9C3-A070-914D-9BCF2C5F8B71}"/>
                  </a:ext>
                </a:extLst>
              </p:cNvPr>
              <p:cNvSpPr txBox="1">
                <a:spLocks noRot="1" noChangeAspect="1" noMove="1" noResize="1" noEditPoints="1" noAdjustHandles="1" noChangeArrowheads="1" noChangeShapeType="1" noTextEdit="1"/>
              </p:cNvSpPr>
              <p:nvPr/>
            </p:nvSpPr>
            <p:spPr>
              <a:xfrm>
                <a:off x="3143672" y="2791869"/>
                <a:ext cx="5426910" cy="858568"/>
              </a:xfrm>
              <a:prstGeom prst="rect">
                <a:avLst/>
              </a:prstGeom>
              <a:blipFill>
                <a:blip r:embed="rId2"/>
                <a:stretch>
                  <a:fillRect/>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26F403F3-7B8A-7F0A-37E0-5738F3C499D0}"/>
                  </a:ext>
                </a:extLst>
              </p:cNvPr>
              <p:cNvSpPr txBox="1"/>
              <p:nvPr/>
            </p:nvSpPr>
            <p:spPr>
              <a:xfrm>
                <a:off x="7774467" y="2990320"/>
                <a:ext cx="457713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nl-BE" sz="2400" i="1" smtClean="0">
                          <a:latin typeface="Cambria Math" panose="02040503050406030204" pitchFamily="18" charset="0"/>
                        </a:rPr>
                        <m:t>𝑤𝑎𝑛𝑡</m:t>
                      </m:r>
                      <m:r>
                        <a:rPr lang="nl-BE" sz="2400" i="1" smtClean="0">
                          <a:latin typeface="Cambria Math" panose="02040503050406030204" pitchFamily="18" charset="0"/>
                        </a:rPr>
                        <m:t>: </m:t>
                      </m:r>
                      <m:r>
                        <a:rPr lang="nl-BE" sz="2400" i="1" smtClean="0">
                          <a:latin typeface="Cambria Math" panose="02040503050406030204" pitchFamily="18" charset="0"/>
                        </a:rPr>
                        <m:t>𝑣</m:t>
                      </m:r>
                      <m:r>
                        <a:rPr lang="nl-BE" sz="2400" i="1" smtClean="0">
                          <a:latin typeface="Cambria Math" panose="02040503050406030204" pitchFamily="18" charset="0"/>
                        </a:rPr>
                        <m:t>=</m:t>
                      </m:r>
                      <m:r>
                        <a:rPr lang="nl-BE" sz="2400" i="1">
                          <a:latin typeface="Cambria Math" panose="02040503050406030204" pitchFamily="18" charset="0"/>
                          <a:ea typeface="Cambria Math" panose="02040503050406030204" pitchFamily="18" charset="0"/>
                        </a:rPr>
                        <m:t>𝜔</m:t>
                      </m:r>
                      <m:r>
                        <a:rPr lang="nl-BE" sz="2400" i="1">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𝑅</m:t>
                      </m:r>
                    </m:oMath>
                  </m:oMathPara>
                </a14:m>
                <a:endParaRPr lang="nl-BE" dirty="0"/>
              </a:p>
            </p:txBody>
          </p:sp>
        </mc:Choice>
        <mc:Fallback xmlns="">
          <p:sp>
            <p:nvSpPr>
              <p:cNvPr id="10" name="Tekstvak 9">
                <a:extLst>
                  <a:ext uri="{FF2B5EF4-FFF2-40B4-BE49-F238E27FC236}">
                    <a16:creationId xmlns:a16="http://schemas.microsoft.com/office/drawing/2014/main" id="{26F403F3-7B8A-7F0A-37E0-5738F3C499D0}"/>
                  </a:ext>
                </a:extLst>
              </p:cNvPr>
              <p:cNvSpPr txBox="1">
                <a:spLocks noRot="1" noChangeAspect="1" noMove="1" noResize="1" noEditPoints="1" noAdjustHandles="1" noChangeArrowheads="1" noChangeShapeType="1" noTextEdit="1"/>
              </p:cNvSpPr>
              <p:nvPr/>
            </p:nvSpPr>
            <p:spPr>
              <a:xfrm>
                <a:off x="7774467" y="2990320"/>
                <a:ext cx="4577136" cy="461665"/>
              </a:xfrm>
              <a:prstGeom prst="rect">
                <a:avLst/>
              </a:prstGeom>
              <a:blipFill>
                <a:blip r:embed="rId3"/>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17750014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rrowheads="1"/>
          </p:cNvSpPr>
          <p:nvPr>
            <p:ph type="title"/>
          </p:nvPr>
        </p:nvSpPr>
        <p:spPr>
          <a:xfrm>
            <a:off x="1825625" y="-99392"/>
            <a:ext cx="8540750" cy="1143000"/>
          </a:xfrm>
        </p:spPr>
        <p:txBody>
          <a:bodyPr/>
          <a:lstStyle/>
          <a:p>
            <a:pPr eaLnBrk="1" hangingPunct="1">
              <a:defRPr/>
            </a:pPr>
            <a:r>
              <a:rPr lang="nl-BE" dirty="0"/>
              <a:t>Centripetale kracht: vragen</a:t>
            </a:r>
            <a:endParaRPr lang="nl-NL" dirty="0"/>
          </a:p>
        </p:txBody>
      </p:sp>
      <p:sp>
        <p:nvSpPr>
          <p:cNvPr id="35843" name="Rectangle 3"/>
          <p:cNvSpPr>
            <a:spLocks noGrp="1" noRot="1" noChangeArrowheads="1"/>
          </p:cNvSpPr>
          <p:nvPr>
            <p:ph idx="1"/>
          </p:nvPr>
        </p:nvSpPr>
        <p:spPr>
          <a:xfrm>
            <a:off x="551384" y="1162274"/>
            <a:ext cx="11161240" cy="5363070"/>
          </a:xfrm>
        </p:spPr>
        <p:txBody>
          <a:bodyPr>
            <a:normAutofit/>
          </a:bodyPr>
          <a:lstStyle/>
          <a:p>
            <a:pPr>
              <a:spcAft>
                <a:spcPts val="1800"/>
              </a:spcAft>
              <a:defRPr/>
            </a:pPr>
            <a:r>
              <a:rPr lang="nl-BE" sz="3200" dirty="0"/>
              <a:t>Welke soort kracht zorgt voor voldoende centripetale kracht bij nemen van bocht door auto?</a:t>
            </a:r>
          </a:p>
          <a:p>
            <a:pPr lvl="1">
              <a:spcAft>
                <a:spcPts val="1800"/>
              </a:spcAft>
              <a:defRPr/>
            </a:pPr>
            <a:r>
              <a:rPr lang="nl-BE" sz="2800" dirty="0"/>
              <a:t>wrijvingskracht tussen banden en wegdek</a:t>
            </a:r>
          </a:p>
          <a:p>
            <a:pPr>
              <a:spcAft>
                <a:spcPts val="1800"/>
              </a:spcAft>
              <a:defRPr/>
            </a:pPr>
            <a:r>
              <a:rPr lang="nl-BE" sz="3200" dirty="0"/>
              <a:t>Welke soort kracht houdt maan in haar baan?</a:t>
            </a:r>
          </a:p>
          <a:p>
            <a:pPr lvl="1">
              <a:spcAft>
                <a:spcPts val="1800"/>
              </a:spcAft>
              <a:defRPr/>
            </a:pPr>
            <a:r>
              <a:rPr lang="nl-BE" sz="2800" dirty="0"/>
              <a:t>universele gravitatiekracht</a:t>
            </a:r>
          </a:p>
          <a:p>
            <a:pPr>
              <a:spcAft>
                <a:spcPts val="1800"/>
              </a:spcAft>
              <a:defRPr/>
            </a:pPr>
            <a:r>
              <a:rPr lang="nl-BE" sz="3200" dirty="0"/>
              <a:t>Welke soort kracht is aan het werk als men steen aan touw rondslingert?</a:t>
            </a:r>
          </a:p>
          <a:p>
            <a:pPr lvl="1">
              <a:spcAft>
                <a:spcPts val="1800"/>
              </a:spcAft>
              <a:defRPr/>
            </a:pPr>
            <a:r>
              <a:rPr lang="nl-BE" sz="2800" dirty="0"/>
              <a:t>spanningskracht in touw (spierkracht van je arm)</a:t>
            </a:r>
            <a:endParaRPr lang="nl-NL"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anim calcmode="lin" valueType="num">
                                      <p:cBhvr additive="base">
                                        <p:cTn id="7" dur="500" fill="hold"/>
                                        <p:tgtEl>
                                          <p:spTgt spid="358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843">
                                            <p:txEl>
                                              <p:pRg st="3" end="3"/>
                                            </p:txEl>
                                          </p:spTgt>
                                        </p:tgtEl>
                                        <p:attrNameLst>
                                          <p:attrName>style.visibility</p:attrName>
                                        </p:attrNameLst>
                                      </p:cBhvr>
                                      <p:to>
                                        <p:strVal val="visible"/>
                                      </p:to>
                                    </p:set>
                                    <p:anim calcmode="lin" valueType="num">
                                      <p:cBhvr additive="base">
                                        <p:cTn id="13" dur="500" fill="hold"/>
                                        <p:tgtEl>
                                          <p:spTgt spid="3584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843">
                                            <p:txEl>
                                              <p:pRg st="5" end="5"/>
                                            </p:txEl>
                                          </p:spTgt>
                                        </p:tgtEl>
                                        <p:attrNameLst>
                                          <p:attrName>style.visibility</p:attrName>
                                        </p:attrNameLst>
                                      </p:cBhvr>
                                      <p:to>
                                        <p:strVal val="visible"/>
                                      </p:to>
                                    </p:set>
                                    <p:anim calcmode="lin" valueType="num">
                                      <p:cBhvr additive="base">
                                        <p:cTn id="19" dur="500" fill="hold"/>
                                        <p:tgtEl>
                                          <p:spTgt spid="3584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8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p:txBody>
          <a:bodyPr/>
          <a:lstStyle/>
          <a:p>
            <a:pPr eaLnBrk="1" hangingPunct="1">
              <a:defRPr/>
            </a:pPr>
            <a:r>
              <a:rPr lang="nl-BE" dirty="0"/>
              <a:t>Centripetale kracht: vragen</a:t>
            </a:r>
            <a:endParaRPr lang="nl-NL" dirty="0"/>
          </a:p>
        </p:txBody>
      </p:sp>
      <p:sp>
        <p:nvSpPr>
          <p:cNvPr id="53251" name="Rectangle 3"/>
          <p:cNvSpPr>
            <a:spLocks noGrp="1" noRot="1" noChangeArrowheads="1"/>
          </p:cNvSpPr>
          <p:nvPr>
            <p:ph idx="1"/>
          </p:nvPr>
        </p:nvSpPr>
        <p:spPr>
          <a:xfrm>
            <a:off x="335360" y="1825625"/>
            <a:ext cx="11521280" cy="4351338"/>
          </a:xfrm>
        </p:spPr>
        <p:txBody>
          <a:bodyPr>
            <a:normAutofit/>
          </a:bodyPr>
          <a:lstStyle/>
          <a:p>
            <a:pPr eaLnBrk="1" hangingPunct="1">
              <a:defRPr/>
            </a:pPr>
            <a:r>
              <a:rPr lang="nl-BE" sz="3200" dirty="0"/>
              <a:t>Waardoor wordt de centripetale kracht geleverd in de volgende gevallen?</a:t>
            </a:r>
          </a:p>
          <a:p>
            <a:pPr lvl="1" eaLnBrk="1" hangingPunct="1">
              <a:buFont typeface="Wingdings" pitchFamily="2" charset="2"/>
              <a:buNone/>
              <a:defRPr/>
            </a:pPr>
            <a:r>
              <a:rPr lang="nl-BE" sz="2800" dirty="0"/>
              <a:t>	A) Het water beweegt door een bocht in een </a:t>
            </a:r>
            <a:br>
              <a:rPr lang="nl-BE" sz="2800" dirty="0"/>
            </a:br>
            <a:r>
              <a:rPr lang="nl-BE" sz="2800" dirty="0"/>
              <a:t>    waterleiding.</a:t>
            </a:r>
          </a:p>
          <a:p>
            <a:pPr lvl="3" eaLnBrk="1" hangingPunct="1">
              <a:defRPr/>
            </a:pPr>
            <a:r>
              <a:rPr lang="nl-BE" sz="2800" i="1" dirty="0"/>
              <a:t>wrijving met de buis	</a:t>
            </a:r>
            <a:r>
              <a:rPr lang="nl-BE" sz="2000" dirty="0"/>
              <a:t>			</a:t>
            </a:r>
          </a:p>
          <a:p>
            <a:pPr lvl="1" eaLnBrk="1" hangingPunct="1">
              <a:buFont typeface="Wingdings" pitchFamily="2" charset="2"/>
              <a:buNone/>
              <a:defRPr/>
            </a:pPr>
            <a:r>
              <a:rPr lang="nl-BE" sz="2800" dirty="0"/>
              <a:t>	B) Een reiziger zit in een wagen die een bocht </a:t>
            </a:r>
            <a:br>
              <a:rPr lang="nl-BE" sz="2800" dirty="0"/>
            </a:br>
            <a:r>
              <a:rPr lang="nl-BE" sz="2800" dirty="0"/>
              <a:t>    maakt.</a:t>
            </a:r>
          </a:p>
          <a:p>
            <a:pPr lvl="3" eaLnBrk="1" hangingPunct="1">
              <a:defRPr/>
            </a:pPr>
            <a:r>
              <a:rPr lang="nl-BE" sz="2800" i="1" dirty="0"/>
              <a:t>wrijvingskracht tussen reiziger en autostoel</a:t>
            </a:r>
          </a:p>
          <a:p>
            <a:pPr lvl="3" eaLnBrk="1" hangingPunct="1">
              <a:defRPr/>
            </a:pPr>
            <a:r>
              <a:rPr lang="nl-BE" sz="2800" i="1" dirty="0"/>
              <a:t>spanningskracht in de gordel</a:t>
            </a:r>
            <a:endParaRPr lang="nl-NL" sz="2800" i="1" dirty="0"/>
          </a:p>
        </p:txBody>
      </p:sp>
    </p:spTree>
    <p:extLst>
      <p:ext uri="{BB962C8B-B14F-4D97-AF65-F5344CB8AC3E}">
        <p14:creationId xmlns:p14="http://schemas.microsoft.com/office/powerpoint/2010/main" val="28529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251">
                                            <p:txEl>
                                              <p:pRg st="2" end="2"/>
                                            </p:txEl>
                                          </p:spTgt>
                                        </p:tgtEl>
                                        <p:attrNameLst>
                                          <p:attrName>style.visibility</p:attrName>
                                        </p:attrNameLst>
                                      </p:cBhvr>
                                      <p:to>
                                        <p:strVal val="visible"/>
                                      </p:to>
                                    </p:set>
                                    <p:anim calcmode="lin" valueType="num">
                                      <p:cBhvr additive="base">
                                        <p:cTn id="7"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3251">
                                            <p:txEl>
                                              <p:pRg st="4" end="4"/>
                                            </p:txEl>
                                          </p:spTgt>
                                        </p:tgtEl>
                                        <p:attrNameLst>
                                          <p:attrName>style.visibility</p:attrName>
                                        </p:attrNameLst>
                                      </p:cBhvr>
                                      <p:to>
                                        <p:strVal val="visible"/>
                                      </p:to>
                                    </p:set>
                                    <p:anim calcmode="lin" valueType="num">
                                      <p:cBhvr additive="base">
                                        <p:cTn id="13" dur="500" fill="hold"/>
                                        <p:tgtEl>
                                          <p:spTgt spid="53251">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3251">
                                            <p:txEl>
                                              <p:pRg st="5" end="5"/>
                                            </p:txEl>
                                          </p:spTgt>
                                        </p:tgtEl>
                                        <p:attrNameLst>
                                          <p:attrName>style.visibility</p:attrName>
                                        </p:attrNameLst>
                                      </p:cBhvr>
                                      <p:to>
                                        <p:strVal val="visible"/>
                                      </p:to>
                                    </p:set>
                                    <p:anim calcmode="lin" valueType="num">
                                      <p:cBhvr additive="base">
                                        <p:cTn id="17" dur="500" fill="hold"/>
                                        <p:tgtEl>
                                          <p:spTgt spid="53251">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325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Rot="1" noChangeArrowheads="1"/>
          </p:cNvSpPr>
          <p:nvPr>
            <p:ph type="title"/>
          </p:nvPr>
        </p:nvSpPr>
        <p:spPr>
          <a:xfrm>
            <a:off x="1774825" y="188913"/>
            <a:ext cx="8540750" cy="1143000"/>
          </a:xfrm>
        </p:spPr>
        <p:txBody>
          <a:bodyPr/>
          <a:lstStyle/>
          <a:p>
            <a:pPr eaLnBrk="1" hangingPunct="1">
              <a:defRPr/>
            </a:pPr>
            <a:r>
              <a:rPr lang="nl-BE" sz="4000"/>
              <a:t>Grootte van de centripetale kracht</a:t>
            </a:r>
            <a:endParaRPr lang="nl-NL" sz="4000"/>
          </a:p>
        </p:txBody>
      </p:sp>
      <p:sp>
        <p:nvSpPr>
          <p:cNvPr id="38915" name="Rectangle 3"/>
          <p:cNvSpPr>
            <a:spLocks noGrp="1" noRot="1" noChangeArrowheads="1"/>
          </p:cNvSpPr>
          <p:nvPr>
            <p:ph idx="1"/>
          </p:nvPr>
        </p:nvSpPr>
        <p:spPr>
          <a:xfrm>
            <a:off x="407368" y="1484313"/>
            <a:ext cx="11593288" cy="5040312"/>
          </a:xfrm>
        </p:spPr>
        <p:txBody>
          <a:bodyPr>
            <a:normAutofit/>
          </a:bodyPr>
          <a:lstStyle/>
          <a:p>
            <a:pPr>
              <a:spcBef>
                <a:spcPts val="0"/>
              </a:spcBef>
              <a:spcAft>
                <a:spcPts val="1800"/>
              </a:spcAft>
              <a:defRPr/>
            </a:pPr>
            <a:r>
              <a:rPr lang="nl-BE" sz="3200" dirty="0"/>
              <a:t>Is er meer </a:t>
            </a:r>
            <a:r>
              <a:rPr lang="nl-BE" sz="3200" dirty="0" err="1"/>
              <a:t>F</a:t>
            </a:r>
            <a:r>
              <a:rPr lang="nl-BE" sz="3200" baseline="-25000" dirty="0" err="1"/>
              <a:t>cp</a:t>
            </a:r>
            <a:r>
              <a:rPr lang="nl-BE" sz="3200" dirty="0"/>
              <a:t> nodig om beladen vrachtwagen in bocht te houden of om auto in bocht te houden?</a:t>
            </a:r>
          </a:p>
          <a:p>
            <a:pPr lvl="1">
              <a:spcBef>
                <a:spcPts val="0"/>
              </a:spcBef>
              <a:spcAft>
                <a:spcPts val="1800"/>
              </a:spcAft>
              <a:defRPr/>
            </a:pPr>
            <a:r>
              <a:rPr lang="nl-BE" sz="2800" i="1" dirty="0"/>
              <a:t>F ~ m </a:t>
            </a:r>
            <a:r>
              <a:rPr lang="nl-BE" sz="2800" i="1" dirty="0">
                <a:ea typeface="Arial Unicode MS" pitchFamily="34" charset="-128"/>
                <a:cs typeface="Arial Unicode MS" pitchFamily="34" charset="-128"/>
              </a:rPr>
              <a:t>→ grotere kracht nodig voor vrachtwagen</a:t>
            </a:r>
          </a:p>
          <a:p>
            <a:pPr>
              <a:spcBef>
                <a:spcPts val="0"/>
              </a:spcBef>
              <a:spcAft>
                <a:spcPts val="1800"/>
              </a:spcAft>
              <a:defRPr/>
            </a:pPr>
            <a:r>
              <a:rPr lang="nl-BE" sz="3200" dirty="0">
                <a:ea typeface="Arial Unicode MS" pitchFamily="34" charset="-128"/>
                <a:cs typeface="Arial Unicode MS" pitchFamily="34" charset="-128"/>
              </a:rPr>
              <a:t>Is er meer </a:t>
            </a:r>
            <a:r>
              <a:rPr lang="nl-BE" sz="3200" dirty="0" err="1"/>
              <a:t>F</a:t>
            </a:r>
            <a:r>
              <a:rPr lang="nl-BE" sz="3200" baseline="-25000" dirty="0" err="1"/>
              <a:t>cp</a:t>
            </a:r>
            <a:r>
              <a:rPr lang="nl-BE" sz="3200" dirty="0"/>
              <a:t> nodig om wagen in scherpe of in grotere bocht te houden?</a:t>
            </a:r>
          </a:p>
          <a:p>
            <a:pPr lvl="1">
              <a:spcBef>
                <a:spcPts val="0"/>
              </a:spcBef>
              <a:spcAft>
                <a:spcPts val="1800"/>
              </a:spcAft>
              <a:defRPr/>
            </a:pPr>
            <a:r>
              <a:rPr lang="nl-BE" sz="2800" i="1" dirty="0"/>
              <a:t>F ~ 1/R </a:t>
            </a:r>
            <a:r>
              <a:rPr lang="nl-BE" sz="2800" i="1" dirty="0">
                <a:ea typeface="Arial Unicode MS" pitchFamily="34" charset="-128"/>
                <a:cs typeface="Arial Unicode MS" pitchFamily="34" charset="-128"/>
              </a:rPr>
              <a:t>→ grotere kracht nodig voor scherpe bocht</a:t>
            </a:r>
          </a:p>
          <a:p>
            <a:pPr>
              <a:spcBef>
                <a:spcPts val="0"/>
              </a:spcBef>
              <a:spcAft>
                <a:spcPts val="1800"/>
              </a:spcAft>
              <a:defRPr/>
            </a:pPr>
            <a:r>
              <a:rPr lang="nl-BE" sz="3200" dirty="0">
                <a:ea typeface="Arial Unicode MS" pitchFamily="34" charset="-128"/>
                <a:cs typeface="Arial Unicode MS" pitchFamily="34" charset="-128"/>
              </a:rPr>
              <a:t>Is er meer </a:t>
            </a:r>
            <a:r>
              <a:rPr lang="nl-BE" sz="3200" dirty="0" err="1"/>
              <a:t>F</a:t>
            </a:r>
            <a:r>
              <a:rPr lang="nl-BE" sz="3200" baseline="-25000" dirty="0" err="1"/>
              <a:t>cp</a:t>
            </a:r>
            <a:r>
              <a:rPr lang="nl-BE" sz="3200" dirty="0"/>
              <a:t> nodig om wagen met kleine of grote snelheid in bocht te houden?</a:t>
            </a:r>
          </a:p>
          <a:p>
            <a:pPr lvl="1">
              <a:spcBef>
                <a:spcPts val="0"/>
              </a:spcBef>
              <a:spcAft>
                <a:spcPts val="1800"/>
              </a:spcAft>
              <a:defRPr/>
            </a:pPr>
            <a:r>
              <a:rPr lang="nl-BE" sz="2800" i="1" dirty="0"/>
              <a:t>F ~ v² </a:t>
            </a:r>
            <a:r>
              <a:rPr lang="nl-BE" sz="2800" i="1" dirty="0">
                <a:ea typeface="Arial Unicode MS" pitchFamily="34" charset="-128"/>
                <a:cs typeface="Arial Unicode MS" pitchFamily="34" charset="-128"/>
              </a:rPr>
              <a:t>→ </a:t>
            </a:r>
            <a:r>
              <a:rPr lang="nl-BE" sz="2800" i="1" dirty="0" err="1">
                <a:ea typeface="Arial Unicode MS" pitchFamily="34" charset="-128"/>
                <a:cs typeface="Arial Unicode MS" pitchFamily="34" charset="-128"/>
              </a:rPr>
              <a:t>F</a:t>
            </a:r>
            <a:r>
              <a:rPr lang="nl-BE" sz="2800" i="1" baseline="-25000" dirty="0" err="1">
                <a:ea typeface="Arial Unicode MS" pitchFamily="34" charset="-128"/>
                <a:cs typeface="Arial Unicode MS" pitchFamily="34" charset="-128"/>
              </a:rPr>
              <a:t>cp</a:t>
            </a:r>
            <a:r>
              <a:rPr lang="nl-BE" sz="2800" i="1" dirty="0">
                <a:ea typeface="Arial Unicode MS" pitchFamily="34" charset="-128"/>
                <a:cs typeface="Arial Unicode MS" pitchFamily="34" charset="-128"/>
              </a:rPr>
              <a:t> </a:t>
            </a:r>
            <a:r>
              <a:rPr lang="nl-BE" sz="2800" i="1" dirty="0">
                <a:ea typeface="Arial Unicode MS" pitchFamily="34" charset="-128"/>
                <a:cs typeface="Arial Unicode MS" pitchFamily="34" charset="-128"/>
                <a:sym typeface="Wingdings 3" pitchFamily="18" charset="2"/>
              </a:rPr>
              <a:t> </a:t>
            </a:r>
            <a:r>
              <a:rPr lang="nl-BE" sz="2800" i="1" dirty="0">
                <a:ea typeface="Arial Unicode MS" pitchFamily="34" charset="-128"/>
                <a:cs typeface="Arial Unicode MS" pitchFamily="34" charset="-128"/>
              </a:rPr>
              <a:t>als v</a:t>
            </a:r>
            <a:r>
              <a:rPr lang="nl-BE" sz="2800" i="1" dirty="0">
                <a:ea typeface="Arial Unicode MS" pitchFamily="34" charset="-128"/>
                <a:cs typeface="Arial Unicode MS" pitchFamily="34" charset="-128"/>
                <a:sym typeface="Wingdings 3"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anim calcmode="lin" valueType="num">
                                      <p:cBhvr additive="base">
                                        <p:cTn id="7" dur="5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915">
                                            <p:txEl>
                                              <p:pRg st="3" end="3"/>
                                            </p:txEl>
                                          </p:spTgt>
                                        </p:tgtEl>
                                        <p:attrNameLst>
                                          <p:attrName>style.visibility</p:attrName>
                                        </p:attrNameLst>
                                      </p:cBhvr>
                                      <p:to>
                                        <p:strVal val="visible"/>
                                      </p:to>
                                    </p:set>
                                    <p:anim calcmode="lin" valueType="num">
                                      <p:cBhvr additive="base">
                                        <p:cTn id="13" dur="500" fill="hold"/>
                                        <p:tgtEl>
                                          <p:spTgt spid="3891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915">
                                            <p:txEl>
                                              <p:pRg st="5" end="5"/>
                                            </p:txEl>
                                          </p:spTgt>
                                        </p:tgtEl>
                                        <p:attrNameLst>
                                          <p:attrName>style.visibility</p:attrName>
                                        </p:attrNameLst>
                                      </p:cBhvr>
                                      <p:to>
                                        <p:strVal val="visible"/>
                                      </p:to>
                                    </p:set>
                                    <p:anim calcmode="lin" valueType="num">
                                      <p:cBhvr additive="base">
                                        <p:cTn id="19" dur="500" fill="hold"/>
                                        <p:tgtEl>
                                          <p:spTgt spid="3891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rrowheads="1"/>
          </p:cNvSpPr>
          <p:nvPr>
            <p:ph type="title"/>
          </p:nvPr>
        </p:nvSpPr>
        <p:spPr/>
        <p:txBody>
          <a:bodyPr/>
          <a:lstStyle/>
          <a:p>
            <a:pPr eaLnBrk="1" hangingPunct="1">
              <a:defRPr/>
            </a:pPr>
            <a:r>
              <a:rPr lang="nl-BE" sz="4000"/>
              <a:t>Tangentiële en normale component van een krachtvector</a:t>
            </a:r>
            <a:endParaRPr lang="nl-NL" sz="4000"/>
          </a:p>
        </p:txBody>
      </p:sp>
      <p:sp>
        <p:nvSpPr>
          <p:cNvPr id="40963" name="Rectangle 3"/>
          <p:cNvSpPr>
            <a:spLocks noGrp="1" noRot="1" noChangeArrowheads="1"/>
          </p:cNvSpPr>
          <p:nvPr>
            <p:ph idx="1"/>
          </p:nvPr>
        </p:nvSpPr>
        <p:spPr>
          <a:xfrm>
            <a:off x="623392" y="1844676"/>
            <a:ext cx="11017224" cy="4498975"/>
          </a:xfrm>
        </p:spPr>
        <p:txBody>
          <a:bodyPr>
            <a:normAutofit/>
          </a:bodyPr>
          <a:lstStyle/>
          <a:p>
            <a:pPr eaLnBrk="1" hangingPunct="1">
              <a:defRPr/>
            </a:pPr>
            <a:r>
              <a:rPr lang="nl-BE" sz="3200" dirty="0"/>
              <a:t>Krachtvector:	</a:t>
            </a:r>
          </a:p>
          <a:p>
            <a:pPr lvl="1">
              <a:spcAft>
                <a:spcPts val="2400"/>
              </a:spcAft>
              <a:defRPr/>
            </a:pPr>
            <a:r>
              <a:rPr lang="nl-BE" sz="2800" dirty="0"/>
              <a:t>Component volgens richting van snelheid (tangentieel aan baan) </a:t>
            </a:r>
            <a:br>
              <a:rPr lang="nl-BE" sz="2800" dirty="0"/>
            </a:br>
            <a:r>
              <a:rPr lang="nl-BE" sz="2800" dirty="0"/>
              <a:t>F</a:t>
            </a:r>
            <a:r>
              <a:rPr lang="nl-BE" sz="2800" baseline="-25000" dirty="0"/>
              <a:t>t</a:t>
            </a:r>
            <a:r>
              <a:rPr lang="nl-BE" sz="2800" dirty="0"/>
              <a:t>: toename of afname van grootte van v</a:t>
            </a:r>
          </a:p>
          <a:p>
            <a:pPr lvl="1">
              <a:spcAft>
                <a:spcPts val="2400"/>
              </a:spcAft>
              <a:defRPr/>
            </a:pPr>
            <a:r>
              <a:rPr lang="nl-BE" sz="2800" dirty="0"/>
              <a:t>Component </a:t>
            </a:r>
            <a:r>
              <a:rPr lang="nl-BE" sz="2800" dirty="0">
                <a:ea typeface="Arial Unicode MS" pitchFamily="34" charset="-128"/>
                <a:cs typeface="Arial Unicode MS" pitchFamily="34" charset="-128"/>
              </a:rPr>
              <a:t>┴ op raaklijn van baan (normale): </a:t>
            </a:r>
            <a:r>
              <a:rPr lang="nl-BE" sz="2800" dirty="0" err="1">
                <a:ea typeface="Arial Unicode MS" pitchFamily="34" charset="-128"/>
                <a:cs typeface="Arial Unicode MS" pitchFamily="34" charset="-128"/>
              </a:rPr>
              <a:t>F</a:t>
            </a:r>
            <a:r>
              <a:rPr lang="nl-BE" sz="2800" baseline="-25000" dirty="0" err="1">
                <a:ea typeface="Arial Unicode MS" pitchFamily="34" charset="-128"/>
                <a:cs typeface="Arial Unicode MS" pitchFamily="34" charset="-128"/>
              </a:rPr>
              <a:t>n</a:t>
            </a:r>
            <a:r>
              <a:rPr lang="nl-BE" sz="2800" dirty="0">
                <a:ea typeface="Arial Unicode MS" pitchFamily="34" charset="-128"/>
                <a:cs typeface="Arial Unicode MS" pitchFamily="34" charset="-128"/>
              </a:rPr>
              <a:t>: richtingsverandering</a:t>
            </a:r>
          </a:p>
          <a:p>
            <a:pPr>
              <a:spcAft>
                <a:spcPts val="2400"/>
              </a:spcAft>
              <a:defRPr/>
            </a:pPr>
            <a:r>
              <a:rPr lang="nl-BE" sz="3200" dirty="0">
                <a:ea typeface="Arial Unicode MS" pitchFamily="34" charset="-128"/>
                <a:cs typeface="Arial Unicode MS" pitchFamily="34" charset="-128"/>
              </a:rPr>
              <a:t>Opmerking: bij ECB enkel een normale component → enkel richtingsverandering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title"/>
          </p:nvPr>
        </p:nvSpPr>
        <p:spPr/>
        <p:txBody>
          <a:bodyPr/>
          <a:lstStyle/>
          <a:p>
            <a:pPr eaLnBrk="1" hangingPunct="1">
              <a:defRPr/>
            </a:pPr>
            <a:r>
              <a:rPr lang="nl-BE"/>
              <a:t>Ontbinden van krachten </a:t>
            </a:r>
            <a:br>
              <a:rPr lang="nl-BE"/>
            </a:br>
            <a:r>
              <a:rPr lang="nl-BE" sz="2000" i="1"/>
              <a:t>(opmerking: geen ECB, voorbeeld enkel om krachten te  leren ontbinden).</a:t>
            </a:r>
            <a:endParaRPr lang="nl-NL" sz="2000" i="1"/>
          </a:p>
        </p:txBody>
      </p:sp>
      <p:sp>
        <p:nvSpPr>
          <p:cNvPr id="59395" name="Rectangle 3"/>
          <p:cNvSpPr>
            <a:spLocks noGrp="1" noRot="1" noChangeArrowheads="1"/>
          </p:cNvSpPr>
          <p:nvPr>
            <p:ph idx="1"/>
          </p:nvPr>
        </p:nvSpPr>
        <p:spPr/>
        <p:txBody>
          <a:bodyPr/>
          <a:lstStyle/>
          <a:p>
            <a:pPr eaLnBrk="1" hangingPunct="1">
              <a:defRPr/>
            </a:pPr>
            <a:endParaRPr lang="nl-BE"/>
          </a:p>
        </p:txBody>
      </p:sp>
      <p:pic>
        <p:nvPicPr>
          <p:cNvPr id="33796" name="Picture 6" descr="krachten ontbinden 7"/>
          <p:cNvPicPr>
            <a:picLocks noChangeAspect="1" noChangeArrowheads="1"/>
          </p:cNvPicPr>
          <p:nvPr/>
        </p:nvPicPr>
        <p:blipFill>
          <a:blip r:embed="rId2" cstate="print"/>
          <a:srcRect/>
          <a:stretch>
            <a:fillRect/>
          </a:stretch>
        </p:blipFill>
        <p:spPr bwMode="auto">
          <a:xfrm>
            <a:off x="3683793" y="1690688"/>
            <a:ext cx="4824413" cy="5165725"/>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rrowheads="1"/>
          </p:cNvSpPr>
          <p:nvPr>
            <p:ph type="title"/>
          </p:nvPr>
        </p:nvSpPr>
        <p:spPr/>
        <p:txBody>
          <a:bodyPr/>
          <a:lstStyle/>
          <a:p>
            <a:pPr eaLnBrk="1" hangingPunct="1">
              <a:defRPr/>
            </a:pPr>
            <a:r>
              <a:rPr lang="nl-BE"/>
              <a:t>Ontbinden van krachten</a:t>
            </a:r>
            <a:endParaRPr lang="nl-NL"/>
          </a:p>
        </p:txBody>
      </p:sp>
      <p:sp>
        <p:nvSpPr>
          <p:cNvPr id="60419" name="Rectangle 3"/>
          <p:cNvSpPr>
            <a:spLocks noGrp="1" noRot="1" noChangeArrowheads="1"/>
          </p:cNvSpPr>
          <p:nvPr>
            <p:ph idx="1"/>
          </p:nvPr>
        </p:nvSpPr>
        <p:spPr/>
        <p:txBody>
          <a:bodyPr/>
          <a:lstStyle/>
          <a:p>
            <a:pPr eaLnBrk="1" hangingPunct="1">
              <a:defRPr/>
            </a:pPr>
            <a:endParaRPr lang="nl-BE"/>
          </a:p>
        </p:txBody>
      </p:sp>
      <p:pic>
        <p:nvPicPr>
          <p:cNvPr id="34820" name="Picture 5"/>
          <p:cNvPicPr>
            <a:picLocks noChangeAspect="1" noChangeArrowheads="1"/>
          </p:cNvPicPr>
          <p:nvPr/>
        </p:nvPicPr>
        <p:blipFill>
          <a:blip r:embed="rId2" cstate="print"/>
          <a:srcRect/>
          <a:stretch>
            <a:fillRect/>
          </a:stretch>
        </p:blipFill>
        <p:spPr bwMode="auto">
          <a:xfrm>
            <a:off x="3674268" y="1484784"/>
            <a:ext cx="4843463" cy="5184775"/>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eaLnBrk="1" hangingPunct="1">
              <a:defRPr/>
            </a:pPr>
            <a:r>
              <a:rPr lang="nl-BE" dirty="0"/>
              <a:t>Ontbinden van krachten</a:t>
            </a:r>
          </a:p>
        </p:txBody>
      </p:sp>
      <p:sp>
        <p:nvSpPr>
          <p:cNvPr id="3" name="Tijdelijke aanduiding voor inhoud 2"/>
          <p:cNvSpPr>
            <a:spLocks noGrp="1"/>
          </p:cNvSpPr>
          <p:nvPr>
            <p:ph idx="1"/>
          </p:nvPr>
        </p:nvSpPr>
        <p:spPr/>
        <p:txBody>
          <a:bodyPr>
            <a:normAutofit/>
          </a:bodyPr>
          <a:lstStyle/>
          <a:p>
            <a:pPr eaLnBrk="1" hangingPunct="1">
              <a:defRPr/>
            </a:pPr>
            <a:r>
              <a:rPr lang="nl-BE" sz="3200" dirty="0"/>
              <a:t>Bal in opwaartse beweging;</a:t>
            </a:r>
          </a:p>
          <a:p>
            <a:pPr eaLnBrk="1" hangingPunct="1">
              <a:defRPr/>
            </a:pPr>
            <a:r>
              <a:rPr lang="nl-BE" sz="3200" dirty="0"/>
              <a:t>bal die valt;</a:t>
            </a:r>
          </a:p>
          <a:p>
            <a:pPr eaLnBrk="1" hangingPunct="1">
              <a:defRPr/>
            </a:pPr>
            <a:r>
              <a:rPr lang="nl-BE" sz="3200" dirty="0"/>
              <a:t>vliegende pijl.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eaLnBrk="1" hangingPunct="1">
              <a:defRPr/>
            </a:pPr>
            <a:r>
              <a:rPr lang="nl-BE" dirty="0"/>
              <a:t>Ontbinden van krachten</a:t>
            </a:r>
          </a:p>
        </p:txBody>
      </p:sp>
      <p:sp>
        <p:nvSpPr>
          <p:cNvPr id="3" name="Tijdelijke aanduiding voor inhoud 2"/>
          <p:cNvSpPr>
            <a:spLocks noGrp="1"/>
          </p:cNvSpPr>
          <p:nvPr>
            <p:ph idx="1"/>
          </p:nvPr>
        </p:nvSpPr>
        <p:spPr/>
        <p:txBody>
          <a:bodyPr/>
          <a:lstStyle/>
          <a:p>
            <a:pPr eaLnBrk="1" hangingPunct="1">
              <a:defRPr/>
            </a:pPr>
            <a:r>
              <a:rPr lang="nl-BE" dirty="0"/>
              <a:t>vliegende pijl:</a:t>
            </a:r>
          </a:p>
        </p:txBody>
      </p:sp>
      <p:pic>
        <p:nvPicPr>
          <p:cNvPr id="5" name="Afbeelding 4"/>
          <p:cNvPicPr>
            <a:picLocks noChangeAspect="1"/>
          </p:cNvPicPr>
          <p:nvPr/>
        </p:nvPicPr>
        <p:blipFill rotWithShape="1">
          <a:blip r:embed="rId2">
            <a:extLst>
              <a:ext uri="{28A0092B-C50C-407E-A947-70E740481C1C}">
                <a14:useLocalDpi xmlns:a14="http://schemas.microsoft.com/office/drawing/2010/main" val="0"/>
              </a:ext>
            </a:extLst>
          </a:blip>
          <a:srcRect l="20532" r="50167"/>
          <a:stretch/>
        </p:blipFill>
        <p:spPr>
          <a:xfrm rot="5400000">
            <a:off x="5107665" y="-583671"/>
            <a:ext cx="1944216" cy="8817429"/>
          </a:xfrm>
          <a:prstGeom prst="rect">
            <a:avLst/>
          </a:prstGeom>
        </p:spPr>
      </p:pic>
    </p:spTree>
    <p:extLst>
      <p:ext uri="{BB962C8B-B14F-4D97-AF65-F5344CB8AC3E}">
        <p14:creationId xmlns:p14="http://schemas.microsoft.com/office/powerpoint/2010/main" val="14868373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eaLnBrk="1" hangingPunct="1">
              <a:defRPr/>
            </a:pPr>
            <a:r>
              <a:rPr lang="nl-BE" dirty="0"/>
              <a:t>Ontbinden van krachten</a:t>
            </a:r>
          </a:p>
        </p:txBody>
      </p:sp>
      <p:sp>
        <p:nvSpPr>
          <p:cNvPr id="3" name="Tijdelijke aanduiding voor inhoud 2"/>
          <p:cNvSpPr>
            <a:spLocks noGrp="1"/>
          </p:cNvSpPr>
          <p:nvPr>
            <p:ph idx="1"/>
          </p:nvPr>
        </p:nvSpPr>
        <p:spPr/>
        <p:txBody>
          <a:bodyPr/>
          <a:lstStyle/>
          <a:p>
            <a:pPr eaLnBrk="1" hangingPunct="1">
              <a:defRPr/>
            </a:pPr>
            <a:r>
              <a:rPr lang="nl-BE" dirty="0"/>
              <a:t>vliegende pijl:</a:t>
            </a:r>
          </a:p>
        </p:txBody>
      </p:sp>
      <p:pic>
        <p:nvPicPr>
          <p:cNvPr id="5" name="Afbeelding 4"/>
          <p:cNvPicPr>
            <a:picLocks noChangeAspect="1"/>
          </p:cNvPicPr>
          <p:nvPr/>
        </p:nvPicPr>
        <p:blipFill rotWithShape="1">
          <a:blip r:embed="rId2">
            <a:extLst>
              <a:ext uri="{28A0092B-C50C-407E-A947-70E740481C1C}">
                <a14:useLocalDpi xmlns:a14="http://schemas.microsoft.com/office/drawing/2010/main" val="0"/>
              </a:ext>
            </a:extLst>
          </a:blip>
          <a:srcRect t="21651" b="42650"/>
          <a:stretch/>
        </p:blipFill>
        <p:spPr>
          <a:xfrm>
            <a:off x="1685438" y="2492896"/>
            <a:ext cx="8875059" cy="2376264"/>
          </a:xfrm>
          <a:prstGeom prst="rect">
            <a:avLst/>
          </a:prstGeom>
        </p:spPr>
      </p:pic>
    </p:spTree>
    <p:extLst>
      <p:ext uri="{BB962C8B-B14F-4D97-AF65-F5344CB8AC3E}">
        <p14:creationId xmlns:p14="http://schemas.microsoft.com/office/powerpoint/2010/main" val="21641230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eaLnBrk="1" hangingPunct="1">
              <a:defRPr/>
            </a:pPr>
            <a:r>
              <a:rPr lang="nl-BE" dirty="0"/>
              <a:t>Ontbinden van krachten</a:t>
            </a:r>
          </a:p>
        </p:txBody>
      </p:sp>
      <p:sp>
        <p:nvSpPr>
          <p:cNvPr id="3" name="Tijdelijke aanduiding voor inhoud 2"/>
          <p:cNvSpPr>
            <a:spLocks noGrp="1"/>
          </p:cNvSpPr>
          <p:nvPr>
            <p:ph idx="1"/>
          </p:nvPr>
        </p:nvSpPr>
        <p:spPr/>
        <p:txBody>
          <a:bodyPr/>
          <a:lstStyle/>
          <a:p>
            <a:pPr eaLnBrk="1" hangingPunct="1">
              <a:defRPr/>
            </a:pPr>
            <a:r>
              <a:rPr lang="nl-BE" dirty="0"/>
              <a:t>vliegende pijl:</a:t>
            </a:r>
          </a:p>
        </p:txBody>
      </p:sp>
      <p:pic>
        <p:nvPicPr>
          <p:cNvPr id="4" name="Afbeelding 3"/>
          <p:cNvPicPr>
            <a:picLocks noChangeAspect="1"/>
          </p:cNvPicPr>
          <p:nvPr/>
        </p:nvPicPr>
        <p:blipFill>
          <a:blip r:embed="rId2"/>
          <a:stretch>
            <a:fillRect/>
          </a:stretch>
        </p:blipFill>
        <p:spPr>
          <a:xfrm>
            <a:off x="1580720" y="2564904"/>
            <a:ext cx="9051785" cy="3024336"/>
          </a:xfrm>
          <a:prstGeom prst="rect">
            <a:avLst/>
          </a:prstGeom>
        </p:spPr>
      </p:pic>
    </p:spTree>
    <p:extLst>
      <p:ext uri="{BB962C8B-B14F-4D97-AF65-F5344CB8AC3E}">
        <p14:creationId xmlns:p14="http://schemas.microsoft.com/office/powerpoint/2010/main" val="38189111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rrowheads="1"/>
          </p:cNvSpPr>
          <p:nvPr>
            <p:ph type="title"/>
          </p:nvPr>
        </p:nvSpPr>
        <p:spPr>
          <a:xfrm>
            <a:off x="1847850" y="0"/>
            <a:ext cx="8540750" cy="1143000"/>
          </a:xfrm>
        </p:spPr>
        <p:txBody>
          <a:bodyPr>
            <a:normAutofit fontScale="90000"/>
          </a:bodyPr>
          <a:lstStyle/>
          <a:p>
            <a:pPr eaLnBrk="1" hangingPunct="1">
              <a:defRPr/>
            </a:pPr>
            <a:r>
              <a:rPr lang="nl-BE" sz="4000" dirty="0"/>
              <a:t>Beweging van satellieten in  benadering van een cirkelbaan</a:t>
            </a:r>
            <a:endParaRPr lang="nl-NL" sz="4000" dirty="0"/>
          </a:p>
        </p:txBody>
      </p:sp>
      <p:sp>
        <p:nvSpPr>
          <p:cNvPr id="41987" name="Rectangle 3"/>
          <p:cNvSpPr>
            <a:spLocks noGrp="1" noRot="1" noChangeArrowheads="1"/>
          </p:cNvSpPr>
          <p:nvPr>
            <p:ph type="body" sz="half" idx="1"/>
          </p:nvPr>
        </p:nvSpPr>
        <p:spPr>
          <a:xfrm>
            <a:off x="479376" y="1341438"/>
            <a:ext cx="10657184" cy="5399930"/>
          </a:xfrm>
        </p:spPr>
        <p:txBody>
          <a:bodyPr>
            <a:normAutofit lnSpcReduction="10000"/>
          </a:bodyPr>
          <a:lstStyle/>
          <a:p>
            <a:pPr eaLnBrk="1" hangingPunct="1">
              <a:defRPr/>
            </a:pPr>
            <a:r>
              <a:rPr lang="nl-BE" dirty="0"/>
              <a:t>Verband tussen straal van cirkelbaan van satelliet, snelheid en </a:t>
            </a:r>
            <a:r>
              <a:rPr lang="nl-BE" dirty="0" err="1"/>
              <a:t>F</a:t>
            </a:r>
            <a:r>
              <a:rPr lang="nl-BE" baseline="-25000" dirty="0" err="1"/>
              <a:t>cp</a:t>
            </a:r>
            <a:r>
              <a:rPr lang="nl-BE" dirty="0"/>
              <a:t> : </a:t>
            </a:r>
          </a:p>
          <a:p>
            <a:pPr eaLnBrk="1" hangingPunct="1">
              <a:defRPr/>
            </a:pPr>
            <a:endParaRPr lang="nl-BE" dirty="0"/>
          </a:p>
          <a:p>
            <a:pPr eaLnBrk="1" hangingPunct="1">
              <a:defRPr/>
            </a:pPr>
            <a:endParaRPr lang="nl-BE" dirty="0"/>
          </a:p>
          <a:p>
            <a:pPr eaLnBrk="1" hangingPunct="1">
              <a:defRPr/>
            </a:pPr>
            <a:r>
              <a:rPr lang="nl-BE" dirty="0" err="1"/>
              <a:t>F</a:t>
            </a:r>
            <a:r>
              <a:rPr lang="nl-BE" baseline="-25000" dirty="0" err="1"/>
              <a:t>cp</a:t>
            </a:r>
            <a:r>
              <a:rPr lang="nl-BE" dirty="0"/>
              <a:t> wordt geleverd door universele gravitatiekracht:</a:t>
            </a:r>
          </a:p>
          <a:p>
            <a:pPr eaLnBrk="1" hangingPunct="1">
              <a:defRPr/>
            </a:pPr>
            <a:endParaRPr lang="nl-BE" dirty="0"/>
          </a:p>
          <a:p>
            <a:pPr eaLnBrk="1" hangingPunct="1">
              <a:defRPr/>
            </a:pPr>
            <a:endParaRPr lang="nl-BE" dirty="0"/>
          </a:p>
          <a:p>
            <a:pPr lvl="1" eaLnBrk="1" hangingPunct="1">
              <a:lnSpc>
                <a:spcPct val="100000"/>
              </a:lnSpc>
              <a:defRPr/>
            </a:pPr>
            <a:r>
              <a:rPr lang="nl-BE" dirty="0">
                <a:cs typeface="Times New Roman" pitchFamily="18" charset="0"/>
              </a:rPr>
              <a:t>G = 6,672.10</a:t>
            </a:r>
            <a:r>
              <a:rPr lang="nl-BE" baseline="30000" dirty="0">
                <a:cs typeface="Times New Roman" pitchFamily="18" charset="0"/>
              </a:rPr>
              <a:t>-11</a:t>
            </a:r>
            <a:r>
              <a:rPr lang="nl-BE" dirty="0">
                <a:cs typeface="Times New Roman" pitchFamily="18" charset="0"/>
              </a:rPr>
              <a:t> </a:t>
            </a:r>
            <a:r>
              <a:rPr lang="nl-BE" dirty="0" err="1">
                <a:cs typeface="Times New Roman" pitchFamily="18" charset="0"/>
              </a:rPr>
              <a:t>m³</a:t>
            </a:r>
            <a:r>
              <a:rPr lang="nl-BE" dirty="0">
                <a:cs typeface="Times New Roman" pitchFamily="18" charset="0"/>
              </a:rPr>
              <a:t>/(</a:t>
            </a:r>
            <a:r>
              <a:rPr lang="nl-BE" dirty="0" err="1">
                <a:cs typeface="Times New Roman" pitchFamily="18" charset="0"/>
              </a:rPr>
              <a:t>kg.s²</a:t>
            </a:r>
            <a:r>
              <a:rPr lang="nl-BE" dirty="0">
                <a:cs typeface="Times New Roman" pitchFamily="18" charset="0"/>
              </a:rPr>
              <a:t>)</a:t>
            </a:r>
          </a:p>
          <a:p>
            <a:pPr lvl="1" eaLnBrk="1" hangingPunct="1">
              <a:lnSpc>
                <a:spcPct val="100000"/>
              </a:lnSpc>
              <a:defRPr/>
            </a:pPr>
            <a:r>
              <a:rPr lang="nl-BE" dirty="0">
                <a:cs typeface="Times New Roman" pitchFamily="18" charset="0"/>
              </a:rPr>
              <a:t>R = afstand satelliet – middelpunt van aarde (aardstraal + hoogte boven aardopp.)</a:t>
            </a:r>
          </a:p>
          <a:p>
            <a:pPr lvl="1" eaLnBrk="1" hangingPunct="1">
              <a:lnSpc>
                <a:spcPct val="100000"/>
              </a:lnSpc>
              <a:defRPr/>
            </a:pPr>
            <a:r>
              <a:rPr lang="nl-BE" dirty="0">
                <a:cs typeface="Times New Roman" pitchFamily="18" charset="0"/>
              </a:rPr>
              <a:t>R</a:t>
            </a:r>
            <a:r>
              <a:rPr lang="nl-BE" baseline="-25000" dirty="0">
                <a:cs typeface="Times New Roman" pitchFamily="18" charset="0"/>
              </a:rPr>
              <a:t>A</a:t>
            </a:r>
            <a:r>
              <a:rPr lang="nl-BE" dirty="0">
                <a:cs typeface="Times New Roman" pitchFamily="18" charset="0"/>
              </a:rPr>
              <a:t> = 6370 km</a:t>
            </a:r>
          </a:p>
          <a:p>
            <a:pPr lvl="1" eaLnBrk="1" hangingPunct="1">
              <a:lnSpc>
                <a:spcPct val="100000"/>
              </a:lnSpc>
              <a:defRPr/>
            </a:pPr>
            <a:r>
              <a:rPr lang="nl-BE" dirty="0">
                <a:cs typeface="Times New Roman" pitchFamily="18" charset="0"/>
              </a:rPr>
              <a:t>m</a:t>
            </a:r>
            <a:r>
              <a:rPr lang="nl-BE" baseline="-25000" dirty="0">
                <a:cs typeface="Times New Roman" pitchFamily="18" charset="0"/>
              </a:rPr>
              <a:t>A</a:t>
            </a:r>
            <a:r>
              <a:rPr lang="nl-BE" dirty="0">
                <a:cs typeface="Times New Roman" pitchFamily="18" charset="0"/>
              </a:rPr>
              <a:t> = massa aarde : 5,974.10</a:t>
            </a:r>
            <a:r>
              <a:rPr lang="nl-BE" baseline="30000" dirty="0">
                <a:cs typeface="Times New Roman" pitchFamily="18" charset="0"/>
              </a:rPr>
              <a:t>24</a:t>
            </a:r>
            <a:r>
              <a:rPr lang="nl-BE" dirty="0">
                <a:cs typeface="Times New Roman" pitchFamily="18" charset="0"/>
              </a:rPr>
              <a:t> kg</a:t>
            </a:r>
          </a:p>
          <a:p>
            <a:pPr lvl="1" eaLnBrk="1" hangingPunct="1">
              <a:lnSpc>
                <a:spcPct val="100000"/>
              </a:lnSpc>
              <a:defRPr/>
            </a:pPr>
            <a:r>
              <a:rPr lang="nl-BE" dirty="0">
                <a:cs typeface="Times New Roman" pitchFamily="18" charset="0"/>
              </a:rPr>
              <a:t>m = massa satelliet</a:t>
            </a:r>
            <a:endParaRPr lang="el-GR" dirty="0">
              <a:cs typeface="Times New Roman" pitchFamily="18" charset="0"/>
            </a:endParaRPr>
          </a:p>
          <a:p>
            <a:pPr lvl="1" eaLnBrk="1" hangingPunct="1">
              <a:buFont typeface="Wingdings" pitchFamily="2" charset="2"/>
              <a:buNone/>
              <a:defRPr/>
            </a:pPr>
            <a:endParaRPr lang="nl-NL" dirty="0"/>
          </a:p>
        </p:txBody>
      </p:sp>
      <mc:AlternateContent xmlns:mc="http://schemas.openxmlformats.org/markup-compatibility/2006" xmlns:a14="http://schemas.microsoft.com/office/drawing/2010/main">
        <mc:Choice Requires="a14">
          <p:sp>
            <p:nvSpPr>
              <p:cNvPr id="5122" name="Object 4"/>
              <p:cNvSpPr txBox="1">
                <a:spLocks noGrp="1"/>
              </p:cNvSpPr>
              <p:nvPr>
                <p:ph sz="quarter" idx="2"/>
              </p:nvPr>
            </p:nvSpPr>
            <p:spPr bwMode="auto">
              <a:xfrm>
                <a:off x="6240463" y="1773238"/>
                <a:ext cx="1908175" cy="1116012"/>
              </a:xfrm>
              <a:prstGeom prst="rect">
                <a:avLst/>
              </a:prstGeom>
              <a:noFill/>
            </p:spPr>
            <p:txBody>
              <a:bodyPr>
                <a:normAutofit fontScale="85000" lnSpcReduction="10000"/>
              </a:bodyPr>
              <a:lstStyle/>
              <a:p>
                <a:pPr>
                  <a:buNone/>
                </a:pPr>
                <a14:m>
                  <m:oMathPara xmlns:m="http://schemas.openxmlformats.org/officeDocument/2006/math">
                    <m:oMathParaPr>
                      <m:jc m:val="left"/>
                    </m:oMathParaPr>
                    <m:oMath xmlns:m="http://schemas.openxmlformats.org/officeDocument/2006/math">
                      <m:sSub>
                        <m:sSubPr>
                          <m:ctrlPr>
                            <a:rPr lang="nl-BE" sz="3200" i="1" smtClean="0">
                              <a:solidFill>
                                <a:schemeClr val="tx1">
                                  <a:lumMod val="95000"/>
                                </a:schemeClr>
                              </a:solidFill>
                              <a:latin typeface="Cambria Math" panose="02040503050406030204" pitchFamily="18" charset="0"/>
                            </a:rPr>
                          </m:ctrlPr>
                        </m:sSubPr>
                        <m:e>
                          <m:r>
                            <a:rPr lang="nl-BE" sz="3200" i="1">
                              <a:solidFill>
                                <a:schemeClr val="tx1">
                                  <a:lumMod val="95000"/>
                                </a:schemeClr>
                              </a:solidFill>
                              <a:latin typeface="Cambria Math" panose="02040503050406030204" pitchFamily="18" charset="0"/>
                            </a:rPr>
                            <m:t>𝐹</m:t>
                          </m:r>
                        </m:e>
                        <m:sub>
                          <m:r>
                            <a:rPr lang="nl-BE" sz="3200" i="1">
                              <a:solidFill>
                                <a:schemeClr val="tx1">
                                  <a:lumMod val="95000"/>
                                </a:schemeClr>
                              </a:solidFill>
                              <a:latin typeface="Cambria Math" panose="02040503050406030204" pitchFamily="18" charset="0"/>
                            </a:rPr>
                            <m:t>𝑐𝑝</m:t>
                          </m:r>
                        </m:sub>
                      </m:sSub>
                      <m:r>
                        <a:rPr lang="nl-BE" sz="3200" i="1">
                          <a:solidFill>
                            <a:schemeClr val="tx1">
                              <a:lumMod val="95000"/>
                            </a:schemeClr>
                          </a:solidFill>
                          <a:latin typeface="Cambria Math" panose="02040503050406030204" pitchFamily="18" charset="0"/>
                        </a:rPr>
                        <m:t>=</m:t>
                      </m:r>
                      <m:f>
                        <m:fPr>
                          <m:ctrlPr>
                            <a:rPr lang="nl-BE" sz="3200" i="1">
                              <a:solidFill>
                                <a:schemeClr val="tx1">
                                  <a:lumMod val="95000"/>
                                </a:schemeClr>
                              </a:solidFill>
                              <a:latin typeface="Cambria Math" panose="02040503050406030204" pitchFamily="18" charset="0"/>
                            </a:rPr>
                          </m:ctrlPr>
                        </m:fPr>
                        <m:num>
                          <m:r>
                            <a:rPr lang="nl-BE" sz="3200" i="1">
                              <a:solidFill>
                                <a:schemeClr val="tx1">
                                  <a:lumMod val="95000"/>
                                </a:schemeClr>
                              </a:solidFill>
                              <a:latin typeface="Cambria Math" panose="02040503050406030204" pitchFamily="18" charset="0"/>
                            </a:rPr>
                            <m:t>𝑚</m:t>
                          </m:r>
                          <m:r>
                            <a:rPr lang="nl-BE" sz="3200" i="1">
                              <a:solidFill>
                                <a:schemeClr val="tx1">
                                  <a:lumMod val="95000"/>
                                </a:schemeClr>
                              </a:solidFill>
                              <a:latin typeface="Cambria Math" panose="02040503050406030204" pitchFamily="18" charset="0"/>
                            </a:rPr>
                            <m:t>.</m:t>
                          </m:r>
                          <m:r>
                            <a:rPr lang="nl-BE" sz="3200" i="1">
                              <a:solidFill>
                                <a:schemeClr val="tx1">
                                  <a:lumMod val="95000"/>
                                </a:schemeClr>
                              </a:solidFill>
                              <a:latin typeface="Cambria Math" panose="02040503050406030204" pitchFamily="18" charset="0"/>
                            </a:rPr>
                            <m:t>𝑣</m:t>
                          </m:r>
                          <m:r>
                            <a:rPr lang="nl-BE" sz="3200" i="1">
                              <a:solidFill>
                                <a:schemeClr val="tx1">
                                  <a:lumMod val="95000"/>
                                </a:schemeClr>
                              </a:solidFill>
                              <a:latin typeface="Cambria Math" panose="02040503050406030204" pitchFamily="18" charset="0"/>
                            </a:rPr>
                            <m:t>²</m:t>
                          </m:r>
                        </m:num>
                        <m:den>
                          <m:r>
                            <a:rPr lang="nl-BE" sz="3200" b="0" i="1" smtClean="0">
                              <a:solidFill>
                                <a:schemeClr val="tx1">
                                  <a:lumMod val="95000"/>
                                </a:schemeClr>
                              </a:solidFill>
                              <a:latin typeface="Cambria Math" panose="02040503050406030204" pitchFamily="18" charset="0"/>
                            </a:rPr>
                            <m:t>𝑅</m:t>
                          </m:r>
                        </m:den>
                      </m:f>
                    </m:oMath>
                  </m:oMathPara>
                </a14:m>
                <a:endParaRPr lang="nl-BE" dirty="0"/>
              </a:p>
            </p:txBody>
          </p:sp>
        </mc:Choice>
        <mc:Fallback xmlns="">
          <p:sp>
            <p:nvSpPr>
              <p:cNvPr id="5122" name="Object 4"/>
              <p:cNvSpPr txBox="1">
                <a:spLocks noRot="1" noChangeAspect="1" noMove="1" noResize="1" noEditPoints="1" noAdjustHandles="1" noChangeArrowheads="1" noChangeShapeType="1" noTextEdit="1"/>
              </p:cNvSpPr>
              <p:nvPr>
                <p:ph sz="quarter" idx="2"/>
              </p:nvPr>
            </p:nvSpPr>
            <p:spPr bwMode="auto">
              <a:xfrm>
                <a:off x="6240463" y="1773238"/>
                <a:ext cx="1908175" cy="1116012"/>
              </a:xfrm>
              <a:prstGeom prst="rect">
                <a:avLst/>
              </a:prstGeom>
              <a:blipFill>
                <a:blip r:embed="rId2"/>
                <a:stretch>
                  <a:fillRect/>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5123" name="Object 6"/>
              <p:cNvSpPr txBox="1">
                <a:spLocks noGrp="1"/>
              </p:cNvSpPr>
              <p:nvPr>
                <p:ph sz="quarter" idx="3"/>
              </p:nvPr>
            </p:nvSpPr>
            <p:spPr bwMode="auto">
              <a:xfrm>
                <a:off x="6167438" y="3321050"/>
                <a:ext cx="2952898" cy="1287463"/>
              </a:xfrm>
              <a:prstGeom prst="rect">
                <a:avLst/>
              </a:prstGeom>
              <a:noFill/>
            </p:spPr>
            <p:txBody>
              <a:bodyPr>
                <a:noAutofit/>
              </a:bodyPr>
              <a:lstStyle/>
              <a:p>
                <a:pPr>
                  <a:buNone/>
                </a:pPr>
                <a14:m>
                  <m:oMathPara xmlns:m="http://schemas.openxmlformats.org/officeDocument/2006/math">
                    <m:oMathParaPr>
                      <m:jc m:val="left"/>
                    </m:oMathParaPr>
                    <m:oMath xmlns:m="http://schemas.openxmlformats.org/officeDocument/2006/math">
                      <m:r>
                        <a:rPr lang="nl-BE" sz="3200" i="1" smtClean="0">
                          <a:solidFill>
                            <a:schemeClr val="tx1">
                              <a:lumMod val="95000"/>
                            </a:schemeClr>
                          </a:solidFill>
                          <a:latin typeface="Cambria Math" panose="02040503050406030204" pitchFamily="18" charset="0"/>
                        </a:rPr>
                        <m:t>𝐹</m:t>
                      </m:r>
                      <m:r>
                        <a:rPr lang="nl-BE" sz="3200" i="1" smtClean="0">
                          <a:solidFill>
                            <a:schemeClr val="tx1">
                              <a:lumMod val="95000"/>
                            </a:schemeClr>
                          </a:solidFill>
                          <a:latin typeface="Cambria Math" panose="02040503050406030204" pitchFamily="18" charset="0"/>
                        </a:rPr>
                        <m:t>=</m:t>
                      </m:r>
                      <m:f>
                        <m:fPr>
                          <m:ctrlPr>
                            <a:rPr lang="nl-BE" sz="3200" i="1">
                              <a:solidFill>
                                <a:schemeClr val="tx1">
                                  <a:lumMod val="95000"/>
                                </a:schemeClr>
                              </a:solidFill>
                              <a:latin typeface="Cambria Math" panose="02040503050406030204" pitchFamily="18" charset="0"/>
                            </a:rPr>
                          </m:ctrlPr>
                        </m:fPr>
                        <m:num>
                          <m:r>
                            <a:rPr lang="nl-BE" sz="3200" i="1">
                              <a:solidFill>
                                <a:schemeClr val="tx1">
                                  <a:lumMod val="95000"/>
                                </a:schemeClr>
                              </a:solidFill>
                              <a:latin typeface="Cambria Math" panose="02040503050406030204" pitchFamily="18" charset="0"/>
                            </a:rPr>
                            <m:t>𝐺</m:t>
                          </m:r>
                          <m:r>
                            <a:rPr lang="nl-BE" sz="3200" i="1">
                              <a:solidFill>
                                <a:schemeClr val="tx1">
                                  <a:lumMod val="95000"/>
                                </a:schemeClr>
                              </a:solidFill>
                              <a:latin typeface="Cambria Math" panose="02040503050406030204" pitchFamily="18" charset="0"/>
                            </a:rPr>
                            <m:t>.</m:t>
                          </m:r>
                          <m:r>
                            <a:rPr lang="nl-BE" sz="3200" i="1">
                              <a:solidFill>
                                <a:schemeClr val="tx1">
                                  <a:lumMod val="95000"/>
                                </a:schemeClr>
                              </a:solidFill>
                              <a:latin typeface="Cambria Math" panose="02040503050406030204" pitchFamily="18" charset="0"/>
                            </a:rPr>
                            <m:t>𝑚</m:t>
                          </m:r>
                          <m:r>
                            <a:rPr lang="nl-BE" sz="3200" i="1">
                              <a:solidFill>
                                <a:schemeClr val="tx1">
                                  <a:lumMod val="95000"/>
                                </a:schemeClr>
                              </a:solidFill>
                              <a:latin typeface="Cambria Math" panose="02040503050406030204" pitchFamily="18" charset="0"/>
                            </a:rPr>
                            <m:t>.</m:t>
                          </m:r>
                          <m:sSub>
                            <m:sSubPr>
                              <m:ctrlPr>
                                <a:rPr lang="nl-BE" sz="3200" i="1">
                                  <a:solidFill>
                                    <a:schemeClr val="tx1">
                                      <a:lumMod val="95000"/>
                                    </a:schemeClr>
                                  </a:solidFill>
                                  <a:latin typeface="Cambria Math" panose="02040503050406030204" pitchFamily="18" charset="0"/>
                                </a:rPr>
                              </m:ctrlPr>
                            </m:sSubPr>
                            <m:e>
                              <m:r>
                                <a:rPr lang="nl-BE" sz="3200" i="1">
                                  <a:solidFill>
                                    <a:schemeClr val="tx1">
                                      <a:lumMod val="95000"/>
                                    </a:schemeClr>
                                  </a:solidFill>
                                  <a:latin typeface="Cambria Math" panose="02040503050406030204" pitchFamily="18" charset="0"/>
                                </a:rPr>
                                <m:t>𝑚</m:t>
                              </m:r>
                            </m:e>
                            <m:sub>
                              <m:r>
                                <a:rPr lang="nl-BE" sz="3200" i="1">
                                  <a:solidFill>
                                    <a:schemeClr val="tx1">
                                      <a:lumMod val="95000"/>
                                    </a:schemeClr>
                                  </a:solidFill>
                                  <a:latin typeface="Cambria Math" panose="02040503050406030204" pitchFamily="18" charset="0"/>
                                </a:rPr>
                                <m:t>𝐴</m:t>
                              </m:r>
                            </m:sub>
                          </m:sSub>
                        </m:num>
                        <m:den>
                          <m:r>
                            <a:rPr lang="nl-BE" sz="3200" b="0" i="1" smtClean="0">
                              <a:solidFill>
                                <a:schemeClr val="tx1">
                                  <a:lumMod val="95000"/>
                                </a:schemeClr>
                              </a:solidFill>
                              <a:latin typeface="Cambria Math" panose="02040503050406030204" pitchFamily="18" charset="0"/>
                            </a:rPr>
                            <m:t>𝑅</m:t>
                          </m:r>
                          <m:r>
                            <a:rPr lang="nl-BE" sz="3200" i="1">
                              <a:solidFill>
                                <a:schemeClr val="tx1">
                                  <a:lumMod val="95000"/>
                                </a:schemeClr>
                              </a:solidFill>
                              <a:latin typeface="Cambria Math" panose="02040503050406030204" pitchFamily="18" charset="0"/>
                            </a:rPr>
                            <m:t>²</m:t>
                          </m:r>
                        </m:den>
                      </m:f>
                    </m:oMath>
                  </m:oMathPara>
                </a14:m>
                <a:endParaRPr lang="nl-BE" sz="3200" dirty="0">
                  <a:solidFill>
                    <a:schemeClr val="tx1">
                      <a:lumMod val="95000"/>
                    </a:schemeClr>
                  </a:solidFill>
                </a:endParaRPr>
              </a:p>
            </p:txBody>
          </p:sp>
        </mc:Choice>
        <mc:Fallback xmlns="">
          <p:sp>
            <p:nvSpPr>
              <p:cNvPr id="5123" name="Object 6"/>
              <p:cNvSpPr txBox="1">
                <a:spLocks noRot="1" noChangeAspect="1" noMove="1" noResize="1" noEditPoints="1" noAdjustHandles="1" noChangeArrowheads="1" noChangeShapeType="1" noTextEdit="1"/>
              </p:cNvSpPr>
              <p:nvPr>
                <p:ph sz="quarter" idx="3"/>
              </p:nvPr>
            </p:nvSpPr>
            <p:spPr bwMode="auto">
              <a:xfrm>
                <a:off x="6167438" y="3321050"/>
                <a:ext cx="2952898" cy="1287463"/>
              </a:xfrm>
              <a:prstGeom prst="rect">
                <a:avLst/>
              </a:prstGeom>
              <a:blipFill>
                <a:blip r:embed="rId3"/>
                <a:stretch>
                  <a:fillRect/>
                </a:stretch>
              </a:blipFill>
            </p:spPr>
            <p:txBody>
              <a:bodyPr/>
              <a:lstStyle/>
              <a:p>
                <a:r>
                  <a:rPr lang="nl-BE">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rrowheads="1"/>
          </p:cNvSpPr>
          <p:nvPr>
            <p:ph type="title"/>
          </p:nvPr>
        </p:nvSpPr>
        <p:spPr>
          <a:xfrm>
            <a:off x="1847850" y="260350"/>
            <a:ext cx="8540750" cy="1143000"/>
          </a:xfrm>
        </p:spPr>
        <p:txBody>
          <a:bodyPr>
            <a:normAutofit fontScale="90000"/>
          </a:bodyPr>
          <a:lstStyle/>
          <a:p>
            <a:pPr eaLnBrk="1" hangingPunct="1">
              <a:defRPr/>
            </a:pPr>
            <a:r>
              <a:rPr lang="nl-BE" sz="4000"/>
              <a:t>Beweging van satellieten in benadering van een cirkelbaan</a:t>
            </a:r>
            <a:endParaRPr lang="nl-NL" sz="4000"/>
          </a:p>
        </p:txBody>
      </p:sp>
      <p:sp>
        <p:nvSpPr>
          <p:cNvPr id="45059" name="Rectangle 3"/>
          <p:cNvSpPr>
            <a:spLocks noGrp="1" noRot="1" noChangeArrowheads="1"/>
          </p:cNvSpPr>
          <p:nvPr>
            <p:ph type="body" sz="half" idx="1"/>
          </p:nvPr>
        </p:nvSpPr>
        <p:spPr>
          <a:xfrm>
            <a:off x="839416" y="2133600"/>
            <a:ext cx="9828585" cy="5327650"/>
          </a:xfrm>
        </p:spPr>
        <p:txBody>
          <a:bodyPr/>
          <a:lstStyle/>
          <a:p>
            <a:pPr eaLnBrk="1" hangingPunct="1">
              <a:defRPr/>
            </a:pPr>
            <a:r>
              <a:rPr lang="nl-BE" sz="3200" dirty="0"/>
              <a:t>Bij cirkelende satelliet geldt dus:</a:t>
            </a:r>
          </a:p>
          <a:p>
            <a:pPr eaLnBrk="1" hangingPunct="1">
              <a:defRPr/>
            </a:pPr>
            <a:endParaRPr lang="nl-BE" dirty="0"/>
          </a:p>
          <a:p>
            <a:pPr eaLnBrk="1" hangingPunct="1">
              <a:defRPr/>
            </a:pPr>
            <a:endParaRPr lang="nl-BE" sz="2800" dirty="0"/>
          </a:p>
          <a:p>
            <a:pPr lvl="1" eaLnBrk="1" hangingPunct="1">
              <a:buFont typeface="Wingdings" pitchFamily="2" charset="2"/>
              <a:buNone/>
              <a:defRPr/>
            </a:pPr>
            <a:endParaRPr lang="nl-NL" sz="2400" dirty="0"/>
          </a:p>
        </p:txBody>
      </p:sp>
      <mc:AlternateContent xmlns:mc="http://schemas.openxmlformats.org/markup-compatibility/2006" xmlns:a14="http://schemas.microsoft.com/office/drawing/2010/main">
        <mc:Choice Requires="a14">
          <p:sp>
            <p:nvSpPr>
              <p:cNvPr id="6146" name="Object 4"/>
              <p:cNvSpPr txBox="1">
                <a:spLocks noGrp="1"/>
              </p:cNvSpPr>
              <p:nvPr>
                <p:ph sz="quarter" idx="2"/>
              </p:nvPr>
            </p:nvSpPr>
            <p:spPr bwMode="auto">
              <a:xfrm>
                <a:off x="3935413" y="3309938"/>
                <a:ext cx="5760987" cy="2279302"/>
              </a:xfrm>
              <a:prstGeom prst="rect">
                <a:avLst/>
              </a:prstGeom>
              <a:noFill/>
            </p:spPr>
            <p:txBody>
              <a:bodyPr>
                <a:noAutofit/>
              </a:bodyPr>
              <a:lstStyle/>
              <a:p>
                <a:pPr>
                  <a:buNone/>
                </a:pPr>
                <a14:m>
                  <m:oMathPara xmlns:m="http://schemas.openxmlformats.org/officeDocument/2006/math">
                    <m:oMathParaPr>
                      <m:jc m:val="left"/>
                    </m:oMathParaPr>
                    <m:oMath xmlns:m="http://schemas.openxmlformats.org/officeDocument/2006/math">
                      <m:sSub>
                        <m:sSubPr>
                          <m:ctrlPr>
                            <a:rPr lang="nl-BE" sz="4000" i="1" smtClean="0">
                              <a:solidFill>
                                <a:schemeClr val="tx1">
                                  <a:lumMod val="95000"/>
                                </a:schemeClr>
                              </a:solidFill>
                              <a:latin typeface="Cambria Math" panose="02040503050406030204" pitchFamily="18" charset="0"/>
                            </a:rPr>
                          </m:ctrlPr>
                        </m:sSubPr>
                        <m:e>
                          <m:r>
                            <a:rPr lang="nl-BE" sz="4000" i="1">
                              <a:solidFill>
                                <a:schemeClr val="tx1">
                                  <a:lumMod val="95000"/>
                                </a:schemeClr>
                              </a:solidFill>
                              <a:latin typeface="Cambria Math" panose="02040503050406030204" pitchFamily="18" charset="0"/>
                            </a:rPr>
                            <m:t>𝐹</m:t>
                          </m:r>
                        </m:e>
                        <m:sub>
                          <m:r>
                            <a:rPr lang="nl-BE" sz="4000" i="1">
                              <a:solidFill>
                                <a:schemeClr val="tx1">
                                  <a:lumMod val="95000"/>
                                </a:schemeClr>
                              </a:solidFill>
                              <a:latin typeface="Cambria Math" panose="02040503050406030204" pitchFamily="18" charset="0"/>
                            </a:rPr>
                            <m:t>𝑐𝑝</m:t>
                          </m:r>
                        </m:sub>
                      </m:sSub>
                      <m:r>
                        <a:rPr lang="nl-BE" sz="4000" i="1">
                          <a:solidFill>
                            <a:schemeClr val="tx1">
                              <a:lumMod val="95000"/>
                            </a:schemeClr>
                          </a:solidFill>
                          <a:latin typeface="Cambria Math" panose="02040503050406030204" pitchFamily="18" charset="0"/>
                        </a:rPr>
                        <m:t>=</m:t>
                      </m:r>
                      <m:f>
                        <m:fPr>
                          <m:ctrlPr>
                            <a:rPr lang="nl-BE" sz="4000" i="1">
                              <a:solidFill>
                                <a:schemeClr val="tx1">
                                  <a:lumMod val="95000"/>
                                </a:schemeClr>
                              </a:solidFill>
                              <a:latin typeface="Cambria Math" panose="02040503050406030204" pitchFamily="18" charset="0"/>
                            </a:rPr>
                          </m:ctrlPr>
                        </m:fPr>
                        <m:num>
                          <m:r>
                            <a:rPr lang="nl-BE" sz="4000" i="1">
                              <a:solidFill>
                                <a:schemeClr val="tx1">
                                  <a:lumMod val="95000"/>
                                </a:schemeClr>
                              </a:solidFill>
                              <a:latin typeface="Cambria Math" panose="02040503050406030204" pitchFamily="18" charset="0"/>
                            </a:rPr>
                            <m:t>𝑚</m:t>
                          </m:r>
                          <m:r>
                            <a:rPr lang="nl-BE" sz="4000" i="1">
                              <a:solidFill>
                                <a:schemeClr val="tx1">
                                  <a:lumMod val="95000"/>
                                </a:schemeClr>
                              </a:solidFill>
                              <a:latin typeface="Cambria Math" panose="02040503050406030204" pitchFamily="18" charset="0"/>
                            </a:rPr>
                            <m:t>.</m:t>
                          </m:r>
                          <m:r>
                            <a:rPr lang="nl-BE" sz="4000" i="1">
                              <a:solidFill>
                                <a:schemeClr val="tx1">
                                  <a:lumMod val="95000"/>
                                </a:schemeClr>
                              </a:solidFill>
                              <a:latin typeface="Cambria Math" panose="02040503050406030204" pitchFamily="18" charset="0"/>
                            </a:rPr>
                            <m:t>𝑣</m:t>
                          </m:r>
                          <m:r>
                            <a:rPr lang="nl-BE" sz="4000" i="1">
                              <a:solidFill>
                                <a:schemeClr val="tx1">
                                  <a:lumMod val="95000"/>
                                </a:schemeClr>
                              </a:solidFill>
                              <a:latin typeface="Cambria Math" panose="02040503050406030204" pitchFamily="18" charset="0"/>
                            </a:rPr>
                            <m:t>²</m:t>
                          </m:r>
                        </m:num>
                        <m:den>
                          <m:r>
                            <a:rPr lang="nl-BE" sz="4000" b="0" i="1" smtClean="0">
                              <a:solidFill>
                                <a:schemeClr val="tx1">
                                  <a:lumMod val="95000"/>
                                </a:schemeClr>
                              </a:solidFill>
                              <a:latin typeface="Cambria Math" panose="02040503050406030204" pitchFamily="18" charset="0"/>
                            </a:rPr>
                            <m:t>𝑅</m:t>
                          </m:r>
                        </m:den>
                      </m:f>
                      <m:r>
                        <a:rPr lang="nl-BE" sz="4000" i="1">
                          <a:solidFill>
                            <a:schemeClr val="tx1">
                              <a:lumMod val="95000"/>
                            </a:schemeClr>
                          </a:solidFill>
                          <a:latin typeface="Cambria Math" panose="02040503050406030204" pitchFamily="18" charset="0"/>
                        </a:rPr>
                        <m:t>=</m:t>
                      </m:r>
                      <m:f>
                        <m:fPr>
                          <m:ctrlPr>
                            <a:rPr lang="nl-BE" sz="4000" i="1">
                              <a:solidFill>
                                <a:schemeClr val="tx1">
                                  <a:lumMod val="95000"/>
                                </a:schemeClr>
                              </a:solidFill>
                              <a:latin typeface="Cambria Math" panose="02040503050406030204" pitchFamily="18" charset="0"/>
                            </a:rPr>
                          </m:ctrlPr>
                        </m:fPr>
                        <m:num>
                          <m:r>
                            <a:rPr lang="nl-BE" sz="4000" i="1">
                              <a:solidFill>
                                <a:schemeClr val="tx1">
                                  <a:lumMod val="95000"/>
                                </a:schemeClr>
                              </a:solidFill>
                              <a:latin typeface="Cambria Math" panose="02040503050406030204" pitchFamily="18" charset="0"/>
                            </a:rPr>
                            <m:t>𝐺</m:t>
                          </m:r>
                          <m:r>
                            <a:rPr lang="nl-BE" sz="4000" i="1">
                              <a:solidFill>
                                <a:schemeClr val="tx1">
                                  <a:lumMod val="95000"/>
                                </a:schemeClr>
                              </a:solidFill>
                              <a:latin typeface="Cambria Math" panose="02040503050406030204" pitchFamily="18" charset="0"/>
                            </a:rPr>
                            <m:t>.</m:t>
                          </m:r>
                          <m:r>
                            <a:rPr lang="nl-BE" sz="4000" i="1">
                              <a:solidFill>
                                <a:schemeClr val="tx1">
                                  <a:lumMod val="95000"/>
                                </a:schemeClr>
                              </a:solidFill>
                              <a:latin typeface="Cambria Math" panose="02040503050406030204" pitchFamily="18" charset="0"/>
                            </a:rPr>
                            <m:t>𝑚</m:t>
                          </m:r>
                          <m:r>
                            <a:rPr lang="nl-BE" sz="4000" i="1">
                              <a:solidFill>
                                <a:schemeClr val="tx1">
                                  <a:lumMod val="95000"/>
                                </a:schemeClr>
                              </a:solidFill>
                              <a:latin typeface="Cambria Math" panose="02040503050406030204" pitchFamily="18" charset="0"/>
                            </a:rPr>
                            <m:t>.</m:t>
                          </m:r>
                          <m:sSub>
                            <m:sSubPr>
                              <m:ctrlPr>
                                <a:rPr lang="nl-BE" sz="4000" i="1">
                                  <a:solidFill>
                                    <a:schemeClr val="tx1">
                                      <a:lumMod val="95000"/>
                                    </a:schemeClr>
                                  </a:solidFill>
                                  <a:latin typeface="Cambria Math" panose="02040503050406030204" pitchFamily="18" charset="0"/>
                                </a:rPr>
                              </m:ctrlPr>
                            </m:sSubPr>
                            <m:e>
                              <m:r>
                                <a:rPr lang="nl-BE" sz="4000" i="1">
                                  <a:solidFill>
                                    <a:schemeClr val="tx1">
                                      <a:lumMod val="95000"/>
                                    </a:schemeClr>
                                  </a:solidFill>
                                  <a:latin typeface="Cambria Math" panose="02040503050406030204" pitchFamily="18" charset="0"/>
                                </a:rPr>
                                <m:t>𝑚</m:t>
                              </m:r>
                            </m:e>
                            <m:sub>
                              <m:r>
                                <a:rPr lang="nl-BE" sz="4000" i="1">
                                  <a:solidFill>
                                    <a:schemeClr val="tx1">
                                      <a:lumMod val="95000"/>
                                    </a:schemeClr>
                                  </a:solidFill>
                                  <a:latin typeface="Cambria Math" panose="02040503050406030204" pitchFamily="18" charset="0"/>
                                </a:rPr>
                                <m:t>𝐴</m:t>
                              </m:r>
                            </m:sub>
                          </m:sSub>
                        </m:num>
                        <m:den>
                          <m:r>
                            <a:rPr lang="nl-BE" sz="4000" b="0" i="1" smtClean="0">
                              <a:solidFill>
                                <a:schemeClr val="tx1">
                                  <a:lumMod val="95000"/>
                                </a:schemeClr>
                              </a:solidFill>
                              <a:latin typeface="Cambria Math" panose="02040503050406030204" pitchFamily="18" charset="0"/>
                            </a:rPr>
                            <m:t>𝑅</m:t>
                          </m:r>
                          <m:r>
                            <a:rPr lang="nl-BE" sz="4000" i="1">
                              <a:solidFill>
                                <a:schemeClr val="tx1">
                                  <a:lumMod val="95000"/>
                                </a:schemeClr>
                              </a:solidFill>
                              <a:latin typeface="Cambria Math" panose="02040503050406030204" pitchFamily="18" charset="0"/>
                            </a:rPr>
                            <m:t>²</m:t>
                          </m:r>
                        </m:den>
                      </m:f>
                    </m:oMath>
                  </m:oMathPara>
                </a14:m>
                <a:endParaRPr lang="nl-BE" sz="4000" dirty="0">
                  <a:solidFill>
                    <a:schemeClr val="tx1">
                      <a:lumMod val="95000"/>
                    </a:schemeClr>
                  </a:solidFill>
                </a:endParaRPr>
              </a:p>
            </p:txBody>
          </p:sp>
        </mc:Choice>
        <mc:Fallback xmlns="">
          <p:sp>
            <p:nvSpPr>
              <p:cNvPr id="6146" name="Object 4"/>
              <p:cNvSpPr txBox="1">
                <a:spLocks noRot="1" noChangeAspect="1" noMove="1" noResize="1" noEditPoints="1" noAdjustHandles="1" noChangeArrowheads="1" noChangeShapeType="1" noTextEdit="1"/>
              </p:cNvSpPr>
              <p:nvPr>
                <p:ph sz="quarter" idx="2"/>
              </p:nvPr>
            </p:nvSpPr>
            <p:spPr bwMode="auto">
              <a:xfrm>
                <a:off x="3935413" y="3309938"/>
                <a:ext cx="5760987" cy="2279302"/>
              </a:xfrm>
              <a:prstGeom prst="rect">
                <a:avLst/>
              </a:prstGeom>
              <a:blipFill>
                <a:blip r:embed="rId2"/>
                <a:stretch>
                  <a:fillRect/>
                </a:stretch>
              </a:blipFill>
            </p:spPr>
            <p:txBody>
              <a:bodyPr/>
              <a:lstStyle/>
              <a:p>
                <a:r>
                  <a:rPr lang="nl-BE">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p:txBody>
          <a:bodyPr/>
          <a:lstStyle/>
          <a:p>
            <a:pPr eaLnBrk="1" hangingPunct="1">
              <a:defRPr/>
            </a:pPr>
            <a:r>
              <a:rPr lang="nl-BE" dirty="0"/>
              <a:t>Opgave 1</a:t>
            </a:r>
            <a:endParaRPr lang="nl-NL" dirty="0"/>
          </a:p>
        </p:txBody>
      </p:sp>
      <p:sp>
        <p:nvSpPr>
          <p:cNvPr id="46083" name="Rectangle 3"/>
          <p:cNvSpPr>
            <a:spLocks noGrp="1" noRot="1" noChangeArrowheads="1"/>
          </p:cNvSpPr>
          <p:nvPr>
            <p:ph idx="1"/>
          </p:nvPr>
        </p:nvSpPr>
        <p:spPr>
          <a:xfrm>
            <a:off x="407368" y="1825625"/>
            <a:ext cx="11449272" cy="4351338"/>
          </a:xfrm>
        </p:spPr>
        <p:txBody>
          <a:bodyPr>
            <a:normAutofit/>
          </a:bodyPr>
          <a:lstStyle/>
          <a:p>
            <a:pPr eaLnBrk="1" hangingPunct="1">
              <a:defRPr/>
            </a:pPr>
            <a:r>
              <a:rPr lang="nl-BE" sz="3200" dirty="0"/>
              <a:t>Bereken op welke hoogte een geostationaire satelliet gelanceerd moet worden.</a:t>
            </a:r>
            <a:br>
              <a:rPr lang="nl-BE" sz="3200" dirty="0"/>
            </a:br>
            <a:br>
              <a:rPr lang="nl-BE" sz="3200" dirty="0"/>
            </a:br>
            <a:r>
              <a:rPr lang="nl-BE" sz="3200" u="sng" dirty="0"/>
              <a:t>geostationaire satelliet</a:t>
            </a:r>
            <a:r>
              <a:rPr lang="nl-BE" sz="3200" dirty="0"/>
              <a:t> </a:t>
            </a:r>
            <a:r>
              <a:rPr lang="nl-BE" sz="3200" dirty="0">
                <a:latin typeface="Arial"/>
                <a:cs typeface="Arial"/>
              </a:rPr>
              <a:t>→ </a:t>
            </a:r>
            <a:r>
              <a:rPr lang="nl-BE" sz="3200" dirty="0"/>
              <a:t>blijft steeds boven zelfde plaats op aarde </a:t>
            </a:r>
            <a:r>
              <a:rPr lang="nl-BE" sz="3200" dirty="0">
                <a:latin typeface="Arial"/>
              </a:rPr>
              <a:t>→</a:t>
            </a:r>
            <a:r>
              <a:rPr lang="nl-BE" sz="3200" dirty="0"/>
              <a:t> cirkelt rond met zelfde periode als aardrotatie.</a:t>
            </a:r>
            <a:endParaRPr lang="nl-NL" sz="3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4B278-D399-548F-42A4-CEFB35D6C5F4}"/>
            </a:ext>
          </a:extLst>
        </p:cNvPr>
        <p:cNvGrpSpPr/>
        <p:nvPr/>
      </p:nvGrpSpPr>
      <p:grpSpPr>
        <a:xfrm>
          <a:off x="0" y="0"/>
          <a:ext cx="0" cy="0"/>
          <a:chOff x="0" y="0"/>
          <a:chExt cx="0" cy="0"/>
        </a:xfrm>
      </p:grpSpPr>
      <p:sp>
        <p:nvSpPr>
          <p:cNvPr id="46082" name="Rectangle 2">
            <a:extLst>
              <a:ext uri="{FF2B5EF4-FFF2-40B4-BE49-F238E27FC236}">
                <a16:creationId xmlns:a16="http://schemas.microsoft.com/office/drawing/2014/main" id="{275F54E0-49C7-FE79-1E6B-AF71E75EBDC4}"/>
              </a:ext>
            </a:extLst>
          </p:cNvPr>
          <p:cNvSpPr>
            <a:spLocks noGrp="1" noRot="1" noChangeArrowheads="1"/>
          </p:cNvSpPr>
          <p:nvPr>
            <p:ph type="title"/>
          </p:nvPr>
        </p:nvSpPr>
        <p:spPr>
          <a:xfrm>
            <a:off x="1825625" y="-243408"/>
            <a:ext cx="8540750" cy="1143000"/>
          </a:xfrm>
        </p:spPr>
        <p:txBody>
          <a:bodyPr/>
          <a:lstStyle/>
          <a:p>
            <a:pPr eaLnBrk="1" hangingPunct="1">
              <a:defRPr/>
            </a:pPr>
            <a:r>
              <a:rPr lang="nl-BE" dirty="0"/>
              <a:t>Opgave 1</a:t>
            </a:r>
            <a:endParaRPr lang="nl-NL" dirty="0"/>
          </a:p>
        </p:txBody>
      </p:sp>
      <mc:AlternateContent xmlns:mc="http://schemas.openxmlformats.org/markup-compatibility/2006" xmlns:a14="http://schemas.microsoft.com/office/drawing/2010/main">
        <mc:Choice Requires="a14">
          <p:sp>
            <p:nvSpPr>
              <p:cNvPr id="46083" name="Rectangle 3">
                <a:extLst>
                  <a:ext uri="{FF2B5EF4-FFF2-40B4-BE49-F238E27FC236}">
                    <a16:creationId xmlns:a16="http://schemas.microsoft.com/office/drawing/2014/main" id="{8F8CD75E-BB90-1074-8D49-0A41D37BE5A3}"/>
                  </a:ext>
                </a:extLst>
              </p:cNvPr>
              <p:cNvSpPr>
                <a:spLocks noGrp="1" noRot="1" noChangeArrowheads="1"/>
              </p:cNvSpPr>
              <p:nvPr>
                <p:ph idx="1"/>
              </p:nvPr>
            </p:nvSpPr>
            <p:spPr>
              <a:xfrm>
                <a:off x="407368" y="764704"/>
                <a:ext cx="11017224" cy="5958408"/>
              </a:xfrm>
            </p:spPr>
            <p:txBody>
              <a:bodyPr>
                <a:normAutofit/>
              </a:bodyPr>
              <a:lstStyle/>
              <a:p>
                <a:pPr eaLnBrk="1" hangingPunct="1">
                  <a:defRPr/>
                </a:pPr>
                <a:r>
                  <a:rPr lang="nl-BE" sz="2400" dirty="0"/>
                  <a:t>Bereken op welke hoogte een geostationaire satelliet gelanceerd moet worden.</a:t>
                </a:r>
                <a:br>
                  <a:rPr lang="nl-BE" sz="2400" dirty="0"/>
                </a:br>
                <a:r>
                  <a:rPr lang="nl-BE" sz="2400" u="sng" dirty="0"/>
                  <a:t>geostationaire satelliet</a:t>
                </a:r>
                <a:r>
                  <a:rPr lang="nl-BE" sz="2400" dirty="0"/>
                  <a:t> </a:t>
                </a:r>
                <a:r>
                  <a:rPr lang="nl-BE" sz="2400" dirty="0">
                    <a:latin typeface="Arial"/>
                    <a:cs typeface="Arial"/>
                  </a:rPr>
                  <a:t>→ </a:t>
                </a:r>
                <a:r>
                  <a:rPr lang="nl-BE" sz="2400" dirty="0"/>
                  <a:t>blijft steeds boven zelfde plaats op aarde </a:t>
                </a:r>
                <a:r>
                  <a:rPr lang="nl-BE" sz="2400" dirty="0">
                    <a:latin typeface="Arial"/>
                  </a:rPr>
                  <a:t>→</a:t>
                </a:r>
                <a:r>
                  <a:rPr lang="nl-BE" sz="2400" dirty="0"/>
                  <a:t> cirkelt rond met zelfde periode als aardrotatie.</a:t>
                </a:r>
              </a:p>
              <a:p>
                <a:pPr eaLnBrk="1" hangingPunct="1">
                  <a:defRPr/>
                </a:pPr>
                <a:endParaRPr lang="nl-BE" sz="1800" dirty="0"/>
              </a:p>
              <a:p>
                <a14:m>
                  <m:oMath xmlns:m="http://schemas.openxmlformats.org/officeDocument/2006/math">
                    <m:sSub>
                      <m:sSubPr>
                        <m:ctrlPr>
                          <a:rPr lang="nl-BE" sz="2100" i="1">
                            <a:latin typeface="Cambria Math" panose="02040503050406030204" pitchFamily="18" charset="0"/>
                          </a:rPr>
                        </m:ctrlPr>
                      </m:sSubPr>
                      <m:e>
                        <m:r>
                          <a:rPr lang="nl-BE" sz="2100" i="1">
                            <a:latin typeface="Cambria Math" panose="02040503050406030204" pitchFamily="18" charset="0"/>
                          </a:rPr>
                          <m:t>𝐹</m:t>
                        </m:r>
                      </m:e>
                      <m:sub>
                        <m:r>
                          <a:rPr lang="nl-BE" sz="2100" i="1">
                            <a:latin typeface="Cambria Math" panose="02040503050406030204" pitchFamily="18" charset="0"/>
                          </a:rPr>
                          <m:t>𝑐𝑝</m:t>
                        </m:r>
                      </m:sub>
                    </m:sSub>
                    <m:r>
                      <a:rPr lang="nl-BE" sz="2100" i="1">
                        <a:latin typeface="Cambria Math" panose="02040503050406030204" pitchFamily="18" charset="0"/>
                      </a:rPr>
                      <m:t>=</m:t>
                    </m:r>
                    <m:sSub>
                      <m:sSubPr>
                        <m:ctrlPr>
                          <a:rPr lang="nl-BE" sz="2100" i="1">
                            <a:latin typeface="Cambria Math" panose="02040503050406030204" pitchFamily="18" charset="0"/>
                          </a:rPr>
                        </m:ctrlPr>
                      </m:sSubPr>
                      <m:e>
                        <m:r>
                          <a:rPr lang="nl-BE" sz="2100" i="1">
                            <a:latin typeface="Cambria Math" panose="02040503050406030204" pitchFamily="18" charset="0"/>
                          </a:rPr>
                          <m:t>𝐹</m:t>
                        </m:r>
                      </m:e>
                      <m:sub>
                        <m:r>
                          <a:rPr lang="nl-BE" sz="2100" i="1">
                            <a:latin typeface="Cambria Math" panose="02040503050406030204" pitchFamily="18" charset="0"/>
                          </a:rPr>
                          <m:t>𝑔</m:t>
                        </m:r>
                      </m:sub>
                    </m:sSub>
                  </m:oMath>
                </a14:m>
                <a:endParaRPr lang="nl-BE" sz="2100" dirty="0"/>
              </a:p>
              <a:p>
                <a14:m>
                  <m:oMath xmlns:m="http://schemas.openxmlformats.org/officeDocument/2006/math">
                    <m:f>
                      <m:fPr>
                        <m:ctrlPr>
                          <a:rPr lang="nl-BE" sz="2100" i="1">
                            <a:latin typeface="Cambria Math" panose="02040503050406030204" pitchFamily="18" charset="0"/>
                          </a:rPr>
                        </m:ctrlPr>
                      </m:fPr>
                      <m:num>
                        <m:r>
                          <a:rPr lang="nl-BE" sz="2100" i="1">
                            <a:latin typeface="Cambria Math" panose="02040503050406030204" pitchFamily="18" charset="0"/>
                          </a:rPr>
                          <m:t>𝑚</m:t>
                        </m:r>
                        <m:r>
                          <a:rPr lang="nl-BE" sz="2100" i="1">
                            <a:latin typeface="Cambria Math" panose="02040503050406030204" pitchFamily="18" charset="0"/>
                          </a:rPr>
                          <m:t>.</m:t>
                        </m:r>
                        <m:r>
                          <a:rPr lang="nl-BE" sz="2100" i="1">
                            <a:latin typeface="Cambria Math" panose="02040503050406030204" pitchFamily="18" charset="0"/>
                          </a:rPr>
                          <m:t>𝑣</m:t>
                        </m:r>
                        <m:r>
                          <a:rPr lang="nl-BE" sz="2100" i="1">
                            <a:latin typeface="Cambria Math" panose="02040503050406030204" pitchFamily="18" charset="0"/>
                          </a:rPr>
                          <m:t>²</m:t>
                        </m:r>
                      </m:num>
                      <m:den>
                        <m:r>
                          <a:rPr lang="nl-BE" sz="2100" b="0" i="1" smtClean="0">
                            <a:latin typeface="Cambria Math" panose="02040503050406030204" pitchFamily="18" charset="0"/>
                          </a:rPr>
                          <m:t>𝑅</m:t>
                        </m:r>
                      </m:den>
                    </m:f>
                    <m:r>
                      <a:rPr lang="nl-BE" sz="2100" i="1">
                        <a:latin typeface="Cambria Math" panose="02040503050406030204" pitchFamily="18" charset="0"/>
                      </a:rPr>
                      <m:t>=</m:t>
                    </m:r>
                    <m:r>
                      <a:rPr lang="nl-BE" sz="2100" i="1">
                        <a:latin typeface="Cambria Math" panose="02040503050406030204" pitchFamily="18" charset="0"/>
                      </a:rPr>
                      <m:t>𝐺</m:t>
                    </m:r>
                    <m:f>
                      <m:fPr>
                        <m:ctrlPr>
                          <a:rPr lang="nl-BE" sz="2100" i="1">
                            <a:latin typeface="Cambria Math" panose="02040503050406030204" pitchFamily="18" charset="0"/>
                          </a:rPr>
                        </m:ctrlPr>
                      </m:fPr>
                      <m:num>
                        <m:r>
                          <a:rPr lang="nl-BE" sz="2100" i="1">
                            <a:latin typeface="Cambria Math" panose="02040503050406030204" pitchFamily="18" charset="0"/>
                          </a:rPr>
                          <m:t>𝑚</m:t>
                        </m:r>
                        <m:r>
                          <a:rPr lang="nl-BE" sz="2100" i="1">
                            <a:latin typeface="Cambria Math" panose="02040503050406030204" pitchFamily="18" charset="0"/>
                          </a:rPr>
                          <m:t>.</m:t>
                        </m:r>
                        <m:r>
                          <a:rPr lang="nl-BE" sz="2100" i="1">
                            <a:latin typeface="Cambria Math" panose="02040503050406030204" pitchFamily="18" charset="0"/>
                          </a:rPr>
                          <m:t>𝑚</m:t>
                        </m:r>
                        <m:r>
                          <a:rPr lang="nl-BE" sz="2100" i="1">
                            <a:latin typeface="Cambria Math" panose="02040503050406030204" pitchFamily="18" charset="0"/>
                          </a:rPr>
                          <m:t>′</m:t>
                        </m:r>
                      </m:num>
                      <m:den>
                        <m:r>
                          <a:rPr lang="nl-BE" sz="2100" b="0" i="1" smtClean="0">
                            <a:latin typeface="Cambria Math" panose="02040503050406030204" pitchFamily="18" charset="0"/>
                          </a:rPr>
                          <m:t>𝑅</m:t>
                        </m:r>
                        <m:r>
                          <a:rPr lang="nl-BE" sz="2100" i="1">
                            <a:latin typeface="Cambria Math" panose="02040503050406030204" pitchFamily="18" charset="0"/>
                          </a:rPr>
                          <m:t>²</m:t>
                        </m:r>
                      </m:den>
                    </m:f>
                  </m:oMath>
                </a14:m>
                <a:endParaRPr lang="nl-BE" sz="2100" dirty="0"/>
              </a:p>
              <a:p>
                <a14:m>
                  <m:oMath xmlns:m="http://schemas.openxmlformats.org/officeDocument/2006/math">
                    <m:sSup>
                      <m:sSupPr>
                        <m:ctrlPr>
                          <a:rPr lang="nl-BE" sz="2100" i="1">
                            <a:latin typeface="Cambria Math" panose="02040503050406030204" pitchFamily="18" charset="0"/>
                          </a:rPr>
                        </m:ctrlPr>
                      </m:sSupPr>
                      <m:e>
                        <m:r>
                          <a:rPr lang="nl-BE" sz="2100" i="1">
                            <a:latin typeface="Cambria Math" panose="02040503050406030204" pitchFamily="18" charset="0"/>
                          </a:rPr>
                          <m:t>𝑣</m:t>
                        </m:r>
                      </m:e>
                      <m:sup>
                        <m:r>
                          <a:rPr lang="nl-BE" sz="2100" i="1">
                            <a:latin typeface="Cambria Math" panose="02040503050406030204" pitchFamily="18" charset="0"/>
                          </a:rPr>
                          <m:t>2</m:t>
                        </m:r>
                      </m:sup>
                    </m:sSup>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𝐺</m:t>
                        </m:r>
                        <m:r>
                          <a:rPr lang="nl-BE" sz="2100" i="1">
                            <a:latin typeface="Cambria Math" panose="02040503050406030204" pitchFamily="18" charset="0"/>
                          </a:rPr>
                          <m:t>.</m:t>
                        </m:r>
                        <m:sSup>
                          <m:sSupPr>
                            <m:ctrlPr>
                              <a:rPr lang="nl-BE" sz="2100" i="1">
                                <a:latin typeface="Cambria Math" panose="02040503050406030204" pitchFamily="18" charset="0"/>
                              </a:rPr>
                            </m:ctrlPr>
                          </m:sSupPr>
                          <m:e>
                            <m:r>
                              <a:rPr lang="nl-BE" sz="2100" i="1">
                                <a:latin typeface="Cambria Math" panose="02040503050406030204" pitchFamily="18" charset="0"/>
                              </a:rPr>
                              <m:t>𝑚</m:t>
                            </m:r>
                          </m:e>
                          <m:sup>
                            <m:r>
                              <a:rPr lang="nl-BE" sz="2100" i="1">
                                <a:latin typeface="Cambria Math" panose="02040503050406030204" pitchFamily="18" charset="0"/>
                              </a:rPr>
                              <m:t>′</m:t>
                            </m:r>
                          </m:sup>
                        </m:sSup>
                      </m:num>
                      <m:den>
                        <m:r>
                          <a:rPr lang="nl-BE" sz="2100" b="0" i="1" smtClean="0">
                            <a:latin typeface="Cambria Math" panose="02040503050406030204" pitchFamily="18" charset="0"/>
                          </a:rPr>
                          <m:t>𝑅</m:t>
                        </m:r>
                      </m:den>
                    </m:f>
                    <m:r>
                      <a:rPr lang="nl-BE" sz="2100" i="1">
                        <a:latin typeface="Cambria Math" panose="02040503050406030204" pitchFamily="18" charset="0"/>
                      </a:rPr>
                      <m:t>                        </m:t>
                    </m:r>
                    <m:r>
                      <a:rPr lang="nl-BE" sz="2100" i="1">
                        <a:latin typeface="Cambria Math" panose="02040503050406030204" pitchFamily="18" charset="0"/>
                      </a:rPr>
                      <m:t>𝑣</m:t>
                    </m:r>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2.</m:t>
                        </m:r>
                        <m:r>
                          <a:rPr lang="nl-BE" sz="2100" i="1">
                            <a:latin typeface="Cambria Math" panose="02040503050406030204" pitchFamily="18" charset="0"/>
                          </a:rPr>
                          <m:t>𝜋</m:t>
                        </m:r>
                        <m:r>
                          <a:rPr lang="nl-BE" sz="2100" i="1">
                            <a:latin typeface="Cambria Math" panose="02040503050406030204" pitchFamily="18" charset="0"/>
                          </a:rPr>
                          <m:t>.</m:t>
                        </m:r>
                        <m:r>
                          <a:rPr lang="nl-BE" sz="2100" b="0" i="1" smtClean="0">
                            <a:latin typeface="Cambria Math" panose="02040503050406030204" pitchFamily="18" charset="0"/>
                          </a:rPr>
                          <m:t>𝑅</m:t>
                        </m:r>
                      </m:num>
                      <m:den>
                        <m:r>
                          <a:rPr lang="nl-BE" sz="2100" i="1">
                            <a:latin typeface="Cambria Math" panose="02040503050406030204" pitchFamily="18" charset="0"/>
                          </a:rPr>
                          <m:t>𝑇</m:t>
                        </m:r>
                      </m:den>
                    </m:f>
                    <m:r>
                      <a:rPr lang="nl-BE" sz="2100" i="1">
                        <a:latin typeface="Cambria Math" panose="02040503050406030204" pitchFamily="18" charset="0"/>
                      </a:rPr>
                      <m:t>      </m:t>
                    </m:r>
                    <m:sSup>
                      <m:sSupPr>
                        <m:ctrlPr>
                          <a:rPr lang="nl-BE" sz="2100" i="1">
                            <a:latin typeface="Cambria Math" panose="02040503050406030204" pitchFamily="18" charset="0"/>
                          </a:rPr>
                        </m:ctrlPr>
                      </m:sSupPr>
                      <m:e>
                        <m:r>
                          <a:rPr lang="nl-BE" sz="2100" i="1">
                            <a:latin typeface="Cambria Math" panose="02040503050406030204" pitchFamily="18" charset="0"/>
                          </a:rPr>
                          <m:t>𝑣</m:t>
                        </m:r>
                      </m:e>
                      <m:sup>
                        <m:r>
                          <a:rPr lang="nl-BE" sz="2100" i="1">
                            <a:latin typeface="Cambria Math" panose="02040503050406030204" pitchFamily="18" charset="0"/>
                          </a:rPr>
                          <m:t>2</m:t>
                        </m:r>
                      </m:sup>
                    </m:sSup>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4.</m:t>
                        </m:r>
                        <m:r>
                          <a:rPr lang="nl-BE" sz="2100" i="1">
                            <a:latin typeface="Cambria Math" panose="02040503050406030204" pitchFamily="18" charset="0"/>
                          </a:rPr>
                          <m:t>𝜋</m:t>
                        </m:r>
                        <m:r>
                          <a:rPr lang="nl-BE" sz="2100" i="1">
                            <a:latin typeface="Cambria Math" panose="02040503050406030204" pitchFamily="18" charset="0"/>
                          </a:rPr>
                          <m:t>².</m:t>
                        </m:r>
                        <m:r>
                          <a:rPr lang="nl-BE" sz="2100" b="0" i="1" smtClean="0">
                            <a:latin typeface="Cambria Math" panose="02040503050406030204" pitchFamily="18" charset="0"/>
                          </a:rPr>
                          <m:t>𝑅</m:t>
                        </m:r>
                        <m:r>
                          <a:rPr lang="nl-BE" sz="2100" i="1">
                            <a:latin typeface="Cambria Math" panose="02040503050406030204" pitchFamily="18" charset="0"/>
                          </a:rPr>
                          <m:t>²</m:t>
                        </m:r>
                      </m:num>
                      <m:den>
                        <m:r>
                          <a:rPr lang="nl-BE" sz="2100" i="1">
                            <a:latin typeface="Cambria Math" panose="02040503050406030204" pitchFamily="18" charset="0"/>
                          </a:rPr>
                          <m:t>𝑇</m:t>
                        </m:r>
                        <m:r>
                          <a:rPr lang="nl-BE" sz="2100" i="1">
                            <a:latin typeface="Cambria Math" panose="02040503050406030204" pitchFamily="18" charset="0"/>
                          </a:rPr>
                          <m:t>²</m:t>
                        </m:r>
                      </m:den>
                    </m:f>
                    <m:r>
                      <a:rPr lang="nl-BE" sz="2100" i="1">
                        <a:latin typeface="Cambria Math" panose="02040503050406030204" pitchFamily="18" charset="0"/>
                      </a:rPr>
                      <m:t>  </m:t>
                    </m:r>
                  </m:oMath>
                </a14:m>
                <a:endParaRPr lang="nl-BE" sz="2100" dirty="0"/>
              </a:p>
              <a:p>
                <a:r>
                  <a:rPr lang="nl-BE" sz="2100" dirty="0"/>
                  <a:t> </a:t>
                </a:r>
              </a:p>
              <a:p>
                <a14:m>
                  <m:oMath xmlns:m="http://schemas.openxmlformats.org/officeDocument/2006/math">
                    <m:f>
                      <m:fPr>
                        <m:ctrlPr>
                          <a:rPr lang="nl-BE" sz="2100" i="1">
                            <a:latin typeface="Cambria Math" panose="02040503050406030204" pitchFamily="18" charset="0"/>
                          </a:rPr>
                        </m:ctrlPr>
                      </m:fPr>
                      <m:num>
                        <m:r>
                          <a:rPr lang="nl-BE" sz="2100" i="1">
                            <a:latin typeface="Cambria Math" panose="02040503050406030204" pitchFamily="18" charset="0"/>
                          </a:rPr>
                          <m:t>4.</m:t>
                        </m:r>
                        <m:r>
                          <a:rPr lang="nl-BE" sz="2100" i="1">
                            <a:latin typeface="Cambria Math" panose="02040503050406030204" pitchFamily="18" charset="0"/>
                          </a:rPr>
                          <m:t>𝜋</m:t>
                        </m:r>
                        <m:r>
                          <a:rPr lang="nl-BE" sz="2100" i="1">
                            <a:latin typeface="Cambria Math" panose="02040503050406030204" pitchFamily="18" charset="0"/>
                          </a:rPr>
                          <m:t>².</m:t>
                        </m:r>
                        <m:r>
                          <a:rPr lang="nl-BE" sz="2100" b="0" i="1" smtClean="0">
                            <a:latin typeface="Cambria Math" panose="02040503050406030204" pitchFamily="18" charset="0"/>
                          </a:rPr>
                          <m:t>𝑅</m:t>
                        </m:r>
                        <m:r>
                          <a:rPr lang="nl-BE" sz="2100" i="1">
                            <a:latin typeface="Cambria Math" panose="02040503050406030204" pitchFamily="18" charset="0"/>
                          </a:rPr>
                          <m:t>²</m:t>
                        </m:r>
                      </m:num>
                      <m:den>
                        <m:r>
                          <a:rPr lang="nl-BE" sz="2100" b="0" i="1" smtClean="0">
                            <a:latin typeface="Cambria Math" panose="02040503050406030204" pitchFamily="18" charset="0"/>
                          </a:rPr>
                          <m:t>𝑇</m:t>
                        </m:r>
                        <m:r>
                          <a:rPr lang="nl-BE" sz="2100" i="1">
                            <a:latin typeface="Cambria Math" panose="02040503050406030204" pitchFamily="18" charset="0"/>
                          </a:rPr>
                          <m:t>²</m:t>
                        </m:r>
                      </m:den>
                    </m:f>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𝐺</m:t>
                        </m:r>
                        <m:r>
                          <a:rPr lang="nl-BE" sz="2100" i="1">
                            <a:latin typeface="Cambria Math" panose="02040503050406030204" pitchFamily="18" charset="0"/>
                          </a:rPr>
                          <m:t>.</m:t>
                        </m:r>
                        <m:r>
                          <a:rPr lang="nl-BE" sz="2100" i="1">
                            <a:latin typeface="Cambria Math" panose="02040503050406030204" pitchFamily="18" charset="0"/>
                          </a:rPr>
                          <m:t>𝑚</m:t>
                        </m:r>
                        <m:r>
                          <a:rPr lang="nl-BE" sz="2100" i="1">
                            <a:latin typeface="Cambria Math" panose="02040503050406030204" pitchFamily="18" charset="0"/>
                          </a:rPr>
                          <m:t>′</m:t>
                        </m:r>
                      </m:num>
                      <m:den>
                        <m:r>
                          <a:rPr lang="nl-BE" sz="2100" b="0" i="1" smtClean="0">
                            <a:latin typeface="Cambria Math" panose="02040503050406030204" pitchFamily="18" charset="0"/>
                          </a:rPr>
                          <m:t>𝑅</m:t>
                        </m:r>
                      </m:den>
                    </m:f>
                  </m:oMath>
                </a14:m>
                <a:endParaRPr lang="nl-BE" sz="2100" dirty="0"/>
              </a:p>
              <a:p>
                <a14:m>
                  <m:oMath xmlns:m="http://schemas.openxmlformats.org/officeDocument/2006/math">
                    <m:sSup>
                      <m:sSupPr>
                        <m:ctrlPr>
                          <a:rPr lang="nl-BE" sz="2100" i="1">
                            <a:latin typeface="Cambria Math" panose="02040503050406030204" pitchFamily="18" charset="0"/>
                          </a:rPr>
                        </m:ctrlPr>
                      </m:sSupPr>
                      <m:e>
                        <m:r>
                          <a:rPr lang="nl-BE" sz="2100" b="0" i="1" smtClean="0">
                            <a:latin typeface="Cambria Math" panose="02040503050406030204" pitchFamily="18" charset="0"/>
                          </a:rPr>
                          <m:t>𝑅</m:t>
                        </m:r>
                      </m:e>
                      <m:sup>
                        <m:r>
                          <a:rPr lang="nl-BE" sz="2100" i="1">
                            <a:latin typeface="Cambria Math" panose="02040503050406030204" pitchFamily="18" charset="0"/>
                          </a:rPr>
                          <m:t>3</m:t>
                        </m:r>
                      </m:sup>
                    </m:sSup>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𝐺</m:t>
                        </m:r>
                        <m:r>
                          <a:rPr lang="nl-BE" sz="2100" i="1">
                            <a:latin typeface="Cambria Math" panose="02040503050406030204" pitchFamily="18" charset="0"/>
                          </a:rPr>
                          <m:t>.</m:t>
                        </m:r>
                        <m:sSup>
                          <m:sSupPr>
                            <m:ctrlPr>
                              <a:rPr lang="nl-BE" sz="2100" i="1">
                                <a:latin typeface="Cambria Math" panose="02040503050406030204" pitchFamily="18" charset="0"/>
                              </a:rPr>
                            </m:ctrlPr>
                          </m:sSupPr>
                          <m:e>
                            <m:r>
                              <a:rPr lang="nl-BE" sz="2100" i="1">
                                <a:latin typeface="Cambria Math" panose="02040503050406030204" pitchFamily="18" charset="0"/>
                              </a:rPr>
                              <m:t>𝑚</m:t>
                            </m:r>
                          </m:e>
                          <m:sup>
                            <m:r>
                              <a:rPr lang="nl-BE" sz="2100" i="1">
                                <a:latin typeface="Cambria Math" panose="02040503050406030204" pitchFamily="18" charset="0"/>
                              </a:rPr>
                              <m:t>′</m:t>
                            </m:r>
                          </m:sup>
                        </m:sSup>
                        <m:r>
                          <a:rPr lang="nl-BE" sz="2100" i="1">
                            <a:latin typeface="Cambria Math" panose="02040503050406030204" pitchFamily="18" charset="0"/>
                          </a:rPr>
                          <m:t>.</m:t>
                        </m:r>
                        <m:r>
                          <a:rPr lang="nl-BE" sz="2100" i="1">
                            <a:latin typeface="Cambria Math" panose="02040503050406030204" pitchFamily="18" charset="0"/>
                          </a:rPr>
                          <m:t>𝑇</m:t>
                        </m:r>
                        <m:r>
                          <a:rPr lang="nl-BE" sz="2100" i="1">
                            <a:latin typeface="Cambria Math" panose="02040503050406030204" pitchFamily="18" charset="0"/>
                          </a:rPr>
                          <m:t>²</m:t>
                        </m:r>
                      </m:num>
                      <m:den>
                        <m:r>
                          <a:rPr lang="nl-BE" sz="2100" i="1">
                            <a:latin typeface="Cambria Math" panose="02040503050406030204" pitchFamily="18" charset="0"/>
                          </a:rPr>
                          <m:t>4.</m:t>
                        </m:r>
                        <m:r>
                          <a:rPr lang="nl-BE" sz="2100" i="1">
                            <a:latin typeface="Cambria Math" panose="02040503050406030204" pitchFamily="18" charset="0"/>
                          </a:rPr>
                          <m:t>𝜋</m:t>
                        </m:r>
                        <m:r>
                          <a:rPr lang="nl-BE" sz="2100" i="1">
                            <a:latin typeface="Cambria Math" panose="02040503050406030204" pitchFamily="18" charset="0"/>
                          </a:rPr>
                          <m:t>²</m:t>
                        </m:r>
                      </m:den>
                    </m:f>
                  </m:oMath>
                </a14:m>
                <a:endParaRPr lang="nl-BE" sz="2100" dirty="0"/>
              </a:p>
              <a:p>
                <a:endParaRPr lang="nl-BE" sz="2100" dirty="0"/>
              </a:p>
              <a:p>
                <a:pPr eaLnBrk="1" hangingPunct="1">
                  <a:defRPr/>
                </a:pPr>
                <a:endParaRPr lang="nl-NL" sz="1800" dirty="0"/>
              </a:p>
            </p:txBody>
          </p:sp>
        </mc:Choice>
        <mc:Fallback xmlns="">
          <p:sp>
            <p:nvSpPr>
              <p:cNvPr id="46083" name="Rectangle 3">
                <a:extLst>
                  <a:ext uri="{FF2B5EF4-FFF2-40B4-BE49-F238E27FC236}">
                    <a16:creationId xmlns:a16="http://schemas.microsoft.com/office/drawing/2014/main" id="{8F8CD75E-BB90-1074-8D49-0A41D37BE5A3}"/>
                  </a:ext>
                </a:extLst>
              </p:cNvPr>
              <p:cNvSpPr>
                <a:spLocks noGrp="1" noRot="1" noChangeAspect="1" noMove="1" noResize="1" noEditPoints="1" noAdjustHandles="1" noChangeArrowheads="1" noChangeShapeType="1" noTextEdit="1"/>
              </p:cNvSpPr>
              <p:nvPr>
                <p:ph idx="1"/>
              </p:nvPr>
            </p:nvSpPr>
            <p:spPr>
              <a:xfrm>
                <a:off x="407368" y="764704"/>
                <a:ext cx="11017224" cy="5958408"/>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26846860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a:xfrm>
            <a:off x="1825625" y="-243408"/>
            <a:ext cx="8540750" cy="1143000"/>
          </a:xfrm>
        </p:spPr>
        <p:txBody>
          <a:bodyPr/>
          <a:lstStyle/>
          <a:p>
            <a:pPr eaLnBrk="1" hangingPunct="1">
              <a:defRPr/>
            </a:pPr>
            <a:r>
              <a:rPr lang="nl-BE" dirty="0"/>
              <a:t>Opgave 1</a:t>
            </a:r>
            <a:endParaRPr lang="nl-NL" dirty="0"/>
          </a:p>
        </p:txBody>
      </p:sp>
      <mc:AlternateContent xmlns:mc="http://schemas.openxmlformats.org/markup-compatibility/2006" xmlns:a14="http://schemas.microsoft.com/office/drawing/2010/main">
        <mc:Choice Requires="a14">
          <p:sp>
            <p:nvSpPr>
              <p:cNvPr id="46083" name="Rectangle 3"/>
              <p:cNvSpPr>
                <a:spLocks noGrp="1" noRot="1" noChangeArrowheads="1"/>
              </p:cNvSpPr>
              <p:nvPr>
                <p:ph idx="1"/>
              </p:nvPr>
            </p:nvSpPr>
            <p:spPr>
              <a:xfrm>
                <a:off x="407368" y="764704"/>
                <a:ext cx="11017224" cy="5958408"/>
              </a:xfrm>
            </p:spPr>
            <p:txBody>
              <a:bodyPr>
                <a:normAutofit fontScale="85000" lnSpcReduction="10000"/>
              </a:bodyPr>
              <a:lstStyle/>
              <a:p>
                <a:pPr eaLnBrk="1" hangingPunct="1">
                  <a:defRPr/>
                </a:pPr>
                <a:r>
                  <a:rPr lang="nl-BE" sz="2400" dirty="0"/>
                  <a:t>Bereken op welke hoogte een geostationaire satelliet gelanceerd moet worden.</a:t>
                </a:r>
                <a:br>
                  <a:rPr lang="nl-BE" sz="2400" dirty="0"/>
                </a:br>
                <a:r>
                  <a:rPr lang="nl-BE" sz="2400" u="sng" dirty="0"/>
                  <a:t>geostationaire satelliet</a:t>
                </a:r>
                <a:r>
                  <a:rPr lang="nl-BE" sz="2400" dirty="0"/>
                  <a:t> </a:t>
                </a:r>
                <a:r>
                  <a:rPr lang="nl-BE" sz="2400" dirty="0">
                    <a:latin typeface="Arial"/>
                    <a:cs typeface="Arial"/>
                  </a:rPr>
                  <a:t>→ </a:t>
                </a:r>
                <a:r>
                  <a:rPr lang="nl-BE" sz="2400" dirty="0"/>
                  <a:t>blijft steeds boven zelfde plaats op aarde </a:t>
                </a:r>
                <a:r>
                  <a:rPr lang="nl-BE" sz="2400" dirty="0">
                    <a:latin typeface="Arial"/>
                  </a:rPr>
                  <a:t>→</a:t>
                </a:r>
                <a:r>
                  <a:rPr lang="nl-BE" sz="2400" dirty="0"/>
                  <a:t> cirkelt rond met zelfde periode als aardrotatie.</a:t>
                </a:r>
              </a:p>
              <a:p>
                <a:pPr eaLnBrk="1" hangingPunct="1">
                  <a:defRPr/>
                </a:pPr>
                <a:endParaRPr lang="nl-BE" sz="1800" dirty="0"/>
              </a:p>
              <a:p>
                <a14:m>
                  <m:oMath xmlns:m="http://schemas.openxmlformats.org/officeDocument/2006/math">
                    <m:sSub>
                      <m:sSubPr>
                        <m:ctrlPr>
                          <a:rPr lang="nl-BE" sz="2100" i="1">
                            <a:latin typeface="Cambria Math" panose="02040503050406030204" pitchFamily="18" charset="0"/>
                          </a:rPr>
                        </m:ctrlPr>
                      </m:sSubPr>
                      <m:e>
                        <m:r>
                          <a:rPr lang="nl-BE" sz="2100" i="1">
                            <a:latin typeface="Cambria Math" panose="02040503050406030204" pitchFamily="18" charset="0"/>
                          </a:rPr>
                          <m:t>𝐹</m:t>
                        </m:r>
                      </m:e>
                      <m:sub>
                        <m:r>
                          <a:rPr lang="nl-BE" sz="2100" i="1">
                            <a:latin typeface="Cambria Math" panose="02040503050406030204" pitchFamily="18" charset="0"/>
                          </a:rPr>
                          <m:t>𝑐𝑝</m:t>
                        </m:r>
                      </m:sub>
                    </m:sSub>
                    <m:r>
                      <a:rPr lang="nl-BE" sz="2100" i="1">
                        <a:latin typeface="Cambria Math" panose="02040503050406030204" pitchFamily="18" charset="0"/>
                      </a:rPr>
                      <m:t>=</m:t>
                    </m:r>
                    <m:sSub>
                      <m:sSubPr>
                        <m:ctrlPr>
                          <a:rPr lang="nl-BE" sz="2100" i="1">
                            <a:latin typeface="Cambria Math" panose="02040503050406030204" pitchFamily="18" charset="0"/>
                          </a:rPr>
                        </m:ctrlPr>
                      </m:sSubPr>
                      <m:e>
                        <m:r>
                          <a:rPr lang="nl-BE" sz="2100" i="1">
                            <a:latin typeface="Cambria Math" panose="02040503050406030204" pitchFamily="18" charset="0"/>
                          </a:rPr>
                          <m:t>𝐹</m:t>
                        </m:r>
                      </m:e>
                      <m:sub>
                        <m:r>
                          <a:rPr lang="nl-BE" sz="2100" i="1">
                            <a:latin typeface="Cambria Math" panose="02040503050406030204" pitchFamily="18" charset="0"/>
                          </a:rPr>
                          <m:t>𝑔</m:t>
                        </m:r>
                      </m:sub>
                    </m:sSub>
                  </m:oMath>
                </a14:m>
                <a:endParaRPr lang="nl-BE" sz="2100" dirty="0"/>
              </a:p>
              <a:p>
                <a14:m>
                  <m:oMath xmlns:m="http://schemas.openxmlformats.org/officeDocument/2006/math">
                    <m:f>
                      <m:fPr>
                        <m:ctrlPr>
                          <a:rPr lang="nl-BE" sz="2100" i="1">
                            <a:latin typeface="Cambria Math" panose="02040503050406030204" pitchFamily="18" charset="0"/>
                          </a:rPr>
                        </m:ctrlPr>
                      </m:fPr>
                      <m:num>
                        <m:r>
                          <a:rPr lang="nl-BE" sz="2100" i="1">
                            <a:latin typeface="Cambria Math" panose="02040503050406030204" pitchFamily="18" charset="0"/>
                          </a:rPr>
                          <m:t>𝑚</m:t>
                        </m:r>
                        <m:r>
                          <a:rPr lang="nl-BE" sz="2100" i="1">
                            <a:latin typeface="Cambria Math" panose="02040503050406030204" pitchFamily="18" charset="0"/>
                          </a:rPr>
                          <m:t>.</m:t>
                        </m:r>
                        <m:r>
                          <a:rPr lang="nl-BE" sz="2100" i="1">
                            <a:latin typeface="Cambria Math" panose="02040503050406030204" pitchFamily="18" charset="0"/>
                          </a:rPr>
                          <m:t>𝑣</m:t>
                        </m:r>
                        <m:r>
                          <a:rPr lang="nl-BE" sz="2100" i="1">
                            <a:latin typeface="Cambria Math" panose="02040503050406030204" pitchFamily="18" charset="0"/>
                          </a:rPr>
                          <m:t>²</m:t>
                        </m:r>
                      </m:num>
                      <m:den>
                        <m:r>
                          <a:rPr lang="nl-BE" sz="2100" b="0" i="1" smtClean="0">
                            <a:latin typeface="Cambria Math" panose="02040503050406030204" pitchFamily="18" charset="0"/>
                          </a:rPr>
                          <m:t>𝑅</m:t>
                        </m:r>
                      </m:den>
                    </m:f>
                    <m:r>
                      <a:rPr lang="nl-BE" sz="2100" i="1">
                        <a:latin typeface="Cambria Math" panose="02040503050406030204" pitchFamily="18" charset="0"/>
                      </a:rPr>
                      <m:t>=</m:t>
                    </m:r>
                    <m:r>
                      <a:rPr lang="nl-BE" sz="2100" i="1">
                        <a:latin typeface="Cambria Math" panose="02040503050406030204" pitchFamily="18" charset="0"/>
                      </a:rPr>
                      <m:t>𝐺</m:t>
                    </m:r>
                    <m:f>
                      <m:fPr>
                        <m:ctrlPr>
                          <a:rPr lang="nl-BE" sz="2100" i="1">
                            <a:latin typeface="Cambria Math" panose="02040503050406030204" pitchFamily="18" charset="0"/>
                          </a:rPr>
                        </m:ctrlPr>
                      </m:fPr>
                      <m:num>
                        <m:r>
                          <a:rPr lang="nl-BE" sz="2100" i="1">
                            <a:latin typeface="Cambria Math" panose="02040503050406030204" pitchFamily="18" charset="0"/>
                          </a:rPr>
                          <m:t>𝑚</m:t>
                        </m:r>
                        <m:r>
                          <a:rPr lang="nl-BE" sz="2100" i="1">
                            <a:latin typeface="Cambria Math" panose="02040503050406030204" pitchFamily="18" charset="0"/>
                          </a:rPr>
                          <m:t>.</m:t>
                        </m:r>
                        <m:r>
                          <a:rPr lang="nl-BE" sz="2100" i="1">
                            <a:latin typeface="Cambria Math" panose="02040503050406030204" pitchFamily="18" charset="0"/>
                          </a:rPr>
                          <m:t>𝑚</m:t>
                        </m:r>
                        <m:r>
                          <a:rPr lang="nl-BE" sz="2100" i="1">
                            <a:latin typeface="Cambria Math" panose="02040503050406030204" pitchFamily="18" charset="0"/>
                          </a:rPr>
                          <m:t>′</m:t>
                        </m:r>
                      </m:num>
                      <m:den>
                        <m:r>
                          <a:rPr lang="nl-BE" sz="2100" b="0" i="1" smtClean="0">
                            <a:latin typeface="Cambria Math" panose="02040503050406030204" pitchFamily="18" charset="0"/>
                          </a:rPr>
                          <m:t>𝑅</m:t>
                        </m:r>
                        <m:r>
                          <a:rPr lang="nl-BE" sz="2100" i="1">
                            <a:latin typeface="Cambria Math" panose="02040503050406030204" pitchFamily="18" charset="0"/>
                          </a:rPr>
                          <m:t>²</m:t>
                        </m:r>
                      </m:den>
                    </m:f>
                  </m:oMath>
                </a14:m>
                <a:endParaRPr lang="nl-BE" sz="2100" dirty="0"/>
              </a:p>
              <a:p>
                <a14:m>
                  <m:oMath xmlns:m="http://schemas.openxmlformats.org/officeDocument/2006/math">
                    <m:sSup>
                      <m:sSupPr>
                        <m:ctrlPr>
                          <a:rPr lang="nl-BE" sz="2100" i="1">
                            <a:latin typeface="Cambria Math" panose="02040503050406030204" pitchFamily="18" charset="0"/>
                          </a:rPr>
                        </m:ctrlPr>
                      </m:sSupPr>
                      <m:e>
                        <m:r>
                          <a:rPr lang="nl-BE" sz="2100" i="1">
                            <a:latin typeface="Cambria Math" panose="02040503050406030204" pitchFamily="18" charset="0"/>
                          </a:rPr>
                          <m:t>𝑣</m:t>
                        </m:r>
                      </m:e>
                      <m:sup>
                        <m:r>
                          <a:rPr lang="nl-BE" sz="2100" i="1">
                            <a:latin typeface="Cambria Math" panose="02040503050406030204" pitchFamily="18" charset="0"/>
                          </a:rPr>
                          <m:t>2</m:t>
                        </m:r>
                      </m:sup>
                    </m:sSup>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𝐺</m:t>
                        </m:r>
                        <m:r>
                          <a:rPr lang="nl-BE" sz="2100" i="1">
                            <a:latin typeface="Cambria Math" panose="02040503050406030204" pitchFamily="18" charset="0"/>
                          </a:rPr>
                          <m:t>.</m:t>
                        </m:r>
                        <m:sSup>
                          <m:sSupPr>
                            <m:ctrlPr>
                              <a:rPr lang="nl-BE" sz="2100" i="1">
                                <a:latin typeface="Cambria Math" panose="02040503050406030204" pitchFamily="18" charset="0"/>
                              </a:rPr>
                            </m:ctrlPr>
                          </m:sSupPr>
                          <m:e>
                            <m:r>
                              <a:rPr lang="nl-BE" sz="2100" i="1">
                                <a:latin typeface="Cambria Math" panose="02040503050406030204" pitchFamily="18" charset="0"/>
                              </a:rPr>
                              <m:t>𝑚</m:t>
                            </m:r>
                          </m:e>
                          <m:sup>
                            <m:r>
                              <a:rPr lang="nl-BE" sz="2100" i="1">
                                <a:latin typeface="Cambria Math" panose="02040503050406030204" pitchFamily="18" charset="0"/>
                              </a:rPr>
                              <m:t>′</m:t>
                            </m:r>
                          </m:sup>
                        </m:sSup>
                      </m:num>
                      <m:den>
                        <m:r>
                          <a:rPr lang="nl-BE" sz="2100" b="0" i="1" smtClean="0">
                            <a:latin typeface="Cambria Math" panose="02040503050406030204" pitchFamily="18" charset="0"/>
                          </a:rPr>
                          <m:t>𝑅</m:t>
                        </m:r>
                      </m:den>
                    </m:f>
                    <m:r>
                      <a:rPr lang="nl-BE" sz="2100" i="1">
                        <a:latin typeface="Cambria Math" panose="02040503050406030204" pitchFamily="18" charset="0"/>
                      </a:rPr>
                      <m:t>                        </m:t>
                    </m:r>
                    <m:r>
                      <a:rPr lang="nl-BE" sz="2100" i="1">
                        <a:latin typeface="Cambria Math" panose="02040503050406030204" pitchFamily="18" charset="0"/>
                      </a:rPr>
                      <m:t>𝑣</m:t>
                    </m:r>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2.</m:t>
                        </m:r>
                        <m:r>
                          <a:rPr lang="nl-BE" sz="2100" i="1">
                            <a:latin typeface="Cambria Math" panose="02040503050406030204" pitchFamily="18" charset="0"/>
                          </a:rPr>
                          <m:t>𝜋</m:t>
                        </m:r>
                        <m:r>
                          <a:rPr lang="nl-BE" sz="2100" i="1">
                            <a:latin typeface="Cambria Math" panose="02040503050406030204" pitchFamily="18" charset="0"/>
                          </a:rPr>
                          <m:t>.</m:t>
                        </m:r>
                        <m:r>
                          <a:rPr lang="nl-BE" sz="2100" b="0" i="1" smtClean="0">
                            <a:latin typeface="Cambria Math" panose="02040503050406030204" pitchFamily="18" charset="0"/>
                          </a:rPr>
                          <m:t>𝑅</m:t>
                        </m:r>
                      </m:num>
                      <m:den>
                        <m:r>
                          <a:rPr lang="nl-BE" sz="2100" i="1">
                            <a:latin typeface="Cambria Math" panose="02040503050406030204" pitchFamily="18" charset="0"/>
                          </a:rPr>
                          <m:t>𝑇</m:t>
                        </m:r>
                      </m:den>
                    </m:f>
                    <m:r>
                      <a:rPr lang="nl-BE" sz="2100" i="1">
                        <a:latin typeface="Cambria Math" panose="02040503050406030204" pitchFamily="18" charset="0"/>
                      </a:rPr>
                      <m:t>      </m:t>
                    </m:r>
                    <m:sSup>
                      <m:sSupPr>
                        <m:ctrlPr>
                          <a:rPr lang="nl-BE" sz="2100" i="1">
                            <a:latin typeface="Cambria Math" panose="02040503050406030204" pitchFamily="18" charset="0"/>
                          </a:rPr>
                        </m:ctrlPr>
                      </m:sSupPr>
                      <m:e>
                        <m:r>
                          <a:rPr lang="nl-BE" sz="2100" i="1">
                            <a:latin typeface="Cambria Math" panose="02040503050406030204" pitchFamily="18" charset="0"/>
                          </a:rPr>
                          <m:t>𝑣</m:t>
                        </m:r>
                      </m:e>
                      <m:sup>
                        <m:r>
                          <a:rPr lang="nl-BE" sz="2100" i="1">
                            <a:latin typeface="Cambria Math" panose="02040503050406030204" pitchFamily="18" charset="0"/>
                          </a:rPr>
                          <m:t>2</m:t>
                        </m:r>
                      </m:sup>
                    </m:sSup>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4.</m:t>
                        </m:r>
                        <m:r>
                          <a:rPr lang="nl-BE" sz="2100" i="1">
                            <a:latin typeface="Cambria Math" panose="02040503050406030204" pitchFamily="18" charset="0"/>
                          </a:rPr>
                          <m:t>𝜋</m:t>
                        </m:r>
                        <m:r>
                          <a:rPr lang="nl-BE" sz="2100" i="1">
                            <a:latin typeface="Cambria Math" panose="02040503050406030204" pitchFamily="18" charset="0"/>
                          </a:rPr>
                          <m:t>².</m:t>
                        </m:r>
                        <m:r>
                          <a:rPr lang="nl-BE" sz="2100" b="0" i="1" smtClean="0">
                            <a:latin typeface="Cambria Math" panose="02040503050406030204" pitchFamily="18" charset="0"/>
                          </a:rPr>
                          <m:t>𝑅</m:t>
                        </m:r>
                        <m:r>
                          <a:rPr lang="nl-BE" sz="2100" i="1">
                            <a:latin typeface="Cambria Math" panose="02040503050406030204" pitchFamily="18" charset="0"/>
                          </a:rPr>
                          <m:t>²</m:t>
                        </m:r>
                      </m:num>
                      <m:den>
                        <m:r>
                          <a:rPr lang="nl-BE" sz="2100" i="1">
                            <a:latin typeface="Cambria Math" panose="02040503050406030204" pitchFamily="18" charset="0"/>
                          </a:rPr>
                          <m:t>𝑇</m:t>
                        </m:r>
                        <m:r>
                          <a:rPr lang="nl-BE" sz="2100" i="1">
                            <a:latin typeface="Cambria Math" panose="02040503050406030204" pitchFamily="18" charset="0"/>
                          </a:rPr>
                          <m:t>²</m:t>
                        </m:r>
                      </m:den>
                    </m:f>
                    <m:r>
                      <a:rPr lang="nl-BE" sz="2100" i="1">
                        <a:latin typeface="Cambria Math" panose="02040503050406030204" pitchFamily="18" charset="0"/>
                      </a:rPr>
                      <m:t>  </m:t>
                    </m:r>
                  </m:oMath>
                </a14:m>
                <a:endParaRPr lang="nl-BE" sz="2100" dirty="0"/>
              </a:p>
              <a:p>
                <a:pPr marL="0" indent="0">
                  <a:buNone/>
                </a:pPr>
                <a:endParaRPr lang="nl-BE" sz="2100" dirty="0"/>
              </a:p>
              <a:p>
                <a14:m>
                  <m:oMath xmlns:m="http://schemas.openxmlformats.org/officeDocument/2006/math">
                    <m:f>
                      <m:fPr>
                        <m:ctrlPr>
                          <a:rPr lang="nl-BE" sz="2100" i="1">
                            <a:latin typeface="Cambria Math" panose="02040503050406030204" pitchFamily="18" charset="0"/>
                          </a:rPr>
                        </m:ctrlPr>
                      </m:fPr>
                      <m:num>
                        <m:r>
                          <a:rPr lang="nl-BE" sz="2100" i="1">
                            <a:latin typeface="Cambria Math" panose="02040503050406030204" pitchFamily="18" charset="0"/>
                          </a:rPr>
                          <m:t>4.</m:t>
                        </m:r>
                        <m:r>
                          <a:rPr lang="nl-BE" sz="2100" i="1">
                            <a:latin typeface="Cambria Math" panose="02040503050406030204" pitchFamily="18" charset="0"/>
                          </a:rPr>
                          <m:t>𝜋</m:t>
                        </m:r>
                        <m:r>
                          <a:rPr lang="nl-BE" sz="2100" i="1">
                            <a:latin typeface="Cambria Math" panose="02040503050406030204" pitchFamily="18" charset="0"/>
                          </a:rPr>
                          <m:t>².</m:t>
                        </m:r>
                        <m:r>
                          <a:rPr lang="nl-BE" sz="2100" b="0" i="1" smtClean="0">
                            <a:latin typeface="Cambria Math" panose="02040503050406030204" pitchFamily="18" charset="0"/>
                          </a:rPr>
                          <m:t>𝑅</m:t>
                        </m:r>
                        <m:r>
                          <a:rPr lang="nl-BE" sz="2100" i="1">
                            <a:latin typeface="Cambria Math" panose="02040503050406030204" pitchFamily="18" charset="0"/>
                          </a:rPr>
                          <m:t>²</m:t>
                        </m:r>
                      </m:num>
                      <m:den>
                        <m:r>
                          <a:rPr lang="nl-BE" sz="2100" b="0" i="1" smtClean="0">
                            <a:latin typeface="Cambria Math" panose="02040503050406030204" pitchFamily="18" charset="0"/>
                          </a:rPr>
                          <m:t>𝑇</m:t>
                        </m:r>
                        <m:r>
                          <a:rPr lang="nl-BE" sz="2100" i="1">
                            <a:latin typeface="Cambria Math" panose="02040503050406030204" pitchFamily="18" charset="0"/>
                          </a:rPr>
                          <m:t>²</m:t>
                        </m:r>
                      </m:den>
                    </m:f>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𝐺</m:t>
                        </m:r>
                        <m:r>
                          <a:rPr lang="nl-BE" sz="2100" i="1">
                            <a:latin typeface="Cambria Math" panose="02040503050406030204" pitchFamily="18" charset="0"/>
                          </a:rPr>
                          <m:t>.</m:t>
                        </m:r>
                        <m:r>
                          <a:rPr lang="nl-BE" sz="2100" i="1">
                            <a:latin typeface="Cambria Math" panose="02040503050406030204" pitchFamily="18" charset="0"/>
                          </a:rPr>
                          <m:t>𝑚</m:t>
                        </m:r>
                        <m:r>
                          <a:rPr lang="nl-BE" sz="2100" i="1">
                            <a:latin typeface="Cambria Math" panose="02040503050406030204" pitchFamily="18" charset="0"/>
                          </a:rPr>
                          <m:t>′</m:t>
                        </m:r>
                      </m:num>
                      <m:den>
                        <m:r>
                          <a:rPr lang="nl-BE" sz="2100" b="0" i="1" smtClean="0">
                            <a:latin typeface="Cambria Math" panose="02040503050406030204" pitchFamily="18" charset="0"/>
                          </a:rPr>
                          <m:t>𝑅</m:t>
                        </m:r>
                      </m:den>
                    </m:f>
                  </m:oMath>
                </a14:m>
                <a:endParaRPr lang="nl-BE" sz="2100" dirty="0"/>
              </a:p>
              <a:p>
                <a14:m>
                  <m:oMath xmlns:m="http://schemas.openxmlformats.org/officeDocument/2006/math">
                    <m:sSup>
                      <m:sSupPr>
                        <m:ctrlPr>
                          <a:rPr lang="nl-BE" sz="2100" i="1">
                            <a:latin typeface="Cambria Math" panose="02040503050406030204" pitchFamily="18" charset="0"/>
                          </a:rPr>
                        </m:ctrlPr>
                      </m:sSupPr>
                      <m:e>
                        <m:r>
                          <a:rPr lang="nl-BE" sz="2100" b="0" i="1" smtClean="0">
                            <a:latin typeface="Cambria Math" panose="02040503050406030204" pitchFamily="18" charset="0"/>
                          </a:rPr>
                          <m:t>𝑅</m:t>
                        </m:r>
                      </m:e>
                      <m:sup>
                        <m:r>
                          <a:rPr lang="nl-BE" sz="2100" i="1">
                            <a:latin typeface="Cambria Math" panose="02040503050406030204" pitchFamily="18" charset="0"/>
                          </a:rPr>
                          <m:t>3</m:t>
                        </m:r>
                      </m:sup>
                    </m:sSup>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𝐺</m:t>
                        </m:r>
                        <m:r>
                          <a:rPr lang="nl-BE" sz="2100" i="1">
                            <a:latin typeface="Cambria Math" panose="02040503050406030204" pitchFamily="18" charset="0"/>
                          </a:rPr>
                          <m:t>.</m:t>
                        </m:r>
                        <m:sSup>
                          <m:sSupPr>
                            <m:ctrlPr>
                              <a:rPr lang="nl-BE" sz="2100" i="1">
                                <a:latin typeface="Cambria Math" panose="02040503050406030204" pitchFamily="18" charset="0"/>
                              </a:rPr>
                            </m:ctrlPr>
                          </m:sSupPr>
                          <m:e>
                            <m:r>
                              <a:rPr lang="nl-BE" sz="2100" i="1">
                                <a:latin typeface="Cambria Math" panose="02040503050406030204" pitchFamily="18" charset="0"/>
                              </a:rPr>
                              <m:t>𝑚</m:t>
                            </m:r>
                          </m:e>
                          <m:sup>
                            <m:r>
                              <a:rPr lang="nl-BE" sz="2100" i="1">
                                <a:latin typeface="Cambria Math" panose="02040503050406030204" pitchFamily="18" charset="0"/>
                              </a:rPr>
                              <m:t>′</m:t>
                            </m:r>
                          </m:sup>
                        </m:sSup>
                        <m:r>
                          <a:rPr lang="nl-BE" sz="2100" i="1">
                            <a:latin typeface="Cambria Math" panose="02040503050406030204" pitchFamily="18" charset="0"/>
                          </a:rPr>
                          <m:t>.</m:t>
                        </m:r>
                        <m:r>
                          <a:rPr lang="nl-BE" sz="2100" i="1">
                            <a:latin typeface="Cambria Math" panose="02040503050406030204" pitchFamily="18" charset="0"/>
                          </a:rPr>
                          <m:t>𝑇</m:t>
                        </m:r>
                        <m:r>
                          <a:rPr lang="nl-BE" sz="2100" i="1">
                            <a:latin typeface="Cambria Math" panose="02040503050406030204" pitchFamily="18" charset="0"/>
                          </a:rPr>
                          <m:t>²</m:t>
                        </m:r>
                      </m:num>
                      <m:den>
                        <m:r>
                          <a:rPr lang="nl-BE" sz="2100" i="1">
                            <a:latin typeface="Cambria Math" panose="02040503050406030204" pitchFamily="18" charset="0"/>
                          </a:rPr>
                          <m:t>4.</m:t>
                        </m:r>
                        <m:r>
                          <a:rPr lang="nl-BE" sz="2100" i="1">
                            <a:latin typeface="Cambria Math" panose="02040503050406030204" pitchFamily="18" charset="0"/>
                          </a:rPr>
                          <m:t>𝜋</m:t>
                        </m:r>
                        <m:r>
                          <a:rPr lang="nl-BE" sz="2100" i="1">
                            <a:latin typeface="Cambria Math" panose="02040503050406030204" pitchFamily="18" charset="0"/>
                          </a:rPr>
                          <m:t>²</m:t>
                        </m:r>
                      </m:den>
                    </m:f>
                  </m:oMath>
                </a14:m>
                <a:endParaRPr lang="nl-BE" sz="2100" dirty="0"/>
              </a:p>
              <a:p>
                <a14:m>
                  <m:oMath xmlns:m="http://schemas.openxmlformats.org/officeDocument/2006/math">
                    <m:r>
                      <a:rPr lang="nl-BE" sz="2100" b="0" i="1" smtClean="0">
                        <a:latin typeface="Cambria Math" panose="02040503050406030204" pitchFamily="18" charset="0"/>
                      </a:rPr>
                      <m:t>𝑅</m:t>
                    </m:r>
                    <m:r>
                      <a:rPr lang="nl-BE" sz="2100" i="1">
                        <a:latin typeface="Cambria Math" panose="02040503050406030204" pitchFamily="18" charset="0"/>
                      </a:rPr>
                      <m:t>=</m:t>
                    </m:r>
                    <m:rad>
                      <m:radPr>
                        <m:ctrlPr>
                          <a:rPr lang="nl-BE" sz="2100" i="1">
                            <a:latin typeface="Cambria Math" panose="02040503050406030204" pitchFamily="18" charset="0"/>
                          </a:rPr>
                        </m:ctrlPr>
                      </m:radPr>
                      <m:deg>
                        <m:r>
                          <a:rPr lang="nl-BE" sz="2100" i="1">
                            <a:latin typeface="Cambria Math" panose="02040503050406030204" pitchFamily="18" charset="0"/>
                          </a:rPr>
                          <m:t>3</m:t>
                        </m:r>
                      </m:deg>
                      <m:e>
                        <m:f>
                          <m:fPr>
                            <m:ctrlPr>
                              <a:rPr lang="nl-BE" sz="2100" i="1">
                                <a:latin typeface="Cambria Math" panose="02040503050406030204" pitchFamily="18" charset="0"/>
                              </a:rPr>
                            </m:ctrlPr>
                          </m:fPr>
                          <m:num>
                            <m:r>
                              <a:rPr lang="nl-BE" sz="2100" i="1">
                                <a:latin typeface="Cambria Math" panose="02040503050406030204" pitchFamily="18" charset="0"/>
                              </a:rPr>
                              <m:t>𝐺</m:t>
                            </m:r>
                            <m:r>
                              <a:rPr lang="nl-BE" sz="2100" i="1">
                                <a:latin typeface="Cambria Math" panose="02040503050406030204" pitchFamily="18" charset="0"/>
                              </a:rPr>
                              <m:t>.</m:t>
                            </m:r>
                            <m:sSup>
                              <m:sSupPr>
                                <m:ctrlPr>
                                  <a:rPr lang="nl-BE" sz="2100" i="1">
                                    <a:latin typeface="Cambria Math" panose="02040503050406030204" pitchFamily="18" charset="0"/>
                                  </a:rPr>
                                </m:ctrlPr>
                              </m:sSupPr>
                              <m:e>
                                <m:r>
                                  <a:rPr lang="nl-BE" sz="2100" i="1">
                                    <a:latin typeface="Cambria Math" panose="02040503050406030204" pitchFamily="18" charset="0"/>
                                  </a:rPr>
                                  <m:t>𝑚</m:t>
                                </m:r>
                              </m:e>
                              <m:sup>
                                <m:r>
                                  <a:rPr lang="nl-BE" sz="2100" i="1">
                                    <a:latin typeface="Cambria Math" panose="02040503050406030204" pitchFamily="18" charset="0"/>
                                  </a:rPr>
                                  <m:t>′</m:t>
                                </m:r>
                              </m:sup>
                            </m:sSup>
                            <m:r>
                              <a:rPr lang="nl-BE" sz="2100" i="1">
                                <a:latin typeface="Cambria Math" panose="02040503050406030204" pitchFamily="18" charset="0"/>
                              </a:rPr>
                              <m:t>.</m:t>
                            </m:r>
                            <m:r>
                              <a:rPr lang="nl-BE" sz="2100" i="1">
                                <a:latin typeface="Cambria Math" panose="02040503050406030204" pitchFamily="18" charset="0"/>
                              </a:rPr>
                              <m:t>𝑇</m:t>
                            </m:r>
                            <m:r>
                              <a:rPr lang="nl-BE" sz="2100" i="1">
                                <a:latin typeface="Cambria Math" panose="02040503050406030204" pitchFamily="18" charset="0"/>
                              </a:rPr>
                              <m:t>²</m:t>
                            </m:r>
                          </m:num>
                          <m:den>
                            <m:r>
                              <a:rPr lang="nl-BE" sz="2100" i="1">
                                <a:latin typeface="Cambria Math" panose="02040503050406030204" pitchFamily="18" charset="0"/>
                              </a:rPr>
                              <m:t>4.</m:t>
                            </m:r>
                            <m:r>
                              <a:rPr lang="nl-BE" sz="2100" i="1">
                                <a:latin typeface="Cambria Math" panose="02040503050406030204" pitchFamily="18" charset="0"/>
                              </a:rPr>
                              <m:t>𝜋</m:t>
                            </m:r>
                            <m:r>
                              <a:rPr lang="nl-BE" sz="2100" i="1">
                                <a:latin typeface="Cambria Math" panose="02040503050406030204" pitchFamily="18" charset="0"/>
                              </a:rPr>
                              <m:t>²</m:t>
                            </m:r>
                          </m:den>
                        </m:f>
                      </m:e>
                    </m:rad>
                  </m:oMath>
                </a14:m>
                <a:endParaRPr lang="nl-BE" sz="2100" dirty="0"/>
              </a:p>
              <a:p>
                <a14:m>
                  <m:oMath xmlns:m="http://schemas.openxmlformats.org/officeDocument/2006/math">
                    <m:r>
                      <a:rPr lang="nl-BE" sz="2100" b="0" i="1" smtClean="0">
                        <a:latin typeface="Cambria Math" panose="02040503050406030204" pitchFamily="18" charset="0"/>
                      </a:rPr>
                      <m:t>𝑅</m:t>
                    </m:r>
                    <m:r>
                      <a:rPr lang="nl-BE" sz="2100" i="1">
                        <a:latin typeface="Cambria Math" panose="02040503050406030204" pitchFamily="18" charset="0"/>
                      </a:rPr>
                      <m:t>=</m:t>
                    </m:r>
                    <m:rad>
                      <m:radPr>
                        <m:ctrlPr>
                          <a:rPr lang="nl-BE" sz="2100" i="1">
                            <a:latin typeface="Cambria Math" panose="02040503050406030204" pitchFamily="18" charset="0"/>
                          </a:rPr>
                        </m:ctrlPr>
                      </m:radPr>
                      <m:deg>
                        <m:r>
                          <a:rPr lang="nl-BE" sz="2100" i="1">
                            <a:latin typeface="Cambria Math" panose="02040503050406030204" pitchFamily="18" charset="0"/>
                          </a:rPr>
                          <m:t>3</m:t>
                        </m:r>
                      </m:deg>
                      <m:e>
                        <m:f>
                          <m:fPr>
                            <m:ctrlPr>
                              <a:rPr lang="nl-BE" sz="2100" i="1">
                                <a:latin typeface="Cambria Math" panose="02040503050406030204" pitchFamily="18" charset="0"/>
                              </a:rPr>
                            </m:ctrlPr>
                          </m:fPr>
                          <m:num>
                            <m:r>
                              <a:rPr lang="nl-BE" sz="2100" i="1">
                                <a:latin typeface="Cambria Math" panose="02040503050406030204" pitchFamily="18" charset="0"/>
                              </a:rPr>
                              <m:t>6,672.</m:t>
                            </m:r>
                            <m:sSup>
                              <m:sSupPr>
                                <m:ctrlPr>
                                  <a:rPr lang="nl-BE" sz="2100" i="1">
                                    <a:latin typeface="Cambria Math" panose="02040503050406030204" pitchFamily="18" charset="0"/>
                                  </a:rPr>
                                </m:ctrlPr>
                              </m:sSupPr>
                              <m:e>
                                <m:r>
                                  <a:rPr lang="nl-BE" sz="2100" i="1">
                                    <a:latin typeface="Cambria Math" panose="02040503050406030204" pitchFamily="18" charset="0"/>
                                  </a:rPr>
                                  <m:t>10</m:t>
                                </m:r>
                              </m:e>
                              <m:sup>
                                <m:r>
                                  <a:rPr lang="nl-BE" sz="2100" i="1">
                                    <a:latin typeface="Cambria Math" panose="02040503050406030204" pitchFamily="18" charset="0"/>
                                  </a:rPr>
                                  <m:t>−11</m:t>
                                </m:r>
                              </m:sup>
                            </m:sSup>
                            <m:r>
                              <a:rPr lang="nl-BE" sz="2100" i="1">
                                <a:latin typeface="Cambria Math" panose="02040503050406030204" pitchFamily="18" charset="0"/>
                              </a:rPr>
                              <m:t>.5,974.</m:t>
                            </m:r>
                            <m:sSup>
                              <m:sSupPr>
                                <m:ctrlPr>
                                  <a:rPr lang="nl-BE" sz="2100" i="1">
                                    <a:latin typeface="Cambria Math" panose="02040503050406030204" pitchFamily="18" charset="0"/>
                                  </a:rPr>
                                </m:ctrlPr>
                              </m:sSupPr>
                              <m:e>
                                <m:r>
                                  <a:rPr lang="nl-BE" sz="2100" i="1">
                                    <a:latin typeface="Cambria Math" panose="02040503050406030204" pitchFamily="18" charset="0"/>
                                  </a:rPr>
                                  <m:t>10</m:t>
                                </m:r>
                              </m:e>
                              <m:sup>
                                <m:r>
                                  <a:rPr lang="nl-BE" sz="2100" i="1">
                                    <a:latin typeface="Cambria Math" panose="02040503050406030204" pitchFamily="18" charset="0"/>
                                  </a:rPr>
                                  <m:t>24</m:t>
                                </m:r>
                              </m:sup>
                            </m:sSup>
                            <m:r>
                              <a:rPr lang="nl-BE" sz="2100" i="1">
                                <a:latin typeface="Cambria Math" panose="02040503050406030204" pitchFamily="18" charset="0"/>
                              </a:rPr>
                              <m:t>.(24,00.3600)²</m:t>
                            </m:r>
                          </m:num>
                          <m:den>
                            <m:r>
                              <a:rPr lang="nl-BE" sz="2100" i="1">
                                <a:latin typeface="Cambria Math" panose="02040503050406030204" pitchFamily="18" charset="0"/>
                              </a:rPr>
                              <m:t>4.</m:t>
                            </m:r>
                            <m:r>
                              <a:rPr lang="nl-BE" sz="2100" i="1">
                                <a:latin typeface="Cambria Math" panose="02040503050406030204" pitchFamily="18" charset="0"/>
                              </a:rPr>
                              <m:t>𝜋</m:t>
                            </m:r>
                            <m:r>
                              <a:rPr lang="nl-BE" sz="2100" i="1">
                                <a:latin typeface="Cambria Math" panose="02040503050406030204" pitchFamily="18" charset="0"/>
                              </a:rPr>
                              <m:t>²</m:t>
                            </m:r>
                          </m:den>
                        </m:f>
                      </m:e>
                    </m:rad>
                  </m:oMath>
                </a14:m>
                <a:endParaRPr lang="nl-BE" sz="2100" dirty="0"/>
              </a:p>
              <a:p>
                <a14:m>
                  <m:oMath xmlns:m="http://schemas.openxmlformats.org/officeDocument/2006/math">
                    <m:r>
                      <a:rPr lang="nl-BE" sz="2100" b="0" i="1" smtClean="0">
                        <a:latin typeface="Cambria Math" panose="02040503050406030204" pitchFamily="18" charset="0"/>
                      </a:rPr>
                      <m:t>𝑅</m:t>
                    </m:r>
                    <m:r>
                      <a:rPr lang="nl-BE" sz="2100" i="1">
                        <a:latin typeface="Cambria Math" panose="02040503050406030204" pitchFamily="18" charset="0"/>
                      </a:rPr>
                      <m:t>=42240560 </m:t>
                    </m:r>
                    <m:r>
                      <a:rPr lang="nl-BE" sz="2100" i="1">
                        <a:latin typeface="Cambria Math" panose="02040503050406030204" pitchFamily="18" charset="0"/>
                      </a:rPr>
                      <m:t>𝑚</m:t>
                    </m:r>
                  </m:oMath>
                </a14:m>
                <a:endParaRPr lang="nl-BE" sz="2100" dirty="0"/>
              </a:p>
              <a:p>
                <a14:m>
                  <m:oMath xmlns:m="http://schemas.openxmlformats.org/officeDocument/2006/math">
                    <m:r>
                      <a:rPr lang="nl-BE" sz="2100" i="1">
                        <a:latin typeface="Cambria Math" panose="02040503050406030204" pitchFamily="18" charset="0"/>
                      </a:rPr>
                      <m:t>h</m:t>
                    </m:r>
                    <m:r>
                      <a:rPr lang="nl-BE" sz="2100" i="1">
                        <a:latin typeface="Cambria Math" panose="02040503050406030204" pitchFamily="18" charset="0"/>
                      </a:rPr>
                      <m:t>=</m:t>
                    </m:r>
                    <m:r>
                      <a:rPr lang="nl-BE" sz="2100" b="0" i="1" smtClean="0">
                        <a:latin typeface="Cambria Math" panose="02040503050406030204" pitchFamily="18" charset="0"/>
                      </a:rPr>
                      <m:t>𝑅</m:t>
                    </m:r>
                    <m:r>
                      <a:rPr lang="nl-BE" sz="2100" i="1">
                        <a:latin typeface="Cambria Math" panose="02040503050406030204" pitchFamily="18" charset="0"/>
                      </a:rPr>
                      <m:t>−</m:t>
                    </m:r>
                    <m:sSub>
                      <m:sSubPr>
                        <m:ctrlPr>
                          <a:rPr lang="nl-BE" sz="2100" i="1">
                            <a:latin typeface="Cambria Math" panose="02040503050406030204" pitchFamily="18" charset="0"/>
                          </a:rPr>
                        </m:ctrlPr>
                      </m:sSubPr>
                      <m:e>
                        <m:r>
                          <a:rPr lang="nl-BE" sz="2100" b="0" i="1" smtClean="0">
                            <a:latin typeface="Cambria Math" panose="02040503050406030204" pitchFamily="18" charset="0"/>
                          </a:rPr>
                          <m:t>𝑅</m:t>
                        </m:r>
                      </m:e>
                      <m:sub>
                        <m:r>
                          <a:rPr lang="nl-BE" sz="2100" i="1">
                            <a:latin typeface="Cambria Math" panose="02040503050406030204" pitchFamily="18" charset="0"/>
                          </a:rPr>
                          <m:t>𝑎𝑎𝑟𝑑𝑒</m:t>
                        </m:r>
                      </m:sub>
                    </m:sSub>
                    <m:r>
                      <a:rPr lang="nl-BE" sz="2100" i="1">
                        <a:latin typeface="Cambria Math" panose="02040503050406030204" pitchFamily="18" charset="0"/>
                      </a:rPr>
                      <m:t>=42240560−6370.</m:t>
                    </m:r>
                    <m:sSup>
                      <m:sSupPr>
                        <m:ctrlPr>
                          <a:rPr lang="nl-BE" sz="2100" i="1">
                            <a:latin typeface="Cambria Math" panose="02040503050406030204" pitchFamily="18" charset="0"/>
                          </a:rPr>
                        </m:ctrlPr>
                      </m:sSupPr>
                      <m:e>
                        <m:r>
                          <a:rPr lang="nl-BE" sz="2100" i="1">
                            <a:latin typeface="Cambria Math" panose="02040503050406030204" pitchFamily="18" charset="0"/>
                          </a:rPr>
                          <m:t>10</m:t>
                        </m:r>
                      </m:e>
                      <m:sup>
                        <m:r>
                          <a:rPr lang="nl-BE" sz="2100" i="1">
                            <a:latin typeface="Cambria Math" panose="02040503050406030204" pitchFamily="18" charset="0"/>
                          </a:rPr>
                          <m:t>3</m:t>
                        </m:r>
                      </m:sup>
                    </m:sSup>
                    <m:r>
                      <a:rPr lang="nl-BE" sz="2100" i="1">
                        <a:latin typeface="Cambria Math" panose="02040503050406030204" pitchFamily="18" charset="0"/>
                      </a:rPr>
                      <m:t>=3,587.</m:t>
                    </m:r>
                    <m:sSup>
                      <m:sSupPr>
                        <m:ctrlPr>
                          <a:rPr lang="nl-BE" sz="2100" i="1">
                            <a:latin typeface="Cambria Math" panose="02040503050406030204" pitchFamily="18" charset="0"/>
                          </a:rPr>
                        </m:ctrlPr>
                      </m:sSupPr>
                      <m:e>
                        <m:r>
                          <a:rPr lang="nl-BE" sz="2100" i="1">
                            <a:latin typeface="Cambria Math" panose="02040503050406030204" pitchFamily="18" charset="0"/>
                          </a:rPr>
                          <m:t>10</m:t>
                        </m:r>
                      </m:e>
                      <m:sup>
                        <m:r>
                          <a:rPr lang="nl-BE" sz="2100" i="1">
                            <a:latin typeface="Cambria Math" panose="02040503050406030204" pitchFamily="18" charset="0"/>
                          </a:rPr>
                          <m:t>7</m:t>
                        </m:r>
                      </m:sup>
                    </m:sSup>
                    <m:r>
                      <a:rPr lang="nl-BE" sz="2100" i="1">
                        <a:latin typeface="Cambria Math" panose="02040503050406030204" pitchFamily="18" charset="0"/>
                      </a:rPr>
                      <m:t>𝑚</m:t>
                    </m:r>
                  </m:oMath>
                </a14:m>
                <a:endParaRPr lang="nl-BE" sz="2100" dirty="0"/>
              </a:p>
              <a:p>
                <a:pPr eaLnBrk="1" hangingPunct="1">
                  <a:defRPr/>
                </a:pPr>
                <a:endParaRPr lang="nl-NL" sz="1800" dirty="0"/>
              </a:p>
            </p:txBody>
          </p:sp>
        </mc:Choice>
        <mc:Fallback xmlns="">
          <p:sp>
            <p:nvSpPr>
              <p:cNvPr id="46083" name="Rectangle 3"/>
              <p:cNvSpPr>
                <a:spLocks noGrp="1" noRot="1" noChangeAspect="1" noMove="1" noResize="1" noEditPoints="1" noAdjustHandles="1" noChangeArrowheads="1" noChangeShapeType="1" noTextEdit="1"/>
              </p:cNvSpPr>
              <p:nvPr>
                <p:ph idx="1"/>
              </p:nvPr>
            </p:nvSpPr>
            <p:spPr>
              <a:xfrm>
                <a:off x="407368" y="764704"/>
                <a:ext cx="11017224" cy="5958408"/>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39968992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23EE9E-49BD-763A-242D-2C64D3DD5638}"/>
              </a:ext>
            </a:extLst>
          </p:cNvPr>
          <p:cNvSpPr>
            <a:spLocks noGrp="1"/>
          </p:cNvSpPr>
          <p:nvPr>
            <p:ph type="title"/>
          </p:nvPr>
        </p:nvSpPr>
        <p:spPr/>
        <p:txBody>
          <a:bodyPr/>
          <a:lstStyle/>
          <a:p>
            <a:r>
              <a:rPr lang="nl-BE" dirty="0"/>
              <a:t>Einde 11/02/26</a:t>
            </a:r>
          </a:p>
        </p:txBody>
      </p:sp>
      <p:sp>
        <p:nvSpPr>
          <p:cNvPr id="3" name="Tijdelijke aanduiding voor inhoud 2">
            <a:extLst>
              <a:ext uri="{FF2B5EF4-FFF2-40B4-BE49-F238E27FC236}">
                <a16:creationId xmlns:a16="http://schemas.microsoft.com/office/drawing/2014/main" id="{AE089854-E09A-00D6-C921-2D183B2922D9}"/>
              </a:ext>
            </a:extLst>
          </p:cNvPr>
          <p:cNvSpPr>
            <a:spLocks noGrp="1"/>
          </p:cNvSpPr>
          <p:nvPr>
            <p:ph idx="1"/>
          </p:nvPr>
        </p:nvSpPr>
        <p:spPr/>
        <p:txBody>
          <a:bodyPr/>
          <a:lstStyle/>
          <a:p>
            <a:endParaRPr lang="nl-BE"/>
          </a:p>
        </p:txBody>
      </p:sp>
    </p:spTree>
    <p:extLst>
      <p:ext uri="{BB962C8B-B14F-4D97-AF65-F5344CB8AC3E}">
        <p14:creationId xmlns:p14="http://schemas.microsoft.com/office/powerpoint/2010/main" val="12752996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p:txBody>
          <a:bodyPr/>
          <a:lstStyle/>
          <a:p>
            <a:pPr eaLnBrk="1" hangingPunct="1">
              <a:defRPr/>
            </a:pPr>
            <a:r>
              <a:rPr lang="nl-BE" dirty="0"/>
              <a:t>Opgave 2</a:t>
            </a:r>
            <a:endParaRPr lang="nl-NL" dirty="0"/>
          </a:p>
        </p:txBody>
      </p:sp>
      <p:sp>
        <p:nvSpPr>
          <p:cNvPr id="47107" name="Rectangle 3"/>
          <p:cNvSpPr>
            <a:spLocks noGrp="1" noRot="1" noChangeArrowheads="1"/>
          </p:cNvSpPr>
          <p:nvPr>
            <p:ph idx="1"/>
          </p:nvPr>
        </p:nvSpPr>
        <p:spPr/>
        <p:txBody>
          <a:bodyPr/>
          <a:lstStyle/>
          <a:p>
            <a:pPr eaLnBrk="1" hangingPunct="1">
              <a:defRPr/>
            </a:pPr>
            <a:r>
              <a:rPr lang="nl-BE" dirty="0"/>
              <a:t>Welke tangentiële snelheid moet je een satelliet geven opdat ze op een zekere afstand R van het middelpunt van de aarde zou cirkelen?</a:t>
            </a:r>
            <a:endParaRPr lang="nl-NL"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a:xfrm>
            <a:off x="1825625" y="-243408"/>
            <a:ext cx="8540750" cy="1143000"/>
          </a:xfrm>
        </p:spPr>
        <p:txBody>
          <a:bodyPr/>
          <a:lstStyle/>
          <a:p>
            <a:pPr eaLnBrk="1" hangingPunct="1">
              <a:defRPr/>
            </a:pPr>
            <a:r>
              <a:rPr lang="nl-BE" dirty="0"/>
              <a:t>Opgave 2</a:t>
            </a:r>
            <a:endParaRPr lang="nl-NL" dirty="0"/>
          </a:p>
        </p:txBody>
      </p:sp>
      <mc:AlternateContent xmlns:mc="http://schemas.openxmlformats.org/markup-compatibility/2006" xmlns:a14="http://schemas.microsoft.com/office/drawing/2010/main">
        <mc:Choice Requires="a14">
          <p:sp>
            <p:nvSpPr>
              <p:cNvPr id="47107" name="Rectangle 3"/>
              <p:cNvSpPr>
                <a:spLocks noGrp="1" noRot="1" noChangeArrowheads="1"/>
              </p:cNvSpPr>
              <p:nvPr>
                <p:ph idx="1"/>
              </p:nvPr>
            </p:nvSpPr>
            <p:spPr>
              <a:xfrm>
                <a:off x="623392" y="620688"/>
                <a:ext cx="11089232" cy="5976664"/>
              </a:xfrm>
            </p:spPr>
            <p:txBody>
              <a:bodyPr>
                <a:normAutofit/>
              </a:bodyPr>
              <a:lstStyle/>
              <a:p>
                <a:pPr eaLnBrk="1" hangingPunct="1">
                  <a:defRPr/>
                </a:pPr>
                <a:r>
                  <a:rPr lang="nl-BE" dirty="0"/>
                  <a:t>Welke tangentiële snelheid moet je een satelliet geven opdat ze op een zekere afstand R van het middelpunt van de aarde zou cirkelen?</a:t>
                </a:r>
              </a:p>
              <a:p>
                <a:pPr eaLnBrk="1" hangingPunct="1">
                  <a:defRPr/>
                </a:pPr>
                <a:endParaRPr lang="nl-BE" sz="1400" dirty="0"/>
              </a:p>
              <a:p>
                <a14:m>
                  <m:oMath xmlns:m="http://schemas.openxmlformats.org/officeDocument/2006/math">
                    <m:sSub>
                      <m:sSubPr>
                        <m:ctrlPr>
                          <a:rPr lang="nl-BE" i="1">
                            <a:latin typeface="Cambria Math" panose="02040503050406030204" pitchFamily="18" charset="0"/>
                          </a:rPr>
                        </m:ctrlPr>
                      </m:sSubPr>
                      <m:e>
                        <m:r>
                          <a:rPr lang="nl-BE" i="1">
                            <a:latin typeface="Cambria Math" panose="02040503050406030204" pitchFamily="18" charset="0"/>
                          </a:rPr>
                          <m:t>𝐹</m:t>
                        </m:r>
                      </m:e>
                      <m:sub>
                        <m:r>
                          <a:rPr lang="nl-BE" i="1">
                            <a:latin typeface="Cambria Math" panose="02040503050406030204" pitchFamily="18" charset="0"/>
                          </a:rPr>
                          <m:t>𝑐𝑝</m:t>
                        </m:r>
                      </m:sub>
                    </m:sSub>
                    <m:r>
                      <a:rPr lang="nl-BE" i="1">
                        <a:latin typeface="Cambria Math" panose="02040503050406030204" pitchFamily="18" charset="0"/>
                      </a:rPr>
                      <m:t>=</m:t>
                    </m:r>
                    <m:sSub>
                      <m:sSubPr>
                        <m:ctrlPr>
                          <a:rPr lang="nl-BE" i="1">
                            <a:latin typeface="Cambria Math" panose="02040503050406030204" pitchFamily="18" charset="0"/>
                          </a:rPr>
                        </m:ctrlPr>
                      </m:sSubPr>
                      <m:e>
                        <m:r>
                          <a:rPr lang="nl-BE" i="1">
                            <a:latin typeface="Cambria Math" panose="02040503050406030204" pitchFamily="18" charset="0"/>
                          </a:rPr>
                          <m:t>𝐹</m:t>
                        </m:r>
                      </m:e>
                      <m:sub>
                        <m:r>
                          <a:rPr lang="nl-BE" i="1">
                            <a:latin typeface="Cambria Math" panose="02040503050406030204" pitchFamily="18" charset="0"/>
                          </a:rPr>
                          <m:t>𝑔</m:t>
                        </m:r>
                      </m:sub>
                    </m:sSub>
                  </m:oMath>
                </a14:m>
                <a:endParaRPr lang="nl-BE" dirty="0"/>
              </a:p>
              <a:p>
                <a14:m>
                  <m:oMath xmlns:m="http://schemas.openxmlformats.org/officeDocument/2006/math">
                    <m:f>
                      <m:fPr>
                        <m:ctrlPr>
                          <a:rPr lang="nl-BE" i="1">
                            <a:latin typeface="Cambria Math" panose="02040503050406030204" pitchFamily="18" charset="0"/>
                          </a:rPr>
                        </m:ctrlPr>
                      </m:fPr>
                      <m:num>
                        <m:r>
                          <a:rPr lang="nl-BE" i="1">
                            <a:latin typeface="Cambria Math" panose="02040503050406030204" pitchFamily="18" charset="0"/>
                          </a:rPr>
                          <m:t>𝑚</m:t>
                        </m:r>
                        <m:r>
                          <a:rPr lang="nl-BE" i="1">
                            <a:latin typeface="Cambria Math" panose="02040503050406030204" pitchFamily="18" charset="0"/>
                          </a:rPr>
                          <m:t>.</m:t>
                        </m:r>
                        <m:r>
                          <a:rPr lang="nl-BE" i="1">
                            <a:latin typeface="Cambria Math" panose="02040503050406030204" pitchFamily="18" charset="0"/>
                          </a:rPr>
                          <m:t>𝑣</m:t>
                        </m:r>
                        <m:r>
                          <a:rPr lang="nl-BE" i="1">
                            <a:latin typeface="Cambria Math" panose="02040503050406030204" pitchFamily="18" charset="0"/>
                          </a:rPr>
                          <m:t>²</m:t>
                        </m:r>
                      </m:num>
                      <m:den>
                        <m:r>
                          <a:rPr lang="nl-BE" b="0" i="1" smtClean="0">
                            <a:latin typeface="Cambria Math" panose="02040503050406030204" pitchFamily="18" charset="0"/>
                          </a:rPr>
                          <m:t>𝑅</m:t>
                        </m:r>
                      </m:den>
                    </m:f>
                    <m:r>
                      <a:rPr lang="nl-BE" i="1">
                        <a:latin typeface="Cambria Math" panose="02040503050406030204" pitchFamily="18" charset="0"/>
                      </a:rPr>
                      <m:t>=</m:t>
                    </m:r>
                    <m:r>
                      <a:rPr lang="nl-BE" i="1">
                        <a:latin typeface="Cambria Math" panose="02040503050406030204" pitchFamily="18" charset="0"/>
                      </a:rPr>
                      <m:t>𝐺</m:t>
                    </m:r>
                    <m:f>
                      <m:fPr>
                        <m:ctrlPr>
                          <a:rPr lang="nl-BE" i="1">
                            <a:latin typeface="Cambria Math" panose="02040503050406030204" pitchFamily="18" charset="0"/>
                          </a:rPr>
                        </m:ctrlPr>
                      </m:fPr>
                      <m:num>
                        <m:r>
                          <a:rPr lang="nl-BE" i="1">
                            <a:latin typeface="Cambria Math" panose="02040503050406030204" pitchFamily="18" charset="0"/>
                          </a:rPr>
                          <m:t>𝑚</m:t>
                        </m:r>
                        <m:r>
                          <a:rPr lang="nl-BE" i="1">
                            <a:latin typeface="Cambria Math" panose="02040503050406030204" pitchFamily="18" charset="0"/>
                          </a:rPr>
                          <m:t>.</m:t>
                        </m:r>
                        <m:sSub>
                          <m:sSubPr>
                            <m:ctrlPr>
                              <a:rPr lang="nl-BE" i="1">
                                <a:latin typeface="Cambria Math" panose="02040503050406030204" pitchFamily="18" charset="0"/>
                              </a:rPr>
                            </m:ctrlPr>
                          </m:sSubPr>
                          <m:e>
                            <m:r>
                              <a:rPr lang="nl-BE" i="1">
                                <a:latin typeface="Cambria Math" panose="02040503050406030204" pitchFamily="18" charset="0"/>
                              </a:rPr>
                              <m:t>𝑚</m:t>
                            </m:r>
                          </m:e>
                          <m:sub>
                            <m:r>
                              <a:rPr lang="nl-BE" i="1">
                                <a:latin typeface="Cambria Math" panose="02040503050406030204" pitchFamily="18" charset="0"/>
                              </a:rPr>
                              <m:t>𝑎𝑎𝑟𝑑𝑒</m:t>
                            </m:r>
                          </m:sub>
                        </m:sSub>
                      </m:num>
                      <m:den>
                        <m:r>
                          <a:rPr lang="nl-BE" b="0" i="1" smtClean="0">
                            <a:latin typeface="Cambria Math" panose="02040503050406030204" pitchFamily="18" charset="0"/>
                          </a:rPr>
                          <m:t>𝑅</m:t>
                        </m:r>
                        <m:r>
                          <a:rPr lang="nl-BE" i="1">
                            <a:latin typeface="Cambria Math" panose="02040503050406030204" pitchFamily="18" charset="0"/>
                          </a:rPr>
                          <m:t>²</m:t>
                        </m:r>
                      </m:den>
                    </m:f>
                  </m:oMath>
                </a14:m>
                <a:endParaRPr lang="nl-BE" dirty="0"/>
              </a:p>
              <a:p>
                <a14:m>
                  <m:oMath xmlns:m="http://schemas.openxmlformats.org/officeDocument/2006/math">
                    <m:sSup>
                      <m:sSupPr>
                        <m:ctrlPr>
                          <a:rPr lang="nl-BE" i="1">
                            <a:latin typeface="Cambria Math" panose="02040503050406030204" pitchFamily="18" charset="0"/>
                          </a:rPr>
                        </m:ctrlPr>
                      </m:sSupPr>
                      <m:e>
                        <m:r>
                          <a:rPr lang="nl-BE" i="1">
                            <a:latin typeface="Cambria Math" panose="02040503050406030204" pitchFamily="18" charset="0"/>
                          </a:rPr>
                          <m:t>𝑣</m:t>
                        </m:r>
                      </m:e>
                      <m:sup>
                        <m:r>
                          <a:rPr lang="nl-BE" i="1">
                            <a:latin typeface="Cambria Math" panose="02040503050406030204" pitchFamily="18" charset="0"/>
                          </a:rPr>
                          <m:t>2</m:t>
                        </m:r>
                      </m:sup>
                    </m:sSup>
                    <m:r>
                      <a:rPr lang="nl-BE" i="1">
                        <a:latin typeface="Cambria Math" panose="02040503050406030204" pitchFamily="18" charset="0"/>
                      </a:rPr>
                      <m:t>=</m:t>
                    </m:r>
                    <m:f>
                      <m:fPr>
                        <m:ctrlPr>
                          <a:rPr lang="nl-BE" i="1">
                            <a:latin typeface="Cambria Math" panose="02040503050406030204" pitchFamily="18" charset="0"/>
                          </a:rPr>
                        </m:ctrlPr>
                      </m:fPr>
                      <m:num>
                        <m:r>
                          <a:rPr lang="nl-BE" i="1">
                            <a:latin typeface="Cambria Math" panose="02040503050406030204" pitchFamily="18" charset="0"/>
                          </a:rPr>
                          <m:t>𝐺</m:t>
                        </m:r>
                        <m:r>
                          <a:rPr lang="nl-BE" i="1">
                            <a:latin typeface="Cambria Math" panose="02040503050406030204" pitchFamily="18" charset="0"/>
                          </a:rPr>
                          <m:t>.</m:t>
                        </m:r>
                        <m:sSub>
                          <m:sSubPr>
                            <m:ctrlPr>
                              <a:rPr lang="nl-BE" i="1">
                                <a:latin typeface="Cambria Math" panose="02040503050406030204" pitchFamily="18" charset="0"/>
                              </a:rPr>
                            </m:ctrlPr>
                          </m:sSubPr>
                          <m:e>
                            <m:r>
                              <a:rPr lang="nl-BE" i="1">
                                <a:latin typeface="Cambria Math" panose="02040503050406030204" pitchFamily="18" charset="0"/>
                              </a:rPr>
                              <m:t>𝑚</m:t>
                            </m:r>
                          </m:e>
                          <m:sub>
                            <m:r>
                              <a:rPr lang="nl-BE" i="1">
                                <a:latin typeface="Cambria Math" panose="02040503050406030204" pitchFamily="18" charset="0"/>
                              </a:rPr>
                              <m:t>𝑎𝑎𝑟𝑑𝑒</m:t>
                            </m:r>
                          </m:sub>
                        </m:sSub>
                      </m:num>
                      <m:den>
                        <m:r>
                          <a:rPr lang="nl-BE" b="0" i="1" smtClean="0">
                            <a:latin typeface="Cambria Math" panose="02040503050406030204" pitchFamily="18" charset="0"/>
                          </a:rPr>
                          <m:t>𝑅</m:t>
                        </m:r>
                      </m:den>
                    </m:f>
                    <m:r>
                      <a:rPr lang="nl-BE" i="1">
                        <a:latin typeface="Cambria Math" panose="02040503050406030204" pitchFamily="18" charset="0"/>
                      </a:rPr>
                      <m:t>      </m:t>
                    </m:r>
                  </m:oMath>
                </a14:m>
                <a:endParaRPr lang="nl-BE" dirty="0"/>
              </a:p>
              <a:p>
                <a14:m>
                  <m:oMath xmlns:m="http://schemas.openxmlformats.org/officeDocument/2006/math">
                    <m:r>
                      <a:rPr lang="nl-BE" i="1">
                        <a:latin typeface="Cambria Math" panose="02040503050406030204" pitchFamily="18" charset="0"/>
                      </a:rPr>
                      <m:t>𝑣</m:t>
                    </m:r>
                    <m:r>
                      <a:rPr lang="nl-BE" i="1">
                        <a:latin typeface="Cambria Math" panose="02040503050406030204" pitchFamily="18" charset="0"/>
                      </a:rPr>
                      <m:t>=</m:t>
                    </m:r>
                    <m:rad>
                      <m:radPr>
                        <m:degHide m:val="on"/>
                        <m:ctrlPr>
                          <a:rPr lang="nl-BE" i="1">
                            <a:latin typeface="Cambria Math" panose="02040503050406030204" pitchFamily="18" charset="0"/>
                          </a:rPr>
                        </m:ctrlPr>
                      </m:radPr>
                      <m:deg/>
                      <m:e>
                        <m:f>
                          <m:fPr>
                            <m:ctrlPr>
                              <a:rPr lang="nl-BE" i="1">
                                <a:latin typeface="Cambria Math" panose="02040503050406030204" pitchFamily="18" charset="0"/>
                              </a:rPr>
                            </m:ctrlPr>
                          </m:fPr>
                          <m:num>
                            <m:r>
                              <a:rPr lang="nl-BE" i="1">
                                <a:latin typeface="Cambria Math" panose="02040503050406030204" pitchFamily="18" charset="0"/>
                              </a:rPr>
                              <m:t>𝐺</m:t>
                            </m:r>
                            <m:r>
                              <a:rPr lang="nl-BE" i="1">
                                <a:latin typeface="Cambria Math" panose="02040503050406030204" pitchFamily="18" charset="0"/>
                              </a:rPr>
                              <m:t>.</m:t>
                            </m:r>
                            <m:sSub>
                              <m:sSubPr>
                                <m:ctrlPr>
                                  <a:rPr lang="nl-BE" i="1">
                                    <a:latin typeface="Cambria Math" panose="02040503050406030204" pitchFamily="18" charset="0"/>
                                  </a:rPr>
                                </m:ctrlPr>
                              </m:sSubPr>
                              <m:e>
                                <m:r>
                                  <a:rPr lang="nl-BE" i="1">
                                    <a:latin typeface="Cambria Math" panose="02040503050406030204" pitchFamily="18" charset="0"/>
                                  </a:rPr>
                                  <m:t>𝑚</m:t>
                                </m:r>
                              </m:e>
                              <m:sub>
                                <m:r>
                                  <a:rPr lang="nl-BE" i="1">
                                    <a:latin typeface="Cambria Math" panose="02040503050406030204" pitchFamily="18" charset="0"/>
                                  </a:rPr>
                                  <m:t>𝑎𝑎𝑟𝑑𝑒</m:t>
                                </m:r>
                              </m:sub>
                            </m:sSub>
                          </m:num>
                          <m:den>
                            <m:r>
                              <a:rPr lang="nl-BE" b="0" i="1" smtClean="0">
                                <a:latin typeface="Cambria Math" panose="02040503050406030204" pitchFamily="18" charset="0"/>
                              </a:rPr>
                              <m:t>𝑅</m:t>
                            </m:r>
                          </m:den>
                        </m:f>
                        <m:r>
                          <a:rPr lang="nl-BE" i="1">
                            <a:latin typeface="Cambria Math" panose="02040503050406030204" pitchFamily="18" charset="0"/>
                          </a:rPr>
                          <m:t> </m:t>
                        </m:r>
                      </m:e>
                    </m:rad>
                    <m:r>
                      <a:rPr lang="nl-BE" i="1">
                        <a:latin typeface="Cambria Math" panose="02040503050406030204" pitchFamily="18" charset="0"/>
                      </a:rPr>
                      <m:t>     </m:t>
                    </m:r>
                  </m:oMath>
                </a14:m>
                <a:endParaRPr lang="nl-BE" dirty="0"/>
              </a:p>
              <a:p>
                <a14:m>
                  <m:oMath xmlns:m="http://schemas.openxmlformats.org/officeDocument/2006/math">
                    <m:r>
                      <a:rPr lang="nl-BE" i="1">
                        <a:latin typeface="Cambria Math" panose="02040503050406030204" pitchFamily="18" charset="0"/>
                      </a:rPr>
                      <m:t>𝑣</m:t>
                    </m:r>
                    <m:r>
                      <a:rPr lang="nl-BE" i="1">
                        <a:latin typeface="Cambria Math" panose="02040503050406030204" pitchFamily="18" charset="0"/>
                      </a:rPr>
                      <m:t>=</m:t>
                    </m:r>
                    <m:rad>
                      <m:radPr>
                        <m:degHide m:val="on"/>
                        <m:ctrlPr>
                          <a:rPr lang="nl-BE" i="1">
                            <a:latin typeface="Cambria Math" panose="02040503050406030204" pitchFamily="18" charset="0"/>
                          </a:rPr>
                        </m:ctrlPr>
                      </m:radPr>
                      <m:deg/>
                      <m:e>
                        <m:f>
                          <m:fPr>
                            <m:ctrlPr>
                              <a:rPr lang="nl-BE" i="1">
                                <a:latin typeface="Cambria Math" panose="02040503050406030204" pitchFamily="18" charset="0"/>
                              </a:rPr>
                            </m:ctrlPr>
                          </m:fPr>
                          <m:num>
                            <m:r>
                              <a:rPr lang="nl-BE" i="1">
                                <a:latin typeface="Cambria Math" panose="02040503050406030204" pitchFamily="18" charset="0"/>
                              </a:rPr>
                              <m:t>6,672.</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−11</m:t>
                                </m:r>
                              </m:sup>
                            </m:sSup>
                            <m:r>
                              <a:rPr lang="nl-BE" i="1">
                                <a:latin typeface="Cambria Math" panose="02040503050406030204" pitchFamily="18" charset="0"/>
                              </a:rPr>
                              <m:t>.5,974.</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24</m:t>
                                </m:r>
                              </m:sup>
                            </m:sSup>
                          </m:num>
                          <m:den>
                            <m:r>
                              <a:rPr lang="nl-BE" b="0" i="1" smtClean="0">
                                <a:latin typeface="Cambria Math" panose="02040503050406030204" pitchFamily="18" charset="0"/>
                              </a:rPr>
                              <m:t>𝑅</m:t>
                            </m:r>
                          </m:den>
                        </m:f>
                        <m:r>
                          <a:rPr lang="nl-BE" i="1">
                            <a:latin typeface="Cambria Math" panose="02040503050406030204" pitchFamily="18" charset="0"/>
                          </a:rPr>
                          <m:t> </m:t>
                        </m:r>
                      </m:e>
                    </m:rad>
                    <m:r>
                      <a:rPr lang="nl-BE" i="1">
                        <a:latin typeface="Cambria Math" panose="02040503050406030204" pitchFamily="18" charset="0"/>
                      </a:rPr>
                      <m:t>    </m:t>
                    </m:r>
                  </m:oMath>
                </a14:m>
                <a:endParaRPr lang="nl-BE" dirty="0"/>
              </a:p>
              <a:p>
                <a14:m>
                  <m:oMath xmlns:m="http://schemas.openxmlformats.org/officeDocument/2006/math">
                    <m:r>
                      <a:rPr lang="nl-BE" i="1">
                        <a:latin typeface="Cambria Math" panose="02040503050406030204" pitchFamily="18" charset="0"/>
                      </a:rPr>
                      <m:t>𝑣</m:t>
                    </m:r>
                    <m:r>
                      <a:rPr lang="nl-BE" i="1">
                        <a:latin typeface="Cambria Math" panose="02040503050406030204" pitchFamily="18" charset="0"/>
                      </a:rPr>
                      <m:t>=</m:t>
                    </m:r>
                    <m:rad>
                      <m:radPr>
                        <m:degHide m:val="on"/>
                        <m:ctrlPr>
                          <a:rPr lang="nl-BE" i="1">
                            <a:latin typeface="Cambria Math" panose="02040503050406030204" pitchFamily="18" charset="0"/>
                          </a:rPr>
                        </m:ctrlPr>
                      </m:radPr>
                      <m:deg/>
                      <m:e>
                        <m:f>
                          <m:fPr>
                            <m:ctrlPr>
                              <a:rPr lang="nl-BE" i="1">
                                <a:latin typeface="Cambria Math" panose="02040503050406030204" pitchFamily="18" charset="0"/>
                              </a:rPr>
                            </m:ctrlPr>
                          </m:fPr>
                          <m:num>
                            <m:r>
                              <a:rPr lang="nl-BE" i="1">
                                <a:latin typeface="Cambria Math" panose="02040503050406030204" pitchFamily="18" charset="0"/>
                              </a:rPr>
                              <m:t>3,986.</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14</m:t>
                                </m:r>
                              </m:sup>
                            </m:sSup>
                          </m:num>
                          <m:den>
                            <m:r>
                              <a:rPr lang="nl-BE" b="0" i="1" smtClean="0">
                                <a:latin typeface="Cambria Math" panose="02040503050406030204" pitchFamily="18" charset="0"/>
                              </a:rPr>
                              <m:t>𝑅</m:t>
                            </m:r>
                          </m:den>
                        </m:f>
                        <m:r>
                          <a:rPr lang="nl-BE" i="1">
                            <a:latin typeface="Cambria Math" panose="02040503050406030204" pitchFamily="18" charset="0"/>
                          </a:rPr>
                          <m:t> </m:t>
                        </m:r>
                      </m:e>
                    </m:rad>
                  </m:oMath>
                </a14:m>
                <a:endParaRPr lang="nl-NL" dirty="0"/>
              </a:p>
            </p:txBody>
          </p:sp>
        </mc:Choice>
        <mc:Fallback xmlns="">
          <p:sp>
            <p:nvSpPr>
              <p:cNvPr id="47107" name="Rectangle 3"/>
              <p:cNvSpPr>
                <a:spLocks noGrp="1" noRot="1" noChangeAspect="1" noMove="1" noResize="1" noEditPoints="1" noAdjustHandles="1" noChangeArrowheads="1" noChangeShapeType="1" noTextEdit="1"/>
              </p:cNvSpPr>
              <p:nvPr>
                <p:ph idx="1"/>
              </p:nvPr>
            </p:nvSpPr>
            <p:spPr>
              <a:xfrm>
                <a:off x="623392" y="620688"/>
                <a:ext cx="11089232" cy="5976664"/>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485399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0" name="Rectangle 8"/>
          <p:cNvSpPr>
            <a:spLocks noGrp="1" noRot="1" noChangeArrowheads="1"/>
          </p:cNvSpPr>
          <p:nvPr>
            <p:ph type="title"/>
          </p:nvPr>
        </p:nvSpPr>
        <p:spPr/>
        <p:txBody>
          <a:bodyPr/>
          <a:lstStyle/>
          <a:p>
            <a:pPr eaLnBrk="1" hangingPunct="1">
              <a:defRPr/>
            </a:pPr>
            <a:r>
              <a:rPr lang="nl-BE" dirty="0"/>
              <a:t>Opgave 2</a:t>
            </a:r>
            <a:endParaRPr lang="nl-NL" dirty="0"/>
          </a:p>
        </p:txBody>
      </p:sp>
      <p:sp>
        <p:nvSpPr>
          <p:cNvPr id="49155" name="Rectangle 3"/>
          <p:cNvSpPr>
            <a:spLocks noGrp="1" noRot="1" noChangeArrowheads="1"/>
          </p:cNvSpPr>
          <p:nvPr>
            <p:ph type="body" sz="half" idx="1"/>
          </p:nvPr>
        </p:nvSpPr>
        <p:spPr>
          <a:xfrm>
            <a:off x="839416" y="1600201"/>
            <a:ext cx="9433297" cy="4498975"/>
          </a:xfrm>
        </p:spPr>
        <p:txBody>
          <a:bodyPr/>
          <a:lstStyle/>
          <a:p>
            <a:pPr eaLnBrk="1" hangingPunct="1">
              <a:defRPr/>
            </a:pPr>
            <a:r>
              <a:rPr lang="nl-BE" sz="2800" u="sng" dirty="0"/>
              <a:t>Opmerking:</a:t>
            </a:r>
            <a:r>
              <a:rPr lang="nl-BE" sz="2800" dirty="0"/>
              <a:t> Hoe dichter bij aardoppervlak, hoe groter baansnelheid van satelliet moet zijn om niet op aarde te vallen.</a:t>
            </a:r>
          </a:p>
          <a:p>
            <a:pPr eaLnBrk="1" hangingPunct="1">
              <a:defRPr/>
            </a:pPr>
            <a:endParaRPr lang="nl-BE" sz="2800" dirty="0"/>
          </a:p>
          <a:p>
            <a:pPr eaLnBrk="1" hangingPunct="1">
              <a:defRPr/>
            </a:pPr>
            <a:endParaRPr lang="nl-BE" sz="2800" dirty="0"/>
          </a:p>
          <a:p>
            <a:pPr eaLnBrk="1" hangingPunct="1">
              <a:defRPr/>
            </a:pPr>
            <a:endParaRPr lang="nl-BE" sz="2800" dirty="0"/>
          </a:p>
          <a:p>
            <a:pPr eaLnBrk="1" hangingPunct="1">
              <a:buFont typeface="Arial" charset="0"/>
              <a:buNone/>
              <a:defRPr/>
            </a:pPr>
            <a:endParaRPr lang="nl-BE" sz="2800" dirty="0"/>
          </a:p>
          <a:p>
            <a:pPr eaLnBrk="1" hangingPunct="1">
              <a:buFont typeface="Arial" charset="0"/>
              <a:buNone/>
              <a:defRPr/>
            </a:pPr>
            <a:endParaRPr lang="nl-BE" sz="2800" dirty="0"/>
          </a:p>
          <a:p>
            <a:pPr eaLnBrk="1" hangingPunct="1">
              <a:buFont typeface="Arial" charset="0"/>
              <a:buNone/>
              <a:defRPr/>
            </a:pPr>
            <a:r>
              <a:rPr lang="nl-BE" sz="2800" dirty="0"/>
              <a:t>                               dus als R</a:t>
            </a:r>
            <a:r>
              <a:rPr lang="nl-BE" sz="2800" dirty="0">
                <a:sym typeface="Wingdings 3" pitchFamily="18" charset="2"/>
              </a:rPr>
              <a:t> zal v </a:t>
            </a:r>
          </a:p>
        </p:txBody>
      </p:sp>
      <mc:AlternateContent xmlns:mc="http://schemas.openxmlformats.org/markup-compatibility/2006" xmlns:a14="http://schemas.microsoft.com/office/drawing/2010/main">
        <mc:Choice Requires="a14">
          <p:sp>
            <p:nvSpPr>
              <p:cNvPr id="7170" name="Object 4"/>
              <p:cNvSpPr txBox="1">
                <a:spLocks noGrp="1"/>
              </p:cNvSpPr>
              <p:nvPr>
                <p:ph sz="quarter" idx="2"/>
              </p:nvPr>
            </p:nvSpPr>
            <p:spPr bwMode="auto">
              <a:xfrm>
                <a:off x="4800600" y="3071813"/>
                <a:ext cx="2379663" cy="1514475"/>
              </a:xfrm>
              <a:prstGeom prst="rect">
                <a:avLst/>
              </a:prstGeom>
              <a:noFill/>
            </p:spPr>
            <p:txBody>
              <a:bodyPr>
                <a:noAutofit/>
              </a:bodyPr>
              <a:lstStyle/>
              <a:p>
                <a:pPr>
                  <a:buNone/>
                </a:pPr>
                <a14:m>
                  <m:oMathPara xmlns:m="http://schemas.openxmlformats.org/officeDocument/2006/math">
                    <m:oMathParaPr>
                      <m:jc m:val="left"/>
                    </m:oMathParaPr>
                    <m:oMath xmlns:m="http://schemas.openxmlformats.org/officeDocument/2006/math">
                      <m:r>
                        <a:rPr lang="nl-BE" sz="3200" i="1" smtClean="0">
                          <a:solidFill>
                            <a:schemeClr val="tx1">
                              <a:lumMod val="95000"/>
                            </a:schemeClr>
                          </a:solidFill>
                          <a:latin typeface="Cambria Math" panose="02040503050406030204" pitchFamily="18" charset="0"/>
                        </a:rPr>
                        <m:t>𝑣</m:t>
                      </m:r>
                      <m:r>
                        <a:rPr lang="nl-BE" sz="3200" i="1" smtClean="0">
                          <a:solidFill>
                            <a:schemeClr val="tx1">
                              <a:lumMod val="95000"/>
                            </a:schemeClr>
                          </a:solidFill>
                          <a:latin typeface="Cambria Math" panose="02040503050406030204" pitchFamily="18" charset="0"/>
                        </a:rPr>
                        <m:t>=</m:t>
                      </m:r>
                      <m:rad>
                        <m:radPr>
                          <m:degHide m:val="on"/>
                          <m:ctrlPr>
                            <a:rPr lang="nl-BE" sz="3200" i="1">
                              <a:solidFill>
                                <a:schemeClr val="tx1">
                                  <a:lumMod val="95000"/>
                                </a:schemeClr>
                              </a:solidFill>
                              <a:latin typeface="Cambria Math" panose="02040503050406030204" pitchFamily="18" charset="0"/>
                            </a:rPr>
                          </m:ctrlPr>
                        </m:radPr>
                        <m:deg/>
                        <m:e>
                          <m:f>
                            <m:fPr>
                              <m:ctrlPr>
                                <a:rPr lang="nl-BE" sz="3200" i="1" smtClean="0">
                                  <a:solidFill>
                                    <a:schemeClr val="tx1">
                                      <a:lumMod val="95000"/>
                                    </a:schemeClr>
                                  </a:solidFill>
                                  <a:latin typeface="Cambria Math" panose="02040503050406030204" pitchFamily="18" charset="0"/>
                                </a:rPr>
                              </m:ctrlPr>
                            </m:fPr>
                            <m:num>
                              <m:r>
                                <a:rPr lang="nl-BE" sz="3200" i="1">
                                  <a:solidFill>
                                    <a:schemeClr val="tx1">
                                      <a:lumMod val="95000"/>
                                    </a:schemeClr>
                                  </a:solidFill>
                                  <a:latin typeface="Cambria Math" panose="02040503050406030204" pitchFamily="18" charset="0"/>
                                </a:rPr>
                                <m:t>𝐺</m:t>
                              </m:r>
                              <m:r>
                                <a:rPr lang="nl-BE" sz="3200" i="1">
                                  <a:solidFill>
                                    <a:schemeClr val="tx1">
                                      <a:lumMod val="95000"/>
                                    </a:schemeClr>
                                  </a:solidFill>
                                  <a:latin typeface="Cambria Math" panose="02040503050406030204" pitchFamily="18" charset="0"/>
                                </a:rPr>
                                <m:t>.</m:t>
                              </m:r>
                              <m:r>
                                <a:rPr lang="nl-BE" sz="3200" i="1">
                                  <a:solidFill>
                                    <a:schemeClr val="tx1">
                                      <a:lumMod val="95000"/>
                                    </a:schemeClr>
                                  </a:solidFill>
                                  <a:latin typeface="Cambria Math" panose="02040503050406030204" pitchFamily="18" charset="0"/>
                                </a:rPr>
                                <m:t>𝑚𝑎</m:t>
                              </m:r>
                            </m:num>
                            <m:den>
                              <m:r>
                                <a:rPr lang="nl-BE" sz="3200" b="0" i="1" smtClean="0">
                                  <a:solidFill>
                                    <a:schemeClr val="tx1">
                                      <a:lumMod val="95000"/>
                                    </a:schemeClr>
                                  </a:solidFill>
                                  <a:latin typeface="Cambria Math" panose="02040503050406030204" pitchFamily="18" charset="0"/>
                                </a:rPr>
                                <m:t>𝑅</m:t>
                              </m:r>
                            </m:den>
                          </m:f>
                        </m:e>
                      </m:rad>
                    </m:oMath>
                  </m:oMathPara>
                </a14:m>
                <a:endParaRPr lang="nl-BE" sz="3200" dirty="0">
                  <a:solidFill>
                    <a:schemeClr val="tx1">
                      <a:lumMod val="95000"/>
                    </a:schemeClr>
                  </a:solidFill>
                </a:endParaRPr>
              </a:p>
            </p:txBody>
          </p:sp>
        </mc:Choice>
        <mc:Fallback xmlns="">
          <p:sp>
            <p:nvSpPr>
              <p:cNvPr id="7170" name="Object 4"/>
              <p:cNvSpPr txBox="1">
                <a:spLocks noRot="1" noChangeAspect="1" noMove="1" noResize="1" noEditPoints="1" noAdjustHandles="1" noChangeArrowheads="1" noChangeShapeType="1" noTextEdit="1"/>
              </p:cNvSpPr>
              <p:nvPr>
                <p:ph sz="quarter" idx="2"/>
              </p:nvPr>
            </p:nvSpPr>
            <p:spPr bwMode="auto">
              <a:xfrm>
                <a:off x="4800600" y="3071813"/>
                <a:ext cx="2379663" cy="1514475"/>
              </a:xfrm>
              <a:prstGeom prst="rect">
                <a:avLst/>
              </a:prstGeom>
              <a:blipFill>
                <a:blip r:embed="rId2"/>
                <a:stretch>
                  <a:fillRect/>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7171" name="Object 7"/>
              <p:cNvSpPr txBox="1">
                <a:spLocks noGrp="1"/>
              </p:cNvSpPr>
              <p:nvPr>
                <p:ph sz="quarter" idx="3"/>
              </p:nvPr>
            </p:nvSpPr>
            <p:spPr bwMode="auto">
              <a:xfrm>
                <a:off x="1271588" y="5008563"/>
                <a:ext cx="1914525" cy="1344612"/>
              </a:xfrm>
              <a:prstGeom prst="rect">
                <a:avLst/>
              </a:prstGeom>
              <a:noFill/>
            </p:spPr>
            <p:txBody>
              <a:bodyPr>
                <a:normAutofit/>
              </a:bodyPr>
              <a:lstStyle/>
              <a:p>
                <a:pPr>
                  <a:buNone/>
                </a:pPr>
                <a14:m>
                  <m:oMathPara xmlns:m="http://schemas.openxmlformats.org/officeDocument/2006/math">
                    <m:oMathParaPr>
                      <m:jc m:val="left"/>
                    </m:oMathParaPr>
                    <m:oMath xmlns:m="http://schemas.openxmlformats.org/officeDocument/2006/math">
                      <m:r>
                        <a:rPr lang="nl-BE" sz="3200" i="1" smtClean="0">
                          <a:solidFill>
                            <a:schemeClr val="tx1">
                              <a:lumMod val="95000"/>
                            </a:schemeClr>
                          </a:solidFill>
                          <a:latin typeface="Cambria Math" panose="02040503050406030204" pitchFamily="18" charset="0"/>
                        </a:rPr>
                        <m:t>𝑣</m:t>
                      </m:r>
                      <m:r>
                        <a:rPr lang="nl-BE" sz="3200" i="1" smtClean="0">
                          <a:solidFill>
                            <a:schemeClr val="tx1">
                              <a:lumMod val="95000"/>
                            </a:schemeClr>
                          </a:solidFill>
                          <a:latin typeface="Cambria Math" panose="02040503050406030204" pitchFamily="18" charset="0"/>
                        </a:rPr>
                        <m:t>~</m:t>
                      </m:r>
                      <m:f>
                        <m:fPr>
                          <m:ctrlPr>
                            <a:rPr lang="nl-BE" sz="3200" i="1">
                              <a:solidFill>
                                <a:schemeClr val="tx1">
                                  <a:lumMod val="95000"/>
                                </a:schemeClr>
                              </a:solidFill>
                              <a:latin typeface="Cambria Math" panose="02040503050406030204" pitchFamily="18" charset="0"/>
                            </a:rPr>
                          </m:ctrlPr>
                        </m:fPr>
                        <m:num>
                          <m:r>
                            <a:rPr lang="nl-BE" sz="3200" i="1">
                              <a:solidFill>
                                <a:schemeClr val="tx1">
                                  <a:lumMod val="95000"/>
                                </a:schemeClr>
                              </a:solidFill>
                              <a:latin typeface="Cambria Math" panose="02040503050406030204" pitchFamily="18" charset="0"/>
                            </a:rPr>
                            <m:t>1</m:t>
                          </m:r>
                        </m:num>
                        <m:den>
                          <m:rad>
                            <m:radPr>
                              <m:degHide m:val="on"/>
                              <m:ctrlPr>
                                <a:rPr lang="nl-BE" sz="3200" i="1">
                                  <a:solidFill>
                                    <a:schemeClr val="tx1">
                                      <a:lumMod val="95000"/>
                                    </a:schemeClr>
                                  </a:solidFill>
                                  <a:latin typeface="Cambria Math" panose="02040503050406030204" pitchFamily="18" charset="0"/>
                                </a:rPr>
                              </m:ctrlPr>
                            </m:radPr>
                            <m:deg/>
                            <m:e>
                              <m:r>
                                <a:rPr lang="nl-BE" sz="3200" b="0" i="1" smtClean="0">
                                  <a:solidFill>
                                    <a:schemeClr val="tx1">
                                      <a:lumMod val="95000"/>
                                    </a:schemeClr>
                                  </a:solidFill>
                                  <a:latin typeface="Cambria Math" panose="02040503050406030204" pitchFamily="18" charset="0"/>
                                </a:rPr>
                                <m:t>𝑅</m:t>
                              </m:r>
                            </m:e>
                          </m:rad>
                        </m:den>
                      </m:f>
                      <m:r>
                        <m:rPr>
                          <m:nor/>
                        </m:rPr>
                        <a:rPr lang="nl-BE" sz="3200" i="0">
                          <a:solidFill>
                            <a:schemeClr val="tx1">
                              <a:lumMod val="95000"/>
                            </a:schemeClr>
                          </a:solidFill>
                          <a:latin typeface="Cambria Math" panose="02040503050406030204" pitchFamily="18" charset="0"/>
                        </a:rPr>
                        <m:t>   </m:t>
                      </m:r>
                    </m:oMath>
                  </m:oMathPara>
                </a14:m>
                <a:endParaRPr lang="nl-BE" sz="3200" dirty="0">
                  <a:solidFill>
                    <a:schemeClr val="tx1">
                      <a:lumMod val="95000"/>
                    </a:schemeClr>
                  </a:solidFill>
                </a:endParaRPr>
              </a:p>
            </p:txBody>
          </p:sp>
        </mc:Choice>
        <mc:Fallback xmlns="">
          <p:sp>
            <p:nvSpPr>
              <p:cNvPr id="7171" name="Object 7"/>
              <p:cNvSpPr txBox="1">
                <a:spLocks noRot="1" noChangeAspect="1" noMove="1" noResize="1" noEditPoints="1" noAdjustHandles="1" noChangeArrowheads="1" noChangeShapeType="1" noTextEdit="1"/>
              </p:cNvSpPr>
              <p:nvPr>
                <p:ph sz="quarter" idx="3"/>
              </p:nvPr>
            </p:nvSpPr>
            <p:spPr bwMode="auto">
              <a:xfrm>
                <a:off x="1271588" y="5008563"/>
                <a:ext cx="1914525" cy="1344612"/>
              </a:xfrm>
              <a:prstGeom prst="rect">
                <a:avLst/>
              </a:prstGeom>
              <a:blipFill>
                <a:blip r:embed="rId3"/>
                <a:stretch>
                  <a:fillRect/>
                </a:stretch>
              </a:blipFill>
            </p:spPr>
            <p:txBody>
              <a:bodyPr/>
              <a:lstStyle/>
              <a:p>
                <a:r>
                  <a:rPr lang="nl-BE">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rrowheads="1"/>
          </p:cNvSpPr>
          <p:nvPr>
            <p:ph type="title"/>
          </p:nvPr>
        </p:nvSpPr>
        <p:spPr/>
        <p:txBody>
          <a:bodyPr/>
          <a:lstStyle/>
          <a:p>
            <a:pPr eaLnBrk="1" hangingPunct="1">
              <a:defRPr/>
            </a:pPr>
            <a:r>
              <a:rPr lang="nl-BE" dirty="0"/>
              <a:t>Opgave 3 (extra oef)</a:t>
            </a:r>
            <a:endParaRPr lang="nl-NL" dirty="0"/>
          </a:p>
        </p:txBody>
      </p:sp>
      <p:sp>
        <p:nvSpPr>
          <p:cNvPr id="48131" name="Rectangle 3"/>
          <p:cNvSpPr>
            <a:spLocks noGrp="1" noRot="1" noChangeArrowheads="1"/>
          </p:cNvSpPr>
          <p:nvPr>
            <p:ph idx="1"/>
          </p:nvPr>
        </p:nvSpPr>
        <p:spPr/>
        <p:txBody>
          <a:bodyPr/>
          <a:lstStyle/>
          <a:p>
            <a:pPr eaLnBrk="1" hangingPunct="1">
              <a:defRPr/>
            </a:pPr>
            <a:r>
              <a:rPr lang="nl-BE" dirty="0"/>
              <a:t>PROBA-satelliet op hoogte van +/- 800 km. Bereken snelheid + periode van PROBA-satelliet (benadering van ECB).</a:t>
            </a:r>
            <a:endParaRPr lang="nl-NL"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rrowheads="1"/>
          </p:cNvSpPr>
          <p:nvPr>
            <p:ph type="title"/>
          </p:nvPr>
        </p:nvSpPr>
        <p:spPr>
          <a:xfrm>
            <a:off x="1825625" y="-171400"/>
            <a:ext cx="8540750" cy="1143000"/>
          </a:xfrm>
        </p:spPr>
        <p:txBody>
          <a:bodyPr/>
          <a:lstStyle/>
          <a:p>
            <a:pPr eaLnBrk="1" hangingPunct="1">
              <a:defRPr/>
            </a:pPr>
            <a:r>
              <a:rPr lang="nl-BE" dirty="0"/>
              <a:t>Opgave 3</a:t>
            </a:r>
            <a:endParaRPr lang="nl-NL" dirty="0"/>
          </a:p>
        </p:txBody>
      </p:sp>
      <mc:AlternateContent xmlns:mc="http://schemas.openxmlformats.org/markup-compatibility/2006" xmlns:a14="http://schemas.microsoft.com/office/drawing/2010/main">
        <mc:Choice Requires="a14">
          <p:sp>
            <p:nvSpPr>
              <p:cNvPr id="48131" name="Rectangle 3"/>
              <p:cNvSpPr>
                <a:spLocks noGrp="1" noRot="1" noChangeArrowheads="1"/>
              </p:cNvSpPr>
              <p:nvPr>
                <p:ph idx="1"/>
              </p:nvPr>
            </p:nvSpPr>
            <p:spPr>
              <a:xfrm>
                <a:off x="479376" y="836713"/>
                <a:ext cx="11233248" cy="5832647"/>
              </a:xfrm>
            </p:spPr>
            <p:txBody>
              <a:bodyPr>
                <a:normAutofit/>
              </a:bodyPr>
              <a:lstStyle/>
              <a:p>
                <a:pPr eaLnBrk="1" hangingPunct="1">
                  <a:defRPr/>
                </a:pPr>
                <a:r>
                  <a:rPr lang="nl-BE" dirty="0"/>
                  <a:t>PROBA-satelliet op hoogte van +/- 800 km. Bereken snelheid + periode van PROBA-satelliet (benadering van ECB).</a:t>
                </a:r>
              </a:p>
              <a:p>
                <a14:m>
                  <m:oMath xmlns:m="http://schemas.openxmlformats.org/officeDocument/2006/math">
                    <m:sSub>
                      <m:sSubPr>
                        <m:ctrlPr>
                          <a:rPr lang="nl-BE" sz="2000" i="1">
                            <a:latin typeface="Cambria Math" panose="02040503050406030204" pitchFamily="18" charset="0"/>
                          </a:rPr>
                        </m:ctrlPr>
                      </m:sSubPr>
                      <m:e>
                        <m:r>
                          <a:rPr lang="nl-BE" sz="2000" i="1">
                            <a:latin typeface="Cambria Math" panose="02040503050406030204" pitchFamily="18" charset="0"/>
                          </a:rPr>
                          <m:t>𝐹</m:t>
                        </m:r>
                      </m:e>
                      <m:sub>
                        <m:r>
                          <a:rPr lang="nl-BE" sz="2000" i="1">
                            <a:latin typeface="Cambria Math" panose="02040503050406030204" pitchFamily="18" charset="0"/>
                          </a:rPr>
                          <m:t>𝑐𝑝</m:t>
                        </m:r>
                      </m:sub>
                    </m:sSub>
                    <m:r>
                      <a:rPr lang="nl-BE" sz="2000" i="1">
                        <a:latin typeface="Cambria Math" panose="02040503050406030204" pitchFamily="18" charset="0"/>
                      </a:rPr>
                      <m:t>=</m:t>
                    </m:r>
                    <m:sSub>
                      <m:sSubPr>
                        <m:ctrlPr>
                          <a:rPr lang="nl-BE" sz="2000" i="1">
                            <a:latin typeface="Cambria Math" panose="02040503050406030204" pitchFamily="18" charset="0"/>
                          </a:rPr>
                        </m:ctrlPr>
                      </m:sSubPr>
                      <m:e>
                        <m:r>
                          <a:rPr lang="nl-BE" sz="2000" i="1">
                            <a:latin typeface="Cambria Math" panose="02040503050406030204" pitchFamily="18" charset="0"/>
                          </a:rPr>
                          <m:t>𝐹</m:t>
                        </m:r>
                      </m:e>
                      <m:sub>
                        <m:r>
                          <a:rPr lang="nl-BE" sz="2000" i="1">
                            <a:latin typeface="Cambria Math" panose="02040503050406030204" pitchFamily="18" charset="0"/>
                          </a:rPr>
                          <m:t>𝑔</m:t>
                        </m:r>
                      </m:sub>
                    </m:sSub>
                  </m:oMath>
                </a14:m>
                <a:endParaRPr lang="nl-BE" sz="2000" dirty="0"/>
              </a:p>
              <a:p>
                <a14:m>
                  <m:oMath xmlns:m="http://schemas.openxmlformats.org/officeDocument/2006/math">
                    <m:f>
                      <m:fPr>
                        <m:ctrlPr>
                          <a:rPr lang="nl-BE" sz="2000" i="1">
                            <a:latin typeface="Cambria Math" panose="02040503050406030204" pitchFamily="18" charset="0"/>
                          </a:rPr>
                        </m:ctrlPr>
                      </m:fPr>
                      <m:num>
                        <m:r>
                          <a:rPr lang="nl-BE" sz="2000" i="1">
                            <a:latin typeface="Cambria Math" panose="02040503050406030204" pitchFamily="18" charset="0"/>
                          </a:rPr>
                          <m:t>𝑚</m:t>
                        </m:r>
                        <m:r>
                          <a:rPr lang="nl-BE" sz="2000" i="1">
                            <a:latin typeface="Cambria Math" panose="02040503050406030204" pitchFamily="18" charset="0"/>
                          </a:rPr>
                          <m:t>.</m:t>
                        </m:r>
                        <m:r>
                          <a:rPr lang="nl-BE" sz="2000" i="1">
                            <a:latin typeface="Cambria Math" panose="02040503050406030204" pitchFamily="18" charset="0"/>
                          </a:rPr>
                          <m:t>𝑣</m:t>
                        </m:r>
                        <m:r>
                          <a:rPr lang="nl-BE" sz="2000" i="1">
                            <a:latin typeface="Cambria Math" panose="02040503050406030204" pitchFamily="18" charset="0"/>
                          </a:rPr>
                          <m:t>²</m:t>
                        </m:r>
                      </m:num>
                      <m:den>
                        <m:r>
                          <a:rPr lang="nl-BE" sz="2000" b="0" i="1" smtClean="0">
                            <a:latin typeface="Cambria Math" panose="02040503050406030204" pitchFamily="18" charset="0"/>
                          </a:rPr>
                          <m:t>𝑅</m:t>
                        </m:r>
                      </m:den>
                    </m:f>
                    <m:r>
                      <a:rPr lang="nl-BE" sz="2000" i="1">
                        <a:latin typeface="Cambria Math" panose="02040503050406030204" pitchFamily="18" charset="0"/>
                      </a:rPr>
                      <m:t>=</m:t>
                    </m:r>
                    <m:r>
                      <a:rPr lang="nl-BE" sz="2000" i="1">
                        <a:latin typeface="Cambria Math" panose="02040503050406030204" pitchFamily="18" charset="0"/>
                      </a:rPr>
                      <m:t>𝐺</m:t>
                    </m:r>
                    <m:f>
                      <m:fPr>
                        <m:ctrlPr>
                          <a:rPr lang="nl-BE" sz="2000" i="1">
                            <a:latin typeface="Cambria Math" panose="02040503050406030204" pitchFamily="18" charset="0"/>
                          </a:rPr>
                        </m:ctrlPr>
                      </m:fPr>
                      <m:num>
                        <m:r>
                          <a:rPr lang="nl-BE" sz="2000" i="1">
                            <a:latin typeface="Cambria Math" panose="02040503050406030204" pitchFamily="18" charset="0"/>
                          </a:rPr>
                          <m:t>𝑚</m:t>
                        </m:r>
                        <m:r>
                          <a:rPr lang="nl-BE" sz="2000" i="1">
                            <a:latin typeface="Cambria Math" panose="02040503050406030204" pitchFamily="18" charset="0"/>
                          </a:rPr>
                          <m:t>.</m:t>
                        </m:r>
                        <m:sSub>
                          <m:sSubPr>
                            <m:ctrlPr>
                              <a:rPr lang="nl-BE" sz="2000" i="1">
                                <a:latin typeface="Cambria Math" panose="02040503050406030204" pitchFamily="18" charset="0"/>
                              </a:rPr>
                            </m:ctrlPr>
                          </m:sSubPr>
                          <m:e>
                            <m:r>
                              <a:rPr lang="nl-BE" sz="2000" i="1">
                                <a:latin typeface="Cambria Math" panose="02040503050406030204" pitchFamily="18" charset="0"/>
                              </a:rPr>
                              <m:t>𝑚</m:t>
                            </m:r>
                          </m:e>
                          <m:sub>
                            <m:r>
                              <a:rPr lang="nl-BE" sz="2000" i="1">
                                <a:latin typeface="Cambria Math" panose="02040503050406030204" pitchFamily="18" charset="0"/>
                              </a:rPr>
                              <m:t>𝑎𝑎𝑟𝑑𝑒</m:t>
                            </m:r>
                          </m:sub>
                        </m:sSub>
                      </m:num>
                      <m:den>
                        <m:r>
                          <a:rPr lang="nl-BE" sz="2000" b="0" i="1" smtClean="0">
                            <a:latin typeface="Cambria Math" panose="02040503050406030204" pitchFamily="18" charset="0"/>
                          </a:rPr>
                          <m:t>𝑅</m:t>
                        </m:r>
                        <m:r>
                          <a:rPr lang="nl-BE" sz="2000" i="1">
                            <a:latin typeface="Cambria Math" panose="02040503050406030204" pitchFamily="18" charset="0"/>
                          </a:rPr>
                          <m:t>²</m:t>
                        </m:r>
                      </m:den>
                    </m:f>
                  </m:oMath>
                </a14:m>
                <a:endParaRPr lang="nl-BE" sz="2000" dirty="0"/>
              </a:p>
              <a:p>
                <a14:m>
                  <m:oMath xmlns:m="http://schemas.openxmlformats.org/officeDocument/2006/math">
                    <m:sSup>
                      <m:sSupPr>
                        <m:ctrlPr>
                          <a:rPr lang="nl-BE" sz="2000" i="1">
                            <a:latin typeface="Cambria Math" panose="02040503050406030204" pitchFamily="18" charset="0"/>
                          </a:rPr>
                        </m:ctrlPr>
                      </m:sSupPr>
                      <m:e>
                        <m:r>
                          <a:rPr lang="nl-BE" sz="2000" i="1">
                            <a:latin typeface="Cambria Math" panose="02040503050406030204" pitchFamily="18" charset="0"/>
                          </a:rPr>
                          <m:t>𝑣</m:t>
                        </m:r>
                      </m:e>
                      <m:sup>
                        <m:r>
                          <a:rPr lang="nl-BE" sz="2000" i="1">
                            <a:latin typeface="Cambria Math" panose="02040503050406030204" pitchFamily="18" charset="0"/>
                          </a:rPr>
                          <m:t>2</m:t>
                        </m:r>
                      </m:sup>
                    </m:sSup>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i="1">
                            <a:latin typeface="Cambria Math" panose="02040503050406030204" pitchFamily="18" charset="0"/>
                          </a:rPr>
                          <m:t>𝐺</m:t>
                        </m:r>
                        <m:r>
                          <a:rPr lang="nl-BE" sz="2000" i="1">
                            <a:latin typeface="Cambria Math" panose="02040503050406030204" pitchFamily="18" charset="0"/>
                          </a:rPr>
                          <m:t>.</m:t>
                        </m:r>
                        <m:sSub>
                          <m:sSubPr>
                            <m:ctrlPr>
                              <a:rPr lang="nl-BE" sz="2000" i="1">
                                <a:latin typeface="Cambria Math" panose="02040503050406030204" pitchFamily="18" charset="0"/>
                              </a:rPr>
                            </m:ctrlPr>
                          </m:sSubPr>
                          <m:e>
                            <m:r>
                              <a:rPr lang="nl-BE" sz="2000" i="1">
                                <a:latin typeface="Cambria Math" panose="02040503050406030204" pitchFamily="18" charset="0"/>
                              </a:rPr>
                              <m:t>𝑚</m:t>
                            </m:r>
                          </m:e>
                          <m:sub>
                            <m:r>
                              <a:rPr lang="nl-BE" sz="2000" i="1">
                                <a:latin typeface="Cambria Math" panose="02040503050406030204" pitchFamily="18" charset="0"/>
                              </a:rPr>
                              <m:t>𝑎𝑎𝑟𝑑𝑒</m:t>
                            </m:r>
                          </m:sub>
                        </m:sSub>
                      </m:num>
                      <m:den>
                        <m:r>
                          <a:rPr lang="nl-BE" sz="2000" b="0" i="1" smtClean="0">
                            <a:latin typeface="Cambria Math" panose="02040503050406030204" pitchFamily="18" charset="0"/>
                          </a:rPr>
                          <m:t>𝑅</m:t>
                        </m:r>
                      </m:den>
                    </m:f>
                    <m:r>
                      <a:rPr lang="nl-BE" sz="2000" i="1">
                        <a:latin typeface="Cambria Math" panose="02040503050406030204" pitchFamily="18" charset="0"/>
                      </a:rPr>
                      <m:t>                </m:t>
                    </m:r>
                    <m:r>
                      <a:rPr lang="nl-BE" sz="2000" i="1">
                        <a:latin typeface="Cambria Math" panose="02040503050406030204" pitchFamily="18" charset="0"/>
                      </a:rPr>
                      <m:t>𝑒𝑛</m:t>
                    </m:r>
                    <m:r>
                      <a:rPr lang="nl-BE" sz="2000" b="0" i="1" smtClean="0">
                        <a:latin typeface="Cambria Math" panose="02040503050406030204" pitchFamily="18" charset="0"/>
                      </a:rPr>
                      <m:t> </m:t>
                    </m:r>
                    <m:r>
                      <a:rPr lang="nl-BE" sz="2000" b="0" i="1" smtClean="0">
                        <a:latin typeface="Cambria Math" panose="02040503050406030204" pitchFamily="18" charset="0"/>
                      </a:rPr>
                      <m:t>𝑅</m:t>
                    </m:r>
                    <m:r>
                      <a:rPr lang="nl-BE" sz="2000" i="1">
                        <a:latin typeface="Cambria Math" panose="02040503050406030204" pitchFamily="18" charset="0"/>
                      </a:rPr>
                      <m:t>=</m:t>
                    </m:r>
                    <m:sSub>
                      <m:sSubPr>
                        <m:ctrlPr>
                          <a:rPr lang="nl-BE" sz="2000" i="1">
                            <a:latin typeface="Cambria Math" panose="02040503050406030204" pitchFamily="18" charset="0"/>
                          </a:rPr>
                        </m:ctrlPr>
                      </m:sSubPr>
                      <m:e>
                        <m:r>
                          <a:rPr lang="nl-BE" sz="2000" b="0" i="1" smtClean="0">
                            <a:latin typeface="Cambria Math" panose="02040503050406030204" pitchFamily="18" charset="0"/>
                          </a:rPr>
                          <m:t>𝑅</m:t>
                        </m:r>
                      </m:e>
                      <m:sub>
                        <m:r>
                          <a:rPr lang="nl-BE" sz="2000" i="1">
                            <a:latin typeface="Cambria Math" panose="02040503050406030204" pitchFamily="18" charset="0"/>
                          </a:rPr>
                          <m:t>𝑎𝑎𝑟𝑑𝑒</m:t>
                        </m:r>
                      </m:sub>
                    </m:sSub>
                    <m:r>
                      <a:rPr lang="nl-BE" sz="2000" i="1">
                        <a:latin typeface="Cambria Math" panose="02040503050406030204" pitchFamily="18" charset="0"/>
                      </a:rPr>
                      <m:t>+</m:t>
                    </m:r>
                    <m:r>
                      <a:rPr lang="nl-BE" sz="2000" i="1">
                        <a:latin typeface="Cambria Math" panose="02040503050406030204" pitchFamily="18" charset="0"/>
                      </a:rPr>
                      <m:t>h</m:t>
                    </m:r>
                  </m:oMath>
                </a14:m>
                <a:endParaRPr lang="nl-BE" sz="2000" dirty="0"/>
              </a:p>
              <a:p>
                <a14:m>
                  <m:oMath xmlns:m="http://schemas.openxmlformats.org/officeDocument/2006/math">
                    <m:r>
                      <a:rPr lang="nl-BE" sz="2000" i="1">
                        <a:latin typeface="Cambria Math" panose="02040503050406030204" pitchFamily="18" charset="0"/>
                      </a:rPr>
                      <m:t>𝑣</m:t>
                    </m:r>
                    <m:r>
                      <a:rPr lang="nl-BE" sz="2000" i="1">
                        <a:latin typeface="Cambria Math" panose="02040503050406030204" pitchFamily="18" charset="0"/>
                      </a:rPr>
                      <m:t>=</m:t>
                    </m:r>
                    <m:rad>
                      <m:radPr>
                        <m:degHide m:val="on"/>
                        <m:ctrlPr>
                          <a:rPr lang="nl-BE" sz="2000" i="1">
                            <a:latin typeface="Cambria Math" panose="02040503050406030204" pitchFamily="18" charset="0"/>
                          </a:rPr>
                        </m:ctrlPr>
                      </m:radPr>
                      <m:deg/>
                      <m:e>
                        <m:f>
                          <m:fPr>
                            <m:ctrlPr>
                              <a:rPr lang="nl-BE" sz="2000" i="1">
                                <a:latin typeface="Cambria Math" panose="02040503050406030204" pitchFamily="18" charset="0"/>
                              </a:rPr>
                            </m:ctrlPr>
                          </m:fPr>
                          <m:num>
                            <m:r>
                              <a:rPr lang="nl-BE" sz="2000" i="1">
                                <a:latin typeface="Cambria Math" panose="02040503050406030204" pitchFamily="18" charset="0"/>
                              </a:rPr>
                              <m:t>𝐺</m:t>
                            </m:r>
                            <m:r>
                              <a:rPr lang="nl-BE" sz="2000" i="1">
                                <a:latin typeface="Cambria Math" panose="02040503050406030204" pitchFamily="18" charset="0"/>
                              </a:rPr>
                              <m:t>.</m:t>
                            </m:r>
                            <m:sSub>
                              <m:sSubPr>
                                <m:ctrlPr>
                                  <a:rPr lang="nl-BE" sz="2000" i="1">
                                    <a:latin typeface="Cambria Math" panose="02040503050406030204" pitchFamily="18" charset="0"/>
                                  </a:rPr>
                                </m:ctrlPr>
                              </m:sSubPr>
                              <m:e>
                                <m:r>
                                  <a:rPr lang="nl-BE" sz="2000" i="1">
                                    <a:latin typeface="Cambria Math" panose="02040503050406030204" pitchFamily="18" charset="0"/>
                                  </a:rPr>
                                  <m:t>𝑚</m:t>
                                </m:r>
                              </m:e>
                              <m:sub>
                                <m:r>
                                  <a:rPr lang="nl-BE" sz="2000" i="1">
                                    <a:latin typeface="Cambria Math" panose="02040503050406030204" pitchFamily="18" charset="0"/>
                                  </a:rPr>
                                  <m:t>𝑎𝑎𝑟𝑑𝑒</m:t>
                                </m:r>
                              </m:sub>
                            </m:sSub>
                          </m:num>
                          <m:den>
                            <m:sSub>
                              <m:sSubPr>
                                <m:ctrlPr>
                                  <a:rPr lang="nl-BE" sz="2000" i="1">
                                    <a:latin typeface="Cambria Math" panose="02040503050406030204" pitchFamily="18" charset="0"/>
                                  </a:rPr>
                                </m:ctrlPr>
                              </m:sSubPr>
                              <m:e>
                                <m:r>
                                  <a:rPr lang="nl-BE" sz="2000" b="0" i="1" smtClean="0">
                                    <a:latin typeface="Cambria Math" panose="02040503050406030204" pitchFamily="18" charset="0"/>
                                  </a:rPr>
                                  <m:t>𝑅</m:t>
                                </m:r>
                              </m:e>
                              <m:sub>
                                <m:r>
                                  <a:rPr lang="nl-BE" sz="2000" i="1">
                                    <a:latin typeface="Cambria Math" panose="02040503050406030204" pitchFamily="18" charset="0"/>
                                  </a:rPr>
                                  <m:t>𝑎𝑎𝑟𝑑𝑒</m:t>
                                </m:r>
                              </m:sub>
                            </m:sSub>
                            <m:r>
                              <a:rPr lang="nl-BE" sz="2000" i="1">
                                <a:latin typeface="Cambria Math" panose="02040503050406030204" pitchFamily="18" charset="0"/>
                              </a:rPr>
                              <m:t>+</m:t>
                            </m:r>
                            <m:r>
                              <a:rPr lang="nl-BE" sz="2000" i="1">
                                <a:latin typeface="Cambria Math" panose="02040503050406030204" pitchFamily="18" charset="0"/>
                              </a:rPr>
                              <m:t>h</m:t>
                            </m:r>
                          </m:den>
                        </m:f>
                        <m:r>
                          <a:rPr lang="nl-BE" sz="2000" i="1">
                            <a:latin typeface="Cambria Math" panose="02040503050406030204" pitchFamily="18" charset="0"/>
                          </a:rPr>
                          <m:t> </m:t>
                        </m:r>
                      </m:e>
                    </m:rad>
                    <m:r>
                      <a:rPr lang="nl-BE" sz="2000" i="1">
                        <a:latin typeface="Cambria Math" panose="02040503050406030204" pitchFamily="18" charset="0"/>
                      </a:rPr>
                      <m:t>     </m:t>
                    </m:r>
                  </m:oMath>
                </a14:m>
                <a:endParaRPr lang="nl-BE" sz="2000" dirty="0"/>
              </a:p>
              <a:p>
                <a14:m>
                  <m:oMath xmlns:m="http://schemas.openxmlformats.org/officeDocument/2006/math">
                    <m:r>
                      <a:rPr lang="nl-BE" sz="2000" i="1">
                        <a:latin typeface="Cambria Math" panose="02040503050406030204" pitchFamily="18" charset="0"/>
                      </a:rPr>
                      <m:t>𝑣</m:t>
                    </m:r>
                    <m:r>
                      <a:rPr lang="nl-BE" sz="2000" i="1">
                        <a:latin typeface="Cambria Math" panose="02040503050406030204" pitchFamily="18" charset="0"/>
                      </a:rPr>
                      <m:t>=</m:t>
                    </m:r>
                    <m:rad>
                      <m:radPr>
                        <m:degHide m:val="on"/>
                        <m:ctrlPr>
                          <a:rPr lang="nl-BE" sz="2000" i="1">
                            <a:latin typeface="Cambria Math" panose="02040503050406030204" pitchFamily="18" charset="0"/>
                          </a:rPr>
                        </m:ctrlPr>
                      </m:radPr>
                      <m:deg/>
                      <m:e>
                        <m:f>
                          <m:fPr>
                            <m:ctrlPr>
                              <a:rPr lang="nl-BE" sz="2000" i="1">
                                <a:latin typeface="Cambria Math" panose="02040503050406030204" pitchFamily="18" charset="0"/>
                              </a:rPr>
                            </m:ctrlPr>
                          </m:fPr>
                          <m:num>
                            <m:r>
                              <a:rPr lang="nl-BE" sz="2000" i="1">
                                <a:latin typeface="Cambria Math" panose="02040503050406030204" pitchFamily="18" charset="0"/>
                              </a:rPr>
                              <m:t>6,672.</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−11</m:t>
                                </m:r>
                              </m:sup>
                            </m:sSup>
                            <m:r>
                              <a:rPr lang="nl-BE" sz="2000" i="1">
                                <a:latin typeface="Cambria Math" panose="02040503050406030204" pitchFamily="18" charset="0"/>
                              </a:rPr>
                              <m:t>.5,974.</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24</m:t>
                                </m:r>
                              </m:sup>
                            </m:sSup>
                          </m:num>
                          <m:den>
                            <m:r>
                              <a:rPr lang="nl-BE" sz="2000" i="1">
                                <a:latin typeface="Cambria Math" panose="02040503050406030204" pitchFamily="18" charset="0"/>
                              </a:rPr>
                              <m:t>6370.</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3</m:t>
                                </m:r>
                              </m:sup>
                            </m:sSup>
                            <m:r>
                              <a:rPr lang="nl-BE" sz="2000" i="1">
                                <a:latin typeface="Cambria Math" panose="02040503050406030204" pitchFamily="18" charset="0"/>
                              </a:rPr>
                              <m:t>+800.</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3</m:t>
                                </m:r>
                              </m:sup>
                            </m:sSup>
                          </m:den>
                        </m:f>
                        <m:r>
                          <a:rPr lang="nl-BE" sz="2000" i="1">
                            <a:latin typeface="Cambria Math" panose="02040503050406030204" pitchFamily="18" charset="0"/>
                          </a:rPr>
                          <m:t> </m:t>
                        </m:r>
                      </m:e>
                    </m:rad>
                    <m:r>
                      <a:rPr lang="nl-BE" sz="2000" i="1">
                        <a:latin typeface="Cambria Math" panose="02040503050406030204" pitchFamily="18" charset="0"/>
                      </a:rPr>
                      <m:t>     </m:t>
                    </m:r>
                  </m:oMath>
                </a14:m>
                <a:endParaRPr lang="nl-BE" sz="2000" dirty="0"/>
              </a:p>
              <a:p>
                <a14:m>
                  <m:oMath xmlns:m="http://schemas.openxmlformats.org/officeDocument/2006/math">
                    <m:r>
                      <a:rPr lang="nl-BE" sz="2000" i="1">
                        <a:latin typeface="Cambria Math" panose="02040503050406030204" pitchFamily="18" charset="0"/>
                      </a:rPr>
                      <m:t>𝑣</m:t>
                    </m:r>
                    <m:r>
                      <a:rPr lang="nl-BE" sz="2000" i="1">
                        <a:latin typeface="Cambria Math" panose="02040503050406030204" pitchFamily="18" charset="0"/>
                      </a:rPr>
                      <m:t>=7456 </m:t>
                    </m:r>
                    <m:r>
                      <a:rPr lang="nl-BE" sz="2000" i="1">
                        <a:latin typeface="Cambria Math" panose="02040503050406030204" pitchFamily="18" charset="0"/>
                      </a:rPr>
                      <m:t>𝑚</m:t>
                    </m:r>
                    <m:r>
                      <a:rPr lang="nl-BE" sz="2000" i="1">
                        <a:latin typeface="Cambria Math" panose="02040503050406030204" pitchFamily="18" charset="0"/>
                      </a:rPr>
                      <m:t>/</m:t>
                    </m:r>
                    <m:r>
                      <a:rPr lang="nl-BE" sz="2000" i="1">
                        <a:latin typeface="Cambria Math" panose="02040503050406030204" pitchFamily="18" charset="0"/>
                      </a:rPr>
                      <m:t>𝑠</m:t>
                    </m:r>
                  </m:oMath>
                </a14:m>
                <a:endParaRPr lang="nl-BE" sz="2000" dirty="0"/>
              </a:p>
              <a:p>
                <a14:m>
                  <m:oMath xmlns:m="http://schemas.openxmlformats.org/officeDocument/2006/math">
                    <m:r>
                      <a:rPr lang="nl-BE" sz="2000" i="1">
                        <a:latin typeface="Cambria Math" panose="02040503050406030204" pitchFamily="18" charset="0"/>
                      </a:rPr>
                      <m:t>𝑣</m:t>
                    </m:r>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i="1">
                            <a:latin typeface="Cambria Math" panose="02040503050406030204" pitchFamily="18" charset="0"/>
                          </a:rPr>
                          <m:t>2.</m:t>
                        </m:r>
                        <m:r>
                          <a:rPr lang="nl-BE" sz="2000" i="1">
                            <a:latin typeface="Cambria Math" panose="02040503050406030204" pitchFamily="18" charset="0"/>
                          </a:rPr>
                          <m:t>𝜋</m:t>
                        </m:r>
                        <m:r>
                          <a:rPr lang="nl-BE" sz="2000" i="1">
                            <a:latin typeface="Cambria Math" panose="02040503050406030204" pitchFamily="18" charset="0"/>
                          </a:rPr>
                          <m:t>.</m:t>
                        </m:r>
                        <m:r>
                          <a:rPr lang="nl-BE" sz="2000" b="0" i="1" smtClean="0">
                            <a:latin typeface="Cambria Math" panose="02040503050406030204" pitchFamily="18" charset="0"/>
                          </a:rPr>
                          <m:t>𝑅</m:t>
                        </m:r>
                      </m:num>
                      <m:den>
                        <m:r>
                          <a:rPr lang="nl-BE" sz="2000" i="1">
                            <a:latin typeface="Cambria Math" panose="02040503050406030204" pitchFamily="18" charset="0"/>
                          </a:rPr>
                          <m:t>𝑇</m:t>
                        </m:r>
                      </m:den>
                    </m:f>
                  </m:oMath>
                </a14:m>
                <a:endParaRPr lang="nl-BE" sz="2000" dirty="0"/>
              </a:p>
              <a:p>
                <a14:m>
                  <m:oMath xmlns:m="http://schemas.openxmlformats.org/officeDocument/2006/math">
                    <m:r>
                      <a:rPr lang="nl-BE" sz="2000" i="1">
                        <a:latin typeface="Cambria Math" panose="02040503050406030204" pitchFamily="18" charset="0"/>
                      </a:rPr>
                      <m:t>𝑇</m:t>
                    </m:r>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i="1">
                            <a:latin typeface="Cambria Math" panose="02040503050406030204" pitchFamily="18" charset="0"/>
                          </a:rPr>
                          <m:t>2.</m:t>
                        </m:r>
                        <m:r>
                          <a:rPr lang="nl-BE" sz="2000" i="1">
                            <a:latin typeface="Cambria Math" panose="02040503050406030204" pitchFamily="18" charset="0"/>
                          </a:rPr>
                          <m:t>𝜋</m:t>
                        </m:r>
                        <m:r>
                          <a:rPr lang="nl-BE" sz="2000" i="1">
                            <a:latin typeface="Cambria Math" panose="02040503050406030204" pitchFamily="18" charset="0"/>
                          </a:rPr>
                          <m:t>.</m:t>
                        </m:r>
                        <m:r>
                          <a:rPr lang="nl-BE" sz="2000" b="0" i="1" smtClean="0">
                            <a:latin typeface="Cambria Math" panose="02040503050406030204" pitchFamily="18" charset="0"/>
                          </a:rPr>
                          <m:t>𝑅</m:t>
                        </m:r>
                      </m:num>
                      <m:den>
                        <m:r>
                          <a:rPr lang="nl-BE" sz="2000" i="1">
                            <a:latin typeface="Cambria Math" panose="02040503050406030204" pitchFamily="18" charset="0"/>
                          </a:rPr>
                          <m:t>𝑣</m:t>
                        </m:r>
                      </m:den>
                    </m:f>
                  </m:oMath>
                </a14:m>
                <a:endParaRPr lang="nl-BE" sz="2000" dirty="0"/>
              </a:p>
              <a:p>
                <a14:m>
                  <m:oMath xmlns:m="http://schemas.openxmlformats.org/officeDocument/2006/math">
                    <m:r>
                      <a:rPr lang="nl-BE" sz="2000" i="1">
                        <a:latin typeface="Cambria Math" panose="02040503050406030204" pitchFamily="18" charset="0"/>
                      </a:rPr>
                      <m:t>𝑇</m:t>
                    </m:r>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i="1">
                            <a:latin typeface="Cambria Math" panose="02040503050406030204" pitchFamily="18" charset="0"/>
                          </a:rPr>
                          <m:t>2.</m:t>
                        </m:r>
                        <m:r>
                          <a:rPr lang="nl-BE" sz="2000" i="1">
                            <a:latin typeface="Cambria Math" panose="02040503050406030204" pitchFamily="18" charset="0"/>
                          </a:rPr>
                          <m:t>𝜋</m:t>
                        </m:r>
                        <m:r>
                          <a:rPr lang="nl-BE" sz="2000" i="1">
                            <a:latin typeface="Cambria Math" panose="02040503050406030204" pitchFamily="18" charset="0"/>
                          </a:rPr>
                          <m:t>.(6370.</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3</m:t>
                            </m:r>
                          </m:sup>
                        </m:sSup>
                        <m:r>
                          <a:rPr lang="nl-BE" sz="2000" i="1">
                            <a:latin typeface="Cambria Math" panose="02040503050406030204" pitchFamily="18" charset="0"/>
                          </a:rPr>
                          <m:t>+800.</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3</m:t>
                            </m:r>
                          </m:sup>
                        </m:sSup>
                        <m:r>
                          <a:rPr lang="nl-BE" sz="2000" i="1">
                            <a:latin typeface="Cambria Math" panose="02040503050406030204" pitchFamily="18" charset="0"/>
                          </a:rPr>
                          <m:t>)</m:t>
                        </m:r>
                      </m:num>
                      <m:den>
                        <m:r>
                          <a:rPr lang="nl-BE" sz="2000" i="1">
                            <a:latin typeface="Cambria Math" panose="02040503050406030204" pitchFamily="18" charset="0"/>
                          </a:rPr>
                          <m:t>7456</m:t>
                        </m:r>
                      </m:den>
                    </m:f>
                    <m:r>
                      <a:rPr lang="nl-BE" sz="2000" i="1">
                        <a:latin typeface="Cambria Math" panose="02040503050406030204" pitchFamily="18" charset="0"/>
                      </a:rPr>
                      <m:t>=6042</m:t>
                    </m:r>
                    <m:r>
                      <a:rPr lang="nl-BE" sz="2000" i="1">
                        <a:latin typeface="Cambria Math" panose="02040503050406030204" pitchFamily="18" charset="0"/>
                      </a:rPr>
                      <m:t>𝑠</m:t>
                    </m:r>
                    <m:r>
                      <a:rPr lang="nl-BE" sz="2000" i="1">
                        <a:latin typeface="Cambria Math" panose="02040503050406030204" pitchFamily="18" charset="0"/>
                      </a:rPr>
                      <m:t>=1,678</m:t>
                    </m:r>
                    <m:r>
                      <a:rPr lang="nl-BE" sz="2000" i="1">
                        <a:latin typeface="Cambria Math" panose="02040503050406030204" pitchFamily="18" charset="0"/>
                      </a:rPr>
                      <m:t>h</m:t>
                    </m:r>
                    <m:r>
                      <a:rPr lang="nl-BE" sz="2000" i="1">
                        <a:latin typeface="Cambria Math" panose="02040503050406030204" pitchFamily="18" charset="0"/>
                      </a:rPr>
                      <m:t>(= </m:t>
                    </m:r>
                  </m:oMath>
                </a14:m>
                <a:r>
                  <a:rPr lang="nl-BE" sz="2000" dirty="0"/>
                  <a:t>1h40min42s)</a:t>
                </a:r>
              </a:p>
              <a:p>
                <a:pPr eaLnBrk="1" hangingPunct="1">
                  <a:defRPr/>
                </a:pPr>
                <a:endParaRPr lang="nl-NL" dirty="0"/>
              </a:p>
            </p:txBody>
          </p:sp>
        </mc:Choice>
        <mc:Fallback xmlns="">
          <p:sp>
            <p:nvSpPr>
              <p:cNvPr id="48131" name="Rectangle 3"/>
              <p:cNvSpPr>
                <a:spLocks noGrp="1" noRot="1" noChangeAspect="1" noMove="1" noResize="1" noEditPoints="1" noAdjustHandles="1" noChangeArrowheads="1" noChangeShapeType="1" noTextEdit="1"/>
              </p:cNvSpPr>
              <p:nvPr>
                <p:ph idx="1"/>
              </p:nvPr>
            </p:nvSpPr>
            <p:spPr>
              <a:xfrm>
                <a:off x="479376" y="836713"/>
                <a:ext cx="11233248" cy="5832647"/>
              </a:xfrm>
              <a:blipFill>
                <a:blip r:embed="rId3"/>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2412018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092428-1C05-BD42-F451-1CFC0D77B06B}"/>
              </a:ext>
            </a:extLst>
          </p:cNvPr>
          <p:cNvSpPr>
            <a:spLocks noGrp="1"/>
          </p:cNvSpPr>
          <p:nvPr>
            <p:ph type="title"/>
          </p:nvPr>
        </p:nvSpPr>
        <p:spPr/>
        <p:txBody>
          <a:bodyPr>
            <a:normAutofit fontScale="90000"/>
          </a:bodyPr>
          <a:lstStyle/>
          <a:p>
            <a:r>
              <a:rPr lang="nl-BE" dirty="0"/>
              <a:t>ALGEMENE OEFENINGEN CENTRIPETALE KRACHT</a:t>
            </a:r>
          </a:p>
        </p:txBody>
      </p:sp>
      <p:sp>
        <p:nvSpPr>
          <p:cNvPr id="3" name="Tijdelijke aanduiding voor inhoud 2">
            <a:extLst>
              <a:ext uri="{FF2B5EF4-FFF2-40B4-BE49-F238E27FC236}">
                <a16:creationId xmlns:a16="http://schemas.microsoft.com/office/drawing/2014/main" id="{184E5326-6ED6-43F5-71A8-2ADF9A088048}"/>
              </a:ext>
            </a:extLst>
          </p:cNvPr>
          <p:cNvSpPr>
            <a:spLocks noGrp="1"/>
          </p:cNvSpPr>
          <p:nvPr>
            <p:ph idx="1"/>
          </p:nvPr>
        </p:nvSpPr>
        <p:spPr/>
        <p:txBody>
          <a:bodyPr/>
          <a:lstStyle/>
          <a:p>
            <a:endParaRPr lang="nl-BE"/>
          </a:p>
        </p:txBody>
      </p:sp>
    </p:spTree>
    <p:extLst>
      <p:ext uri="{BB962C8B-B14F-4D97-AF65-F5344CB8AC3E}">
        <p14:creationId xmlns:p14="http://schemas.microsoft.com/office/powerpoint/2010/main" val="24877976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p:txBody>
          <a:bodyPr/>
          <a:lstStyle/>
          <a:p>
            <a:pPr eaLnBrk="1" hangingPunct="1">
              <a:defRPr/>
            </a:pPr>
            <a:r>
              <a:rPr lang="nl-BE" dirty="0"/>
              <a:t>Opgave 4</a:t>
            </a:r>
            <a:endParaRPr lang="nl-NL" dirty="0"/>
          </a:p>
        </p:txBody>
      </p:sp>
      <p:sp>
        <p:nvSpPr>
          <p:cNvPr id="52227" name="Rectangle 3"/>
          <p:cNvSpPr>
            <a:spLocks noGrp="1" noRot="1" noChangeArrowheads="1"/>
          </p:cNvSpPr>
          <p:nvPr>
            <p:ph idx="1"/>
          </p:nvPr>
        </p:nvSpPr>
        <p:spPr>
          <a:xfrm>
            <a:off x="838200" y="1825625"/>
            <a:ext cx="10515600" cy="4351338"/>
          </a:xfrm>
        </p:spPr>
        <p:txBody>
          <a:bodyPr/>
          <a:lstStyle/>
          <a:p>
            <a:pPr eaLnBrk="1" hangingPunct="1">
              <a:defRPr/>
            </a:pPr>
            <a:r>
              <a:rPr lang="nl-BE" dirty="0"/>
              <a:t>De weg is vrij glad en er kan een maximale wrijvingskracht zijn tussen banden en wegdek van 3000 N. Een wagen van 1000 kg wil een bocht maken met een straal van 100 m terwijl hij een snelheid heeft van 72 km/h.</a:t>
            </a:r>
          </a:p>
          <a:p>
            <a:pPr lvl="1" eaLnBrk="1" hangingPunct="1">
              <a:buFont typeface="Wingdings" pitchFamily="2" charset="2"/>
              <a:buNone/>
              <a:defRPr/>
            </a:pPr>
            <a:r>
              <a:rPr lang="nl-BE" dirty="0"/>
              <a:t>	A) Toon aan dat hij uit de bocht zal vliegen.</a:t>
            </a:r>
          </a:p>
          <a:p>
            <a:pPr lvl="1" eaLnBrk="1" hangingPunct="1">
              <a:buFont typeface="Wingdings" pitchFamily="2" charset="2"/>
              <a:buNone/>
              <a:defRPr/>
            </a:pPr>
            <a:r>
              <a:rPr lang="nl-BE" dirty="0"/>
              <a:t>	B) Bereken de maximale snelheid waarmee hij  </a:t>
            </a:r>
            <a:br>
              <a:rPr lang="nl-BE" dirty="0"/>
            </a:br>
            <a:r>
              <a:rPr lang="nl-BE" dirty="0"/>
              <a:t>    niet uit de bocht zou vliegen.</a:t>
            </a:r>
            <a:endParaRPr lang="nl-NL"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a:xfrm>
            <a:off x="1825625" y="-171400"/>
            <a:ext cx="8540750" cy="1143000"/>
          </a:xfrm>
        </p:spPr>
        <p:txBody>
          <a:bodyPr/>
          <a:lstStyle/>
          <a:p>
            <a:pPr eaLnBrk="1" hangingPunct="1">
              <a:defRPr/>
            </a:pPr>
            <a:r>
              <a:rPr lang="nl-BE" dirty="0"/>
              <a:t>Opgave 4</a:t>
            </a:r>
            <a:endParaRPr lang="nl-NL" dirty="0"/>
          </a:p>
        </p:txBody>
      </p:sp>
      <mc:AlternateContent xmlns:mc="http://schemas.openxmlformats.org/markup-compatibility/2006" xmlns:a14="http://schemas.microsoft.com/office/drawing/2010/main">
        <mc:Choice Requires="a14">
          <p:sp>
            <p:nvSpPr>
              <p:cNvPr id="52227" name="Rectangle 3"/>
              <p:cNvSpPr>
                <a:spLocks noGrp="1" noRot="1" noChangeArrowheads="1"/>
              </p:cNvSpPr>
              <p:nvPr>
                <p:ph idx="1"/>
              </p:nvPr>
            </p:nvSpPr>
            <p:spPr>
              <a:xfrm>
                <a:off x="623392" y="908720"/>
                <a:ext cx="10044608" cy="5760640"/>
              </a:xfrm>
            </p:spPr>
            <p:txBody>
              <a:bodyPr/>
              <a:lstStyle/>
              <a:p>
                <a:pPr eaLnBrk="1" hangingPunct="1">
                  <a:defRPr/>
                </a:pPr>
                <a:r>
                  <a:rPr lang="nl-BE" dirty="0"/>
                  <a:t>De weg is vrij glad en er kan een maximale wrijvingskracht zijn tussen banden en wegdek van 3000 N. Een wagen van 1000 kg wil een bocht maken met een straal van 100 m terwijl hij een snelheid heeft van 72 km/h.</a:t>
                </a:r>
              </a:p>
              <a:p>
                <a:pPr lvl="1" eaLnBrk="1" hangingPunct="1">
                  <a:buFont typeface="Wingdings" pitchFamily="2" charset="2"/>
                  <a:buNone/>
                  <a:defRPr/>
                </a:pPr>
                <a:r>
                  <a:rPr lang="nl-BE" dirty="0"/>
                  <a:t>	A) Toon aan dat hij uit de bocht zal vliegen.</a:t>
                </a:r>
              </a:p>
              <a:p>
                <a:pPr lvl="1" eaLnBrk="1" hangingPunct="1">
                  <a:buFont typeface="Wingdings" pitchFamily="2" charset="2"/>
                  <a:buNone/>
                  <a:defRPr/>
                </a:pPr>
                <a:r>
                  <a:rPr lang="nl-BE" dirty="0"/>
                  <a:t>	B) Bereken de maximale snelheid waarmee hij  </a:t>
                </a:r>
                <a:br>
                  <a:rPr lang="nl-BE" dirty="0"/>
                </a:br>
                <a:r>
                  <a:rPr lang="nl-BE" dirty="0"/>
                  <a:t>    niet uit de bocht zou vliegen.</a:t>
                </a:r>
                <a:br>
                  <a:rPr lang="nl-BE" dirty="0"/>
                </a:br>
                <a:endParaRPr lang="nl-BE" dirty="0"/>
              </a:p>
              <a:p>
                <a:r>
                  <a:rPr lang="nl-BE" dirty="0"/>
                  <a:t>a)</a:t>
                </a:r>
                <a14:m>
                  <m:oMath xmlns:m="http://schemas.openxmlformats.org/officeDocument/2006/math">
                    <m:r>
                      <a:rPr lang="nl-BE" sz="2100" i="1">
                        <a:latin typeface="Cambria Math" panose="02040503050406030204" pitchFamily="18" charset="0"/>
                      </a:rPr>
                      <m:t> </m:t>
                    </m:r>
                    <m:sSub>
                      <m:sSubPr>
                        <m:ctrlPr>
                          <a:rPr lang="nl-BE" sz="2100" i="1">
                            <a:latin typeface="Cambria Math" panose="02040503050406030204" pitchFamily="18" charset="0"/>
                          </a:rPr>
                        </m:ctrlPr>
                      </m:sSubPr>
                      <m:e>
                        <m:r>
                          <a:rPr lang="nl-BE" sz="2100" i="1">
                            <a:latin typeface="Cambria Math" panose="02040503050406030204" pitchFamily="18" charset="0"/>
                          </a:rPr>
                          <m:t>𝐹</m:t>
                        </m:r>
                      </m:e>
                      <m:sub>
                        <m:r>
                          <a:rPr lang="nl-BE" sz="2100" i="1">
                            <a:latin typeface="Cambria Math" panose="02040503050406030204" pitchFamily="18" charset="0"/>
                          </a:rPr>
                          <m:t>𝑐𝑝</m:t>
                        </m:r>
                      </m:sub>
                    </m:sSub>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𝑚</m:t>
                        </m:r>
                        <m:r>
                          <a:rPr lang="nl-BE" sz="2100" i="1">
                            <a:latin typeface="Cambria Math" panose="02040503050406030204" pitchFamily="18" charset="0"/>
                          </a:rPr>
                          <m:t>.</m:t>
                        </m:r>
                        <m:r>
                          <a:rPr lang="nl-BE" sz="2100" i="1">
                            <a:latin typeface="Cambria Math" panose="02040503050406030204" pitchFamily="18" charset="0"/>
                          </a:rPr>
                          <m:t>𝑣</m:t>
                        </m:r>
                        <m:r>
                          <a:rPr lang="nl-BE" sz="2100" i="1">
                            <a:latin typeface="Cambria Math" panose="02040503050406030204" pitchFamily="18" charset="0"/>
                          </a:rPr>
                          <m:t>²</m:t>
                        </m:r>
                      </m:num>
                      <m:den>
                        <m:r>
                          <a:rPr lang="nl-BE" sz="2100" b="0" i="1" smtClean="0">
                            <a:latin typeface="Cambria Math" panose="02040503050406030204" pitchFamily="18" charset="0"/>
                          </a:rPr>
                          <m:t>𝑅</m:t>
                        </m:r>
                      </m:den>
                    </m:f>
                    <m:r>
                      <a:rPr lang="nl-BE" sz="2100" i="1">
                        <a:latin typeface="Cambria Math" panose="02040503050406030204" pitchFamily="18" charset="0"/>
                      </a:rPr>
                      <m:t>=</m:t>
                    </m:r>
                    <m:f>
                      <m:fPr>
                        <m:ctrlPr>
                          <a:rPr lang="nl-BE" sz="2100" i="1">
                            <a:latin typeface="Cambria Math" panose="02040503050406030204" pitchFamily="18" charset="0"/>
                          </a:rPr>
                        </m:ctrlPr>
                      </m:fPr>
                      <m:num>
                        <m:r>
                          <a:rPr lang="nl-BE" sz="2100" i="1">
                            <a:latin typeface="Cambria Math" panose="02040503050406030204" pitchFamily="18" charset="0"/>
                          </a:rPr>
                          <m:t>1000.20²</m:t>
                        </m:r>
                      </m:num>
                      <m:den>
                        <m:r>
                          <a:rPr lang="nl-BE" sz="2100" i="1">
                            <a:latin typeface="Cambria Math" panose="02040503050406030204" pitchFamily="18" charset="0"/>
                          </a:rPr>
                          <m:t>100</m:t>
                        </m:r>
                      </m:den>
                    </m:f>
                    <m:r>
                      <a:rPr lang="nl-BE" sz="2100" i="1">
                        <a:latin typeface="Cambria Math" panose="02040503050406030204" pitchFamily="18" charset="0"/>
                      </a:rPr>
                      <m:t>=4,0.</m:t>
                    </m:r>
                    <m:sSup>
                      <m:sSupPr>
                        <m:ctrlPr>
                          <a:rPr lang="nl-BE" sz="2100" i="1">
                            <a:latin typeface="Cambria Math" panose="02040503050406030204" pitchFamily="18" charset="0"/>
                          </a:rPr>
                        </m:ctrlPr>
                      </m:sSupPr>
                      <m:e>
                        <m:r>
                          <a:rPr lang="nl-BE" sz="2100" i="1">
                            <a:latin typeface="Cambria Math" panose="02040503050406030204" pitchFamily="18" charset="0"/>
                          </a:rPr>
                          <m:t>10</m:t>
                        </m:r>
                      </m:e>
                      <m:sup>
                        <m:r>
                          <a:rPr lang="nl-BE" sz="2100" i="1">
                            <a:latin typeface="Cambria Math" panose="02040503050406030204" pitchFamily="18" charset="0"/>
                          </a:rPr>
                          <m:t>3</m:t>
                        </m:r>
                      </m:sup>
                    </m:sSup>
                    <m:r>
                      <a:rPr lang="nl-BE" sz="2100" i="1">
                        <a:latin typeface="Cambria Math" panose="02040503050406030204" pitchFamily="18" charset="0"/>
                      </a:rPr>
                      <m:t>𝑁</m:t>
                    </m:r>
                    <m:r>
                      <a:rPr lang="nl-BE" sz="2100" i="1">
                        <a:latin typeface="Cambria Math" panose="02040503050406030204" pitchFamily="18" charset="0"/>
                      </a:rPr>
                      <m:t>&gt;3000</m:t>
                    </m:r>
                    <m:r>
                      <a:rPr lang="nl-BE" sz="2100" i="1">
                        <a:latin typeface="Cambria Math" panose="02040503050406030204" pitchFamily="18" charset="0"/>
                      </a:rPr>
                      <m:t>𝑁</m:t>
                    </m:r>
                    <m:r>
                      <a:rPr lang="nl-BE" sz="2100" i="1">
                        <a:latin typeface="Cambria Math" panose="02040503050406030204" pitchFamily="18" charset="0"/>
                      </a:rPr>
                      <m:t>→</m:t>
                    </m:r>
                    <m:r>
                      <a:rPr lang="nl-BE" sz="2100" i="1">
                        <a:latin typeface="Cambria Math" panose="02040503050406030204" pitchFamily="18" charset="0"/>
                      </a:rPr>
                      <m:t>𝐴𝑢𝑡𝑜</m:t>
                    </m:r>
                    <m:r>
                      <a:rPr lang="nl-BE" sz="2100" i="1">
                        <a:latin typeface="Cambria Math" panose="02040503050406030204" pitchFamily="18" charset="0"/>
                      </a:rPr>
                      <m:t> </m:t>
                    </m:r>
                    <m:r>
                      <a:rPr lang="nl-BE" sz="2100" i="1">
                        <a:latin typeface="Cambria Math" panose="02040503050406030204" pitchFamily="18" charset="0"/>
                      </a:rPr>
                      <m:t>𝑣𝑙𝑖𝑒𝑔𝑡</m:t>
                    </m:r>
                    <m:r>
                      <a:rPr lang="nl-BE" sz="2100" i="1">
                        <a:latin typeface="Cambria Math" panose="02040503050406030204" pitchFamily="18" charset="0"/>
                      </a:rPr>
                      <m:t> </m:t>
                    </m:r>
                    <m:r>
                      <a:rPr lang="nl-BE" sz="2100" i="1">
                        <a:latin typeface="Cambria Math" panose="02040503050406030204" pitchFamily="18" charset="0"/>
                      </a:rPr>
                      <m:t>𝑢𝑖𝑡</m:t>
                    </m:r>
                    <m:r>
                      <a:rPr lang="nl-BE" sz="2100" i="1">
                        <a:latin typeface="Cambria Math" panose="02040503050406030204" pitchFamily="18" charset="0"/>
                      </a:rPr>
                      <m:t> </m:t>
                    </m:r>
                    <m:r>
                      <a:rPr lang="nl-BE" sz="2100" i="1">
                        <a:latin typeface="Cambria Math" panose="02040503050406030204" pitchFamily="18" charset="0"/>
                      </a:rPr>
                      <m:t>𝑑𝑒</m:t>
                    </m:r>
                    <m:r>
                      <a:rPr lang="nl-BE" sz="2100" i="1">
                        <a:latin typeface="Cambria Math" panose="02040503050406030204" pitchFamily="18" charset="0"/>
                      </a:rPr>
                      <m:t> </m:t>
                    </m:r>
                    <m:r>
                      <a:rPr lang="nl-BE" sz="2100" i="1">
                        <a:latin typeface="Cambria Math" panose="02040503050406030204" pitchFamily="18" charset="0"/>
                      </a:rPr>
                      <m:t>𝑏𝑜𝑐h𝑡</m:t>
                    </m:r>
                    <m:r>
                      <a:rPr lang="nl-BE" sz="2100" i="1">
                        <a:latin typeface="Cambria Math" panose="02040503050406030204" pitchFamily="18" charset="0"/>
                      </a:rPr>
                      <m:t>.</m:t>
                    </m:r>
                  </m:oMath>
                </a14:m>
                <a:endParaRPr lang="nl-BE" sz="2100" dirty="0"/>
              </a:p>
              <a:p>
                <a:r>
                  <a:rPr lang="nl-BE" sz="2100" dirty="0"/>
                  <a:t>     </a:t>
                </a:r>
              </a:p>
            </p:txBody>
          </p:sp>
        </mc:Choice>
        <mc:Fallback xmlns="">
          <p:sp>
            <p:nvSpPr>
              <p:cNvPr id="52227" name="Rectangle 3"/>
              <p:cNvSpPr>
                <a:spLocks noGrp="1" noRot="1" noChangeAspect="1" noMove="1" noResize="1" noEditPoints="1" noAdjustHandles="1" noChangeArrowheads="1" noChangeShapeType="1" noTextEdit="1"/>
              </p:cNvSpPr>
              <p:nvPr>
                <p:ph idx="1"/>
              </p:nvPr>
            </p:nvSpPr>
            <p:spPr>
              <a:xfrm>
                <a:off x="623392" y="908720"/>
                <a:ext cx="10044608" cy="5760640"/>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25183770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a:xfrm>
            <a:off x="1825625" y="-171400"/>
            <a:ext cx="8540750" cy="1143000"/>
          </a:xfrm>
        </p:spPr>
        <p:txBody>
          <a:bodyPr/>
          <a:lstStyle/>
          <a:p>
            <a:pPr eaLnBrk="1" hangingPunct="1">
              <a:defRPr/>
            </a:pPr>
            <a:r>
              <a:rPr lang="nl-BE" dirty="0"/>
              <a:t>Opgave 4</a:t>
            </a:r>
            <a:endParaRPr lang="nl-NL" dirty="0"/>
          </a:p>
        </p:txBody>
      </p:sp>
      <mc:AlternateContent xmlns:mc="http://schemas.openxmlformats.org/markup-compatibility/2006" xmlns:a14="http://schemas.microsoft.com/office/drawing/2010/main">
        <mc:Choice Requires="a14">
          <p:sp>
            <p:nvSpPr>
              <p:cNvPr id="52227" name="Rectangle 3"/>
              <p:cNvSpPr>
                <a:spLocks noGrp="1" noRot="1" noChangeArrowheads="1"/>
              </p:cNvSpPr>
              <p:nvPr>
                <p:ph idx="1"/>
              </p:nvPr>
            </p:nvSpPr>
            <p:spPr>
              <a:xfrm>
                <a:off x="767408" y="1052736"/>
                <a:ext cx="9793088" cy="5760640"/>
              </a:xfrm>
            </p:spPr>
            <p:txBody>
              <a:bodyPr/>
              <a:lstStyle/>
              <a:p>
                <a:pPr eaLnBrk="1" hangingPunct="1">
                  <a:defRPr/>
                </a:pPr>
                <a:r>
                  <a:rPr lang="nl-BE" dirty="0"/>
                  <a:t>De weg is vrij glad en er kan een maximale wrijvingskracht zijn tussen banden en wegdek van 3000 N. Een wagen van 1000 kg wil een bocht maken met een straal van 100 m terwijl hij een snelheid heeft van 72 km/h.</a:t>
                </a:r>
              </a:p>
              <a:p>
                <a:pPr lvl="1" eaLnBrk="1" hangingPunct="1">
                  <a:buFont typeface="Wingdings" pitchFamily="2" charset="2"/>
                  <a:buNone/>
                  <a:defRPr/>
                </a:pPr>
                <a:r>
                  <a:rPr lang="nl-BE" dirty="0"/>
                  <a:t>	A) Toon aan dat hij uit de bocht zal vliegen.</a:t>
                </a:r>
              </a:p>
              <a:p>
                <a:pPr lvl="1" eaLnBrk="1" hangingPunct="1">
                  <a:buFont typeface="Wingdings" pitchFamily="2" charset="2"/>
                  <a:buNone/>
                  <a:defRPr/>
                </a:pPr>
                <a:r>
                  <a:rPr lang="nl-BE" dirty="0"/>
                  <a:t>	B) Bereken de maximale snelheid waarmee hij  </a:t>
                </a:r>
                <a:br>
                  <a:rPr lang="nl-BE" dirty="0"/>
                </a:br>
                <a:r>
                  <a:rPr lang="nl-BE" dirty="0"/>
                  <a:t>    niet uit de bocht zou vliegen.</a:t>
                </a:r>
                <a:br>
                  <a:rPr lang="nl-BE" dirty="0"/>
                </a:br>
                <a:endParaRPr lang="nl-BE" dirty="0"/>
              </a:p>
              <a:p>
                <a:r>
                  <a:rPr lang="nl-BE" dirty="0"/>
                  <a:t>b)</a:t>
                </a:r>
                <a:r>
                  <a:rPr lang="nl-BE" i="1" dirty="0"/>
                  <a:t> </a:t>
                </a:r>
                <a14:m>
                  <m:oMath xmlns:m="http://schemas.openxmlformats.org/officeDocument/2006/math">
                    <m:sSub>
                      <m:sSubPr>
                        <m:ctrlPr>
                          <a:rPr lang="nl-BE" i="1">
                            <a:effectLst/>
                            <a:latin typeface="Cambria Math" panose="02040503050406030204" pitchFamily="18" charset="0"/>
                          </a:rPr>
                        </m:ctrlPr>
                      </m:sSubPr>
                      <m:e>
                        <m:r>
                          <a:rPr lang="nl-BE" i="1">
                            <a:effectLst/>
                            <a:latin typeface="Cambria Math" panose="02040503050406030204" pitchFamily="18" charset="0"/>
                          </a:rPr>
                          <m:t>𝐹</m:t>
                        </m:r>
                      </m:e>
                      <m:sub>
                        <m:r>
                          <a:rPr lang="nl-BE" i="1">
                            <a:effectLst/>
                            <a:latin typeface="Cambria Math" panose="02040503050406030204" pitchFamily="18" charset="0"/>
                          </a:rPr>
                          <m:t>𝑐𝑝</m:t>
                        </m:r>
                      </m:sub>
                    </m:sSub>
                    <m:r>
                      <a:rPr lang="nl-BE" i="1">
                        <a:effectLst/>
                        <a:latin typeface="Cambria Math" panose="02040503050406030204" pitchFamily="18" charset="0"/>
                      </a:rPr>
                      <m:t>=</m:t>
                    </m:r>
                    <m:f>
                      <m:fPr>
                        <m:ctrlPr>
                          <a:rPr lang="nl-BE" i="1">
                            <a:effectLst/>
                            <a:latin typeface="Cambria Math" panose="02040503050406030204" pitchFamily="18" charset="0"/>
                          </a:rPr>
                        </m:ctrlPr>
                      </m:fPr>
                      <m:num>
                        <m:r>
                          <a:rPr lang="nl-BE" i="1">
                            <a:effectLst/>
                            <a:latin typeface="Cambria Math" panose="02040503050406030204" pitchFamily="18" charset="0"/>
                          </a:rPr>
                          <m:t>𝑚</m:t>
                        </m:r>
                        <m:r>
                          <a:rPr lang="nl-BE" i="1">
                            <a:effectLst/>
                            <a:latin typeface="Cambria Math" panose="02040503050406030204" pitchFamily="18" charset="0"/>
                          </a:rPr>
                          <m:t>.</m:t>
                        </m:r>
                        <m:sSup>
                          <m:sSupPr>
                            <m:ctrlPr>
                              <a:rPr lang="nl-BE" i="1">
                                <a:effectLst/>
                                <a:latin typeface="Cambria Math" panose="02040503050406030204" pitchFamily="18" charset="0"/>
                              </a:rPr>
                            </m:ctrlPr>
                          </m:sSupPr>
                          <m:e>
                            <m:r>
                              <a:rPr lang="nl-BE" i="1">
                                <a:effectLst/>
                                <a:latin typeface="Cambria Math" panose="02040503050406030204" pitchFamily="18" charset="0"/>
                              </a:rPr>
                              <m:t>𝑣</m:t>
                            </m:r>
                          </m:e>
                          <m:sup>
                            <m:r>
                              <a:rPr lang="nl-BE" i="1">
                                <a:effectLst/>
                                <a:latin typeface="Cambria Math" panose="02040503050406030204" pitchFamily="18" charset="0"/>
                              </a:rPr>
                              <m:t>2</m:t>
                            </m:r>
                          </m:sup>
                        </m:sSup>
                      </m:num>
                      <m:den>
                        <m:r>
                          <a:rPr lang="nl-BE" b="0" i="1" smtClean="0">
                            <a:effectLst/>
                            <a:latin typeface="Cambria Math" panose="02040503050406030204" pitchFamily="18" charset="0"/>
                          </a:rPr>
                          <m:t>𝑅</m:t>
                        </m:r>
                      </m:den>
                    </m:f>
                  </m:oMath>
                </a14:m>
                <a:endParaRPr lang="nl-BE" dirty="0"/>
              </a:p>
              <a:p>
                <a:pPr marL="0" indent="0">
                  <a:buNone/>
                </a:pPr>
                <a:r>
                  <a:rPr lang="nl-BE" sz="2800" i="1" dirty="0">
                    <a:latin typeface="Times New Roman" panose="02020603050405020304" pitchFamily="18" charset="0"/>
                    <a:cs typeface="Times New Roman" panose="02020603050405020304" pitchFamily="18" charset="0"/>
                  </a:rPr>
                  <a:t>        v</a:t>
                </a:r>
                <a14:m>
                  <m:oMath xmlns:m="http://schemas.openxmlformats.org/officeDocument/2006/math">
                    <m:r>
                      <a:rPr lang="nl-BE" b="0" i="1" smtClean="0">
                        <a:effectLst/>
                        <a:latin typeface="Cambria Math" panose="02040503050406030204" pitchFamily="18" charset="0"/>
                      </a:rPr>
                      <m:t> </m:t>
                    </m:r>
                    <m:r>
                      <a:rPr lang="nl-BE" i="1">
                        <a:effectLst/>
                        <a:latin typeface="Cambria Math" panose="02040503050406030204" pitchFamily="18" charset="0"/>
                      </a:rPr>
                      <m:t>=</m:t>
                    </m:r>
                    <m:rad>
                      <m:radPr>
                        <m:degHide m:val="on"/>
                        <m:ctrlPr>
                          <a:rPr lang="nl-BE" i="1">
                            <a:effectLst/>
                            <a:latin typeface="Cambria Math" panose="02040503050406030204" pitchFamily="18" charset="0"/>
                          </a:rPr>
                        </m:ctrlPr>
                      </m:radPr>
                      <m:deg/>
                      <m:e>
                        <m:f>
                          <m:fPr>
                            <m:ctrlPr>
                              <a:rPr lang="nl-BE" i="1">
                                <a:effectLst/>
                                <a:latin typeface="Cambria Math" panose="02040503050406030204" pitchFamily="18" charset="0"/>
                              </a:rPr>
                            </m:ctrlPr>
                          </m:fPr>
                          <m:num>
                            <m:sSub>
                              <m:sSubPr>
                                <m:ctrlPr>
                                  <a:rPr lang="nl-BE" i="1">
                                    <a:effectLst/>
                                    <a:latin typeface="Cambria Math" panose="02040503050406030204" pitchFamily="18" charset="0"/>
                                  </a:rPr>
                                </m:ctrlPr>
                              </m:sSubPr>
                              <m:e>
                                <m:r>
                                  <a:rPr lang="nl-BE" i="1">
                                    <a:effectLst/>
                                    <a:latin typeface="Cambria Math" panose="02040503050406030204" pitchFamily="18" charset="0"/>
                                  </a:rPr>
                                  <m:t>𝐹</m:t>
                                </m:r>
                              </m:e>
                              <m:sub>
                                <m:r>
                                  <a:rPr lang="nl-BE" i="1">
                                    <a:effectLst/>
                                    <a:latin typeface="Cambria Math" panose="02040503050406030204" pitchFamily="18" charset="0"/>
                                  </a:rPr>
                                  <m:t>𝑐𝑝</m:t>
                                </m:r>
                              </m:sub>
                            </m:sSub>
                            <m:r>
                              <a:rPr lang="nl-BE" i="1">
                                <a:effectLst/>
                                <a:latin typeface="Cambria Math" panose="02040503050406030204" pitchFamily="18" charset="0"/>
                              </a:rPr>
                              <m:t>.</m:t>
                            </m:r>
                            <m:r>
                              <a:rPr lang="nl-BE" b="0" i="1" smtClean="0">
                                <a:effectLst/>
                                <a:latin typeface="Cambria Math" panose="02040503050406030204" pitchFamily="18" charset="0"/>
                              </a:rPr>
                              <m:t>𝑅</m:t>
                            </m:r>
                          </m:num>
                          <m:den>
                            <m:r>
                              <a:rPr lang="nl-BE" i="1">
                                <a:effectLst/>
                                <a:latin typeface="Cambria Math" panose="02040503050406030204" pitchFamily="18" charset="0"/>
                              </a:rPr>
                              <m:t>𝑚</m:t>
                            </m:r>
                          </m:den>
                        </m:f>
                      </m:e>
                    </m:rad>
                  </m:oMath>
                </a14:m>
                <a:r>
                  <a:rPr lang="nl-BE" dirty="0"/>
                  <a:t>  </a:t>
                </a:r>
                <a14:m>
                  <m:oMath xmlns:m="http://schemas.openxmlformats.org/officeDocument/2006/math">
                    <m:r>
                      <a:rPr lang="nl-BE" sz="2800" i="1">
                        <a:latin typeface="Cambria Math" panose="02040503050406030204" pitchFamily="18" charset="0"/>
                      </a:rPr>
                      <m:t>=</m:t>
                    </m:r>
                    <m:rad>
                      <m:radPr>
                        <m:degHide m:val="on"/>
                        <m:ctrlPr>
                          <a:rPr lang="nl-BE" sz="2800" i="1">
                            <a:latin typeface="Cambria Math" panose="02040503050406030204" pitchFamily="18" charset="0"/>
                          </a:rPr>
                        </m:ctrlPr>
                      </m:radPr>
                      <m:deg/>
                      <m:e>
                        <m:f>
                          <m:fPr>
                            <m:ctrlPr>
                              <a:rPr lang="nl-BE" sz="2800" i="1">
                                <a:latin typeface="Cambria Math" panose="02040503050406030204" pitchFamily="18" charset="0"/>
                              </a:rPr>
                            </m:ctrlPr>
                          </m:fPr>
                          <m:num>
                            <m:r>
                              <a:rPr lang="nl-BE" sz="2800" i="1">
                                <a:latin typeface="Cambria Math" panose="02040503050406030204" pitchFamily="18" charset="0"/>
                              </a:rPr>
                              <m:t>3000.100</m:t>
                            </m:r>
                          </m:num>
                          <m:den>
                            <m:r>
                              <a:rPr lang="nl-BE" sz="2800" i="1">
                                <a:latin typeface="Cambria Math" panose="02040503050406030204" pitchFamily="18" charset="0"/>
                              </a:rPr>
                              <m:t>1000</m:t>
                            </m:r>
                          </m:den>
                        </m:f>
                      </m:e>
                    </m:rad>
                    <m:r>
                      <a:rPr lang="nl-BE" sz="2800" i="1">
                        <a:latin typeface="Cambria Math" panose="02040503050406030204" pitchFamily="18" charset="0"/>
                      </a:rPr>
                      <m:t>=17,3</m:t>
                    </m:r>
                    <m:r>
                      <a:rPr lang="nl-BE" sz="2800" i="1">
                        <a:latin typeface="Cambria Math" panose="02040503050406030204" pitchFamily="18" charset="0"/>
                      </a:rPr>
                      <m:t>𝑚</m:t>
                    </m:r>
                    <m:r>
                      <a:rPr lang="nl-BE" sz="2800" i="1">
                        <a:latin typeface="Cambria Math" panose="02040503050406030204" pitchFamily="18" charset="0"/>
                      </a:rPr>
                      <m:t>/</m:t>
                    </m:r>
                    <m:r>
                      <a:rPr lang="nl-BE" sz="2800" i="1">
                        <a:latin typeface="Cambria Math" panose="02040503050406030204" pitchFamily="18" charset="0"/>
                      </a:rPr>
                      <m:t>𝑠</m:t>
                    </m:r>
                    <m:r>
                      <a:rPr lang="nl-BE" sz="2800" i="1">
                        <a:latin typeface="Cambria Math" panose="02040503050406030204" pitchFamily="18" charset="0"/>
                      </a:rPr>
                      <m:t>=62,4 </m:t>
                    </m:r>
                    <m:r>
                      <a:rPr lang="nl-BE" sz="2800" i="1">
                        <a:latin typeface="Cambria Math" panose="02040503050406030204" pitchFamily="18" charset="0"/>
                      </a:rPr>
                      <m:t>𝑘𝑚</m:t>
                    </m:r>
                    <m:r>
                      <a:rPr lang="nl-BE" sz="2800" i="1">
                        <a:latin typeface="Cambria Math" panose="02040503050406030204" pitchFamily="18" charset="0"/>
                      </a:rPr>
                      <m:t>/</m:t>
                    </m:r>
                    <m:r>
                      <a:rPr lang="nl-BE" sz="2800" i="1">
                        <a:latin typeface="Cambria Math" panose="02040503050406030204" pitchFamily="18" charset="0"/>
                      </a:rPr>
                      <m:t>h</m:t>
                    </m:r>
                  </m:oMath>
                </a14:m>
                <a:endParaRPr lang="nl-BE" sz="2800" dirty="0"/>
              </a:p>
              <a:p>
                <a:pPr marL="0" indent="0">
                  <a:buNone/>
                </a:pPr>
                <a:endParaRPr lang="nl-BE" dirty="0"/>
              </a:p>
            </p:txBody>
          </p:sp>
        </mc:Choice>
        <mc:Fallback xmlns="">
          <p:sp>
            <p:nvSpPr>
              <p:cNvPr id="52227" name="Rectangle 3"/>
              <p:cNvSpPr>
                <a:spLocks noGrp="1" noRot="1" noChangeAspect="1" noMove="1" noResize="1" noEditPoints="1" noAdjustHandles="1" noChangeArrowheads="1" noChangeShapeType="1" noTextEdit="1"/>
              </p:cNvSpPr>
              <p:nvPr>
                <p:ph idx="1"/>
              </p:nvPr>
            </p:nvSpPr>
            <p:spPr>
              <a:xfrm>
                <a:off x="767408" y="1052736"/>
                <a:ext cx="9793088" cy="5760640"/>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16534347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rrowheads="1"/>
          </p:cNvSpPr>
          <p:nvPr>
            <p:ph type="title"/>
          </p:nvPr>
        </p:nvSpPr>
        <p:spPr/>
        <p:txBody>
          <a:bodyPr/>
          <a:lstStyle/>
          <a:p>
            <a:pPr eaLnBrk="1" hangingPunct="1">
              <a:defRPr/>
            </a:pPr>
            <a:r>
              <a:rPr lang="nl-BE" dirty="0"/>
              <a:t>Opgave 5 (extra oef.)</a:t>
            </a:r>
            <a:endParaRPr lang="nl-NL" dirty="0"/>
          </a:p>
        </p:txBody>
      </p:sp>
      <p:sp>
        <p:nvSpPr>
          <p:cNvPr id="55299" name="Rectangle 3"/>
          <p:cNvSpPr>
            <a:spLocks noGrp="1" noRot="1" noChangeArrowheads="1"/>
          </p:cNvSpPr>
          <p:nvPr>
            <p:ph idx="1"/>
          </p:nvPr>
        </p:nvSpPr>
        <p:spPr/>
        <p:txBody>
          <a:bodyPr/>
          <a:lstStyle/>
          <a:p>
            <a:pPr eaLnBrk="1" hangingPunct="1">
              <a:defRPr/>
            </a:pPr>
            <a:r>
              <a:rPr lang="nl-BE"/>
              <a:t>Hoe snel moet een vliegtuig vliegen bij het maken van een looping met een straal van 1,00 km opdat de piloot in de hoogste stand geen kracht zou ondergaan, noch van zijn zetel, noch van zijn veiligheidsgordel?</a:t>
            </a:r>
            <a:endParaRPr lang="nl-NL"/>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rrowheads="1"/>
          </p:cNvSpPr>
          <p:nvPr>
            <p:ph type="title"/>
          </p:nvPr>
        </p:nvSpPr>
        <p:spPr>
          <a:xfrm>
            <a:off x="1825625" y="-171400"/>
            <a:ext cx="8540750" cy="1143000"/>
          </a:xfrm>
        </p:spPr>
        <p:txBody>
          <a:bodyPr/>
          <a:lstStyle/>
          <a:p>
            <a:pPr eaLnBrk="1" hangingPunct="1">
              <a:defRPr/>
            </a:pPr>
            <a:r>
              <a:rPr lang="nl-BE" dirty="0"/>
              <a:t>Opgave 5</a:t>
            </a:r>
            <a:endParaRPr lang="nl-NL" dirty="0"/>
          </a:p>
        </p:txBody>
      </p:sp>
      <mc:AlternateContent xmlns:mc="http://schemas.openxmlformats.org/markup-compatibility/2006" xmlns:a14="http://schemas.microsoft.com/office/drawing/2010/main">
        <mc:Choice Requires="a14">
          <p:sp>
            <p:nvSpPr>
              <p:cNvPr id="55299" name="Rectangle 3"/>
              <p:cNvSpPr>
                <a:spLocks noGrp="1" noRot="1" noChangeArrowheads="1"/>
              </p:cNvSpPr>
              <p:nvPr>
                <p:ph idx="1"/>
              </p:nvPr>
            </p:nvSpPr>
            <p:spPr>
              <a:xfrm>
                <a:off x="551384" y="764704"/>
                <a:ext cx="9937104" cy="4968552"/>
              </a:xfrm>
            </p:spPr>
            <p:txBody>
              <a:bodyPr/>
              <a:lstStyle/>
              <a:p>
                <a:pPr eaLnBrk="1" hangingPunct="1">
                  <a:defRPr/>
                </a:pPr>
                <a:r>
                  <a:rPr lang="nl-BE" sz="2800" dirty="0"/>
                  <a:t>Hoe snel moet een vliegtuig vliegen bij het maken van een looping met een straal van 1,00 km opdat de piloot in de hoogste stand geen kracht zou ondergaan, noch van zijn zetel, noch van zijn veiligheidsgordel?</a:t>
                </a:r>
                <a:br>
                  <a:rPr lang="nl-BE" sz="2800" dirty="0"/>
                </a:br>
                <a:endParaRPr lang="nl-BE" sz="2800" dirty="0"/>
              </a:p>
              <a:p>
                <a14:m>
                  <m:oMath xmlns:m="http://schemas.openxmlformats.org/officeDocument/2006/math">
                    <m:sSub>
                      <m:sSubPr>
                        <m:ctrlPr>
                          <a:rPr lang="nl-BE" sz="2800" i="1">
                            <a:latin typeface="Cambria Math" panose="02040503050406030204" pitchFamily="18" charset="0"/>
                          </a:rPr>
                        </m:ctrlPr>
                      </m:sSubPr>
                      <m:e>
                        <m:r>
                          <a:rPr lang="nl-BE" sz="2800" i="1">
                            <a:latin typeface="Cambria Math" panose="02040503050406030204" pitchFamily="18" charset="0"/>
                          </a:rPr>
                          <m:t>𝐹</m:t>
                        </m:r>
                      </m:e>
                      <m:sub>
                        <m:r>
                          <a:rPr lang="nl-BE" sz="2800" i="1">
                            <a:latin typeface="Cambria Math" panose="02040503050406030204" pitchFamily="18" charset="0"/>
                          </a:rPr>
                          <m:t>𝑐𝑝</m:t>
                        </m:r>
                      </m:sub>
                    </m:sSub>
                    <m:r>
                      <a:rPr lang="nl-BE" sz="2800" i="1">
                        <a:latin typeface="Cambria Math" panose="02040503050406030204" pitchFamily="18" charset="0"/>
                      </a:rPr>
                      <m:t>=</m:t>
                    </m:r>
                    <m:sSub>
                      <m:sSubPr>
                        <m:ctrlPr>
                          <a:rPr lang="nl-BE" sz="2800" i="1">
                            <a:latin typeface="Cambria Math" panose="02040503050406030204" pitchFamily="18" charset="0"/>
                          </a:rPr>
                        </m:ctrlPr>
                      </m:sSubPr>
                      <m:e>
                        <m:r>
                          <a:rPr lang="nl-BE" sz="2800" i="1">
                            <a:latin typeface="Cambria Math" panose="02040503050406030204" pitchFamily="18" charset="0"/>
                          </a:rPr>
                          <m:t>𝐹</m:t>
                        </m:r>
                      </m:e>
                      <m:sub>
                        <m:r>
                          <a:rPr lang="nl-BE" sz="2800" b="0" i="1" smtClean="0">
                            <a:latin typeface="Cambria Math" panose="02040503050406030204" pitchFamily="18" charset="0"/>
                          </a:rPr>
                          <m:t>𝑧</m:t>
                        </m:r>
                      </m:sub>
                    </m:sSub>
                  </m:oMath>
                </a14:m>
                <a:endParaRPr lang="nl-BE" sz="2800" dirty="0"/>
              </a:p>
              <a:p>
                <a14:m>
                  <m:oMath xmlns:m="http://schemas.openxmlformats.org/officeDocument/2006/math">
                    <m:f>
                      <m:fPr>
                        <m:ctrlPr>
                          <a:rPr lang="nl-BE" sz="2800" i="1">
                            <a:latin typeface="Cambria Math" panose="02040503050406030204" pitchFamily="18" charset="0"/>
                          </a:rPr>
                        </m:ctrlPr>
                      </m:fPr>
                      <m:num>
                        <m:r>
                          <a:rPr lang="nl-BE" sz="2800" i="1">
                            <a:latin typeface="Cambria Math" panose="02040503050406030204" pitchFamily="18" charset="0"/>
                          </a:rPr>
                          <m:t>𝑚</m:t>
                        </m:r>
                        <m:r>
                          <a:rPr lang="nl-BE" sz="2800" i="1">
                            <a:latin typeface="Cambria Math" panose="02040503050406030204" pitchFamily="18" charset="0"/>
                          </a:rPr>
                          <m:t>.</m:t>
                        </m:r>
                        <m:r>
                          <a:rPr lang="nl-BE" sz="2800" i="1">
                            <a:latin typeface="Cambria Math" panose="02040503050406030204" pitchFamily="18" charset="0"/>
                          </a:rPr>
                          <m:t>𝑣</m:t>
                        </m:r>
                        <m:r>
                          <a:rPr lang="nl-BE" sz="2800" i="1">
                            <a:latin typeface="Cambria Math" panose="02040503050406030204" pitchFamily="18" charset="0"/>
                          </a:rPr>
                          <m:t>²</m:t>
                        </m:r>
                      </m:num>
                      <m:den>
                        <m:r>
                          <a:rPr lang="nl-BE" sz="2800" b="0" i="1" smtClean="0">
                            <a:latin typeface="Cambria Math" panose="02040503050406030204" pitchFamily="18" charset="0"/>
                          </a:rPr>
                          <m:t>𝑅</m:t>
                        </m:r>
                      </m:den>
                    </m:f>
                    <m:r>
                      <a:rPr lang="nl-BE" sz="2800" i="1">
                        <a:latin typeface="Cambria Math" panose="02040503050406030204" pitchFamily="18" charset="0"/>
                      </a:rPr>
                      <m:t>=</m:t>
                    </m:r>
                    <m:r>
                      <a:rPr lang="nl-BE" sz="2800" i="1">
                        <a:latin typeface="Cambria Math" panose="02040503050406030204" pitchFamily="18" charset="0"/>
                      </a:rPr>
                      <m:t>𝑚</m:t>
                    </m:r>
                    <m:r>
                      <a:rPr lang="nl-BE" sz="2800" i="1">
                        <a:latin typeface="Cambria Math" panose="02040503050406030204" pitchFamily="18" charset="0"/>
                      </a:rPr>
                      <m:t>.</m:t>
                    </m:r>
                    <m:r>
                      <a:rPr lang="nl-BE" sz="2800" i="1">
                        <a:latin typeface="Cambria Math" panose="02040503050406030204" pitchFamily="18" charset="0"/>
                      </a:rPr>
                      <m:t>𝑔</m:t>
                    </m:r>
                  </m:oMath>
                </a14:m>
                <a:endParaRPr lang="nl-NL" sz="2800" dirty="0"/>
              </a:p>
              <a:p>
                <a14:m>
                  <m:oMath xmlns:m="http://schemas.openxmlformats.org/officeDocument/2006/math">
                    <m:f>
                      <m:fPr>
                        <m:ctrlPr>
                          <a:rPr lang="nl-BE" sz="2800" i="1">
                            <a:latin typeface="Cambria Math" panose="02040503050406030204" pitchFamily="18" charset="0"/>
                          </a:rPr>
                        </m:ctrlPr>
                      </m:fPr>
                      <m:num>
                        <m:r>
                          <a:rPr lang="nl-BE" sz="2800" i="1">
                            <a:latin typeface="Cambria Math" panose="02040503050406030204" pitchFamily="18" charset="0"/>
                          </a:rPr>
                          <m:t>𝑣</m:t>
                        </m:r>
                        <m:r>
                          <a:rPr lang="nl-BE" sz="2800" i="1">
                            <a:latin typeface="Cambria Math" panose="02040503050406030204" pitchFamily="18" charset="0"/>
                          </a:rPr>
                          <m:t>²</m:t>
                        </m:r>
                      </m:num>
                      <m:den>
                        <m:r>
                          <a:rPr lang="nl-BE" sz="2800" b="0" i="1" smtClean="0">
                            <a:latin typeface="Cambria Math" panose="02040503050406030204" pitchFamily="18" charset="0"/>
                          </a:rPr>
                          <m:t>𝑅</m:t>
                        </m:r>
                      </m:den>
                    </m:f>
                    <m:r>
                      <a:rPr lang="nl-BE" sz="2800" i="1">
                        <a:latin typeface="Cambria Math" panose="02040503050406030204" pitchFamily="18" charset="0"/>
                      </a:rPr>
                      <m:t>=</m:t>
                    </m:r>
                    <m:r>
                      <a:rPr lang="nl-BE" sz="2800" i="1">
                        <a:latin typeface="Cambria Math" panose="02040503050406030204" pitchFamily="18" charset="0"/>
                      </a:rPr>
                      <m:t>𝑔</m:t>
                    </m:r>
                  </m:oMath>
                </a14:m>
                <a:endParaRPr lang="nl-NL" sz="2800" dirty="0"/>
              </a:p>
              <a:p>
                <a:r>
                  <a:rPr lang="nl-BE" sz="2800" i="1" dirty="0">
                    <a:latin typeface="Times New Roman" panose="02020603050405020304" pitchFamily="18" charset="0"/>
                    <a:cs typeface="Times New Roman" panose="02020603050405020304" pitchFamily="18" charset="0"/>
                  </a:rPr>
                  <a:t>v</a:t>
                </a:r>
                <a14:m>
                  <m:oMath xmlns:m="http://schemas.openxmlformats.org/officeDocument/2006/math">
                    <m:r>
                      <a:rPr lang="nl-BE" sz="2800" i="1">
                        <a:latin typeface="Cambria Math" panose="02040503050406030204" pitchFamily="18" charset="0"/>
                      </a:rPr>
                      <m:t> =</m:t>
                    </m:r>
                    <m:rad>
                      <m:radPr>
                        <m:degHide m:val="on"/>
                        <m:ctrlPr>
                          <a:rPr lang="nl-BE" sz="2800" i="1">
                            <a:latin typeface="Cambria Math" panose="02040503050406030204" pitchFamily="18" charset="0"/>
                          </a:rPr>
                        </m:ctrlPr>
                      </m:radPr>
                      <m:deg/>
                      <m:e>
                        <m:r>
                          <a:rPr lang="nl-BE" sz="2800" i="1">
                            <a:latin typeface="Cambria Math" panose="02040503050406030204" pitchFamily="18" charset="0"/>
                          </a:rPr>
                          <m:t>𝑔</m:t>
                        </m:r>
                        <m:r>
                          <a:rPr lang="nl-BE" sz="2800" i="1">
                            <a:latin typeface="Cambria Math" panose="02040503050406030204" pitchFamily="18" charset="0"/>
                          </a:rPr>
                          <m:t>.</m:t>
                        </m:r>
                        <m:r>
                          <a:rPr lang="nl-BE" sz="2800" b="0" i="1" smtClean="0">
                            <a:latin typeface="Cambria Math" panose="02040503050406030204" pitchFamily="18" charset="0"/>
                          </a:rPr>
                          <m:t>𝑅</m:t>
                        </m:r>
                      </m:e>
                    </m:rad>
                    <m:r>
                      <a:rPr lang="nl-BE" sz="2800">
                        <a:latin typeface="Cambria Math" panose="02040503050406030204" pitchFamily="18" charset="0"/>
                      </a:rPr>
                      <m:t>=</m:t>
                    </m:r>
                    <m:rad>
                      <m:radPr>
                        <m:degHide m:val="on"/>
                        <m:ctrlPr>
                          <a:rPr lang="nl-BE" sz="2800" i="1">
                            <a:latin typeface="Cambria Math" panose="02040503050406030204" pitchFamily="18" charset="0"/>
                          </a:rPr>
                        </m:ctrlPr>
                      </m:radPr>
                      <m:deg/>
                      <m:e>
                        <m:r>
                          <a:rPr lang="nl-BE" sz="2800" i="1">
                            <a:latin typeface="Cambria Math" panose="02040503050406030204" pitchFamily="18" charset="0"/>
                          </a:rPr>
                          <m:t>9,81.1,00.</m:t>
                        </m:r>
                        <m:sSup>
                          <m:sSupPr>
                            <m:ctrlPr>
                              <a:rPr lang="nl-BE" sz="2800" i="1">
                                <a:latin typeface="Cambria Math" panose="02040503050406030204" pitchFamily="18" charset="0"/>
                              </a:rPr>
                            </m:ctrlPr>
                          </m:sSupPr>
                          <m:e>
                            <m:r>
                              <a:rPr lang="nl-BE" sz="2800" i="1">
                                <a:latin typeface="Cambria Math" panose="02040503050406030204" pitchFamily="18" charset="0"/>
                              </a:rPr>
                              <m:t>10</m:t>
                            </m:r>
                          </m:e>
                          <m:sup>
                            <m:r>
                              <a:rPr lang="nl-BE" sz="2800" i="1">
                                <a:latin typeface="Cambria Math" panose="02040503050406030204" pitchFamily="18" charset="0"/>
                              </a:rPr>
                              <m:t>3</m:t>
                            </m:r>
                          </m:sup>
                        </m:sSup>
                      </m:e>
                    </m:rad>
                    <m:r>
                      <a:rPr lang="nl-BE" sz="2800" b="1" i="1">
                        <a:latin typeface="Cambria Math" panose="02040503050406030204" pitchFamily="18" charset="0"/>
                      </a:rPr>
                      <m:t>=</m:t>
                    </m:r>
                    <m:r>
                      <a:rPr lang="nl-BE" sz="2800" i="1">
                        <a:latin typeface="Cambria Math" panose="02040503050406030204" pitchFamily="18" charset="0"/>
                      </a:rPr>
                      <m:t>99,0</m:t>
                    </m:r>
                    <m:f>
                      <m:fPr>
                        <m:ctrlPr>
                          <a:rPr lang="nl-BE" sz="2800" b="1" i="1">
                            <a:latin typeface="Cambria Math" panose="02040503050406030204" pitchFamily="18" charset="0"/>
                          </a:rPr>
                        </m:ctrlPr>
                      </m:fPr>
                      <m:num>
                        <m:r>
                          <a:rPr lang="nl-BE" sz="2800" b="1" i="1">
                            <a:latin typeface="Cambria Math" panose="02040503050406030204" pitchFamily="18" charset="0"/>
                          </a:rPr>
                          <m:t>𝒎</m:t>
                        </m:r>
                      </m:num>
                      <m:den>
                        <m:r>
                          <a:rPr lang="nl-BE" sz="2800" b="1" i="1">
                            <a:latin typeface="Cambria Math" panose="02040503050406030204" pitchFamily="18" charset="0"/>
                          </a:rPr>
                          <m:t>𝒔</m:t>
                        </m:r>
                      </m:den>
                    </m:f>
                  </m:oMath>
                </a14:m>
                <a:endParaRPr lang="nl-NL" sz="2000" b="1" dirty="0"/>
              </a:p>
            </p:txBody>
          </p:sp>
        </mc:Choice>
        <mc:Fallback xmlns="">
          <p:sp>
            <p:nvSpPr>
              <p:cNvPr id="55299" name="Rectangle 3"/>
              <p:cNvSpPr>
                <a:spLocks noGrp="1" noRot="1" noChangeAspect="1" noMove="1" noResize="1" noEditPoints="1" noAdjustHandles="1" noChangeArrowheads="1" noChangeShapeType="1" noTextEdit="1"/>
              </p:cNvSpPr>
              <p:nvPr>
                <p:ph idx="1"/>
              </p:nvPr>
            </p:nvSpPr>
            <p:spPr>
              <a:xfrm>
                <a:off x="551384" y="764704"/>
                <a:ext cx="9937104" cy="4968552"/>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24858087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lstStyle/>
          <a:p>
            <a:pPr eaLnBrk="1" hangingPunct="1">
              <a:defRPr/>
            </a:pPr>
            <a:r>
              <a:rPr lang="nl-BE" dirty="0"/>
              <a:t>Opgave 6</a:t>
            </a:r>
            <a:endParaRPr lang="nl-NL" dirty="0"/>
          </a:p>
        </p:txBody>
      </p:sp>
      <p:sp>
        <p:nvSpPr>
          <p:cNvPr id="57347" name="Rectangle 3"/>
          <p:cNvSpPr>
            <a:spLocks noGrp="1" noRot="1" noChangeArrowheads="1"/>
          </p:cNvSpPr>
          <p:nvPr>
            <p:ph idx="1"/>
          </p:nvPr>
        </p:nvSpPr>
        <p:spPr/>
        <p:txBody>
          <a:bodyPr/>
          <a:lstStyle/>
          <a:p>
            <a:pPr eaLnBrk="1" hangingPunct="1">
              <a:defRPr/>
            </a:pPr>
            <a:r>
              <a:rPr lang="nl-BE"/>
              <a:t>Een lichaam dat een snelheid v bezit wordt onderworpen aan een steeds aangroeiende kracht die steeds loodrecht op de baan van het lichaam blijft werken. Vergroot of verkleint de snelheid of blijft ze steeds even groot? Schets de baan van het lichaam.</a:t>
            </a:r>
            <a:endParaRPr lang="nl-NL"/>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p:txBody>
          <a:bodyPr/>
          <a:lstStyle/>
          <a:p>
            <a:pPr eaLnBrk="1" hangingPunct="1">
              <a:defRPr/>
            </a:pPr>
            <a:r>
              <a:rPr lang="nl-BE" dirty="0"/>
              <a:t>Opgave 7 (extra oef.)</a:t>
            </a:r>
            <a:endParaRPr lang="nl-NL" dirty="0"/>
          </a:p>
        </p:txBody>
      </p:sp>
      <p:sp>
        <p:nvSpPr>
          <p:cNvPr id="58371" name="Rectangle 3"/>
          <p:cNvSpPr>
            <a:spLocks noGrp="1" noRot="1" noChangeArrowheads="1"/>
          </p:cNvSpPr>
          <p:nvPr>
            <p:ph idx="1"/>
          </p:nvPr>
        </p:nvSpPr>
        <p:spPr/>
        <p:txBody>
          <a:bodyPr/>
          <a:lstStyle/>
          <a:p>
            <a:pPr eaLnBrk="1" hangingPunct="1">
              <a:lnSpc>
                <a:spcPct val="90000"/>
              </a:lnSpc>
              <a:defRPr/>
            </a:pPr>
            <a:r>
              <a:rPr lang="nl-BE" sz="2800"/>
              <a:t>Sterrenkundigen berekenden dat de zon een cirkelvormige baan beschrijft met straal 3.10</a:t>
            </a:r>
            <a:r>
              <a:rPr lang="nl-BE" sz="2800" baseline="30000"/>
              <a:t>4</a:t>
            </a:r>
            <a:r>
              <a:rPr lang="nl-BE" sz="2800"/>
              <a:t> lichtjaar, rond het middelpunt van het melkwegstelsel met een periode van 2.10</a:t>
            </a:r>
            <a:r>
              <a:rPr lang="nl-BE" sz="2800" baseline="30000"/>
              <a:t>8</a:t>
            </a:r>
            <a:r>
              <a:rPr lang="nl-BE" sz="2800"/>
              <a:t> jaar. De centripetale kracht, die de zon in haar baan houdt, wordt teweeggebracht door de gravitatiekrachten van de sterren binnen deze baan. </a:t>
            </a:r>
            <a:br>
              <a:rPr lang="nl-BE" sz="2800"/>
            </a:br>
            <a:r>
              <a:rPr lang="nl-BE" sz="2800"/>
              <a:t>Bereken de totale massa van deze sterren. (1 lichtjaar = 946.10</a:t>
            </a:r>
            <a:r>
              <a:rPr lang="nl-BE" sz="2800" baseline="30000"/>
              <a:t>13</a:t>
            </a:r>
            <a:r>
              <a:rPr lang="nl-BE" sz="2800"/>
              <a:t> m). Hoeveel sterren zoals onze zon zijn dit? (m</a:t>
            </a:r>
            <a:r>
              <a:rPr lang="nl-BE" sz="2800" baseline="-25000"/>
              <a:t>zon </a:t>
            </a:r>
            <a:r>
              <a:rPr lang="nl-BE" sz="2800"/>
              <a:t>= 2.10</a:t>
            </a:r>
            <a:r>
              <a:rPr lang="nl-BE" sz="2800" baseline="30000"/>
              <a:t>30</a:t>
            </a:r>
            <a:r>
              <a:rPr lang="nl-BE" sz="2800"/>
              <a:t> kg)</a:t>
            </a:r>
            <a:endParaRPr lang="nl-NL" sz="28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a:xfrm>
            <a:off x="1825625" y="-171400"/>
            <a:ext cx="8540750" cy="1143000"/>
          </a:xfrm>
        </p:spPr>
        <p:txBody>
          <a:bodyPr/>
          <a:lstStyle/>
          <a:p>
            <a:pPr eaLnBrk="1" hangingPunct="1">
              <a:defRPr/>
            </a:pPr>
            <a:r>
              <a:rPr lang="nl-BE" dirty="0"/>
              <a:t>Opgave 7</a:t>
            </a:r>
            <a:endParaRPr lang="nl-NL" dirty="0"/>
          </a:p>
        </p:txBody>
      </p:sp>
      <mc:AlternateContent xmlns:mc="http://schemas.openxmlformats.org/markup-compatibility/2006" xmlns:a14="http://schemas.microsoft.com/office/drawing/2010/main">
        <mc:Choice Requires="a14">
          <p:sp>
            <p:nvSpPr>
              <p:cNvPr id="58371" name="Rectangle 3"/>
              <p:cNvSpPr>
                <a:spLocks noGrp="1" noRot="1" noChangeArrowheads="1"/>
              </p:cNvSpPr>
              <p:nvPr>
                <p:ph idx="1"/>
              </p:nvPr>
            </p:nvSpPr>
            <p:spPr>
              <a:xfrm>
                <a:off x="479376" y="802234"/>
                <a:ext cx="11161240" cy="5723110"/>
              </a:xfrm>
            </p:spPr>
            <p:txBody>
              <a:bodyPr/>
              <a:lstStyle/>
              <a:p>
                <a:pPr eaLnBrk="1" hangingPunct="1">
                  <a:lnSpc>
                    <a:spcPct val="90000"/>
                  </a:lnSpc>
                  <a:defRPr/>
                </a:pPr>
                <a:r>
                  <a:rPr lang="nl-BE" sz="2400" dirty="0"/>
                  <a:t>Sterrenkundigen berekenden dat de zon een cirkelvormige baan beschrijft met straal 3.10</a:t>
                </a:r>
                <a:r>
                  <a:rPr lang="nl-BE" sz="2400" baseline="30000" dirty="0"/>
                  <a:t>4</a:t>
                </a:r>
                <a:r>
                  <a:rPr lang="nl-BE" sz="2400" dirty="0"/>
                  <a:t> lichtjaar, rond het middelpunt van het melkwegstelsel met een periode van 2.10</a:t>
                </a:r>
                <a:r>
                  <a:rPr lang="nl-BE" sz="2400" baseline="30000" dirty="0"/>
                  <a:t>8</a:t>
                </a:r>
                <a:r>
                  <a:rPr lang="nl-BE" sz="2400" dirty="0"/>
                  <a:t> jaar. De centripetale kracht, die de zon in haar baan houdt, wordt teweeggebracht door de gravitatiekrachten van de sterren binnen deze baan. </a:t>
                </a:r>
                <a:br>
                  <a:rPr lang="nl-BE" sz="2400" dirty="0"/>
                </a:br>
                <a:r>
                  <a:rPr lang="nl-BE" sz="2400" dirty="0"/>
                  <a:t>Bereken de totale massa van deze sterren. (1 lichtjaar = 946.10</a:t>
                </a:r>
                <a:r>
                  <a:rPr lang="nl-BE" sz="2400" baseline="30000" dirty="0"/>
                  <a:t>13</a:t>
                </a:r>
                <a:r>
                  <a:rPr lang="nl-BE" sz="2400" dirty="0"/>
                  <a:t> m). Hoeveel sterren zoals onze zon zijn dit? (</a:t>
                </a:r>
                <a:r>
                  <a:rPr lang="nl-BE" sz="2400" dirty="0" err="1"/>
                  <a:t>m</a:t>
                </a:r>
                <a:r>
                  <a:rPr lang="nl-BE" sz="2400" baseline="-25000" dirty="0" err="1"/>
                  <a:t>zon</a:t>
                </a:r>
                <a:r>
                  <a:rPr lang="nl-BE" sz="2400" baseline="-25000" dirty="0"/>
                  <a:t> </a:t>
                </a:r>
                <a:r>
                  <a:rPr lang="nl-BE" sz="2400" dirty="0"/>
                  <a:t>= 2.10</a:t>
                </a:r>
                <a:r>
                  <a:rPr lang="nl-BE" sz="2400" baseline="30000" dirty="0"/>
                  <a:t>30</a:t>
                </a:r>
                <a:r>
                  <a:rPr lang="nl-BE" sz="2400" dirty="0"/>
                  <a:t> kg)</a:t>
                </a:r>
              </a:p>
              <a:p>
                <a:pPr eaLnBrk="1" hangingPunct="1">
                  <a:lnSpc>
                    <a:spcPct val="90000"/>
                  </a:lnSpc>
                  <a:defRPr/>
                </a:pPr>
                <a:endParaRPr lang="nl-BE" dirty="0"/>
              </a:p>
              <a:p>
                <a:pPr eaLnBrk="1" hangingPunct="1">
                  <a:lnSpc>
                    <a:spcPct val="90000"/>
                  </a:lnSpc>
                  <a:defRPr/>
                </a:pPr>
                <a:r>
                  <a:rPr lang="nl-BE" dirty="0"/>
                  <a:t>1 lichtjaar?</a:t>
                </a:r>
              </a:p>
              <a:p>
                <a:pPr eaLnBrk="1" hangingPunct="1">
                  <a:lnSpc>
                    <a:spcPct val="90000"/>
                  </a:lnSpc>
                  <a:defRPr/>
                </a:pPr>
                <a:endParaRPr lang="nl-BE" dirty="0"/>
              </a:p>
              <a:p>
                <a14:m>
                  <m:oMath xmlns:m="http://schemas.openxmlformats.org/officeDocument/2006/math">
                    <m:r>
                      <a:rPr lang="nl-BE" i="1">
                        <a:latin typeface="Cambria Math" panose="02040503050406030204" pitchFamily="18" charset="0"/>
                      </a:rPr>
                      <m:t>1 </m:t>
                    </m:r>
                    <m:r>
                      <a:rPr lang="nl-BE" i="1">
                        <a:latin typeface="Cambria Math" panose="02040503050406030204" pitchFamily="18" charset="0"/>
                      </a:rPr>
                      <m:t>𝑙𝑖𝑐h𝑡𝑗𝑎𝑎𝑟</m:t>
                    </m:r>
                    <m:r>
                      <a:rPr lang="nl-BE" i="1">
                        <a:latin typeface="Cambria Math" panose="02040503050406030204" pitchFamily="18" charset="0"/>
                      </a:rPr>
                      <m:t> =</m:t>
                    </m:r>
                    <m:r>
                      <a:rPr lang="nl-BE">
                        <a:latin typeface="Cambria Math" panose="02040503050406030204" pitchFamily="18" charset="0"/>
                      </a:rPr>
                      <m:t>2,998. </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8</m:t>
                        </m:r>
                      </m:sup>
                    </m:sSup>
                    <m:r>
                      <a:rPr lang="nl-BE" i="1">
                        <a:latin typeface="Cambria Math" panose="02040503050406030204" pitchFamily="18" charset="0"/>
                      </a:rPr>
                      <m:t>𝑚</m:t>
                    </m:r>
                    <m:r>
                      <a:rPr lang="nl-BE" i="1">
                        <a:latin typeface="Cambria Math" panose="02040503050406030204" pitchFamily="18" charset="0"/>
                      </a:rPr>
                      <m:t>/</m:t>
                    </m:r>
                    <m:r>
                      <a:rPr lang="nl-BE" i="1">
                        <a:latin typeface="Cambria Math" panose="02040503050406030204" pitchFamily="18" charset="0"/>
                      </a:rPr>
                      <m:t>𝑠</m:t>
                    </m:r>
                    <m:r>
                      <a:rPr lang="nl-BE" i="1">
                        <a:latin typeface="Cambria Math" panose="02040503050406030204" pitchFamily="18" charset="0"/>
                      </a:rPr>
                      <m:t>.</m:t>
                    </m:r>
                  </m:oMath>
                </a14:m>
                <a:r>
                  <a:rPr lang="nl-BE" dirty="0"/>
                  <a:t> </a:t>
                </a:r>
                <a14:m>
                  <m:oMath xmlns:m="http://schemas.openxmlformats.org/officeDocument/2006/math">
                    <m:r>
                      <a:rPr lang="nl-BE" i="1">
                        <a:latin typeface="Cambria Math" panose="02040503050406030204" pitchFamily="18" charset="0"/>
                      </a:rPr>
                      <m:t>3600 </m:t>
                    </m:r>
                    <m:r>
                      <a:rPr lang="nl-BE" i="1">
                        <a:latin typeface="Cambria Math" panose="02040503050406030204" pitchFamily="18" charset="0"/>
                      </a:rPr>
                      <m:t>𝑠</m:t>
                    </m:r>
                    <m:r>
                      <a:rPr lang="nl-BE" i="1">
                        <a:latin typeface="Cambria Math" panose="02040503050406030204" pitchFamily="18" charset="0"/>
                      </a:rPr>
                      <m:t> .24,00 </m:t>
                    </m:r>
                    <m:r>
                      <a:rPr lang="nl-BE" i="1">
                        <a:latin typeface="Cambria Math" panose="02040503050406030204" pitchFamily="18" charset="0"/>
                      </a:rPr>
                      <m:t>h</m:t>
                    </m:r>
                    <m:r>
                      <a:rPr lang="nl-BE" i="1">
                        <a:latin typeface="Cambria Math" panose="02040503050406030204" pitchFamily="18" charset="0"/>
                      </a:rPr>
                      <m:t> .365,25 </m:t>
                    </m:r>
                    <m:r>
                      <a:rPr lang="nl-BE" i="1">
                        <a:latin typeface="Cambria Math" panose="02040503050406030204" pitchFamily="18" charset="0"/>
                      </a:rPr>
                      <m:t>𝑑𝑎𝑔𝑒𝑛</m:t>
                    </m:r>
                    <m:r>
                      <a:rPr lang="nl-BE" i="1">
                        <a:latin typeface="Cambria Math" panose="02040503050406030204" pitchFamily="18" charset="0"/>
                      </a:rPr>
                      <m:t>=9,461.</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15</m:t>
                        </m:r>
                      </m:sup>
                    </m:sSup>
                    <m:r>
                      <a:rPr lang="nl-BE" i="1">
                        <a:latin typeface="Cambria Math" panose="02040503050406030204" pitchFamily="18" charset="0"/>
                      </a:rPr>
                      <m:t>𝑚</m:t>
                    </m:r>
                  </m:oMath>
                </a14:m>
                <a:endParaRPr lang="nl-BE" dirty="0"/>
              </a:p>
              <a:p>
                <a:pPr marL="0" indent="0">
                  <a:buNone/>
                </a:pPr>
                <a:endParaRPr lang="nl-BE" dirty="0">
                  <a:effectLst/>
                </a:endParaRPr>
              </a:p>
              <a:p>
                <a:pPr eaLnBrk="1" hangingPunct="1">
                  <a:lnSpc>
                    <a:spcPct val="90000"/>
                  </a:lnSpc>
                  <a:defRPr/>
                </a:pPr>
                <a:endParaRPr lang="nl-BE" dirty="0">
                  <a:effectLst/>
                </a:endParaRPr>
              </a:p>
              <a:p>
                <a:pPr eaLnBrk="1" hangingPunct="1">
                  <a:lnSpc>
                    <a:spcPct val="90000"/>
                  </a:lnSpc>
                  <a:defRPr/>
                </a:pPr>
                <a:endParaRPr lang="nl-NL" sz="2000" dirty="0"/>
              </a:p>
            </p:txBody>
          </p:sp>
        </mc:Choice>
        <mc:Fallback xmlns="">
          <p:sp>
            <p:nvSpPr>
              <p:cNvPr id="58371" name="Rectangle 3"/>
              <p:cNvSpPr>
                <a:spLocks noGrp="1" noRot="1" noChangeAspect="1" noMove="1" noResize="1" noEditPoints="1" noAdjustHandles="1" noChangeArrowheads="1" noChangeShapeType="1" noTextEdit="1"/>
              </p:cNvSpPr>
              <p:nvPr>
                <p:ph idx="1"/>
              </p:nvPr>
            </p:nvSpPr>
            <p:spPr>
              <a:xfrm>
                <a:off x="479376" y="802234"/>
                <a:ext cx="11161240" cy="5723110"/>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780980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a:xfrm>
            <a:off x="1825625" y="-171400"/>
            <a:ext cx="8540750" cy="1143000"/>
          </a:xfrm>
        </p:spPr>
        <p:txBody>
          <a:bodyPr/>
          <a:lstStyle/>
          <a:p>
            <a:pPr eaLnBrk="1" hangingPunct="1">
              <a:defRPr/>
            </a:pPr>
            <a:r>
              <a:rPr lang="nl-BE" dirty="0"/>
              <a:t>Opgave 7</a:t>
            </a:r>
            <a:endParaRPr lang="nl-NL" dirty="0"/>
          </a:p>
        </p:txBody>
      </p:sp>
      <mc:AlternateContent xmlns:mc="http://schemas.openxmlformats.org/markup-compatibility/2006" xmlns:a14="http://schemas.microsoft.com/office/drawing/2010/main">
        <mc:Choice Requires="a14">
          <p:sp>
            <p:nvSpPr>
              <p:cNvPr id="58371" name="Rectangle 3"/>
              <p:cNvSpPr>
                <a:spLocks noGrp="1" noRot="1" noChangeArrowheads="1"/>
              </p:cNvSpPr>
              <p:nvPr>
                <p:ph idx="1"/>
              </p:nvPr>
            </p:nvSpPr>
            <p:spPr>
              <a:xfrm>
                <a:off x="479376" y="802234"/>
                <a:ext cx="11161240" cy="5651102"/>
              </a:xfrm>
            </p:spPr>
            <p:txBody>
              <a:bodyPr>
                <a:normAutofit lnSpcReduction="10000"/>
              </a:bodyPr>
              <a:lstStyle/>
              <a:p>
                <a:pPr eaLnBrk="1" hangingPunct="1">
                  <a:lnSpc>
                    <a:spcPct val="90000"/>
                  </a:lnSpc>
                  <a:defRPr/>
                </a:pPr>
                <a:r>
                  <a:rPr lang="nl-BE" sz="2000" dirty="0"/>
                  <a:t>Sterrenkundigen berekenden dat de zon een cirkelvormige baan beschrijft met straal 3.10</a:t>
                </a:r>
                <a:r>
                  <a:rPr lang="nl-BE" sz="2000" baseline="30000" dirty="0"/>
                  <a:t>4</a:t>
                </a:r>
                <a:r>
                  <a:rPr lang="nl-BE" sz="2000" dirty="0"/>
                  <a:t> lichtjaar, rond het middelpunt van het melkwegstelsel met een periode van 2.10</a:t>
                </a:r>
                <a:r>
                  <a:rPr lang="nl-BE" sz="2000" baseline="30000" dirty="0"/>
                  <a:t>8</a:t>
                </a:r>
                <a:r>
                  <a:rPr lang="nl-BE" sz="2000" dirty="0"/>
                  <a:t> jaar. De centripetale kracht, die de zon in haar baan houdt, wordt teweeggebracht door de gravitatiekrachten van de sterren binnen deze baan. </a:t>
                </a:r>
                <a:br>
                  <a:rPr lang="nl-BE" sz="2000" dirty="0"/>
                </a:br>
                <a:r>
                  <a:rPr lang="nl-BE" sz="2000" dirty="0"/>
                  <a:t>Bereken de totale massa van deze sterren. (1 lichtjaar = 946.10</a:t>
                </a:r>
                <a:r>
                  <a:rPr lang="nl-BE" sz="2000" baseline="30000" dirty="0"/>
                  <a:t>13</a:t>
                </a:r>
                <a:r>
                  <a:rPr lang="nl-BE" sz="2000" dirty="0"/>
                  <a:t> m). Hoeveel sterren zoals onze zon zijn dit? (</a:t>
                </a:r>
                <a:r>
                  <a:rPr lang="nl-BE" sz="2000" dirty="0" err="1"/>
                  <a:t>m</a:t>
                </a:r>
                <a:r>
                  <a:rPr lang="nl-BE" sz="2000" baseline="-25000" dirty="0" err="1"/>
                  <a:t>zon</a:t>
                </a:r>
                <a:r>
                  <a:rPr lang="nl-BE" sz="2000" baseline="-25000" dirty="0"/>
                  <a:t> </a:t>
                </a:r>
                <a:r>
                  <a:rPr lang="nl-BE" sz="2000" dirty="0"/>
                  <a:t>= 2.10</a:t>
                </a:r>
                <a:r>
                  <a:rPr lang="nl-BE" sz="2000" baseline="30000" dirty="0"/>
                  <a:t>30</a:t>
                </a:r>
                <a:r>
                  <a:rPr lang="nl-BE" sz="2000" dirty="0"/>
                  <a:t> kg)</a:t>
                </a:r>
              </a:p>
              <a:p>
                <a:pPr eaLnBrk="1" hangingPunct="1">
                  <a:lnSpc>
                    <a:spcPct val="90000"/>
                  </a:lnSpc>
                  <a:defRPr/>
                </a:pPr>
                <a:endParaRPr lang="nl-BE" sz="2000" dirty="0"/>
              </a:p>
              <a:p>
                <a:pPr eaLnBrk="1" hangingPunct="1">
                  <a:lnSpc>
                    <a:spcPct val="90000"/>
                  </a:lnSpc>
                  <a:defRPr/>
                </a:pPr>
                <a:r>
                  <a:rPr lang="nl-BE" sz="2000" dirty="0"/>
                  <a:t>Massa van de sterren?</a:t>
                </a:r>
              </a:p>
              <a:p>
                <a:endParaRPr lang="nl-BE" sz="1000" dirty="0"/>
              </a:p>
              <a:p>
                <a14:m>
                  <m:oMath xmlns:m="http://schemas.openxmlformats.org/officeDocument/2006/math">
                    <m:sSub>
                      <m:sSubPr>
                        <m:ctrlPr>
                          <a:rPr lang="nl-BE" sz="2000" i="1">
                            <a:latin typeface="Cambria Math" panose="02040503050406030204" pitchFamily="18" charset="0"/>
                          </a:rPr>
                        </m:ctrlPr>
                      </m:sSubPr>
                      <m:e>
                        <m:r>
                          <a:rPr lang="nl-BE" sz="2000" i="1">
                            <a:latin typeface="Cambria Math" panose="02040503050406030204" pitchFamily="18" charset="0"/>
                          </a:rPr>
                          <m:t>𝐹</m:t>
                        </m:r>
                      </m:e>
                      <m:sub>
                        <m:r>
                          <a:rPr lang="nl-BE" sz="2000" i="1">
                            <a:latin typeface="Cambria Math" panose="02040503050406030204" pitchFamily="18" charset="0"/>
                          </a:rPr>
                          <m:t>𝑐𝑝</m:t>
                        </m:r>
                      </m:sub>
                    </m:sSub>
                    <m:r>
                      <a:rPr lang="nl-BE" sz="2000" i="1">
                        <a:latin typeface="Cambria Math" panose="02040503050406030204" pitchFamily="18" charset="0"/>
                      </a:rPr>
                      <m:t>=</m:t>
                    </m:r>
                    <m:sSub>
                      <m:sSubPr>
                        <m:ctrlPr>
                          <a:rPr lang="nl-BE" sz="2000" i="1">
                            <a:latin typeface="Cambria Math" panose="02040503050406030204" pitchFamily="18" charset="0"/>
                          </a:rPr>
                        </m:ctrlPr>
                      </m:sSubPr>
                      <m:e>
                        <m:r>
                          <a:rPr lang="nl-BE" sz="2000" i="1">
                            <a:latin typeface="Cambria Math" panose="02040503050406030204" pitchFamily="18" charset="0"/>
                          </a:rPr>
                          <m:t>𝐹</m:t>
                        </m:r>
                      </m:e>
                      <m:sub>
                        <m:r>
                          <a:rPr lang="nl-BE" sz="2000" i="1">
                            <a:latin typeface="Cambria Math" panose="02040503050406030204" pitchFamily="18" charset="0"/>
                          </a:rPr>
                          <m:t>𝑔</m:t>
                        </m:r>
                      </m:sub>
                    </m:sSub>
                  </m:oMath>
                </a14:m>
                <a:endParaRPr lang="nl-BE" sz="2000" dirty="0"/>
              </a:p>
              <a:p>
                <a14:m>
                  <m:oMath xmlns:m="http://schemas.openxmlformats.org/officeDocument/2006/math">
                    <m:f>
                      <m:fPr>
                        <m:ctrlPr>
                          <a:rPr lang="nl-BE" sz="2000" i="1">
                            <a:latin typeface="Cambria Math" panose="02040503050406030204" pitchFamily="18" charset="0"/>
                          </a:rPr>
                        </m:ctrlPr>
                      </m:fPr>
                      <m:num>
                        <m:r>
                          <a:rPr lang="nl-BE" sz="2000" i="1">
                            <a:latin typeface="Cambria Math" panose="02040503050406030204" pitchFamily="18" charset="0"/>
                          </a:rPr>
                          <m:t>𝑚</m:t>
                        </m:r>
                        <m:r>
                          <a:rPr lang="nl-BE" sz="2000" i="1">
                            <a:latin typeface="Cambria Math" panose="02040503050406030204" pitchFamily="18" charset="0"/>
                          </a:rPr>
                          <m:t>.</m:t>
                        </m:r>
                        <m:r>
                          <a:rPr lang="nl-BE" sz="2000" i="1">
                            <a:latin typeface="Cambria Math" panose="02040503050406030204" pitchFamily="18" charset="0"/>
                          </a:rPr>
                          <m:t>𝑣</m:t>
                        </m:r>
                        <m:r>
                          <a:rPr lang="nl-BE" sz="2000" i="1">
                            <a:latin typeface="Cambria Math" panose="02040503050406030204" pitchFamily="18" charset="0"/>
                          </a:rPr>
                          <m:t>²</m:t>
                        </m:r>
                      </m:num>
                      <m:den>
                        <m:r>
                          <a:rPr lang="nl-BE" sz="2000" b="0" i="1" smtClean="0">
                            <a:latin typeface="Cambria Math" panose="02040503050406030204" pitchFamily="18" charset="0"/>
                          </a:rPr>
                          <m:t>𝑅</m:t>
                        </m:r>
                      </m:den>
                    </m:f>
                    <m:r>
                      <a:rPr lang="nl-BE" sz="2000" i="1">
                        <a:latin typeface="Cambria Math" panose="02040503050406030204" pitchFamily="18" charset="0"/>
                      </a:rPr>
                      <m:t>=</m:t>
                    </m:r>
                    <m:r>
                      <a:rPr lang="nl-BE" sz="2000" i="1">
                        <a:latin typeface="Cambria Math" panose="02040503050406030204" pitchFamily="18" charset="0"/>
                      </a:rPr>
                      <m:t>𝐺</m:t>
                    </m:r>
                    <m:f>
                      <m:fPr>
                        <m:ctrlPr>
                          <a:rPr lang="nl-BE" sz="2000" i="1">
                            <a:latin typeface="Cambria Math" panose="02040503050406030204" pitchFamily="18" charset="0"/>
                          </a:rPr>
                        </m:ctrlPr>
                      </m:fPr>
                      <m:num>
                        <m:r>
                          <a:rPr lang="nl-BE" sz="2000" i="1">
                            <a:latin typeface="Cambria Math" panose="02040503050406030204" pitchFamily="18" charset="0"/>
                          </a:rPr>
                          <m:t>𝑚</m:t>
                        </m:r>
                        <m:r>
                          <a:rPr lang="nl-BE" sz="2000" i="1">
                            <a:latin typeface="Cambria Math" panose="02040503050406030204" pitchFamily="18" charset="0"/>
                          </a:rPr>
                          <m:t>.</m:t>
                        </m:r>
                        <m:sSub>
                          <m:sSubPr>
                            <m:ctrlPr>
                              <a:rPr lang="nl-BE" sz="2000" i="1">
                                <a:latin typeface="Cambria Math" panose="02040503050406030204" pitchFamily="18" charset="0"/>
                              </a:rPr>
                            </m:ctrlPr>
                          </m:sSubPr>
                          <m:e>
                            <m:r>
                              <a:rPr lang="nl-BE" sz="2000" i="1">
                                <a:latin typeface="Cambria Math" panose="02040503050406030204" pitchFamily="18" charset="0"/>
                              </a:rPr>
                              <m:t>𝑚</m:t>
                            </m:r>
                          </m:e>
                          <m:sub>
                            <m:r>
                              <a:rPr lang="nl-BE" sz="2000" i="1">
                                <a:latin typeface="Cambria Math" panose="02040503050406030204" pitchFamily="18" charset="0"/>
                              </a:rPr>
                              <m:t>𝑠𝑡𝑒𝑟𝑟𝑒𝑛</m:t>
                            </m:r>
                          </m:sub>
                        </m:sSub>
                      </m:num>
                      <m:den>
                        <m:r>
                          <a:rPr lang="nl-BE" sz="2000" b="0" i="1" smtClean="0">
                            <a:latin typeface="Cambria Math" panose="02040503050406030204" pitchFamily="18" charset="0"/>
                          </a:rPr>
                          <m:t>𝑅</m:t>
                        </m:r>
                        <m:r>
                          <a:rPr lang="nl-BE" sz="2000" i="1">
                            <a:latin typeface="Cambria Math" panose="02040503050406030204" pitchFamily="18" charset="0"/>
                          </a:rPr>
                          <m:t>²</m:t>
                        </m:r>
                      </m:den>
                    </m:f>
                  </m:oMath>
                </a14:m>
                <a:endParaRPr lang="nl-BE" sz="2000" dirty="0"/>
              </a:p>
              <a:p>
                <a14:m>
                  <m:oMath xmlns:m="http://schemas.openxmlformats.org/officeDocument/2006/math">
                    <m:sSub>
                      <m:sSubPr>
                        <m:ctrlPr>
                          <a:rPr lang="nl-BE" sz="2000" i="1">
                            <a:latin typeface="Cambria Math" panose="02040503050406030204" pitchFamily="18" charset="0"/>
                          </a:rPr>
                        </m:ctrlPr>
                      </m:sSubPr>
                      <m:e>
                        <m:r>
                          <a:rPr lang="nl-BE" sz="2000" i="1">
                            <a:latin typeface="Cambria Math" panose="02040503050406030204" pitchFamily="18" charset="0"/>
                          </a:rPr>
                          <m:t>𝑚</m:t>
                        </m:r>
                      </m:e>
                      <m:sub>
                        <m:r>
                          <a:rPr lang="nl-BE" sz="2000" i="1">
                            <a:latin typeface="Cambria Math" panose="02040503050406030204" pitchFamily="18" charset="0"/>
                          </a:rPr>
                          <m:t>𝑠𝑡𝑒𝑟𝑟𝑒𝑛</m:t>
                        </m:r>
                      </m:sub>
                    </m:sSub>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b="0" i="1" smtClean="0">
                            <a:latin typeface="Cambria Math" panose="02040503050406030204" pitchFamily="18" charset="0"/>
                          </a:rPr>
                          <m:t>𝑅</m:t>
                        </m:r>
                        <m:r>
                          <a:rPr lang="nl-BE" sz="2000" i="1">
                            <a:latin typeface="Cambria Math" panose="02040503050406030204" pitchFamily="18" charset="0"/>
                          </a:rPr>
                          <m:t>.</m:t>
                        </m:r>
                        <m:r>
                          <a:rPr lang="nl-BE" sz="2000" i="1">
                            <a:latin typeface="Cambria Math" panose="02040503050406030204" pitchFamily="18" charset="0"/>
                          </a:rPr>
                          <m:t>𝑣</m:t>
                        </m:r>
                        <m:r>
                          <a:rPr lang="nl-BE" sz="2000" i="1">
                            <a:latin typeface="Cambria Math" panose="02040503050406030204" pitchFamily="18" charset="0"/>
                          </a:rPr>
                          <m:t>²</m:t>
                        </m:r>
                      </m:num>
                      <m:den>
                        <m:r>
                          <a:rPr lang="nl-BE" sz="2000" i="1">
                            <a:latin typeface="Cambria Math" panose="02040503050406030204" pitchFamily="18" charset="0"/>
                          </a:rPr>
                          <m:t>𝐺</m:t>
                        </m:r>
                      </m:den>
                    </m:f>
                    <m:r>
                      <a:rPr lang="nl-BE" sz="2000" i="1">
                        <a:latin typeface="Cambria Math" panose="02040503050406030204" pitchFamily="18" charset="0"/>
                      </a:rPr>
                      <m:t>          </m:t>
                    </m:r>
                    <m:r>
                      <a:rPr lang="nl-BE" sz="2000" i="1">
                        <a:latin typeface="Cambria Math" panose="02040503050406030204" pitchFamily="18" charset="0"/>
                      </a:rPr>
                      <m:t>𝑣</m:t>
                    </m:r>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i="1">
                            <a:latin typeface="Cambria Math" panose="02040503050406030204" pitchFamily="18" charset="0"/>
                          </a:rPr>
                          <m:t>2.</m:t>
                        </m:r>
                        <m:r>
                          <a:rPr lang="nl-BE" sz="2000" i="1">
                            <a:latin typeface="Cambria Math" panose="02040503050406030204" pitchFamily="18" charset="0"/>
                          </a:rPr>
                          <m:t>𝜋</m:t>
                        </m:r>
                        <m:r>
                          <a:rPr lang="nl-BE" sz="2000" i="1">
                            <a:latin typeface="Cambria Math" panose="02040503050406030204" pitchFamily="18" charset="0"/>
                          </a:rPr>
                          <m:t>.</m:t>
                        </m:r>
                        <m:r>
                          <a:rPr lang="nl-BE" sz="2000" b="0" i="1" smtClean="0">
                            <a:latin typeface="Cambria Math" panose="02040503050406030204" pitchFamily="18" charset="0"/>
                          </a:rPr>
                          <m:t>𝑅</m:t>
                        </m:r>
                      </m:num>
                      <m:den>
                        <m:r>
                          <a:rPr lang="nl-BE" sz="2000" i="1">
                            <a:latin typeface="Cambria Math" panose="02040503050406030204" pitchFamily="18" charset="0"/>
                          </a:rPr>
                          <m:t>𝑇</m:t>
                        </m:r>
                      </m:den>
                    </m:f>
                    <m:r>
                      <a:rPr lang="nl-BE" sz="2000" i="1">
                        <a:latin typeface="Cambria Math" panose="02040503050406030204" pitchFamily="18" charset="0"/>
                      </a:rPr>
                      <m:t>           </m:t>
                    </m:r>
                    <m:sSup>
                      <m:sSupPr>
                        <m:ctrlPr>
                          <a:rPr lang="nl-BE" sz="2000" i="1">
                            <a:latin typeface="Cambria Math" panose="02040503050406030204" pitchFamily="18" charset="0"/>
                          </a:rPr>
                        </m:ctrlPr>
                      </m:sSupPr>
                      <m:e>
                        <m:r>
                          <a:rPr lang="nl-BE" sz="2000" i="1">
                            <a:latin typeface="Cambria Math" panose="02040503050406030204" pitchFamily="18" charset="0"/>
                          </a:rPr>
                          <m:t>𝑣</m:t>
                        </m:r>
                      </m:e>
                      <m:sup>
                        <m:r>
                          <a:rPr lang="nl-BE" sz="2000" i="1">
                            <a:latin typeface="Cambria Math" panose="02040503050406030204" pitchFamily="18" charset="0"/>
                          </a:rPr>
                          <m:t>2</m:t>
                        </m:r>
                      </m:sup>
                    </m:sSup>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i="1">
                            <a:latin typeface="Cambria Math" panose="02040503050406030204" pitchFamily="18" charset="0"/>
                          </a:rPr>
                          <m:t>4.</m:t>
                        </m:r>
                        <m:r>
                          <a:rPr lang="nl-BE" sz="2000" i="1">
                            <a:latin typeface="Cambria Math" panose="02040503050406030204" pitchFamily="18" charset="0"/>
                          </a:rPr>
                          <m:t>𝜋</m:t>
                        </m:r>
                        <m:r>
                          <a:rPr lang="nl-BE" sz="2000" i="1">
                            <a:latin typeface="Cambria Math" panose="02040503050406030204" pitchFamily="18" charset="0"/>
                          </a:rPr>
                          <m:t>².</m:t>
                        </m:r>
                        <m:r>
                          <a:rPr lang="nl-BE" sz="2000" b="0" i="1" smtClean="0">
                            <a:latin typeface="Cambria Math" panose="02040503050406030204" pitchFamily="18" charset="0"/>
                          </a:rPr>
                          <m:t>𝑅</m:t>
                        </m:r>
                        <m:r>
                          <a:rPr lang="nl-BE" sz="2000" i="1">
                            <a:latin typeface="Cambria Math" panose="02040503050406030204" pitchFamily="18" charset="0"/>
                          </a:rPr>
                          <m:t>²</m:t>
                        </m:r>
                      </m:num>
                      <m:den>
                        <m:r>
                          <a:rPr lang="nl-BE" sz="2000" i="1">
                            <a:latin typeface="Cambria Math" panose="02040503050406030204" pitchFamily="18" charset="0"/>
                          </a:rPr>
                          <m:t>𝑇</m:t>
                        </m:r>
                        <m:r>
                          <a:rPr lang="nl-BE" sz="2000" i="1">
                            <a:latin typeface="Cambria Math" panose="02040503050406030204" pitchFamily="18" charset="0"/>
                          </a:rPr>
                          <m:t>²</m:t>
                        </m:r>
                      </m:den>
                    </m:f>
                    <m:r>
                      <a:rPr lang="nl-BE" sz="2000" i="1">
                        <a:latin typeface="Cambria Math" panose="02040503050406030204" pitchFamily="18" charset="0"/>
                      </a:rPr>
                      <m:t>  </m:t>
                    </m:r>
                  </m:oMath>
                </a14:m>
                <a:endParaRPr lang="nl-BE" sz="2000" dirty="0"/>
              </a:p>
              <a:p>
                <a14:m>
                  <m:oMath xmlns:m="http://schemas.openxmlformats.org/officeDocument/2006/math">
                    <m:sSub>
                      <m:sSubPr>
                        <m:ctrlPr>
                          <a:rPr lang="nl-BE" sz="2000" i="1">
                            <a:latin typeface="Cambria Math" panose="02040503050406030204" pitchFamily="18" charset="0"/>
                          </a:rPr>
                        </m:ctrlPr>
                      </m:sSubPr>
                      <m:e>
                        <m:r>
                          <a:rPr lang="nl-BE" sz="2000" i="1">
                            <a:latin typeface="Cambria Math" panose="02040503050406030204" pitchFamily="18" charset="0"/>
                          </a:rPr>
                          <m:t>𝑚</m:t>
                        </m:r>
                      </m:e>
                      <m:sub>
                        <m:r>
                          <a:rPr lang="nl-BE" sz="2000" i="1">
                            <a:latin typeface="Cambria Math" panose="02040503050406030204" pitchFamily="18" charset="0"/>
                          </a:rPr>
                          <m:t>𝑠𝑡𝑒𝑟𝑟𝑒𝑛</m:t>
                        </m:r>
                      </m:sub>
                    </m:sSub>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i="1">
                            <a:latin typeface="Cambria Math" panose="02040503050406030204" pitchFamily="18" charset="0"/>
                          </a:rPr>
                          <m:t>4.</m:t>
                        </m:r>
                        <m:r>
                          <a:rPr lang="nl-BE" sz="2000" i="1">
                            <a:latin typeface="Cambria Math" panose="02040503050406030204" pitchFamily="18" charset="0"/>
                          </a:rPr>
                          <m:t>𝜋</m:t>
                        </m:r>
                        <m:r>
                          <a:rPr lang="nl-BE" sz="2000" i="1">
                            <a:latin typeface="Cambria Math" panose="02040503050406030204" pitchFamily="18" charset="0"/>
                          </a:rPr>
                          <m:t>².</m:t>
                        </m:r>
                        <m:r>
                          <a:rPr lang="nl-BE" sz="2000" b="0" i="1" smtClean="0">
                            <a:latin typeface="Cambria Math" panose="02040503050406030204" pitchFamily="18" charset="0"/>
                          </a:rPr>
                          <m:t>𝑅</m:t>
                        </m:r>
                        <m:r>
                          <a:rPr lang="nl-BE" sz="2000" i="1">
                            <a:latin typeface="Cambria Math" panose="02040503050406030204" pitchFamily="18" charset="0"/>
                          </a:rPr>
                          <m:t>³</m:t>
                        </m:r>
                      </m:num>
                      <m:den>
                        <m:r>
                          <a:rPr lang="nl-BE" sz="2000" i="1">
                            <a:latin typeface="Cambria Math" panose="02040503050406030204" pitchFamily="18" charset="0"/>
                          </a:rPr>
                          <m:t>𝐺</m:t>
                        </m:r>
                        <m:r>
                          <a:rPr lang="nl-BE" sz="2000" i="1">
                            <a:latin typeface="Cambria Math" panose="02040503050406030204" pitchFamily="18" charset="0"/>
                          </a:rPr>
                          <m:t>.</m:t>
                        </m:r>
                        <m:r>
                          <a:rPr lang="nl-BE" sz="2000" i="1">
                            <a:latin typeface="Cambria Math" panose="02040503050406030204" pitchFamily="18" charset="0"/>
                          </a:rPr>
                          <m:t>𝑇</m:t>
                        </m:r>
                        <m:r>
                          <a:rPr lang="nl-BE" sz="2000" i="1">
                            <a:latin typeface="Cambria Math" panose="02040503050406030204" pitchFamily="18" charset="0"/>
                          </a:rPr>
                          <m:t>²</m:t>
                        </m:r>
                      </m:den>
                    </m:f>
                    <m:r>
                      <a:rPr lang="nl-BE" sz="2000" i="1">
                        <a:latin typeface="Cambria Math" panose="02040503050406030204" pitchFamily="18" charset="0"/>
                      </a:rPr>
                      <m:t>    </m:t>
                    </m:r>
                  </m:oMath>
                </a14:m>
                <a:endParaRPr lang="nl-BE" sz="2000" dirty="0"/>
              </a:p>
              <a:p>
                <a14:m>
                  <m:oMath xmlns:m="http://schemas.openxmlformats.org/officeDocument/2006/math">
                    <m:sSub>
                      <m:sSubPr>
                        <m:ctrlPr>
                          <a:rPr lang="nl-BE" sz="2000" i="1">
                            <a:latin typeface="Cambria Math" panose="02040503050406030204" pitchFamily="18" charset="0"/>
                          </a:rPr>
                        </m:ctrlPr>
                      </m:sSubPr>
                      <m:e>
                        <m:r>
                          <a:rPr lang="nl-BE" sz="2000" i="1">
                            <a:latin typeface="Cambria Math" panose="02040503050406030204" pitchFamily="18" charset="0"/>
                          </a:rPr>
                          <m:t>𝑚</m:t>
                        </m:r>
                      </m:e>
                      <m:sub>
                        <m:r>
                          <a:rPr lang="nl-BE" sz="2000" i="1">
                            <a:latin typeface="Cambria Math" panose="02040503050406030204" pitchFamily="18" charset="0"/>
                          </a:rPr>
                          <m:t>𝑠𝑡𝑒𝑟𝑟𝑒𝑛</m:t>
                        </m:r>
                      </m:sub>
                    </m:sSub>
                    <m:r>
                      <a:rPr lang="nl-BE" sz="2000" i="1">
                        <a:latin typeface="Cambria Math" panose="02040503050406030204" pitchFamily="18" charset="0"/>
                      </a:rPr>
                      <m:t>=</m:t>
                    </m:r>
                    <m:f>
                      <m:fPr>
                        <m:ctrlPr>
                          <a:rPr lang="nl-BE" sz="2000" i="1">
                            <a:latin typeface="Cambria Math" panose="02040503050406030204" pitchFamily="18" charset="0"/>
                          </a:rPr>
                        </m:ctrlPr>
                      </m:fPr>
                      <m:num>
                        <m:r>
                          <a:rPr lang="nl-BE" sz="2000" i="1">
                            <a:latin typeface="Cambria Math" panose="02040503050406030204" pitchFamily="18" charset="0"/>
                          </a:rPr>
                          <m:t>4.</m:t>
                        </m:r>
                        <m:r>
                          <a:rPr lang="nl-BE" sz="2000" i="1">
                            <a:latin typeface="Cambria Math" panose="02040503050406030204" pitchFamily="18" charset="0"/>
                          </a:rPr>
                          <m:t>𝜋</m:t>
                        </m:r>
                        <m:r>
                          <a:rPr lang="nl-BE" sz="2000" i="1">
                            <a:latin typeface="Cambria Math" panose="02040503050406030204" pitchFamily="18" charset="0"/>
                          </a:rPr>
                          <m:t>².(3.</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4</m:t>
                            </m:r>
                          </m:sup>
                        </m:sSup>
                        <m:r>
                          <a:rPr lang="nl-BE" sz="2000" i="1">
                            <a:latin typeface="Cambria Math" panose="02040503050406030204" pitchFamily="18" charset="0"/>
                          </a:rPr>
                          <m:t>.9,461.</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15</m:t>
                            </m:r>
                          </m:sup>
                        </m:sSup>
                        <m:r>
                          <a:rPr lang="nl-BE" sz="2000" i="1">
                            <a:latin typeface="Cambria Math" panose="02040503050406030204" pitchFamily="18" charset="0"/>
                          </a:rPr>
                          <m:t>)³</m:t>
                        </m:r>
                      </m:num>
                      <m:den>
                        <m:r>
                          <a:rPr lang="nl-BE" sz="2000" i="1">
                            <a:latin typeface="Cambria Math" panose="02040503050406030204" pitchFamily="18" charset="0"/>
                          </a:rPr>
                          <m:t>6,672.</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−11</m:t>
                            </m:r>
                          </m:sup>
                        </m:sSup>
                        <m:r>
                          <a:rPr lang="nl-BE" sz="2000" i="1">
                            <a:latin typeface="Cambria Math" panose="02040503050406030204" pitchFamily="18" charset="0"/>
                          </a:rPr>
                          <m:t>.(2.</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8</m:t>
                            </m:r>
                          </m:sup>
                        </m:sSup>
                        <m:r>
                          <a:rPr lang="nl-BE" sz="2000" i="1">
                            <a:latin typeface="Cambria Math" panose="02040503050406030204" pitchFamily="18" charset="0"/>
                          </a:rPr>
                          <m:t>.365,25.24,00.3600)²</m:t>
                        </m:r>
                      </m:den>
                    </m:f>
                    <m:r>
                      <a:rPr lang="nl-BE" sz="2000" i="1">
                        <a:latin typeface="Cambria Math" panose="02040503050406030204" pitchFamily="18" charset="0"/>
                      </a:rPr>
                      <m:t>    </m:t>
                    </m:r>
                  </m:oMath>
                </a14:m>
                <a:endParaRPr lang="nl-BE" sz="2000" dirty="0"/>
              </a:p>
              <a:p>
                <a14:m>
                  <m:oMath xmlns:m="http://schemas.openxmlformats.org/officeDocument/2006/math">
                    <m:sSub>
                      <m:sSubPr>
                        <m:ctrlPr>
                          <a:rPr lang="nl-BE" sz="2000" i="1">
                            <a:latin typeface="Cambria Math" panose="02040503050406030204" pitchFamily="18" charset="0"/>
                          </a:rPr>
                        </m:ctrlPr>
                      </m:sSubPr>
                      <m:e>
                        <m:r>
                          <a:rPr lang="nl-BE" sz="2000" i="1">
                            <a:latin typeface="Cambria Math" panose="02040503050406030204" pitchFamily="18" charset="0"/>
                          </a:rPr>
                          <m:t>𝑚</m:t>
                        </m:r>
                      </m:e>
                      <m:sub>
                        <m:r>
                          <a:rPr lang="nl-BE" sz="2000" i="1">
                            <a:latin typeface="Cambria Math" panose="02040503050406030204" pitchFamily="18" charset="0"/>
                          </a:rPr>
                          <m:t>𝑠𝑡𝑒𝑟𝑟𝑒𝑛</m:t>
                        </m:r>
                      </m:sub>
                    </m:sSub>
                    <m:r>
                      <a:rPr lang="nl-BE" sz="2000" i="1">
                        <a:latin typeface="Cambria Math" panose="02040503050406030204" pitchFamily="18" charset="0"/>
                      </a:rPr>
                      <m:t>=3.</m:t>
                    </m:r>
                    <m:sSup>
                      <m:sSupPr>
                        <m:ctrlPr>
                          <a:rPr lang="nl-BE" sz="2000" i="1">
                            <a:latin typeface="Cambria Math" panose="02040503050406030204" pitchFamily="18" charset="0"/>
                          </a:rPr>
                        </m:ctrlPr>
                      </m:sSupPr>
                      <m:e>
                        <m:r>
                          <a:rPr lang="nl-BE" sz="2000" i="1">
                            <a:latin typeface="Cambria Math" panose="02040503050406030204" pitchFamily="18" charset="0"/>
                          </a:rPr>
                          <m:t>10</m:t>
                        </m:r>
                      </m:e>
                      <m:sup>
                        <m:r>
                          <a:rPr lang="nl-BE" sz="2000" i="1">
                            <a:latin typeface="Cambria Math" panose="02040503050406030204" pitchFamily="18" charset="0"/>
                          </a:rPr>
                          <m:t>41</m:t>
                        </m:r>
                      </m:sup>
                    </m:sSup>
                    <m:r>
                      <a:rPr lang="nl-BE" sz="2000" i="1">
                        <a:latin typeface="Cambria Math" panose="02040503050406030204" pitchFamily="18" charset="0"/>
                      </a:rPr>
                      <m:t>𝑘𝑔</m:t>
                    </m:r>
                  </m:oMath>
                </a14:m>
                <a:endParaRPr lang="nl-BE" sz="2000" dirty="0"/>
              </a:p>
              <a:p>
                <a:pPr eaLnBrk="1" hangingPunct="1">
                  <a:lnSpc>
                    <a:spcPct val="90000"/>
                  </a:lnSpc>
                  <a:defRPr/>
                </a:pPr>
                <a:endParaRPr lang="nl-BE" sz="2000" dirty="0"/>
              </a:p>
              <a:p>
                <a:pPr eaLnBrk="1" hangingPunct="1">
                  <a:lnSpc>
                    <a:spcPct val="90000"/>
                  </a:lnSpc>
                  <a:defRPr/>
                </a:pPr>
                <a:endParaRPr lang="nl-NL" sz="2000" dirty="0"/>
              </a:p>
            </p:txBody>
          </p:sp>
        </mc:Choice>
        <mc:Fallback xmlns="">
          <p:sp>
            <p:nvSpPr>
              <p:cNvPr id="58371" name="Rectangle 3"/>
              <p:cNvSpPr>
                <a:spLocks noGrp="1" noRot="1" noChangeAspect="1" noMove="1" noResize="1" noEditPoints="1" noAdjustHandles="1" noChangeArrowheads="1" noChangeShapeType="1" noTextEdit="1"/>
              </p:cNvSpPr>
              <p:nvPr>
                <p:ph idx="1"/>
              </p:nvPr>
            </p:nvSpPr>
            <p:spPr>
              <a:xfrm>
                <a:off x="479376" y="802234"/>
                <a:ext cx="11161240" cy="5651102"/>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3387457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a:xfrm>
            <a:off x="1825625" y="-171400"/>
            <a:ext cx="8540750" cy="1143000"/>
          </a:xfrm>
        </p:spPr>
        <p:txBody>
          <a:bodyPr/>
          <a:lstStyle/>
          <a:p>
            <a:pPr eaLnBrk="1" hangingPunct="1">
              <a:defRPr/>
            </a:pPr>
            <a:r>
              <a:rPr lang="nl-BE" dirty="0"/>
              <a:t>Opgave 7</a:t>
            </a:r>
            <a:endParaRPr lang="nl-NL" dirty="0"/>
          </a:p>
        </p:txBody>
      </p:sp>
      <mc:AlternateContent xmlns:mc="http://schemas.openxmlformats.org/markup-compatibility/2006" xmlns:a14="http://schemas.microsoft.com/office/drawing/2010/main">
        <mc:Choice Requires="a14">
          <p:sp>
            <p:nvSpPr>
              <p:cNvPr id="58371" name="Rectangle 3"/>
              <p:cNvSpPr>
                <a:spLocks noGrp="1" noRot="1" noChangeArrowheads="1"/>
              </p:cNvSpPr>
              <p:nvPr>
                <p:ph idx="1"/>
              </p:nvPr>
            </p:nvSpPr>
            <p:spPr>
              <a:xfrm>
                <a:off x="623392" y="802234"/>
                <a:ext cx="11161240" cy="5723110"/>
              </a:xfrm>
            </p:spPr>
            <p:txBody>
              <a:bodyPr>
                <a:normAutofit/>
              </a:bodyPr>
              <a:lstStyle/>
              <a:p>
                <a:pPr eaLnBrk="1" hangingPunct="1">
                  <a:lnSpc>
                    <a:spcPct val="90000"/>
                  </a:lnSpc>
                  <a:defRPr/>
                </a:pPr>
                <a:r>
                  <a:rPr lang="nl-BE" sz="2000" dirty="0"/>
                  <a:t>Sterrenkundigen berekenden dat de zon een cirkelvormige baan beschrijft met straal 3.10</a:t>
                </a:r>
                <a:r>
                  <a:rPr lang="nl-BE" sz="2000" baseline="30000" dirty="0"/>
                  <a:t>4</a:t>
                </a:r>
                <a:r>
                  <a:rPr lang="nl-BE" sz="2000" dirty="0"/>
                  <a:t> lichtjaar, rond het middelpunt van het melkwegstelsel met een periode van 2.10</a:t>
                </a:r>
                <a:r>
                  <a:rPr lang="nl-BE" sz="2000" baseline="30000" dirty="0"/>
                  <a:t>8</a:t>
                </a:r>
                <a:r>
                  <a:rPr lang="nl-BE" sz="2000" dirty="0"/>
                  <a:t> jaar. De centripetale kracht, die de zon in haar baan houdt, wordt teweeggebracht door de gravitatiekrachten van de sterren binnen deze baan. </a:t>
                </a:r>
                <a:br>
                  <a:rPr lang="nl-BE" sz="2000" dirty="0"/>
                </a:br>
                <a:r>
                  <a:rPr lang="nl-BE" sz="2000" dirty="0"/>
                  <a:t>Bereken de totale massa van deze sterren. (1 lichtjaar = 946.10</a:t>
                </a:r>
                <a:r>
                  <a:rPr lang="nl-BE" sz="2000" baseline="30000" dirty="0"/>
                  <a:t>13</a:t>
                </a:r>
                <a:r>
                  <a:rPr lang="nl-BE" sz="2000" dirty="0"/>
                  <a:t> m). Hoeveel sterren zoals onze zon zijn dit? (</a:t>
                </a:r>
                <a:r>
                  <a:rPr lang="nl-BE" sz="2000" dirty="0" err="1"/>
                  <a:t>m</a:t>
                </a:r>
                <a:r>
                  <a:rPr lang="nl-BE" sz="2000" baseline="-25000" dirty="0" err="1"/>
                  <a:t>zon</a:t>
                </a:r>
                <a:r>
                  <a:rPr lang="nl-BE" sz="2000" baseline="-25000" dirty="0"/>
                  <a:t> </a:t>
                </a:r>
                <a:r>
                  <a:rPr lang="nl-BE" sz="2000" dirty="0"/>
                  <a:t>= 2.10</a:t>
                </a:r>
                <a:r>
                  <a:rPr lang="nl-BE" sz="2000" baseline="30000" dirty="0"/>
                  <a:t>30</a:t>
                </a:r>
                <a:r>
                  <a:rPr lang="nl-BE" sz="2000" dirty="0"/>
                  <a:t> kg)</a:t>
                </a:r>
              </a:p>
              <a:p>
                <a:pPr eaLnBrk="1" hangingPunct="1">
                  <a:lnSpc>
                    <a:spcPct val="90000"/>
                  </a:lnSpc>
                  <a:defRPr/>
                </a:pPr>
                <a:endParaRPr lang="nl-BE" sz="2000" dirty="0"/>
              </a:p>
              <a:p>
                <a:pPr marL="0" indent="0">
                  <a:buNone/>
                  <a:defRPr/>
                </a:pPr>
                <a:r>
                  <a:rPr lang="nl-BE" sz="2000" dirty="0"/>
                  <a:t>Aantal sterren?</a:t>
                </a:r>
              </a:p>
              <a:p>
                <a:endParaRPr lang="nl-BE" sz="1000" dirty="0"/>
              </a:p>
              <a:p>
                <a14:m>
                  <m:oMath xmlns:m="http://schemas.openxmlformats.org/officeDocument/2006/math">
                    <m:r>
                      <a:rPr lang="nl-BE" sz="2800" i="1">
                        <a:latin typeface="Cambria Math" panose="02040503050406030204" pitchFamily="18" charset="0"/>
                      </a:rPr>
                      <m:t>𝑎𝑎𝑛𝑡𝑎𝑙</m:t>
                    </m:r>
                    <m:r>
                      <a:rPr lang="nl-BE" sz="2800" i="1">
                        <a:latin typeface="Cambria Math" panose="02040503050406030204" pitchFamily="18" charset="0"/>
                      </a:rPr>
                      <m:t> </m:t>
                    </m:r>
                    <m:r>
                      <a:rPr lang="nl-BE" sz="2800" i="1">
                        <a:latin typeface="Cambria Math" panose="02040503050406030204" pitchFamily="18" charset="0"/>
                      </a:rPr>
                      <m:t>𝑠𝑡𝑒𝑟𝑟𝑒𝑛</m:t>
                    </m:r>
                    <m:r>
                      <a:rPr lang="nl-BE" sz="2800" i="1">
                        <a:latin typeface="Cambria Math" panose="02040503050406030204" pitchFamily="18" charset="0"/>
                      </a:rPr>
                      <m:t>=</m:t>
                    </m:r>
                    <m:f>
                      <m:fPr>
                        <m:ctrlPr>
                          <a:rPr lang="nl-BE" sz="2800" i="1">
                            <a:latin typeface="Cambria Math" panose="02040503050406030204" pitchFamily="18" charset="0"/>
                          </a:rPr>
                        </m:ctrlPr>
                      </m:fPr>
                      <m:num>
                        <m:sSub>
                          <m:sSubPr>
                            <m:ctrlPr>
                              <a:rPr lang="nl-BE" sz="2800" i="1">
                                <a:latin typeface="Cambria Math" panose="02040503050406030204" pitchFamily="18" charset="0"/>
                              </a:rPr>
                            </m:ctrlPr>
                          </m:sSubPr>
                          <m:e>
                            <m:r>
                              <a:rPr lang="nl-BE" sz="2800" i="1">
                                <a:latin typeface="Cambria Math" panose="02040503050406030204" pitchFamily="18" charset="0"/>
                              </a:rPr>
                              <m:t>𝑚</m:t>
                            </m:r>
                          </m:e>
                          <m:sub>
                            <m:r>
                              <a:rPr lang="nl-BE" sz="2800" i="1">
                                <a:latin typeface="Cambria Math" panose="02040503050406030204" pitchFamily="18" charset="0"/>
                              </a:rPr>
                              <m:t>𝑠𝑡𝑒𝑟𝑟𝑒𝑛</m:t>
                            </m:r>
                          </m:sub>
                        </m:sSub>
                      </m:num>
                      <m:den>
                        <m:sSub>
                          <m:sSubPr>
                            <m:ctrlPr>
                              <a:rPr lang="nl-BE" sz="2800" i="1">
                                <a:latin typeface="Cambria Math" panose="02040503050406030204" pitchFamily="18" charset="0"/>
                              </a:rPr>
                            </m:ctrlPr>
                          </m:sSubPr>
                          <m:e>
                            <m:r>
                              <a:rPr lang="nl-BE" sz="2800" i="1">
                                <a:latin typeface="Cambria Math" panose="02040503050406030204" pitchFamily="18" charset="0"/>
                              </a:rPr>
                              <m:t>𝑚</m:t>
                            </m:r>
                          </m:e>
                          <m:sub>
                            <m:r>
                              <a:rPr lang="nl-BE" sz="2800" i="1">
                                <a:latin typeface="Cambria Math" panose="02040503050406030204" pitchFamily="18" charset="0"/>
                              </a:rPr>
                              <m:t>𝑧𝑜𝑛</m:t>
                            </m:r>
                          </m:sub>
                        </m:sSub>
                      </m:den>
                    </m:f>
                  </m:oMath>
                </a14:m>
                <a:br>
                  <a:rPr lang="nl-BE" sz="2800" dirty="0"/>
                </a:br>
                <a:endParaRPr lang="nl-BE" sz="2800" dirty="0"/>
              </a:p>
              <a:p>
                <a14:m>
                  <m:oMath xmlns:m="http://schemas.openxmlformats.org/officeDocument/2006/math">
                    <m:r>
                      <a:rPr lang="nl-BE" sz="2800" i="1">
                        <a:latin typeface="Cambria Math" panose="02040503050406030204" pitchFamily="18" charset="0"/>
                      </a:rPr>
                      <m:t>𝑎𝑎𝑛𝑡𝑎𝑙</m:t>
                    </m:r>
                    <m:r>
                      <a:rPr lang="nl-BE" sz="2800" i="1">
                        <a:latin typeface="Cambria Math" panose="02040503050406030204" pitchFamily="18" charset="0"/>
                      </a:rPr>
                      <m:t> </m:t>
                    </m:r>
                    <m:r>
                      <a:rPr lang="nl-BE" sz="2800" i="1">
                        <a:latin typeface="Cambria Math" panose="02040503050406030204" pitchFamily="18" charset="0"/>
                      </a:rPr>
                      <m:t>𝑠𝑡𝑒𝑟𝑟𝑒𝑛</m:t>
                    </m:r>
                    <m:r>
                      <a:rPr lang="nl-BE" sz="2800" i="1">
                        <a:latin typeface="Cambria Math" panose="02040503050406030204" pitchFamily="18" charset="0"/>
                      </a:rPr>
                      <m:t>=</m:t>
                    </m:r>
                    <m:f>
                      <m:fPr>
                        <m:ctrlPr>
                          <a:rPr lang="nl-BE" sz="2800" i="1">
                            <a:latin typeface="Cambria Math" panose="02040503050406030204" pitchFamily="18" charset="0"/>
                          </a:rPr>
                        </m:ctrlPr>
                      </m:fPr>
                      <m:num>
                        <m:r>
                          <a:rPr lang="nl-BE" sz="2800" i="1">
                            <a:latin typeface="Cambria Math" panose="02040503050406030204" pitchFamily="18" charset="0"/>
                          </a:rPr>
                          <m:t>3.</m:t>
                        </m:r>
                        <m:sSup>
                          <m:sSupPr>
                            <m:ctrlPr>
                              <a:rPr lang="nl-BE" sz="2800" i="1">
                                <a:latin typeface="Cambria Math" panose="02040503050406030204" pitchFamily="18" charset="0"/>
                              </a:rPr>
                            </m:ctrlPr>
                          </m:sSupPr>
                          <m:e>
                            <m:r>
                              <a:rPr lang="nl-BE" sz="2800" i="1">
                                <a:latin typeface="Cambria Math" panose="02040503050406030204" pitchFamily="18" charset="0"/>
                              </a:rPr>
                              <m:t>10</m:t>
                            </m:r>
                          </m:e>
                          <m:sup>
                            <m:r>
                              <a:rPr lang="nl-BE" sz="2800" i="1">
                                <a:latin typeface="Cambria Math" panose="02040503050406030204" pitchFamily="18" charset="0"/>
                              </a:rPr>
                              <m:t>41</m:t>
                            </m:r>
                          </m:sup>
                        </m:sSup>
                      </m:num>
                      <m:den>
                        <m:r>
                          <a:rPr lang="nl-BE" sz="2800" i="1">
                            <a:latin typeface="Cambria Math" panose="02040503050406030204" pitchFamily="18" charset="0"/>
                          </a:rPr>
                          <m:t>2.</m:t>
                        </m:r>
                        <m:sSup>
                          <m:sSupPr>
                            <m:ctrlPr>
                              <a:rPr lang="nl-BE" sz="2800" i="1">
                                <a:latin typeface="Cambria Math" panose="02040503050406030204" pitchFamily="18" charset="0"/>
                              </a:rPr>
                            </m:ctrlPr>
                          </m:sSupPr>
                          <m:e>
                            <m:r>
                              <a:rPr lang="nl-BE" sz="2800" i="1">
                                <a:latin typeface="Cambria Math" panose="02040503050406030204" pitchFamily="18" charset="0"/>
                              </a:rPr>
                              <m:t>10</m:t>
                            </m:r>
                          </m:e>
                          <m:sup>
                            <m:r>
                              <a:rPr lang="nl-BE" sz="2800" i="1">
                                <a:latin typeface="Cambria Math" panose="02040503050406030204" pitchFamily="18" charset="0"/>
                              </a:rPr>
                              <m:t>30</m:t>
                            </m:r>
                          </m:sup>
                        </m:sSup>
                      </m:den>
                    </m:f>
                  </m:oMath>
                </a14:m>
                <a:br>
                  <a:rPr lang="nl-BE" sz="2800" dirty="0"/>
                </a:br>
                <a:endParaRPr lang="nl-BE" sz="2800" dirty="0"/>
              </a:p>
              <a:p>
                <a14:m>
                  <m:oMath xmlns:m="http://schemas.openxmlformats.org/officeDocument/2006/math">
                    <m:r>
                      <a:rPr lang="nl-BE" sz="2800" i="1">
                        <a:latin typeface="Cambria Math" panose="02040503050406030204" pitchFamily="18" charset="0"/>
                      </a:rPr>
                      <m:t>𝑎𝑎𝑛𝑡𝑎𝑙</m:t>
                    </m:r>
                    <m:r>
                      <a:rPr lang="nl-BE" sz="2800" i="1">
                        <a:latin typeface="Cambria Math" panose="02040503050406030204" pitchFamily="18" charset="0"/>
                      </a:rPr>
                      <m:t> </m:t>
                    </m:r>
                    <m:r>
                      <a:rPr lang="nl-BE" sz="2800" i="1">
                        <a:latin typeface="Cambria Math" panose="02040503050406030204" pitchFamily="18" charset="0"/>
                      </a:rPr>
                      <m:t>𝑠𝑡𝑒𝑟𝑟𝑒𝑛</m:t>
                    </m:r>
                    <m:r>
                      <a:rPr lang="nl-BE" sz="2800" i="1">
                        <a:latin typeface="Cambria Math" panose="02040503050406030204" pitchFamily="18" charset="0"/>
                      </a:rPr>
                      <m:t>=2.</m:t>
                    </m:r>
                    <m:sSup>
                      <m:sSupPr>
                        <m:ctrlPr>
                          <a:rPr lang="nl-BE" sz="2800" i="1">
                            <a:latin typeface="Cambria Math" panose="02040503050406030204" pitchFamily="18" charset="0"/>
                          </a:rPr>
                        </m:ctrlPr>
                      </m:sSupPr>
                      <m:e>
                        <m:r>
                          <a:rPr lang="nl-BE" sz="2800" i="1">
                            <a:latin typeface="Cambria Math" panose="02040503050406030204" pitchFamily="18" charset="0"/>
                          </a:rPr>
                          <m:t>10</m:t>
                        </m:r>
                      </m:e>
                      <m:sup>
                        <m:r>
                          <a:rPr lang="nl-BE" sz="2800" i="1">
                            <a:latin typeface="Cambria Math" panose="02040503050406030204" pitchFamily="18" charset="0"/>
                          </a:rPr>
                          <m:t>11</m:t>
                        </m:r>
                      </m:sup>
                    </m:sSup>
                    <m:r>
                      <a:rPr lang="nl-BE" sz="2800" i="1">
                        <a:latin typeface="Cambria Math" panose="02040503050406030204" pitchFamily="18" charset="0"/>
                      </a:rPr>
                      <m:t> </m:t>
                    </m:r>
                    <m:r>
                      <a:rPr lang="nl-BE" sz="2800" i="1">
                        <a:latin typeface="Cambria Math" panose="02040503050406030204" pitchFamily="18" charset="0"/>
                      </a:rPr>
                      <m:t>𝑧𝑜𝑛𝑛𝑒𝑛</m:t>
                    </m:r>
                  </m:oMath>
                </a14:m>
                <a:endParaRPr lang="nl-BE" sz="2800" dirty="0"/>
              </a:p>
              <a:p>
                <a:pPr eaLnBrk="1" hangingPunct="1">
                  <a:lnSpc>
                    <a:spcPct val="90000"/>
                  </a:lnSpc>
                  <a:defRPr/>
                </a:pPr>
                <a:endParaRPr lang="nl-BE" sz="2000" dirty="0"/>
              </a:p>
              <a:p>
                <a:pPr eaLnBrk="1" hangingPunct="1">
                  <a:lnSpc>
                    <a:spcPct val="90000"/>
                  </a:lnSpc>
                  <a:defRPr/>
                </a:pPr>
                <a:endParaRPr lang="nl-NL" sz="2000" dirty="0"/>
              </a:p>
            </p:txBody>
          </p:sp>
        </mc:Choice>
        <mc:Fallback xmlns="">
          <p:sp>
            <p:nvSpPr>
              <p:cNvPr id="58371" name="Rectangle 3"/>
              <p:cNvSpPr>
                <a:spLocks noGrp="1" noRot="1" noChangeAspect="1" noMove="1" noResize="1" noEditPoints="1" noAdjustHandles="1" noChangeArrowheads="1" noChangeShapeType="1" noTextEdit="1"/>
              </p:cNvSpPr>
              <p:nvPr>
                <p:ph idx="1"/>
              </p:nvPr>
            </p:nvSpPr>
            <p:spPr>
              <a:xfrm>
                <a:off x="623392" y="802234"/>
                <a:ext cx="11161240" cy="5723110"/>
              </a:xfr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20939827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rrowheads="1"/>
          </p:cNvSpPr>
          <p:nvPr>
            <p:ph type="title"/>
          </p:nvPr>
        </p:nvSpPr>
        <p:spPr>
          <a:xfrm>
            <a:off x="838200" y="55308"/>
            <a:ext cx="10515600" cy="1325563"/>
          </a:xfrm>
        </p:spPr>
        <p:txBody>
          <a:bodyPr/>
          <a:lstStyle/>
          <a:p>
            <a:pPr eaLnBrk="1" hangingPunct="1">
              <a:defRPr/>
            </a:pPr>
            <a:r>
              <a:rPr lang="nl-BE" sz="4000" dirty="0"/>
              <a:t>Verband tussen hoeksnelheid en baansnelheid</a:t>
            </a:r>
            <a:endParaRPr lang="nl-NL" sz="4000" dirty="0"/>
          </a:p>
        </p:txBody>
      </p:sp>
      <p:sp>
        <p:nvSpPr>
          <p:cNvPr id="69635" name="Rectangle 3"/>
          <p:cNvSpPr>
            <a:spLocks noGrp="1" noRot="1" noChangeArrowheads="1"/>
          </p:cNvSpPr>
          <p:nvPr>
            <p:ph idx="1"/>
          </p:nvPr>
        </p:nvSpPr>
        <p:spPr>
          <a:xfrm>
            <a:off x="1825625" y="1371600"/>
            <a:ext cx="8540750" cy="5369768"/>
          </a:xfrm>
        </p:spPr>
        <p:txBody>
          <a:bodyPr/>
          <a:lstStyle/>
          <a:p>
            <a:pPr eaLnBrk="1" hangingPunct="1">
              <a:defRPr/>
            </a:pPr>
            <a:r>
              <a:rPr lang="nl-BE" sz="2800" dirty="0"/>
              <a:t>Formule verband hoeksnelheid en f (herhaling):</a:t>
            </a:r>
          </a:p>
          <a:p>
            <a:pPr marL="0" indent="0">
              <a:buNone/>
              <a:defRPr/>
            </a:pPr>
            <a:r>
              <a:rPr lang="nl-BE" sz="2800" dirty="0"/>
              <a:t> </a:t>
            </a:r>
          </a:p>
          <a:p>
            <a:pPr eaLnBrk="1" hangingPunct="1">
              <a:defRPr/>
            </a:pPr>
            <a:r>
              <a:rPr lang="nl-BE" sz="2800" dirty="0"/>
              <a:t>Formule verband hoeksnelheid en baansnelheid (herhaling): </a:t>
            </a:r>
          </a:p>
          <a:p>
            <a:pPr eaLnBrk="1" hangingPunct="1">
              <a:defRPr/>
            </a:pPr>
            <a:r>
              <a:rPr lang="nl-BE" sz="2800" dirty="0"/>
              <a:t>Opmerking: </a:t>
            </a:r>
          </a:p>
          <a:p>
            <a:pPr lvl="1">
              <a:spcAft>
                <a:spcPts val="1800"/>
              </a:spcAft>
              <a:defRPr/>
            </a:pPr>
            <a:r>
              <a:rPr lang="nl-BE" sz="2400" dirty="0"/>
              <a:t>Alle punten van roterend lichaam draaien rond met zelfde hoeksnelheid, maar hebben niet allemaal zelfde baansnelheid.</a:t>
            </a:r>
          </a:p>
          <a:p>
            <a:pPr lvl="1">
              <a:spcAft>
                <a:spcPts val="1800"/>
              </a:spcAft>
              <a:defRPr/>
            </a:pPr>
            <a:r>
              <a:rPr lang="nl-BE" sz="2400" dirty="0"/>
              <a:t>hoe verder punten van centrum van cirkelbeweging liggen, hoe groter de baansnelheid is.</a:t>
            </a:r>
          </a:p>
          <a:p>
            <a:pPr lvl="1">
              <a:spcAft>
                <a:spcPts val="1800"/>
              </a:spcAft>
              <a:defRPr/>
            </a:pPr>
            <a:r>
              <a:rPr lang="nl-BE" sz="2400" dirty="0"/>
              <a:t>Vb.: labo platenspeler </a:t>
            </a:r>
            <a:r>
              <a:rPr lang="nl-BE" sz="2400" dirty="0">
                <a:latin typeface="Arial Unicode MS" pitchFamily="34" charset="-128"/>
                <a:ea typeface="Arial Unicode MS" pitchFamily="34" charset="-128"/>
                <a:cs typeface="Arial Unicode MS" pitchFamily="34" charset="-128"/>
              </a:rPr>
              <a:t>→ </a:t>
            </a:r>
            <a:r>
              <a:rPr lang="nl-BE" sz="2400" dirty="0">
                <a:ea typeface="Arial Unicode MS" pitchFamily="34" charset="-128"/>
                <a:cs typeface="Arial Unicode MS" pitchFamily="34" charset="-128"/>
              </a:rPr>
              <a:t>krijtstreepjes</a:t>
            </a:r>
          </a:p>
        </p:txBody>
      </p:sp>
      <mc:AlternateContent xmlns:mc="http://schemas.openxmlformats.org/markup-compatibility/2006" xmlns:a14="http://schemas.microsoft.com/office/drawing/2010/main">
        <mc:Choice Requires="a14">
          <p:sp>
            <p:nvSpPr>
              <p:cNvPr id="2" name="Object 10">
                <a:extLst>
                  <a:ext uri="{FF2B5EF4-FFF2-40B4-BE49-F238E27FC236}">
                    <a16:creationId xmlns:a16="http://schemas.microsoft.com/office/drawing/2014/main" id="{E0651682-F686-E683-659C-3C552B5EC5AE}"/>
                  </a:ext>
                </a:extLst>
              </p:cNvPr>
              <p:cNvSpPr txBox="1"/>
              <p:nvPr/>
            </p:nvSpPr>
            <p:spPr bwMode="auto">
              <a:xfrm>
                <a:off x="4295775" y="2871788"/>
                <a:ext cx="1871663" cy="55721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nl-BE" sz="3200" i="1" smtClean="0">
                          <a:solidFill>
                            <a:schemeClr val="tx1"/>
                          </a:solidFill>
                          <a:latin typeface="Cambria Math" panose="02040503050406030204" pitchFamily="18" charset="0"/>
                        </a:rPr>
                        <m:t>𝑣</m:t>
                      </m:r>
                      <m:r>
                        <a:rPr lang="nl-BE" sz="3200" i="1" smtClean="0">
                          <a:solidFill>
                            <a:schemeClr val="tx1"/>
                          </a:solidFill>
                          <a:latin typeface="Cambria Math" panose="02040503050406030204" pitchFamily="18" charset="0"/>
                        </a:rPr>
                        <m:t>=</m:t>
                      </m:r>
                      <m:r>
                        <a:rPr lang="nl-BE" sz="3200" i="1" smtClean="0">
                          <a:solidFill>
                            <a:schemeClr val="tx1"/>
                          </a:solidFill>
                          <a:latin typeface="Cambria Math" panose="02040503050406030204" pitchFamily="18" charset="0"/>
                        </a:rPr>
                        <m:t>𝜔</m:t>
                      </m:r>
                      <m:r>
                        <a:rPr lang="nl-BE" sz="3200" i="1" smtClean="0">
                          <a:solidFill>
                            <a:schemeClr val="tx1"/>
                          </a:solidFill>
                          <a:latin typeface="Cambria Math" panose="02040503050406030204" pitchFamily="18" charset="0"/>
                        </a:rPr>
                        <m:t>.</m:t>
                      </m:r>
                      <m:r>
                        <a:rPr lang="nl-BE" sz="3200" b="0" i="1" smtClean="0">
                          <a:solidFill>
                            <a:schemeClr val="tx1"/>
                          </a:solidFill>
                          <a:latin typeface="Cambria Math" panose="02040503050406030204" pitchFamily="18" charset="0"/>
                        </a:rPr>
                        <m:t>𝑅</m:t>
                      </m:r>
                    </m:oMath>
                  </m:oMathPara>
                </a14:m>
                <a:endParaRPr lang="nl-BE" sz="3200" dirty="0">
                  <a:solidFill>
                    <a:schemeClr val="tx1"/>
                  </a:solidFill>
                </a:endParaRPr>
              </a:p>
            </p:txBody>
          </p:sp>
        </mc:Choice>
        <mc:Fallback xmlns="">
          <p:sp>
            <p:nvSpPr>
              <p:cNvPr id="2" name="Object 10">
                <a:extLst>
                  <a:ext uri="{FF2B5EF4-FFF2-40B4-BE49-F238E27FC236}">
                    <a16:creationId xmlns:a16="http://schemas.microsoft.com/office/drawing/2014/main" id="{E0651682-F686-E683-659C-3C552B5EC5AE}"/>
                  </a:ext>
                </a:extLst>
              </p:cNvPr>
              <p:cNvSpPr txBox="1">
                <a:spLocks noRot="1" noChangeAspect="1" noMove="1" noResize="1" noEditPoints="1" noAdjustHandles="1" noChangeArrowheads="1" noChangeShapeType="1" noTextEdit="1"/>
              </p:cNvSpPr>
              <p:nvPr/>
            </p:nvSpPr>
            <p:spPr bwMode="auto">
              <a:xfrm>
                <a:off x="4295775" y="2871788"/>
                <a:ext cx="1871663" cy="557212"/>
              </a:xfrm>
              <a:prstGeom prst="rect">
                <a:avLst/>
              </a:prstGeom>
              <a:blipFill>
                <a:blip r:embed="rId2"/>
                <a:stretch>
                  <a:fillRect/>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2242EE83-DCA3-7987-4EC0-D76D7CDA5645}"/>
                  </a:ext>
                </a:extLst>
              </p:cNvPr>
              <p:cNvSpPr txBox="1"/>
              <p:nvPr/>
            </p:nvSpPr>
            <p:spPr>
              <a:xfrm>
                <a:off x="4799857" y="1875473"/>
                <a:ext cx="217412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nl-BE" sz="3200" i="1">
                          <a:latin typeface="Cambria Math" panose="02040503050406030204" pitchFamily="18" charset="0"/>
                          <a:ea typeface="Cambria Math" panose="02040503050406030204" pitchFamily="18" charset="0"/>
                        </a:rPr>
                        <m:t>𝜔</m:t>
                      </m:r>
                      <m:r>
                        <a:rPr lang="nl-BE" sz="3200" i="1">
                          <a:latin typeface="Cambria Math" panose="02040503050406030204" pitchFamily="18" charset="0"/>
                          <a:ea typeface="Cambria Math" panose="02040503050406030204" pitchFamily="18" charset="0"/>
                        </a:rPr>
                        <m:t>=2 . </m:t>
                      </m:r>
                      <m:r>
                        <a:rPr lang="nl-BE" sz="3200" i="1">
                          <a:latin typeface="Cambria Math" panose="02040503050406030204" pitchFamily="18" charset="0"/>
                          <a:ea typeface="Cambria Math" panose="02040503050406030204" pitchFamily="18" charset="0"/>
                        </a:rPr>
                        <m:t>𝜋</m:t>
                      </m:r>
                      <m:r>
                        <a:rPr lang="nl-BE" sz="3200" i="1">
                          <a:latin typeface="Cambria Math" panose="02040503050406030204" pitchFamily="18" charset="0"/>
                          <a:ea typeface="Cambria Math" panose="02040503050406030204" pitchFamily="18" charset="0"/>
                        </a:rPr>
                        <m:t> . </m:t>
                      </m:r>
                      <m:r>
                        <a:rPr lang="nl-BE" sz="3200" i="1">
                          <a:latin typeface="Cambria Math" panose="02040503050406030204" pitchFamily="18" charset="0"/>
                          <a:ea typeface="Cambria Math" panose="02040503050406030204" pitchFamily="18" charset="0"/>
                        </a:rPr>
                        <m:t>𝑓</m:t>
                      </m:r>
                    </m:oMath>
                  </m:oMathPara>
                </a14:m>
                <a:endParaRPr lang="nl-BE" sz="3200" dirty="0"/>
              </a:p>
            </p:txBody>
          </p:sp>
        </mc:Choice>
        <mc:Fallback xmlns="">
          <p:sp>
            <p:nvSpPr>
              <p:cNvPr id="3" name="Tekstvak 2">
                <a:extLst>
                  <a:ext uri="{FF2B5EF4-FFF2-40B4-BE49-F238E27FC236}">
                    <a16:creationId xmlns:a16="http://schemas.microsoft.com/office/drawing/2014/main" id="{2242EE83-DCA3-7987-4EC0-D76D7CDA5645}"/>
                  </a:ext>
                </a:extLst>
              </p:cNvPr>
              <p:cNvSpPr txBox="1">
                <a:spLocks noRot="1" noChangeAspect="1" noMove="1" noResize="1" noEditPoints="1" noAdjustHandles="1" noChangeArrowheads="1" noChangeShapeType="1" noTextEdit="1"/>
              </p:cNvSpPr>
              <p:nvPr/>
            </p:nvSpPr>
            <p:spPr>
              <a:xfrm>
                <a:off x="4799857" y="1875473"/>
                <a:ext cx="2174121" cy="492443"/>
              </a:xfrm>
              <a:prstGeom prst="rect">
                <a:avLst/>
              </a:prstGeom>
              <a:blipFill>
                <a:blip r:embed="rId4"/>
                <a:stretch>
                  <a:fillRect/>
                </a:stretch>
              </a:blipFill>
            </p:spPr>
            <p:txBody>
              <a:bodyPr/>
              <a:lstStyle/>
              <a:p>
                <a:r>
                  <a:rPr lang="nl-BE">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rrowheads="1"/>
          </p:cNvSpPr>
          <p:nvPr>
            <p:ph type="title"/>
          </p:nvPr>
        </p:nvSpPr>
        <p:spPr/>
        <p:txBody>
          <a:bodyPr/>
          <a:lstStyle/>
          <a:p>
            <a:pPr eaLnBrk="1" hangingPunct="1">
              <a:defRPr/>
            </a:pPr>
            <a:r>
              <a:rPr lang="nl-BE" dirty="0"/>
              <a:t>Opgave 8</a:t>
            </a:r>
            <a:endParaRPr lang="nl-NL" dirty="0"/>
          </a:p>
        </p:txBody>
      </p:sp>
      <p:sp>
        <p:nvSpPr>
          <p:cNvPr id="72707" name="Rectangle 3"/>
          <p:cNvSpPr>
            <a:spLocks noGrp="1" noRot="1" noChangeArrowheads="1"/>
          </p:cNvSpPr>
          <p:nvPr>
            <p:ph idx="1"/>
          </p:nvPr>
        </p:nvSpPr>
        <p:spPr/>
        <p:txBody>
          <a:bodyPr/>
          <a:lstStyle/>
          <a:p>
            <a:pPr eaLnBrk="1" hangingPunct="1">
              <a:defRPr/>
            </a:pPr>
            <a:r>
              <a:rPr lang="nl-BE"/>
              <a:t>Bereken de hoeksnelheid van de kleine wijzer van een uurwerk.</a:t>
            </a:r>
            <a:endParaRPr lang="nl-NL"/>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rrowheads="1"/>
          </p:cNvSpPr>
          <p:nvPr>
            <p:ph type="title"/>
          </p:nvPr>
        </p:nvSpPr>
        <p:spPr/>
        <p:txBody>
          <a:bodyPr/>
          <a:lstStyle/>
          <a:p>
            <a:pPr eaLnBrk="1" hangingPunct="1">
              <a:defRPr/>
            </a:pPr>
            <a:r>
              <a:rPr lang="nl-BE" dirty="0"/>
              <a:t>Opgave 8</a:t>
            </a:r>
            <a:endParaRPr lang="nl-NL" dirty="0"/>
          </a:p>
        </p:txBody>
      </p:sp>
      <p:sp>
        <p:nvSpPr>
          <p:cNvPr id="72707" name="Rectangle 3"/>
          <p:cNvSpPr>
            <a:spLocks noGrp="1" noRot="1" noChangeArrowheads="1"/>
          </p:cNvSpPr>
          <p:nvPr>
            <p:ph idx="1"/>
          </p:nvPr>
        </p:nvSpPr>
        <p:spPr/>
        <p:txBody>
          <a:bodyPr/>
          <a:lstStyle/>
          <a:p>
            <a:pPr eaLnBrk="1" hangingPunct="1">
              <a:defRPr/>
            </a:pPr>
            <a:r>
              <a:rPr lang="nl-BE"/>
              <a:t>Bereken de hoeksnelheid van de kleine wijzer van een uurwerk.</a:t>
            </a:r>
            <a:endParaRPr lang="nl-NL"/>
          </a:p>
        </p:txBody>
      </p:sp>
      <p:pic>
        <p:nvPicPr>
          <p:cNvPr id="64514" name="Picture 2"/>
          <p:cNvPicPr>
            <a:picLocks noChangeAspect="1" noChangeArrowheads="1"/>
          </p:cNvPicPr>
          <p:nvPr/>
        </p:nvPicPr>
        <p:blipFill>
          <a:blip r:embed="rId2" cstate="print"/>
          <a:srcRect/>
          <a:stretch>
            <a:fillRect/>
          </a:stretch>
        </p:blipFill>
        <p:spPr bwMode="auto">
          <a:xfrm>
            <a:off x="2207568" y="3212976"/>
            <a:ext cx="7970903" cy="2232248"/>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rrowheads="1"/>
          </p:cNvSpPr>
          <p:nvPr>
            <p:ph type="title"/>
          </p:nvPr>
        </p:nvSpPr>
        <p:spPr/>
        <p:txBody>
          <a:bodyPr/>
          <a:lstStyle/>
          <a:p>
            <a:pPr eaLnBrk="1" hangingPunct="1">
              <a:defRPr/>
            </a:pPr>
            <a:r>
              <a:rPr lang="nl-BE" dirty="0"/>
              <a:t>Opgave 9</a:t>
            </a:r>
            <a:endParaRPr lang="nl-NL" dirty="0"/>
          </a:p>
        </p:txBody>
      </p:sp>
      <p:sp>
        <p:nvSpPr>
          <p:cNvPr id="73731" name="Rectangle 3"/>
          <p:cNvSpPr>
            <a:spLocks noGrp="1" noRot="1" noChangeArrowheads="1"/>
          </p:cNvSpPr>
          <p:nvPr>
            <p:ph idx="1"/>
          </p:nvPr>
        </p:nvSpPr>
        <p:spPr/>
        <p:txBody>
          <a:bodyPr/>
          <a:lstStyle/>
          <a:p>
            <a:pPr eaLnBrk="1" hangingPunct="1">
              <a:defRPr/>
            </a:pPr>
            <a:r>
              <a:rPr lang="nl-BE"/>
              <a:t>Je gaat schaatsen met enkele vrienden en vormt een ketting. Jullie maken een bocht zodat ieders hoeksnelheid dezelfde is. Jan bevindt zich 2 maal verder van de rotatieas dan Piet. Wat is de verhouding van hun baansnelheden?</a:t>
            </a:r>
            <a:endParaRPr lang="nl-NL"/>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rrowheads="1"/>
          </p:cNvSpPr>
          <p:nvPr>
            <p:ph type="title"/>
          </p:nvPr>
        </p:nvSpPr>
        <p:spPr>
          <a:xfrm>
            <a:off x="1847528" y="0"/>
            <a:ext cx="8540750" cy="1143000"/>
          </a:xfrm>
        </p:spPr>
        <p:txBody>
          <a:bodyPr/>
          <a:lstStyle/>
          <a:p>
            <a:pPr eaLnBrk="1" hangingPunct="1">
              <a:defRPr/>
            </a:pPr>
            <a:r>
              <a:rPr lang="nl-BE" dirty="0"/>
              <a:t>Opgave 9</a:t>
            </a:r>
            <a:endParaRPr lang="nl-NL" dirty="0"/>
          </a:p>
        </p:txBody>
      </p:sp>
      <p:sp>
        <p:nvSpPr>
          <p:cNvPr id="73731" name="Rectangle 3"/>
          <p:cNvSpPr>
            <a:spLocks noGrp="1" noRot="1" noChangeArrowheads="1"/>
          </p:cNvSpPr>
          <p:nvPr>
            <p:ph idx="1"/>
          </p:nvPr>
        </p:nvSpPr>
        <p:spPr>
          <a:xfrm>
            <a:off x="551384" y="1340768"/>
            <a:ext cx="10657184" cy="4498975"/>
          </a:xfrm>
        </p:spPr>
        <p:txBody>
          <a:bodyPr/>
          <a:lstStyle/>
          <a:p>
            <a:pPr eaLnBrk="1" hangingPunct="1">
              <a:defRPr/>
            </a:pPr>
            <a:r>
              <a:rPr lang="nl-BE" dirty="0"/>
              <a:t>Je gaat schaatsen met enkele vrienden en vormt een ketting. Jullie maken een bocht zodat ieders hoeksnelheid dezelfde is. Jan bevindt zich 2 maal verder van de </a:t>
            </a:r>
            <a:r>
              <a:rPr lang="nl-BE" dirty="0" err="1"/>
              <a:t>rotatieas</a:t>
            </a:r>
            <a:r>
              <a:rPr lang="nl-BE" dirty="0"/>
              <a:t> dan Piet. Wat is de verhouding van hun baansnelheden?</a:t>
            </a:r>
            <a:endParaRPr lang="nl-NL" dirty="0"/>
          </a:p>
        </p:txBody>
      </p:sp>
      <p:pic>
        <p:nvPicPr>
          <p:cNvPr id="65538" name="Picture 2"/>
          <p:cNvPicPr>
            <a:picLocks noChangeAspect="1" noChangeArrowheads="1"/>
          </p:cNvPicPr>
          <p:nvPr/>
        </p:nvPicPr>
        <p:blipFill>
          <a:blip r:embed="rId2" cstate="print"/>
          <a:srcRect/>
          <a:stretch>
            <a:fillRect/>
          </a:stretch>
        </p:blipFill>
        <p:spPr bwMode="auto">
          <a:xfrm>
            <a:off x="3503712" y="4077073"/>
            <a:ext cx="5256584" cy="2689325"/>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604872-15BC-D714-536E-F3BE7B55AFC6}"/>
              </a:ext>
            </a:extLst>
          </p:cNvPr>
          <p:cNvSpPr>
            <a:spLocks noGrp="1"/>
          </p:cNvSpPr>
          <p:nvPr>
            <p:ph type="title"/>
          </p:nvPr>
        </p:nvSpPr>
        <p:spPr/>
        <p:txBody>
          <a:bodyPr/>
          <a:lstStyle/>
          <a:p>
            <a:r>
              <a:rPr lang="nl-BE" dirty="0"/>
              <a:t>Einde 12/2</a:t>
            </a:r>
          </a:p>
        </p:txBody>
      </p:sp>
      <p:sp>
        <p:nvSpPr>
          <p:cNvPr id="3" name="Tijdelijke aanduiding voor inhoud 2">
            <a:extLst>
              <a:ext uri="{FF2B5EF4-FFF2-40B4-BE49-F238E27FC236}">
                <a16:creationId xmlns:a16="http://schemas.microsoft.com/office/drawing/2014/main" id="{882699DB-B1A0-92B8-F23F-D2FBB2B9ABF5}"/>
              </a:ext>
            </a:extLst>
          </p:cNvPr>
          <p:cNvSpPr>
            <a:spLocks noGrp="1"/>
          </p:cNvSpPr>
          <p:nvPr>
            <p:ph idx="1"/>
          </p:nvPr>
        </p:nvSpPr>
        <p:spPr/>
        <p:txBody>
          <a:bodyPr/>
          <a:lstStyle/>
          <a:p>
            <a:endParaRPr lang="nl-BE"/>
          </a:p>
        </p:txBody>
      </p:sp>
    </p:spTree>
    <p:extLst>
      <p:ext uri="{BB962C8B-B14F-4D97-AF65-F5344CB8AC3E}">
        <p14:creationId xmlns:p14="http://schemas.microsoft.com/office/powerpoint/2010/main" val="28361459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rrowheads="1"/>
          </p:cNvSpPr>
          <p:nvPr>
            <p:ph type="title"/>
          </p:nvPr>
        </p:nvSpPr>
        <p:spPr/>
        <p:txBody>
          <a:bodyPr/>
          <a:lstStyle/>
          <a:p>
            <a:pPr eaLnBrk="1" hangingPunct="1">
              <a:defRPr/>
            </a:pPr>
            <a:r>
              <a:rPr lang="nl-BE" dirty="0"/>
              <a:t>Opgave 10 (extra oef.)</a:t>
            </a:r>
            <a:endParaRPr lang="nl-NL" dirty="0"/>
          </a:p>
        </p:txBody>
      </p:sp>
      <p:sp>
        <p:nvSpPr>
          <p:cNvPr id="74755" name="Rectangle 3"/>
          <p:cNvSpPr>
            <a:spLocks noGrp="1" noRot="1" noChangeArrowheads="1"/>
          </p:cNvSpPr>
          <p:nvPr>
            <p:ph idx="1"/>
          </p:nvPr>
        </p:nvSpPr>
        <p:spPr/>
        <p:txBody>
          <a:bodyPr/>
          <a:lstStyle/>
          <a:p>
            <a:pPr eaLnBrk="1" hangingPunct="1">
              <a:defRPr/>
            </a:pPr>
            <a:r>
              <a:rPr lang="nl-BE"/>
              <a:t>Een ketting loopt over twee wielen met verschillende straal. De straal van wiel A is 3,0 maal groter dan de straal van wiel B. Wiel A maakt 12 toeren per seconde. Kan je berekenen hoeveel toeren wiel B maakt per seconde?</a:t>
            </a:r>
            <a:endParaRPr lang="nl-NL"/>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rrowheads="1"/>
          </p:cNvSpPr>
          <p:nvPr>
            <p:ph type="title"/>
          </p:nvPr>
        </p:nvSpPr>
        <p:spPr>
          <a:xfrm>
            <a:off x="1847528" y="0"/>
            <a:ext cx="8540750" cy="1143000"/>
          </a:xfrm>
        </p:spPr>
        <p:txBody>
          <a:bodyPr/>
          <a:lstStyle/>
          <a:p>
            <a:pPr eaLnBrk="1" hangingPunct="1">
              <a:defRPr/>
            </a:pPr>
            <a:r>
              <a:rPr lang="nl-BE" dirty="0"/>
              <a:t>Opgave 10</a:t>
            </a:r>
            <a:endParaRPr lang="nl-NL" dirty="0"/>
          </a:p>
        </p:txBody>
      </p:sp>
      <p:sp>
        <p:nvSpPr>
          <p:cNvPr id="74755" name="Rectangle 3"/>
          <p:cNvSpPr>
            <a:spLocks noGrp="1" noRot="1" noChangeArrowheads="1"/>
          </p:cNvSpPr>
          <p:nvPr>
            <p:ph idx="1"/>
          </p:nvPr>
        </p:nvSpPr>
        <p:spPr>
          <a:xfrm>
            <a:off x="582518" y="1340768"/>
            <a:ext cx="9764886" cy="4498975"/>
          </a:xfrm>
        </p:spPr>
        <p:txBody>
          <a:bodyPr/>
          <a:lstStyle/>
          <a:p>
            <a:pPr eaLnBrk="1" hangingPunct="1">
              <a:defRPr/>
            </a:pPr>
            <a:r>
              <a:rPr lang="nl-BE" dirty="0"/>
              <a:t>Een ketting loopt over twee wielen met verschillende straal. De straal van wiel A is 3,0 maal groter dan de straal van wiel B. Wiel A maakt 12 toeren per seconde. Kan je berekenen hoeveel toeren wiel B maakt per seconde?</a:t>
            </a:r>
            <a:endParaRPr lang="nl-NL" dirty="0"/>
          </a:p>
        </p:txBody>
      </p:sp>
      <p:pic>
        <p:nvPicPr>
          <p:cNvPr id="66562" name="Picture 2"/>
          <p:cNvPicPr>
            <a:picLocks noChangeAspect="1" noChangeArrowheads="1"/>
          </p:cNvPicPr>
          <p:nvPr/>
        </p:nvPicPr>
        <p:blipFill>
          <a:blip r:embed="rId2" cstate="print"/>
          <a:srcRect/>
          <a:stretch>
            <a:fillRect/>
          </a:stretch>
        </p:blipFill>
        <p:spPr bwMode="auto">
          <a:xfrm>
            <a:off x="3431704" y="4005064"/>
            <a:ext cx="5256584" cy="2705560"/>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rrowheads="1"/>
          </p:cNvSpPr>
          <p:nvPr>
            <p:ph type="title"/>
          </p:nvPr>
        </p:nvSpPr>
        <p:spPr/>
        <p:txBody>
          <a:bodyPr/>
          <a:lstStyle/>
          <a:p>
            <a:pPr eaLnBrk="1" hangingPunct="1">
              <a:defRPr/>
            </a:pPr>
            <a:r>
              <a:rPr lang="nl-BE" dirty="0"/>
              <a:t>Opgave 11</a:t>
            </a:r>
            <a:endParaRPr lang="nl-NL" dirty="0"/>
          </a:p>
        </p:txBody>
      </p:sp>
      <p:sp>
        <p:nvSpPr>
          <p:cNvPr id="75779" name="Rectangle 3"/>
          <p:cNvSpPr>
            <a:spLocks noGrp="1" noRot="1" noChangeArrowheads="1"/>
          </p:cNvSpPr>
          <p:nvPr>
            <p:ph idx="1"/>
          </p:nvPr>
        </p:nvSpPr>
        <p:spPr/>
        <p:txBody>
          <a:bodyPr/>
          <a:lstStyle/>
          <a:p>
            <a:pPr marL="609600" indent="-609600">
              <a:defRPr/>
            </a:pPr>
            <a:r>
              <a:rPr lang="nl-BE" dirty="0"/>
              <a:t>Twee wielen met verschillende straal staan op eenzelfde as gemonteerd.</a:t>
            </a:r>
            <a:br>
              <a:rPr lang="nl-BE" dirty="0"/>
            </a:br>
            <a:r>
              <a:rPr lang="nl-BE" dirty="0"/>
              <a:t>Welke uitspraak klopt?</a:t>
            </a:r>
          </a:p>
          <a:p>
            <a:pPr marL="990600" lvl="1" indent="-533400">
              <a:buFont typeface="Wingdings" pitchFamily="2" charset="2"/>
              <a:buAutoNum type="alphaLcParenR"/>
              <a:defRPr/>
            </a:pPr>
            <a:r>
              <a:rPr lang="nl-BE" dirty="0"/>
              <a:t>Een ketting op wiel 1 zal even snel draaien als een ketting op wiel 2.</a:t>
            </a:r>
          </a:p>
          <a:p>
            <a:pPr marL="990600" lvl="1" indent="-533400">
              <a:buFont typeface="Wingdings" pitchFamily="2" charset="2"/>
              <a:buAutoNum type="alphaLcParenR"/>
              <a:defRPr/>
            </a:pPr>
            <a:r>
              <a:rPr lang="nl-BE" dirty="0"/>
              <a:t>De hoeksnelheden van beide wielen zijn gelijk.</a:t>
            </a:r>
            <a:endParaRPr lang="nl-NL"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rrowheads="1"/>
          </p:cNvSpPr>
          <p:nvPr>
            <p:ph type="title"/>
          </p:nvPr>
        </p:nvSpPr>
        <p:spPr/>
        <p:txBody>
          <a:bodyPr/>
          <a:lstStyle/>
          <a:p>
            <a:pPr eaLnBrk="1" hangingPunct="1">
              <a:defRPr/>
            </a:pPr>
            <a:r>
              <a:rPr lang="nl-BE" dirty="0"/>
              <a:t>Opgave 11</a:t>
            </a:r>
            <a:endParaRPr lang="nl-NL" dirty="0"/>
          </a:p>
        </p:txBody>
      </p:sp>
      <p:sp>
        <p:nvSpPr>
          <p:cNvPr id="75779" name="Rectangle 3"/>
          <p:cNvSpPr>
            <a:spLocks noGrp="1" noRot="1" noChangeArrowheads="1"/>
          </p:cNvSpPr>
          <p:nvPr>
            <p:ph idx="1"/>
          </p:nvPr>
        </p:nvSpPr>
        <p:spPr/>
        <p:txBody>
          <a:bodyPr/>
          <a:lstStyle/>
          <a:p>
            <a:pPr marL="609600" indent="-609600">
              <a:defRPr/>
            </a:pPr>
            <a:r>
              <a:rPr lang="nl-BE"/>
              <a:t>Twee wielen met verschillende straal staan op eenzelfde as gemonteerd.</a:t>
            </a:r>
            <a:br>
              <a:rPr lang="nl-BE"/>
            </a:br>
            <a:r>
              <a:rPr lang="nl-BE"/>
              <a:t>Welke uitspraak klopt?</a:t>
            </a:r>
          </a:p>
          <a:p>
            <a:pPr marL="990600" lvl="1" indent="-533400">
              <a:buFont typeface="Wingdings" pitchFamily="2" charset="2"/>
              <a:buAutoNum type="alphaLcParenR"/>
              <a:defRPr/>
            </a:pPr>
            <a:r>
              <a:rPr lang="nl-BE"/>
              <a:t>Een ketting op wiel 1 zal even snel draaien als een ketting op wiel 2.</a:t>
            </a:r>
          </a:p>
          <a:p>
            <a:pPr marL="990600" lvl="1" indent="-533400">
              <a:buFont typeface="Wingdings" pitchFamily="2" charset="2"/>
              <a:buAutoNum type="alphaLcParenR"/>
              <a:defRPr/>
            </a:pPr>
            <a:r>
              <a:rPr lang="nl-BE"/>
              <a:t>De hoeksnelheden van beide wielen zijn gelijk.</a:t>
            </a:r>
            <a:endParaRPr lang="nl-NL"/>
          </a:p>
        </p:txBody>
      </p:sp>
      <p:pic>
        <p:nvPicPr>
          <p:cNvPr id="67586" name="Picture 2"/>
          <p:cNvPicPr>
            <a:picLocks noChangeAspect="1" noChangeArrowheads="1"/>
          </p:cNvPicPr>
          <p:nvPr/>
        </p:nvPicPr>
        <p:blipFill>
          <a:blip r:embed="rId2" cstate="print"/>
          <a:srcRect/>
          <a:stretch>
            <a:fillRect/>
          </a:stretch>
        </p:blipFill>
        <p:spPr bwMode="auto">
          <a:xfrm>
            <a:off x="3143673" y="4941168"/>
            <a:ext cx="5703573" cy="1008112"/>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rrowheads="1"/>
          </p:cNvSpPr>
          <p:nvPr>
            <p:ph type="title"/>
          </p:nvPr>
        </p:nvSpPr>
        <p:spPr/>
        <p:txBody>
          <a:bodyPr/>
          <a:lstStyle/>
          <a:p>
            <a:pPr eaLnBrk="1" hangingPunct="1">
              <a:defRPr/>
            </a:pPr>
            <a:r>
              <a:rPr lang="nl-BE" dirty="0"/>
              <a:t>Opgave 12</a:t>
            </a:r>
            <a:endParaRPr lang="nl-NL" dirty="0"/>
          </a:p>
        </p:txBody>
      </p:sp>
      <p:sp>
        <p:nvSpPr>
          <p:cNvPr id="76803" name="Rectangle 3"/>
          <p:cNvSpPr>
            <a:spLocks noGrp="1" noRot="1" noChangeArrowheads="1"/>
          </p:cNvSpPr>
          <p:nvPr>
            <p:ph idx="1"/>
          </p:nvPr>
        </p:nvSpPr>
        <p:spPr/>
        <p:txBody>
          <a:bodyPr/>
          <a:lstStyle/>
          <a:p>
            <a:pPr marL="609600" indent="-609600">
              <a:defRPr/>
            </a:pPr>
            <a:r>
              <a:rPr lang="nl-BE"/>
              <a:t>Je rijdt op een fiets met een groot voorwiel en een klein achterwiel.</a:t>
            </a:r>
            <a:br>
              <a:rPr lang="nl-BE"/>
            </a:br>
            <a:r>
              <a:rPr lang="nl-BE"/>
              <a:t>Welke uitspraak klopt?</a:t>
            </a:r>
          </a:p>
          <a:p>
            <a:pPr marL="990600" lvl="1" indent="-533400">
              <a:buFont typeface="Wingdings" pitchFamily="2" charset="2"/>
              <a:buAutoNum type="alphaLcParenR"/>
              <a:defRPr/>
            </a:pPr>
            <a:r>
              <a:rPr lang="nl-BE"/>
              <a:t> Beide wielen draaien met dezelfde hoeksnelheid.</a:t>
            </a:r>
          </a:p>
          <a:p>
            <a:pPr marL="990600" lvl="1" indent="-533400">
              <a:buFont typeface="Wingdings" pitchFamily="2" charset="2"/>
              <a:buAutoNum type="alphaLcParenR"/>
              <a:defRPr/>
            </a:pPr>
            <a:r>
              <a:rPr lang="nl-BE"/>
              <a:t>Het grote voorwiel heeft een grotere hoeksnelheid.</a:t>
            </a:r>
          </a:p>
          <a:p>
            <a:pPr marL="990600" lvl="1" indent="-533400">
              <a:buFont typeface="Wingdings" pitchFamily="2" charset="2"/>
              <a:buAutoNum type="alphaLcParenR"/>
              <a:defRPr/>
            </a:pPr>
            <a:r>
              <a:rPr lang="nl-BE"/>
              <a:t>Noch a, noch b klopt.</a:t>
            </a:r>
            <a:endParaRPr lang="nl-NL"/>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rrowheads="1"/>
          </p:cNvSpPr>
          <p:nvPr>
            <p:ph type="title"/>
          </p:nvPr>
        </p:nvSpPr>
        <p:spPr>
          <a:xfrm>
            <a:off x="1847528" y="0"/>
            <a:ext cx="8540750" cy="1143000"/>
          </a:xfrm>
        </p:spPr>
        <p:txBody>
          <a:bodyPr/>
          <a:lstStyle/>
          <a:p>
            <a:pPr eaLnBrk="1" hangingPunct="1">
              <a:defRPr/>
            </a:pPr>
            <a:r>
              <a:rPr lang="nl-BE" dirty="0"/>
              <a:t>Opgave 12</a:t>
            </a:r>
            <a:endParaRPr lang="nl-NL" dirty="0"/>
          </a:p>
        </p:txBody>
      </p:sp>
      <p:sp>
        <p:nvSpPr>
          <p:cNvPr id="76803" name="Rectangle 3"/>
          <p:cNvSpPr>
            <a:spLocks noGrp="1" noRot="1" noChangeArrowheads="1"/>
          </p:cNvSpPr>
          <p:nvPr>
            <p:ph idx="1"/>
          </p:nvPr>
        </p:nvSpPr>
        <p:spPr>
          <a:xfrm>
            <a:off x="695400" y="1484784"/>
            <a:ext cx="11161240" cy="4498975"/>
          </a:xfrm>
        </p:spPr>
        <p:txBody>
          <a:bodyPr/>
          <a:lstStyle/>
          <a:p>
            <a:pPr marL="609600" indent="-609600">
              <a:defRPr/>
            </a:pPr>
            <a:r>
              <a:rPr lang="nl-BE" sz="2800" dirty="0"/>
              <a:t>Je rijdt op een fiets met een groot voorwiel en een klein achterwiel.</a:t>
            </a:r>
            <a:br>
              <a:rPr lang="nl-BE" sz="2800" dirty="0"/>
            </a:br>
            <a:r>
              <a:rPr lang="nl-BE" sz="2800" dirty="0"/>
              <a:t>Welke uitspraak klopt?</a:t>
            </a:r>
          </a:p>
          <a:p>
            <a:pPr marL="990600" lvl="1" indent="-533400">
              <a:buFont typeface="Wingdings" pitchFamily="2" charset="2"/>
              <a:buAutoNum type="alphaLcParenR"/>
              <a:defRPr/>
            </a:pPr>
            <a:r>
              <a:rPr lang="nl-BE" dirty="0"/>
              <a:t> Beide wielen draaien met dezelfde hoeksnelheid.</a:t>
            </a:r>
          </a:p>
          <a:p>
            <a:pPr marL="990600" lvl="1" indent="-533400">
              <a:buFont typeface="Wingdings" pitchFamily="2" charset="2"/>
              <a:buAutoNum type="alphaLcParenR"/>
              <a:defRPr/>
            </a:pPr>
            <a:r>
              <a:rPr lang="nl-BE" dirty="0"/>
              <a:t>Het grote voorwiel heeft een grotere hoeksnelheid.</a:t>
            </a:r>
          </a:p>
          <a:p>
            <a:pPr marL="990600" lvl="1" indent="-533400">
              <a:buFont typeface="Wingdings" pitchFamily="2" charset="2"/>
              <a:buAutoNum type="alphaLcParenR"/>
              <a:defRPr/>
            </a:pPr>
            <a:r>
              <a:rPr lang="nl-BE" dirty="0"/>
              <a:t>Noch a, noch b klopt.</a:t>
            </a:r>
            <a:endParaRPr lang="nl-NL" dirty="0"/>
          </a:p>
        </p:txBody>
      </p:sp>
      <p:pic>
        <p:nvPicPr>
          <p:cNvPr id="68610" name="Picture 2"/>
          <p:cNvPicPr>
            <a:picLocks noChangeAspect="1" noChangeArrowheads="1"/>
          </p:cNvPicPr>
          <p:nvPr/>
        </p:nvPicPr>
        <p:blipFill>
          <a:blip r:embed="rId2" cstate="print"/>
          <a:srcRect/>
          <a:stretch>
            <a:fillRect/>
          </a:stretch>
        </p:blipFill>
        <p:spPr bwMode="auto">
          <a:xfrm>
            <a:off x="3215680" y="4077072"/>
            <a:ext cx="5472608" cy="2077967"/>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p:nvPr>
        </p:nvSpPr>
        <p:spPr>
          <a:xfrm>
            <a:off x="1847850" y="0"/>
            <a:ext cx="8540750" cy="1143000"/>
          </a:xfrm>
        </p:spPr>
        <p:txBody>
          <a:bodyPr/>
          <a:lstStyle/>
          <a:p>
            <a:pPr eaLnBrk="1" hangingPunct="1">
              <a:defRPr/>
            </a:pPr>
            <a:r>
              <a:rPr lang="nl-BE" dirty="0"/>
              <a:t>Opgave 13</a:t>
            </a:r>
            <a:endParaRPr lang="nl-NL" dirty="0"/>
          </a:p>
        </p:txBody>
      </p:sp>
      <p:sp>
        <p:nvSpPr>
          <p:cNvPr id="78851" name="Rectangle 3"/>
          <p:cNvSpPr>
            <a:spLocks noGrp="1" noRot="1" noChangeArrowheads="1"/>
          </p:cNvSpPr>
          <p:nvPr>
            <p:ph idx="1"/>
          </p:nvPr>
        </p:nvSpPr>
        <p:spPr>
          <a:xfrm>
            <a:off x="551384" y="1179512"/>
            <a:ext cx="11089232" cy="4498975"/>
          </a:xfrm>
        </p:spPr>
        <p:txBody>
          <a:bodyPr/>
          <a:lstStyle/>
          <a:p>
            <a:pPr eaLnBrk="1" hangingPunct="1">
              <a:lnSpc>
                <a:spcPct val="90000"/>
              </a:lnSpc>
              <a:defRPr/>
            </a:pPr>
            <a:r>
              <a:rPr lang="nl-BE" dirty="0"/>
              <a:t>Schijf A wordt aangedreven zodat het aantal omwentelingen per minuut 100 bedraagt.</a:t>
            </a:r>
            <a:br>
              <a:rPr lang="nl-BE" dirty="0"/>
            </a:br>
            <a:r>
              <a:rPr lang="nl-BE" dirty="0"/>
              <a:t>Bereken het aantal omwentelingen per minuut van as D. Schijven B en C staan op dezelfde as.</a:t>
            </a:r>
          </a:p>
          <a:p>
            <a:pPr lvl="1" eaLnBrk="1" hangingPunct="1">
              <a:lnSpc>
                <a:spcPct val="90000"/>
              </a:lnSpc>
              <a:defRPr/>
            </a:pPr>
            <a:r>
              <a:rPr lang="nl-BE" dirty="0" err="1"/>
              <a:t>d</a:t>
            </a:r>
            <a:r>
              <a:rPr lang="nl-BE" baseline="-25000" dirty="0" err="1"/>
              <a:t>A</a:t>
            </a:r>
            <a:r>
              <a:rPr lang="nl-BE" dirty="0"/>
              <a:t> = 100 cm</a:t>
            </a:r>
          </a:p>
          <a:p>
            <a:pPr lvl="1" eaLnBrk="1" hangingPunct="1">
              <a:lnSpc>
                <a:spcPct val="90000"/>
              </a:lnSpc>
              <a:defRPr/>
            </a:pPr>
            <a:r>
              <a:rPr lang="nl-BE" dirty="0"/>
              <a:t>d</a:t>
            </a:r>
            <a:r>
              <a:rPr lang="nl-BE" baseline="-25000" dirty="0"/>
              <a:t>B</a:t>
            </a:r>
            <a:r>
              <a:rPr lang="nl-BE" dirty="0"/>
              <a:t> = 40 cm</a:t>
            </a:r>
          </a:p>
          <a:p>
            <a:pPr lvl="1" eaLnBrk="1" hangingPunct="1">
              <a:lnSpc>
                <a:spcPct val="90000"/>
              </a:lnSpc>
              <a:defRPr/>
            </a:pPr>
            <a:r>
              <a:rPr lang="nl-BE" dirty="0" err="1"/>
              <a:t>d</a:t>
            </a:r>
            <a:r>
              <a:rPr lang="nl-BE" baseline="-25000" dirty="0" err="1"/>
              <a:t>C</a:t>
            </a:r>
            <a:r>
              <a:rPr lang="nl-BE" dirty="0"/>
              <a:t> = 80cm</a:t>
            </a:r>
          </a:p>
          <a:p>
            <a:pPr lvl="1" eaLnBrk="1" hangingPunct="1">
              <a:lnSpc>
                <a:spcPct val="90000"/>
              </a:lnSpc>
              <a:defRPr/>
            </a:pPr>
            <a:r>
              <a:rPr lang="nl-BE" dirty="0" err="1"/>
              <a:t>d</a:t>
            </a:r>
            <a:r>
              <a:rPr lang="nl-BE" baseline="-25000" dirty="0" err="1"/>
              <a:t>D</a:t>
            </a:r>
            <a:r>
              <a:rPr lang="nl-BE" dirty="0"/>
              <a:t> = 25 cm</a:t>
            </a:r>
            <a:endParaRPr lang="nl-NL" dirty="0"/>
          </a:p>
        </p:txBody>
      </p:sp>
      <p:pic>
        <p:nvPicPr>
          <p:cNvPr id="56324" name="Picture 5"/>
          <p:cNvPicPr>
            <a:picLocks noChangeAspect="1" noChangeArrowheads="1"/>
          </p:cNvPicPr>
          <p:nvPr/>
        </p:nvPicPr>
        <p:blipFill>
          <a:blip r:embed="rId2" cstate="print"/>
          <a:srcRect/>
          <a:stretch>
            <a:fillRect/>
          </a:stretch>
        </p:blipFill>
        <p:spPr bwMode="auto">
          <a:xfrm>
            <a:off x="5591175" y="2852738"/>
            <a:ext cx="3449638" cy="3860800"/>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p:nvPr>
        </p:nvSpPr>
        <p:spPr>
          <a:xfrm>
            <a:off x="1847528" y="-315416"/>
            <a:ext cx="8540750" cy="1143000"/>
          </a:xfrm>
        </p:spPr>
        <p:txBody>
          <a:bodyPr/>
          <a:lstStyle/>
          <a:p>
            <a:pPr eaLnBrk="1" hangingPunct="1">
              <a:defRPr/>
            </a:pPr>
            <a:r>
              <a:rPr lang="nl-BE" dirty="0"/>
              <a:t>Opgave 13</a:t>
            </a:r>
            <a:endParaRPr lang="nl-NL" dirty="0"/>
          </a:p>
        </p:txBody>
      </p:sp>
      <p:sp>
        <p:nvSpPr>
          <p:cNvPr id="78851" name="Rectangle 3"/>
          <p:cNvSpPr>
            <a:spLocks noGrp="1" noRot="1" noChangeArrowheads="1"/>
          </p:cNvSpPr>
          <p:nvPr>
            <p:ph idx="1"/>
          </p:nvPr>
        </p:nvSpPr>
        <p:spPr>
          <a:xfrm>
            <a:off x="335360" y="620689"/>
            <a:ext cx="11017224" cy="4498975"/>
          </a:xfrm>
        </p:spPr>
        <p:txBody>
          <a:bodyPr/>
          <a:lstStyle/>
          <a:p>
            <a:pPr eaLnBrk="1" hangingPunct="1">
              <a:lnSpc>
                <a:spcPct val="90000"/>
              </a:lnSpc>
              <a:defRPr/>
            </a:pPr>
            <a:r>
              <a:rPr lang="nl-BE" sz="2400" dirty="0"/>
              <a:t>Schijf A wordt aangedreven zodat het aantal omwentelingen per minuut 100 bedraagt.</a:t>
            </a:r>
            <a:br>
              <a:rPr lang="nl-BE" sz="2400" dirty="0"/>
            </a:br>
            <a:r>
              <a:rPr lang="nl-BE" sz="2400" dirty="0"/>
              <a:t>Bereken het aantal omwentelingen per minuut van as D. Schijven B en C staan op dezelfde as.</a:t>
            </a:r>
          </a:p>
          <a:p>
            <a:pPr lvl="1" eaLnBrk="1" hangingPunct="1">
              <a:lnSpc>
                <a:spcPct val="90000"/>
              </a:lnSpc>
              <a:defRPr/>
            </a:pPr>
            <a:r>
              <a:rPr lang="nl-BE" dirty="0" err="1"/>
              <a:t>d</a:t>
            </a:r>
            <a:r>
              <a:rPr lang="nl-BE" baseline="-25000" dirty="0" err="1"/>
              <a:t>A</a:t>
            </a:r>
            <a:r>
              <a:rPr lang="nl-BE" dirty="0"/>
              <a:t> = 100 cm →  r = 50 cm</a:t>
            </a:r>
          </a:p>
          <a:p>
            <a:pPr lvl="1" eaLnBrk="1" hangingPunct="1">
              <a:lnSpc>
                <a:spcPct val="90000"/>
              </a:lnSpc>
              <a:defRPr/>
            </a:pPr>
            <a:r>
              <a:rPr lang="nl-BE" dirty="0"/>
              <a:t>d</a:t>
            </a:r>
            <a:r>
              <a:rPr lang="nl-BE" baseline="-25000" dirty="0"/>
              <a:t>B</a:t>
            </a:r>
            <a:r>
              <a:rPr lang="nl-BE" dirty="0"/>
              <a:t> = 40 cm →  r = 20 cm</a:t>
            </a:r>
          </a:p>
          <a:p>
            <a:pPr lvl="1" eaLnBrk="1" hangingPunct="1">
              <a:lnSpc>
                <a:spcPct val="90000"/>
              </a:lnSpc>
              <a:defRPr/>
            </a:pPr>
            <a:r>
              <a:rPr lang="nl-BE" dirty="0" err="1"/>
              <a:t>d</a:t>
            </a:r>
            <a:r>
              <a:rPr lang="nl-BE" baseline="-25000" dirty="0" err="1"/>
              <a:t>C</a:t>
            </a:r>
            <a:r>
              <a:rPr lang="nl-BE" dirty="0"/>
              <a:t> = 80cm →  r = 40 cm</a:t>
            </a:r>
          </a:p>
          <a:p>
            <a:pPr lvl="1" eaLnBrk="1" hangingPunct="1">
              <a:lnSpc>
                <a:spcPct val="90000"/>
              </a:lnSpc>
              <a:defRPr/>
            </a:pPr>
            <a:r>
              <a:rPr lang="nl-BE" dirty="0" err="1"/>
              <a:t>d</a:t>
            </a:r>
            <a:r>
              <a:rPr lang="nl-BE" baseline="-25000" dirty="0" err="1"/>
              <a:t>D</a:t>
            </a:r>
            <a:r>
              <a:rPr lang="nl-BE" dirty="0"/>
              <a:t> = 25 cm →  r = 13 cm</a:t>
            </a:r>
            <a:endParaRPr lang="nl-NL" dirty="0"/>
          </a:p>
        </p:txBody>
      </p:sp>
      <p:pic>
        <p:nvPicPr>
          <p:cNvPr id="56324" name="Picture 5"/>
          <p:cNvPicPr>
            <a:picLocks noChangeAspect="1" noChangeArrowheads="1"/>
          </p:cNvPicPr>
          <p:nvPr/>
        </p:nvPicPr>
        <p:blipFill>
          <a:blip r:embed="rId2" cstate="print"/>
          <a:srcRect/>
          <a:stretch>
            <a:fillRect/>
          </a:stretch>
        </p:blipFill>
        <p:spPr bwMode="auto">
          <a:xfrm>
            <a:off x="2135560" y="3794065"/>
            <a:ext cx="2368854" cy="2651197"/>
          </a:xfrm>
          <a:prstGeom prst="rect">
            <a:avLst/>
          </a:prstGeom>
          <a:noFill/>
          <a:ln w="9525">
            <a:noFill/>
            <a:miter lim="800000"/>
            <a:headEnd/>
            <a:tailEnd/>
          </a:ln>
        </p:spPr>
      </p:pic>
      <p:pic>
        <p:nvPicPr>
          <p:cNvPr id="69634" name="Picture 2"/>
          <p:cNvPicPr>
            <a:picLocks noChangeAspect="1" noChangeArrowheads="1"/>
          </p:cNvPicPr>
          <p:nvPr/>
        </p:nvPicPr>
        <p:blipFill>
          <a:blip r:embed="rId3" cstate="print"/>
          <a:srcRect/>
          <a:stretch>
            <a:fillRect/>
          </a:stretch>
        </p:blipFill>
        <p:spPr bwMode="auto">
          <a:xfrm>
            <a:off x="5436598" y="1618656"/>
            <a:ext cx="5143136" cy="5050705"/>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87388" y="116632"/>
            <a:ext cx="9778987" cy="1143000"/>
          </a:xfrm>
        </p:spPr>
        <p:txBody>
          <a:bodyPr>
            <a:normAutofit/>
          </a:bodyPr>
          <a:lstStyle/>
          <a:p>
            <a:r>
              <a:rPr lang="nl-BE" dirty="0" err="1"/>
              <a:t>Galileo</a:t>
            </a:r>
            <a:r>
              <a:rPr lang="nl-BE" dirty="0"/>
              <a:t>: satellietnavigatiesysteem</a:t>
            </a:r>
          </a:p>
        </p:txBody>
      </p:sp>
      <p:sp>
        <p:nvSpPr>
          <p:cNvPr id="3" name="Tijdelijke aanduiding voor inhoud 2"/>
          <p:cNvSpPr>
            <a:spLocks noGrp="1"/>
          </p:cNvSpPr>
          <p:nvPr>
            <p:ph idx="1"/>
          </p:nvPr>
        </p:nvSpPr>
        <p:spPr>
          <a:xfrm>
            <a:off x="587388" y="2033972"/>
            <a:ext cx="11017223" cy="4536504"/>
          </a:xfrm>
        </p:spPr>
        <p:txBody>
          <a:bodyPr/>
          <a:lstStyle/>
          <a:p>
            <a:pPr>
              <a:spcBef>
                <a:spcPts val="0"/>
              </a:spcBef>
              <a:spcAft>
                <a:spcPts val="1800"/>
              </a:spcAft>
            </a:pPr>
            <a:r>
              <a:rPr lang="nl-NL" sz="3200" dirty="0"/>
              <a:t>Niet-militair wereldwijd  satellietnavigatiesysteem </a:t>
            </a:r>
            <a:r>
              <a:rPr lang="nl-NL" sz="3200" i="1" dirty="0"/>
              <a:t>(GNSS) </a:t>
            </a:r>
          </a:p>
          <a:p>
            <a:pPr>
              <a:spcBef>
                <a:spcPts val="0"/>
              </a:spcBef>
              <a:spcAft>
                <a:spcPts val="1800"/>
              </a:spcAft>
            </a:pPr>
            <a:r>
              <a:rPr lang="nl-NL" sz="3200" dirty="0"/>
              <a:t>wordt gebouwd door Europese Unie (EU)</a:t>
            </a:r>
          </a:p>
          <a:p>
            <a:pPr>
              <a:spcBef>
                <a:spcPts val="0"/>
              </a:spcBef>
              <a:spcAft>
                <a:spcPts val="1800"/>
              </a:spcAft>
            </a:pPr>
            <a:r>
              <a:rPr lang="nl-NL" sz="3200" dirty="0"/>
              <a:t>samenwerking met ESA</a:t>
            </a:r>
          </a:p>
          <a:p>
            <a:pPr>
              <a:spcBef>
                <a:spcPts val="0"/>
              </a:spcBef>
              <a:spcAft>
                <a:spcPts val="1800"/>
              </a:spcAft>
            </a:pPr>
            <a:r>
              <a:rPr lang="nl-NL" sz="3200" dirty="0"/>
              <a:t>grootste Europese ruimtevaartproject aller tijden</a:t>
            </a:r>
          </a:p>
          <a:p>
            <a:pPr>
              <a:spcBef>
                <a:spcPts val="0"/>
              </a:spcBef>
              <a:spcAft>
                <a:spcPts val="1800"/>
              </a:spcAft>
            </a:pPr>
            <a:r>
              <a:rPr lang="nl-NL" sz="3200" dirty="0"/>
              <a:t>operationeel met 30 satellieten</a:t>
            </a:r>
          </a:p>
          <a:p>
            <a:endParaRPr lang="nl-BE" dirty="0"/>
          </a:p>
          <a:p>
            <a:endParaRPr lang="nl-BE"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t>Galileo</a:t>
            </a:r>
            <a:r>
              <a:rPr lang="nl-BE" dirty="0"/>
              <a:t>: satellietnavigatiesysteem</a:t>
            </a:r>
          </a:p>
        </p:txBody>
      </p:sp>
      <p:sp>
        <p:nvSpPr>
          <p:cNvPr id="3" name="Tijdelijke aanduiding voor inhoud 2"/>
          <p:cNvSpPr>
            <a:spLocks noGrp="1"/>
          </p:cNvSpPr>
          <p:nvPr>
            <p:ph idx="1"/>
          </p:nvPr>
        </p:nvSpPr>
        <p:spPr>
          <a:xfrm>
            <a:off x="911424" y="1371600"/>
            <a:ext cx="9454951" cy="5153744"/>
          </a:xfrm>
        </p:spPr>
        <p:txBody>
          <a:bodyPr/>
          <a:lstStyle/>
          <a:p>
            <a:pPr>
              <a:spcBef>
                <a:spcPts val="0"/>
              </a:spcBef>
              <a:spcAft>
                <a:spcPts val="1200"/>
              </a:spcAft>
            </a:pPr>
            <a:r>
              <a:rPr lang="nl-BE" dirty="0">
                <a:effectLst>
                  <a:outerShdw blurRad="38100" dist="38100" dir="2700000" algn="tl">
                    <a:srgbClr val="000000">
                      <a:alpha val="43137"/>
                    </a:srgbClr>
                  </a:outerShdw>
                </a:effectLst>
              </a:rPr>
              <a:t>Filmpje </a:t>
            </a:r>
            <a:r>
              <a:rPr lang="nl-BE" dirty="0" err="1">
                <a:effectLst>
                  <a:outerShdw blurRad="38100" dist="38100" dir="2700000" algn="tl">
                    <a:srgbClr val="000000">
                      <a:alpha val="43137"/>
                    </a:srgbClr>
                  </a:outerShdw>
                </a:effectLst>
              </a:rPr>
              <a:t>Galileo</a:t>
            </a:r>
            <a:r>
              <a:rPr lang="nl-BE" dirty="0">
                <a:effectLst>
                  <a:outerShdw blurRad="38100" dist="38100" dir="2700000" algn="tl">
                    <a:srgbClr val="000000">
                      <a:alpha val="43137"/>
                    </a:srgbClr>
                  </a:outerShdw>
                </a:effectLst>
              </a:rPr>
              <a:t>: </a:t>
            </a:r>
            <a:r>
              <a:rPr lang="nl-BE" dirty="0">
                <a:effectLst>
                  <a:outerShdw blurRad="38100" dist="38100" dir="2700000" algn="tl">
                    <a:srgbClr val="000000">
                      <a:alpha val="43137"/>
                    </a:srgbClr>
                  </a:outerShdw>
                </a:effectLst>
                <a:hlinkClick r:id="rId3"/>
              </a:rPr>
              <a:t>https://www.youtube.com/watch?v=VrxXRoWNUM8</a:t>
            </a:r>
            <a:endParaRPr lang="nl-BE" dirty="0">
              <a:effectLst>
                <a:outerShdw blurRad="38100" dist="38100" dir="2700000" algn="tl">
                  <a:srgbClr val="000000">
                    <a:alpha val="43137"/>
                  </a:srgbClr>
                </a:outerShdw>
              </a:effectLst>
            </a:endParaRPr>
          </a:p>
          <a:p>
            <a:pPr>
              <a:spcBef>
                <a:spcPts val="0"/>
              </a:spcBef>
              <a:spcAft>
                <a:spcPts val="1200"/>
              </a:spcAft>
            </a:pPr>
            <a:endParaRPr lang="nl-BE" dirty="0">
              <a:effectLst>
                <a:outerShdw blurRad="38100" dist="38100" dir="2700000" algn="tl">
                  <a:srgbClr val="000000">
                    <a:alpha val="43137"/>
                  </a:srgbClr>
                </a:outerShdw>
              </a:effectLst>
            </a:endParaRPr>
          </a:p>
          <a:p>
            <a:pPr>
              <a:spcBef>
                <a:spcPts val="0"/>
              </a:spcBef>
              <a:spcAft>
                <a:spcPts val="1200"/>
              </a:spcAft>
            </a:pPr>
            <a:endParaRPr lang="nl-BE" dirty="0">
              <a:effectLst>
                <a:outerShdw blurRad="38100" dist="38100" dir="2700000" algn="tl">
                  <a:srgbClr val="000000">
                    <a:alpha val="43137"/>
                  </a:srgbClr>
                </a:outerShdw>
              </a:effectLst>
            </a:endParaRPr>
          </a:p>
          <a:p>
            <a:pPr>
              <a:spcBef>
                <a:spcPts val="0"/>
              </a:spcBef>
              <a:spcAft>
                <a:spcPts val="1200"/>
              </a:spcAft>
            </a:pPr>
            <a:endParaRPr lang="nl-BE" dirty="0">
              <a:effectLst>
                <a:outerShdw blurRad="38100" dist="38100" dir="2700000" algn="tl">
                  <a:srgbClr val="000000">
                    <a:alpha val="43137"/>
                  </a:srgbClr>
                </a:outerShdw>
              </a:effectLst>
            </a:endParaRPr>
          </a:p>
          <a:p>
            <a:pPr>
              <a:spcBef>
                <a:spcPts val="0"/>
              </a:spcBef>
              <a:spcAft>
                <a:spcPts val="1200"/>
              </a:spcAft>
            </a:pPr>
            <a:r>
              <a:rPr lang="nl-BE" dirty="0">
                <a:effectLst>
                  <a:outerShdw blurRad="38100" dist="38100" dir="2700000" algn="tl">
                    <a:srgbClr val="000000">
                      <a:alpha val="43137"/>
                    </a:srgbClr>
                  </a:outerShdw>
                </a:effectLst>
              </a:rPr>
              <a:t>Filmpje testen satellieten:</a:t>
            </a:r>
          </a:p>
          <a:p>
            <a:pPr>
              <a:spcBef>
                <a:spcPts val="0"/>
              </a:spcBef>
              <a:spcAft>
                <a:spcPts val="1200"/>
              </a:spcAft>
            </a:pPr>
            <a:r>
              <a:rPr lang="nl-BE" dirty="0">
                <a:effectLst>
                  <a:outerShdw blurRad="38100" dist="38100" dir="2700000" algn="tl">
                    <a:srgbClr val="000000">
                      <a:alpha val="43137"/>
                    </a:srgbClr>
                  </a:outerShdw>
                </a:effectLst>
                <a:hlinkClick r:id="rId4"/>
              </a:rPr>
              <a:t>https://www.youtube.com/watch?v=TfOPAuDgbiQ</a:t>
            </a:r>
            <a:endParaRPr lang="nl-BE" dirty="0">
              <a:effectLst>
                <a:outerShdw blurRad="38100" dist="38100" dir="2700000" algn="tl">
                  <a:srgbClr val="000000">
                    <a:alpha val="43137"/>
                  </a:srgbClr>
                </a:outerShdw>
              </a:effectLst>
            </a:endParaRPr>
          </a:p>
          <a:p>
            <a:pPr>
              <a:spcBef>
                <a:spcPts val="0"/>
              </a:spcBef>
              <a:spcAft>
                <a:spcPts val="1200"/>
              </a:spcAft>
            </a:pPr>
            <a:endParaRPr lang="nl-BE" dirty="0">
              <a:effectLst>
                <a:outerShdw blurRad="38100" dist="38100" dir="2700000" algn="tl">
                  <a:srgbClr val="000000">
                    <a:alpha val="43137"/>
                  </a:srgbClr>
                </a:outerShdw>
              </a:effectLst>
            </a:endParaRPr>
          </a:p>
          <a:p>
            <a:pPr>
              <a:spcBef>
                <a:spcPts val="0"/>
              </a:spcBef>
              <a:spcAft>
                <a:spcPts val="1200"/>
              </a:spcAft>
            </a:pPr>
            <a:endParaRPr lang="nl-BE" dirty="0">
              <a:effectLst>
                <a:outerShdw blurRad="38100" dist="38100" dir="2700000" algn="tl">
                  <a:srgbClr val="000000">
                    <a:alpha val="43137"/>
                  </a:srgbClr>
                </a:outerShdw>
              </a:effectLst>
            </a:endParaRPr>
          </a:p>
          <a:p>
            <a:pPr>
              <a:spcBef>
                <a:spcPts val="0"/>
              </a:spcBef>
              <a:spcAft>
                <a:spcPts val="1200"/>
              </a:spcAft>
            </a:pPr>
            <a:endParaRPr lang="nl-BE" dirty="0">
              <a:effectLst>
                <a:outerShdw blurRad="38100" dist="38100" dir="2700000" algn="tl">
                  <a:srgbClr val="000000">
                    <a:alpha val="43137"/>
                  </a:srgbClr>
                </a:outerShdw>
              </a:effectLst>
            </a:endParaRPr>
          </a:p>
          <a:p>
            <a:pPr marL="0" indent="0">
              <a:spcBef>
                <a:spcPts val="0"/>
              </a:spcBef>
              <a:spcAft>
                <a:spcPts val="1200"/>
              </a:spcAft>
              <a:buNone/>
            </a:pPr>
            <a:endParaRPr lang="nl-BE" sz="6000" dirty="0">
              <a:effectLst>
                <a:outerShdw blurRad="38100" dist="38100" dir="2700000" algn="tl">
                  <a:srgbClr val="000000">
                    <a:alpha val="43137"/>
                  </a:srgbClr>
                </a:outerShdw>
              </a:effectLst>
            </a:endParaRPr>
          </a:p>
          <a:p>
            <a:pPr marL="0" indent="0">
              <a:spcBef>
                <a:spcPts val="0"/>
              </a:spcBef>
              <a:spcAft>
                <a:spcPts val="1200"/>
              </a:spcAft>
              <a:buNone/>
            </a:pPr>
            <a:endParaRPr lang="nl-BE" dirty="0">
              <a:solidFill>
                <a:srgbClr val="444444"/>
              </a:solidFill>
              <a:effectLst>
                <a:outerShdw blurRad="38100" dist="38100" dir="2700000" algn="tl">
                  <a:srgbClr val="000000">
                    <a:alpha val="43137"/>
                  </a:srgbClr>
                </a:outerShdw>
              </a:effectLst>
              <a:latin typeface="Roboto"/>
            </a:endParaRPr>
          </a:p>
          <a:p>
            <a:endParaRPr lang="nl-BE" dirty="0"/>
          </a:p>
          <a:p>
            <a:endParaRPr lang="nl-BE" dirty="0"/>
          </a:p>
        </p:txBody>
      </p:sp>
      <p:pic>
        <p:nvPicPr>
          <p:cNvPr id="4" name="Afbeelding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77506" y="2587083"/>
            <a:ext cx="2880320" cy="2304256"/>
          </a:xfrm>
          <a:prstGeom prst="rect">
            <a:avLst/>
          </a:prstGeom>
        </p:spPr>
      </p:pic>
    </p:spTree>
    <p:extLst>
      <p:ext uri="{BB962C8B-B14F-4D97-AF65-F5344CB8AC3E}">
        <p14:creationId xmlns:p14="http://schemas.microsoft.com/office/powerpoint/2010/main" val="21942692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p:nvPr>
        </p:nvSpPr>
        <p:spPr/>
        <p:txBody>
          <a:bodyPr/>
          <a:lstStyle/>
          <a:p>
            <a:pPr eaLnBrk="1" hangingPunct="1">
              <a:defRPr/>
            </a:pPr>
            <a:r>
              <a:rPr lang="nl-BE" dirty="0" err="1"/>
              <a:t>Galileo</a:t>
            </a:r>
            <a:r>
              <a:rPr lang="nl-BE" dirty="0"/>
              <a:t>: opgave 14 (extra oef.)</a:t>
            </a:r>
            <a:endParaRPr lang="nl-NL" dirty="0"/>
          </a:p>
        </p:txBody>
      </p:sp>
      <p:sp>
        <p:nvSpPr>
          <p:cNvPr id="82947" name="Rectangle 3"/>
          <p:cNvSpPr>
            <a:spLocks noGrp="1" noRot="1" noChangeArrowheads="1"/>
          </p:cNvSpPr>
          <p:nvPr>
            <p:ph idx="1"/>
          </p:nvPr>
        </p:nvSpPr>
        <p:spPr>
          <a:xfrm>
            <a:off x="983432" y="1773239"/>
            <a:ext cx="9476606" cy="4498975"/>
          </a:xfrm>
        </p:spPr>
        <p:txBody>
          <a:bodyPr/>
          <a:lstStyle/>
          <a:p>
            <a:pPr marL="609600" indent="-609600">
              <a:defRPr/>
            </a:pPr>
            <a:r>
              <a:rPr lang="nl-BE" dirty="0"/>
              <a:t>Hoogte cirkelbanen: 23 222 km.</a:t>
            </a:r>
          </a:p>
          <a:p>
            <a:pPr marL="609600" indent="-609600">
              <a:defRPr/>
            </a:pPr>
            <a:r>
              <a:rPr lang="nl-BE" dirty="0"/>
              <a:t>Bereken:</a:t>
            </a:r>
          </a:p>
          <a:p>
            <a:pPr marL="990600" lvl="1" indent="-533400">
              <a:buFont typeface="Wingdings" pitchFamily="2" charset="2"/>
              <a:buAutoNum type="alphaLcParenR"/>
              <a:defRPr/>
            </a:pPr>
            <a:r>
              <a:rPr lang="nl-BE" dirty="0"/>
              <a:t>de baansnelheid van de satellieten,</a:t>
            </a:r>
          </a:p>
          <a:p>
            <a:pPr marL="990600" lvl="1" indent="-533400">
              <a:buFont typeface="Wingdings" pitchFamily="2" charset="2"/>
              <a:buAutoNum type="alphaLcParenR"/>
              <a:defRPr/>
            </a:pPr>
            <a:r>
              <a:rPr lang="nl-BE" dirty="0"/>
              <a:t>de hoeksnelheid </a:t>
            </a:r>
            <a:r>
              <a:rPr lang="nl-BE" i="1" dirty="0"/>
              <a:t>(t.o.v. het middelpunt v.d. aarde)</a:t>
            </a:r>
            <a:r>
              <a:rPr lang="nl-BE" dirty="0"/>
              <a:t> van de satellieten,</a:t>
            </a:r>
          </a:p>
          <a:p>
            <a:pPr marL="990600" lvl="1" indent="-533400">
              <a:buFont typeface="Wingdings" pitchFamily="2" charset="2"/>
              <a:buAutoNum type="alphaLcParenR"/>
              <a:defRPr/>
            </a:pPr>
            <a:r>
              <a:rPr lang="nl-BE" dirty="0"/>
              <a:t>de periode van de satellieten.</a:t>
            </a:r>
            <a:endParaRPr lang="nl-NL"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825625" y="-171400"/>
            <a:ext cx="8540750" cy="1143000"/>
          </a:xfrm>
        </p:spPr>
        <p:txBody>
          <a:bodyPr/>
          <a:lstStyle/>
          <a:p>
            <a:r>
              <a:rPr lang="nl-BE" dirty="0" err="1"/>
              <a:t>Galileo</a:t>
            </a:r>
            <a:r>
              <a:rPr lang="nl-BE" dirty="0"/>
              <a:t>: opgave 14</a:t>
            </a:r>
          </a:p>
        </p:txBody>
      </p:sp>
      <p:sp>
        <p:nvSpPr>
          <p:cNvPr id="3" name="Tijdelijke aanduiding voor inhoud 2"/>
          <p:cNvSpPr>
            <a:spLocks noGrp="1"/>
          </p:cNvSpPr>
          <p:nvPr>
            <p:ph idx="1"/>
          </p:nvPr>
        </p:nvSpPr>
        <p:spPr>
          <a:xfrm>
            <a:off x="191344" y="764705"/>
            <a:ext cx="9793088" cy="4498975"/>
          </a:xfrm>
        </p:spPr>
        <p:txBody>
          <a:bodyPr/>
          <a:lstStyle/>
          <a:p>
            <a:pPr marL="609600" indent="-609600">
              <a:defRPr/>
            </a:pPr>
            <a:r>
              <a:rPr lang="nl-BE" dirty="0"/>
              <a:t>Hoogte cirkelbanen: 23 222 km.</a:t>
            </a:r>
          </a:p>
          <a:p>
            <a:pPr marL="609600" indent="-609600">
              <a:defRPr/>
            </a:pPr>
            <a:r>
              <a:rPr lang="nl-BE" dirty="0"/>
              <a:t>Bereken:</a:t>
            </a:r>
          </a:p>
          <a:p>
            <a:pPr marL="990600" lvl="1" indent="-533400">
              <a:buFont typeface="Wingdings" pitchFamily="2" charset="2"/>
              <a:buAutoNum type="alphaLcParenR"/>
              <a:defRPr/>
            </a:pPr>
            <a:r>
              <a:rPr lang="nl-BE" dirty="0"/>
              <a:t>de baansnelheid van de satellieten,</a:t>
            </a:r>
          </a:p>
          <a:p>
            <a:pPr marL="990600" lvl="1" indent="-533400">
              <a:buFont typeface="Wingdings" pitchFamily="2" charset="2"/>
              <a:buAutoNum type="alphaLcParenR"/>
              <a:defRPr/>
            </a:pPr>
            <a:r>
              <a:rPr lang="nl-BE" dirty="0"/>
              <a:t>de hoeksnelheid </a:t>
            </a:r>
            <a:r>
              <a:rPr lang="nl-BE" sz="1600" i="1" dirty="0"/>
              <a:t>(t.o.v. het middelpunt </a:t>
            </a:r>
            <a:br>
              <a:rPr lang="nl-BE" sz="1600" i="1" dirty="0"/>
            </a:br>
            <a:r>
              <a:rPr lang="nl-BE" sz="1600" i="1" dirty="0"/>
              <a:t>v.d. aarde)</a:t>
            </a:r>
            <a:r>
              <a:rPr lang="nl-BE" dirty="0"/>
              <a:t> van de satellieten,</a:t>
            </a:r>
          </a:p>
          <a:p>
            <a:pPr marL="990600" lvl="1" indent="-533400">
              <a:buFont typeface="Wingdings" pitchFamily="2" charset="2"/>
              <a:buAutoNum type="alphaLcParenR"/>
              <a:defRPr/>
            </a:pPr>
            <a:r>
              <a:rPr lang="nl-BE" dirty="0"/>
              <a:t>de periode van de satellieten.</a:t>
            </a:r>
            <a:endParaRPr lang="nl-NL" dirty="0"/>
          </a:p>
          <a:p>
            <a:endParaRPr lang="nl-BE" dirty="0"/>
          </a:p>
        </p:txBody>
      </p:sp>
      <mc:AlternateContent xmlns:mc="http://schemas.openxmlformats.org/markup-compatibility/2006" xmlns:a14="http://schemas.microsoft.com/office/drawing/2010/main">
        <mc:Choice Requires="a14">
          <p:sp>
            <p:nvSpPr>
              <p:cNvPr id="4" name="Rechthoek 3"/>
              <p:cNvSpPr/>
              <p:nvPr/>
            </p:nvSpPr>
            <p:spPr>
              <a:xfrm>
                <a:off x="6348536" y="692697"/>
                <a:ext cx="4572000" cy="5880841"/>
              </a:xfrm>
              <a:prstGeom prst="rect">
                <a:avLst/>
              </a:prstGeom>
            </p:spPr>
            <p:txBody>
              <a:bodyPr>
                <a:spAutoFit/>
              </a:bodyPr>
              <a:lstStyle/>
              <a:p>
                <a:pPr algn="ctr"/>
                <a14:m>
                  <m:oMathPara xmlns:m="http://schemas.openxmlformats.org/officeDocument/2006/math">
                    <m:oMathParaPr>
                      <m:jc m:val="centerGroup"/>
                    </m:oMathParaPr>
                    <m:oMath xmlns:m="http://schemas.openxmlformats.org/officeDocument/2006/math">
                      <m:sSub>
                        <m:sSubPr>
                          <m:ctrlPr>
                            <a:rPr lang="nl-BE" i="1">
                              <a:latin typeface="Cambria Math" panose="02040503050406030204" pitchFamily="18" charset="0"/>
                            </a:rPr>
                          </m:ctrlPr>
                        </m:sSubPr>
                        <m:e>
                          <m:r>
                            <a:rPr lang="nl-BE" i="1">
                              <a:latin typeface="Cambria Math" panose="02040503050406030204" pitchFamily="18" charset="0"/>
                            </a:rPr>
                            <m:t>𝐹</m:t>
                          </m:r>
                        </m:e>
                        <m:sub>
                          <m:r>
                            <a:rPr lang="nl-BE" i="1">
                              <a:latin typeface="Cambria Math" panose="02040503050406030204" pitchFamily="18" charset="0"/>
                            </a:rPr>
                            <m:t>𝑐𝑝</m:t>
                          </m:r>
                        </m:sub>
                      </m:sSub>
                      <m:r>
                        <a:rPr lang="nl-BE" i="1">
                          <a:latin typeface="Cambria Math" panose="02040503050406030204" pitchFamily="18" charset="0"/>
                        </a:rPr>
                        <m:t>=</m:t>
                      </m:r>
                      <m:sSub>
                        <m:sSubPr>
                          <m:ctrlPr>
                            <a:rPr lang="nl-BE" i="1">
                              <a:latin typeface="Cambria Math" panose="02040503050406030204" pitchFamily="18" charset="0"/>
                            </a:rPr>
                          </m:ctrlPr>
                        </m:sSubPr>
                        <m:e>
                          <m:r>
                            <a:rPr lang="nl-BE" i="1">
                              <a:latin typeface="Cambria Math" panose="02040503050406030204" pitchFamily="18" charset="0"/>
                            </a:rPr>
                            <m:t>𝐹</m:t>
                          </m:r>
                        </m:e>
                        <m:sub>
                          <m:r>
                            <a:rPr lang="nl-BE" i="1">
                              <a:latin typeface="Cambria Math" panose="02040503050406030204" pitchFamily="18" charset="0"/>
                            </a:rPr>
                            <m:t>𝑔</m:t>
                          </m:r>
                        </m:sub>
                      </m:sSub>
                    </m:oMath>
                  </m:oMathPara>
                </a14:m>
                <a:endParaRPr lang="nl-BE" dirty="0"/>
              </a:p>
              <a:p>
                <a:pPr algn="ctr"/>
                <a14:m>
                  <m:oMathPara xmlns:m="http://schemas.openxmlformats.org/officeDocument/2006/math">
                    <m:oMathParaPr>
                      <m:jc m:val="centerGroup"/>
                    </m:oMathParaPr>
                    <m:oMath xmlns:m="http://schemas.openxmlformats.org/officeDocument/2006/math">
                      <m:f>
                        <m:fPr>
                          <m:ctrlPr>
                            <a:rPr lang="nl-BE" i="1">
                              <a:latin typeface="Cambria Math" panose="02040503050406030204" pitchFamily="18" charset="0"/>
                            </a:rPr>
                          </m:ctrlPr>
                        </m:fPr>
                        <m:num>
                          <m:r>
                            <a:rPr lang="nl-BE" i="1">
                              <a:latin typeface="Cambria Math" panose="02040503050406030204" pitchFamily="18" charset="0"/>
                            </a:rPr>
                            <m:t>𝑚</m:t>
                          </m:r>
                          <m:r>
                            <a:rPr lang="nl-BE" i="1">
                              <a:latin typeface="Cambria Math" panose="02040503050406030204" pitchFamily="18" charset="0"/>
                            </a:rPr>
                            <m:t>.</m:t>
                          </m:r>
                          <m:r>
                            <a:rPr lang="nl-BE" i="1">
                              <a:latin typeface="Cambria Math" panose="02040503050406030204" pitchFamily="18" charset="0"/>
                            </a:rPr>
                            <m:t>𝑣</m:t>
                          </m:r>
                          <m:r>
                            <a:rPr lang="nl-BE" i="1">
                              <a:latin typeface="Cambria Math" panose="02040503050406030204" pitchFamily="18" charset="0"/>
                            </a:rPr>
                            <m:t>²</m:t>
                          </m:r>
                        </m:num>
                        <m:den>
                          <m:r>
                            <a:rPr lang="nl-BE" i="1">
                              <a:latin typeface="Cambria Math" panose="02040503050406030204" pitchFamily="18" charset="0"/>
                            </a:rPr>
                            <m:t>𝑟</m:t>
                          </m:r>
                        </m:den>
                      </m:f>
                      <m:r>
                        <a:rPr lang="nl-BE" i="1">
                          <a:latin typeface="Cambria Math" panose="02040503050406030204" pitchFamily="18" charset="0"/>
                        </a:rPr>
                        <m:t>=</m:t>
                      </m:r>
                      <m:r>
                        <a:rPr lang="nl-BE" i="1">
                          <a:latin typeface="Cambria Math" panose="02040503050406030204" pitchFamily="18" charset="0"/>
                        </a:rPr>
                        <m:t>𝐺</m:t>
                      </m:r>
                      <m:f>
                        <m:fPr>
                          <m:ctrlPr>
                            <a:rPr lang="nl-BE" i="1">
                              <a:latin typeface="Cambria Math" panose="02040503050406030204" pitchFamily="18" charset="0"/>
                            </a:rPr>
                          </m:ctrlPr>
                        </m:fPr>
                        <m:num>
                          <m:r>
                            <a:rPr lang="nl-BE" i="1">
                              <a:latin typeface="Cambria Math" panose="02040503050406030204" pitchFamily="18" charset="0"/>
                            </a:rPr>
                            <m:t>𝑚</m:t>
                          </m:r>
                          <m:r>
                            <a:rPr lang="nl-BE" i="1">
                              <a:latin typeface="Cambria Math" panose="02040503050406030204" pitchFamily="18" charset="0"/>
                            </a:rPr>
                            <m:t>.</m:t>
                          </m:r>
                          <m:sSub>
                            <m:sSubPr>
                              <m:ctrlPr>
                                <a:rPr lang="nl-BE" i="1">
                                  <a:latin typeface="Cambria Math" panose="02040503050406030204" pitchFamily="18" charset="0"/>
                                </a:rPr>
                              </m:ctrlPr>
                            </m:sSubPr>
                            <m:e>
                              <m:r>
                                <a:rPr lang="nl-BE" i="1">
                                  <a:latin typeface="Cambria Math" panose="02040503050406030204" pitchFamily="18" charset="0"/>
                                </a:rPr>
                                <m:t>𝑚</m:t>
                              </m:r>
                            </m:e>
                            <m:sub>
                              <m:r>
                                <a:rPr lang="nl-BE" i="1">
                                  <a:latin typeface="Cambria Math" panose="02040503050406030204" pitchFamily="18" charset="0"/>
                                </a:rPr>
                                <m:t>𝑎𝑎𝑟𝑑𝑒</m:t>
                              </m:r>
                            </m:sub>
                          </m:sSub>
                        </m:num>
                        <m:den>
                          <m:r>
                            <a:rPr lang="nl-BE" i="1">
                              <a:latin typeface="Cambria Math" panose="02040503050406030204" pitchFamily="18" charset="0"/>
                            </a:rPr>
                            <m:t>𝑟</m:t>
                          </m:r>
                          <m:r>
                            <a:rPr lang="nl-BE" i="1">
                              <a:latin typeface="Cambria Math" panose="02040503050406030204" pitchFamily="18" charset="0"/>
                            </a:rPr>
                            <m:t>²</m:t>
                          </m:r>
                        </m:den>
                      </m:f>
                    </m:oMath>
                  </m:oMathPara>
                </a14:m>
                <a:endParaRPr lang="nl-BE" dirty="0"/>
              </a:p>
              <a:p>
                <a:pPr algn="ctr"/>
                <a14:m>
                  <m:oMathPara xmlns:m="http://schemas.openxmlformats.org/officeDocument/2006/math">
                    <m:oMathParaPr>
                      <m:jc m:val="centerGroup"/>
                    </m:oMathParaPr>
                    <m:oMath xmlns:m="http://schemas.openxmlformats.org/officeDocument/2006/math">
                      <m:sSup>
                        <m:sSupPr>
                          <m:ctrlPr>
                            <a:rPr lang="nl-BE" i="1">
                              <a:latin typeface="Cambria Math" panose="02040503050406030204" pitchFamily="18" charset="0"/>
                            </a:rPr>
                          </m:ctrlPr>
                        </m:sSupPr>
                        <m:e>
                          <m:r>
                            <a:rPr lang="nl-BE" i="1">
                              <a:latin typeface="Cambria Math" panose="02040503050406030204" pitchFamily="18" charset="0"/>
                            </a:rPr>
                            <m:t>𝑣</m:t>
                          </m:r>
                        </m:e>
                        <m:sup>
                          <m:r>
                            <a:rPr lang="nl-BE" i="1">
                              <a:latin typeface="Cambria Math" panose="02040503050406030204" pitchFamily="18" charset="0"/>
                            </a:rPr>
                            <m:t>2</m:t>
                          </m:r>
                        </m:sup>
                      </m:sSup>
                      <m:r>
                        <a:rPr lang="nl-BE" i="1">
                          <a:latin typeface="Cambria Math" panose="02040503050406030204" pitchFamily="18" charset="0"/>
                        </a:rPr>
                        <m:t>=</m:t>
                      </m:r>
                      <m:f>
                        <m:fPr>
                          <m:ctrlPr>
                            <a:rPr lang="nl-BE" i="1">
                              <a:latin typeface="Cambria Math" panose="02040503050406030204" pitchFamily="18" charset="0"/>
                            </a:rPr>
                          </m:ctrlPr>
                        </m:fPr>
                        <m:num>
                          <m:r>
                            <a:rPr lang="nl-BE" i="1">
                              <a:latin typeface="Cambria Math" panose="02040503050406030204" pitchFamily="18" charset="0"/>
                            </a:rPr>
                            <m:t>𝐺</m:t>
                          </m:r>
                          <m:r>
                            <a:rPr lang="nl-BE" i="1">
                              <a:latin typeface="Cambria Math" panose="02040503050406030204" pitchFamily="18" charset="0"/>
                            </a:rPr>
                            <m:t>.</m:t>
                          </m:r>
                          <m:sSub>
                            <m:sSubPr>
                              <m:ctrlPr>
                                <a:rPr lang="nl-BE" i="1">
                                  <a:latin typeface="Cambria Math" panose="02040503050406030204" pitchFamily="18" charset="0"/>
                                </a:rPr>
                              </m:ctrlPr>
                            </m:sSubPr>
                            <m:e>
                              <m:r>
                                <a:rPr lang="nl-BE" i="1">
                                  <a:latin typeface="Cambria Math" panose="02040503050406030204" pitchFamily="18" charset="0"/>
                                </a:rPr>
                                <m:t>𝑚</m:t>
                              </m:r>
                            </m:e>
                            <m:sub>
                              <m:r>
                                <a:rPr lang="nl-BE" i="1">
                                  <a:latin typeface="Cambria Math" panose="02040503050406030204" pitchFamily="18" charset="0"/>
                                </a:rPr>
                                <m:t>𝑎𝑎𝑟𝑑𝑒</m:t>
                              </m:r>
                            </m:sub>
                          </m:sSub>
                        </m:num>
                        <m:den>
                          <m:r>
                            <a:rPr lang="nl-BE" i="1">
                              <a:latin typeface="Cambria Math" panose="02040503050406030204" pitchFamily="18" charset="0"/>
                            </a:rPr>
                            <m:t>𝑟</m:t>
                          </m:r>
                        </m:den>
                      </m:f>
                      <m:r>
                        <a:rPr lang="nl-BE" i="1">
                          <a:latin typeface="Cambria Math" panose="02040503050406030204" pitchFamily="18" charset="0"/>
                        </a:rPr>
                        <m:t>                </m:t>
                      </m:r>
                      <m:r>
                        <a:rPr lang="nl-BE" i="1">
                          <a:latin typeface="Cambria Math" panose="02040503050406030204" pitchFamily="18" charset="0"/>
                        </a:rPr>
                        <m:t>𝑣</m:t>
                      </m:r>
                      <m:r>
                        <a:rPr lang="nl-BE" i="1">
                          <a:latin typeface="Cambria Math" panose="02040503050406030204" pitchFamily="18" charset="0"/>
                        </a:rPr>
                        <m:t>=</m:t>
                      </m:r>
                      <m:rad>
                        <m:radPr>
                          <m:degHide m:val="on"/>
                          <m:ctrlPr>
                            <a:rPr lang="nl-BE" i="1">
                              <a:latin typeface="Cambria Math" panose="02040503050406030204" pitchFamily="18" charset="0"/>
                            </a:rPr>
                          </m:ctrlPr>
                        </m:radPr>
                        <m:deg/>
                        <m:e>
                          <m:f>
                            <m:fPr>
                              <m:ctrlPr>
                                <a:rPr lang="nl-BE" i="1">
                                  <a:latin typeface="Cambria Math" panose="02040503050406030204" pitchFamily="18" charset="0"/>
                                </a:rPr>
                              </m:ctrlPr>
                            </m:fPr>
                            <m:num>
                              <m:r>
                                <a:rPr lang="nl-BE" i="1">
                                  <a:latin typeface="Cambria Math" panose="02040503050406030204" pitchFamily="18" charset="0"/>
                                </a:rPr>
                                <m:t>𝐺</m:t>
                              </m:r>
                              <m:r>
                                <a:rPr lang="nl-BE" i="1">
                                  <a:latin typeface="Cambria Math" panose="02040503050406030204" pitchFamily="18" charset="0"/>
                                </a:rPr>
                                <m:t>.</m:t>
                              </m:r>
                              <m:sSub>
                                <m:sSubPr>
                                  <m:ctrlPr>
                                    <a:rPr lang="nl-BE" i="1">
                                      <a:latin typeface="Cambria Math" panose="02040503050406030204" pitchFamily="18" charset="0"/>
                                    </a:rPr>
                                  </m:ctrlPr>
                                </m:sSubPr>
                                <m:e>
                                  <m:r>
                                    <a:rPr lang="nl-BE" i="1">
                                      <a:latin typeface="Cambria Math" panose="02040503050406030204" pitchFamily="18" charset="0"/>
                                    </a:rPr>
                                    <m:t>𝑚</m:t>
                                  </m:r>
                                </m:e>
                                <m:sub>
                                  <m:r>
                                    <a:rPr lang="nl-BE" i="1">
                                      <a:latin typeface="Cambria Math" panose="02040503050406030204" pitchFamily="18" charset="0"/>
                                    </a:rPr>
                                    <m:t>𝑎𝑎𝑟𝑑𝑒</m:t>
                                  </m:r>
                                </m:sub>
                              </m:sSub>
                            </m:num>
                            <m:den>
                              <m:r>
                                <a:rPr lang="nl-BE" i="1">
                                  <a:latin typeface="Cambria Math" panose="02040503050406030204" pitchFamily="18" charset="0"/>
                                </a:rPr>
                                <m:t>𝑟</m:t>
                              </m:r>
                            </m:den>
                          </m:f>
                          <m:r>
                            <a:rPr lang="nl-BE" i="1">
                              <a:latin typeface="Cambria Math" panose="02040503050406030204" pitchFamily="18" charset="0"/>
                            </a:rPr>
                            <m:t> </m:t>
                          </m:r>
                        </m:e>
                      </m:rad>
                      <m:r>
                        <a:rPr lang="nl-BE" i="1">
                          <a:latin typeface="Cambria Math" panose="02040503050406030204" pitchFamily="18" charset="0"/>
                        </a:rPr>
                        <m:t>     </m:t>
                      </m:r>
                    </m:oMath>
                  </m:oMathPara>
                </a14:m>
                <a:endParaRPr lang="nl-BE" dirty="0"/>
              </a:p>
              <a:p>
                <a:pPr algn="ctr"/>
                <a14:m>
                  <m:oMathPara xmlns:m="http://schemas.openxmlformats.org/officeDocument/2006/math">
                    <m:oMathParaPr>
                      <m:jc m:val="centerGroup"/>
                    </m:oMathParaPr>
                    <m:oMath xmlns:m="http://schemas.openxmlformats.org/officeDocument/2006/math">
                      <m:r>
                        <a:rPr lang="nl-BE" i="1">
                          <a:latin typeface="Cambria Math" panose="02040503050406030204" pitchFamily="18" charset="0"/>
                        </a:rPr>
                        <m:t>𝑣</m:t>
                      </m:r>
                      <m:r>
                        <a:rPr lang="nl-BE" i="1">
                          <a:latin typeface="Cambria Math" panose="02040503050406030204" pitchFamily="18" charset="0"/>
                        </a:rPr>
                        <m:t>=</m:t>
                      </m:r>
                      <m:rad>
                        <m:radPr>
                          <m:degHide m:val="on"/>
                          <m:ctrlPr>
                            <a:rPr lang="nl-BE" i="1">
                              <a:latin typeface="Cambria Math" panose="02040503050406030204" pitchFamily="18" charset="0"/>
                            </a:rPr>
                          </m:ctrlPr>
                        </m:radPr>
                        <m:deg/>
                        <m:e>
                          <m:f>
                            <m:fPr>
                              <m:ctrlPr>
                                <a:rPr lang="nl-BE" i="1">
                                  <a:latin typeface="Cambria Math" panose="02040503050406030204" pitchFamily="18" charset="0"/>
                                </a:rPr>
                              </m:ctrlPr>
                            </m:fPr>
                            <m:num>
                              <m:r>
                                <a:rPr lang="nl-BE" i="1">
                                  <a:latin typeface="Cambria Math" panose="02040503050406030204" pitchFamily="18" charset="0"/>
                                </a:rPr>
                                <m:t>6,672.</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−11</m:t>
                                  </m:r>
                                </m:sup>
                              </m:sSup>
                              <m:r>
                                <a:rPr lang="nl-BE" i="1">
                                  <a:latin typeface="Cambria Math" panose="02040503050406030204" pitchFamily="18" charset="0"/>
                                </a:rPr>
                                <m:t>.5,974.</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24</m:t>
                                  </m:r>
                                </m:sup>
                              </m:sSup>
                            </m:num>
                            <m:den>
                              <m:r>
                                <m:rPr>
                                  <m:nor/>
                                </m:rPr>
                                <a:rPr lang="nl-BE" dirty="0"/>
                                <m:t>23 </m:t>
                              </m:r>
                              <m:r>
                                <a:rPr lang="nl-BE" i="1" dirty="0">
                                  <a:latin typeface="Cambria Math" panose="02040503050406030204" pitchFamily="18" charset="0"/>
                                </a:rPr>
                                <m:t>222.</m:t>
                              </m:r>
                              <m:sSup>
                                <m:sSupPr>
                                  <m:ctrlPr>
                                    <a:rPr lang="nl-BE" i="1" dirty="0">
                                      <a:latin typeface="Cambria Math" panose="02040503050406030204" pitchFamily="18" charset="0"/>
                                    </a:rPr>
                                  </m:ctrlPr>
                                </m:sSupPr>
                                <m:e>
                                  <m:r>
                                    <a:rPr lang="nl-BE" i="1" dirty="0">
                                      <a:latin typeface="Cambria Math" panose="02040503050406030204" pitchFamily="18" charset="0"/>
                                    </a:rPr>
                                    <m:t>10</m:t>
                                  </m:r>
                                </m:e>
                                <m:sup>
                                  <m:r>
                                    <a:rPr lang="nl-BE" i="1" dirty="0">
                                      <a:latin typeface="Cambria Math" panose="02040503050406030204" pitchFamily="18" charset="0"/>
                                    </a:rPr>
                                    <m:t>3</m:t>
                                  </m:r>
                                </m:sup>
                              </m:sSup>
                              <m:r>
                                <a:rPr lang="nl-BE" i="1" dirty="0">
                                  <a:latin typeface="Cambria Math" panose="02040503050406030204" pitchFamily="18" charset="0"/>
                                </a:rPr>
                                <m:t>+6370.</m:t>
                              </m:r>
                              <m:sSup>
                                <m:sSupPr>
                                  <m:ctrlPr>
                                    <a:rPr lang="nl-BE" i="1" dirty="0">
                                      <a:latin typeface="Cambria Math" panose="02040503050406030204" pitchFamily="18" charset="0"/>
                                    </a:rPr>
                                  </m:ctrlPr>
                                </m:sSupPr>
                                <m:e>
                                  <m:r>
                                    <a:rPr lang="nl-BE" i="1" dirty="0">
                                      <a:latin typeface="Cambria Math" panose="02040503050406030204" pitchFamily="18" charset="0"/>
                                    </a:rPr>
                                    <m:t>10</m:t>
                                  </m:r>
                                </m:e>
                                <m:sup>
                                  <m:r>
                                    <a:rPr lang="nl-BE" i="1" dirty="0">
                                      <a:latin typeface="Cambria Math" panose="02040503050406030204" pitchFamily="18" charset="0"/>
                                    </a:rPr>
                                    <m:t>3</m:t>
                                  </m:r>
                                </m:sup>
                              </m:sSup>
                            </m:den>
                          </m:f>
                          <m:r>
                            <a:rPr lang="nl-BE" i="1">
                              <a:latin typeface="Cambria Math" panose="02040503050406030204" pitchFamily="18" charset="0"/>
                            </a:rPr>
                            <m:t> </m:t>
                          </m:r>
                        </m:e>
                      </m:rad>
                      <m:r>
                        <a:rPr lang="nl-BE" i="1">
                          <a:latin typeface="Cambria Math" panose="02040503050406030204" pitchFamily="18" charset="0"/>
                        </a:rPr>
                        <m:t>     </m:t>
                      </m:r>
                    </m:oMath>
                  </m:oMathPara>
                </a14:m>
                <a:endParaRPr lang="nl-BE" dirty="0"/>
              </a:p>
              <a:p>
                <a:pPr algn="ctr"/>
                <a14:m>
                  <m:oMathPara xmlns:m="http://schemas.openxmlformats.org/officeDocument/2006/math">
                    <m:oMathParaPr>
                      <m:jc m:val="centerGroup"/>
                    </m:oMathParaPr>
                    <m:oMath xmlns:m="http://schemas.openxmlformats.org/officeDocument/2006/math">
                      <m:r>
                        <a:rPr lang="nl-BE" i="1">
                          <a:latin typeface="Cambria Math" panose="02040503050406030204" pitchFamily="18" charset="0"/>
                        </a:rPr>
                        <m:t>𝑣</m:t>
                      </m:r>
                      <m:r>
                        <a:rPr lang="nl-BE" i="1">
                          <a:latin typeface="Cambria Math" panose="02040503050406030204" pitchFamily="18" charset="0"/>
                        </a:rPr>
                        <m:t>=3670 </m:t>
                      </m:r>
                      <m:r>
                        <a:rPr lang="nl-BE" i="1">
                          <a:latin typeface="Cambria Math" panose="02040503050406030204" pitchFamily="18" charset="0"/>
                        </a:rPr>
                        <m:t>𝑚</m:t>
                      </m:r>
                      <m:r>
                        <a:rPr lang="nl-BE" i="1">
                          <a:latin typeface="Cambria Math" panose="02040503050406030204" pitchFamily="18" charset="0"/>
                        </a:rPr>
                        <m:t>/</m:t>
                      </m:r>
                      <m:r>
                        <a:rPr lang="nl-BE" i="1">
                          <a:latin typeface="Cambria Math" panose="02040503050406030204" pitchFamily="18" charset="0"/>
                        </a:rPr>
                        <m:t>𝑠</m:t>
                      </m:r>
                    </m:oMath>
                  </m:oMathPara>
                </a14:m>
                <a:endParaRPr lang="nl-BE" dirty="0"/>
              </a:p>
              <a:p>
                <a:pPr algn="ctr"/>
                <a14:m>
                  <m:oMathPara xmlns:m="http://schemas.openxmlformats.org/officeDocument/2006/math">
                    <m:oMathParaPr>
                      <m:jc m:val="centerGroup"/>
                    </m:oMathParaPr>
                    <m:oMath xmlns:m="http://schemas.openxmlformats.org/officeDocument/2006/math">
                      <m:r>
                        <a:rPr lang="nl-BE" i="1">
                          <a:latin typeface="Cambria Math" panose="02040503050406030204" pitchFamily="18" charset="0"/>
                          <a:ea typeface="Cambria Math" panose="02040503050406030204" pitchFamily="18" charset="0"/>
                        </a:rPr>
                        <m:t>𝜔</m:t>
                      </m:r>
                      <m:r>
                        <a:rPr lang="nl-BE" i="1">
                          <a:latin typeface="Cambria Math" panose="02040503050406030204" pitchFamily="18" charset="0"/>
                          <a:ea typeface="Cambria Math" panose="02040503050406030204" pitchFamily="18" charset="0"/>
                        </a:rPr>
                        <m:t>=</m:t>
                      </m:r>
                      <m:f>
                        <m:fPr>
                          <m:ctrlPr>
                            <a:rPr lang="nl-BE" i="1">
                              <a:latin typeface="Cambria Math" panose="02040503050406030204" pitchFamily="18" charset="0"/>
                              <a:ea typeface="Cambria Math" panose="02040503050406030204" pitchFamily="18" charset="0"/>
                            </a:rPr>
                          </m:ctrlPr>
                        </m:fPr>
                        <m:num>
                          <m:r>
                            <a:rPr lang="nl-BE" i="1">
                              <a:latin typeface="Cambria Math" panose="02040503050406030204" pitchFamily="18" charset="0"/>
                              <a:ea typeface="Cambria Math" panose="02040503050406030204" pitchFamily="18" charset="0"/>
                            </a:rPr>
                            <m:t>𝑣</m:t>
                          </m:r>
                        </m:num>
                        <m:den>
                          <m:r>
                            <a:rPr lang="nl-BE" i="1">
                              <a:latin typeface="Cambria Math" panose="02040503050406030204" pitchFamily="18" charset="0"/>
                              <a:ea typeface="Cambria Math" panose="02040503050406030204" pitchFamily="18" charset="0"/>
                            </a:rPr>
                            <m:t>𝑟</m:t>
                          </m:r>
                        </m:den>
                      </m:f>
                      <m:r>
                        <a:rPr lang="nl-BE" i="1">
                          <a:latin typeface="Cambria Math" panose="02040503050406030204" pitchFamily="18" charset="0"/>
                          <a:ea typeface="Cambria Math" panose="02040503050406030204" pitchFamily="18" charset="0"/>
                        </a:rPr>
                        <m:t>=</m:t>
                      </m:r>
                      <m:f>
                        <m:fPr>
                          <m:ctrlPr>
                            <a:rPr lang="nl-BE" i="1">
                              <a:latin typeface="Cambria Math" panose="02040503050406030204" pitchFamily="18" charset="0"/>
                              <a:ea typeface="Cambria Math" panose="02040503050406030204" pitchFamily="18" charset="0"/>
                            </a:rPr>
                          </m:ctrlPr>
                        </m:fPr>
                        <m:num>
                          <m:r>
                            <a:rPr lang="nl-BE" i="1">
                              <a:latin typeface="Cambria Math" panose="02040503050406030204" pitchFamily="18" charset="0"/>
                            </a:rPr>
                            <m:t>3670</m:t>
                          </m:r>
                        </m:num>
                        <m:den>
                          <m:r>
                            <m:rPr>
                              <m:nor/>
                            </m:rPr>
                            <a:rPr lang="nl-BE" dirty="0"/>
                            <m:t>23 </m:t>
                          </m:r>
                          <m:r>
                            <a:rPr lang="nl-BE" i="1" dirty="0">
                              <a:latin typeface="Cambria Math" panose="02040503050406030204" pitchFamily="18" charset="0"/>
                            </a:rPr>
                            <m:t>222.</m:t>
                          </m:r>
                          <m:sSup>
                            <m:sSupPr>
                              <m:ctrlPr>
                                <a:rPr lang="nl-BE" i="1" dirty="0">
                                  <a:latin typeface="Cambria Math" panose="02040503050406030204" pitchFamily="18" charset="0"/>
                                </a:rPr>
                              </m:ctrlPr>
                            </m:sSupPr>
                            <m:e>
                              <m:r>
                                <a:rPr lang="nl-BE" i="1" dirty="0">
                                  <a:latin typeface="Cambria Math" panose="02040503050406030204" pitchFamily="18" charset="0"/>
                                </a:rPr>
                                <m:t>10</m:t>
                              </m:r>
                            </m:e>
                            <m:sup>
                              <m:r>
                                <a:rPr lang="nl-BE" i="1" dirty="0">
                                  <a:latin typeface="Cambria Math" panose="02040503050406030204" pitchFamily="18" charset="0"/>
                                </a:rPr>
                                <m:t>3</m:t>
                              </m:r>
                            </m:sup>
                          </m:sSup>
                          <m:r>
                            <a:rPr lang="nl-BE" i="1" dirty="0">
                              <a:latin typeface="Cambria Math" panose="02040503050406030204" pitchFamily="18" charset="0"/>
                            </a:rPr>
                            <m:t>+6370.</m:t>
                          </m:r>
                          <m:sSup>
                            <m:sSupPr>
                              <m:ctrlPr>
                                <a:rPr lang="nl-BE" i="1" dirty="0">
                                  <a:latin typeface="Cambria Math" panose="02040503050406030204" pitchFamily="18" charset="0"/>
                                </a:rPr>
                              </m:ctrlPr>
                            </m:sSupPr>
                            <m:e>
                              <m:r>
                                <a:rPr lang="nl-BE" i="1" dirty="0">
                                  <a:latin typeface="Cambria Math" panose="02040503050406030204" pitchFamily="18" charset="0"/>
                                </a:rPr>
                                <m:t>10</m:t>
                              </m:r>
                            </m:e>
                            <m:sup>
                              <m:r>
                                <a:rPr lang="nl-BE" i="1" dirty="0">
                                  <a:latin typeface="Cambria Math" panose="02040503050406030204" pitchFamily="18" charset="0"/>
                                </a:rPr>
                                <m:t>3</m:t>
                              </m:r>
                            </m:sup>
                          </m:sSup>
                        </m:den>
                      </m:f>
                    </m:oMath>
                  </m:oMathPara>
                </a14:m>
                <a:endParaRPr lang="nl-BE" i="1" dirty="0">
                  <a:latin typeface="Cambria Math" panose="02040503050406030204" pitchFamily="18" charset="0"/>
                </a:endParaRPr>
              </a:p>
              <a:p>
                <a:pPr algn="ctr"/>
                <a:endParaRPr lang="nl-BE"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nl-BE" i="1">
                          <a:latin typeface="Cambria Math" panose="02040503050406030204" pitchFamily="18" charset="0"/>
                          <a:ea typeface="Cambria Math" panose="02040503050406030204" pitchFamily="18" charset="0"/>
                        </a:rPr>
                        <m:t>𝜔</m:t>
                      </m:r>
                      <m:r>
                        <a:rPr lang="nl-BE" i="1">
                          <a:latin typeface="Cambria Math" panose="02040503050406030204" pitchFamily="18" charset="0"/>
                          <a:ea typeface="Cambria Math" panose="02040503050406030204" pitchFamily="18" charset="0"/>
                        </a:rPr>
                        <m:t>=1,240.</m:t>
                      </m:r>
                      <m:sSup>
                        <m:sSupPr>
                          <m:ctrlPr>
                            <a:rPr lang="nl-BE" i="1">
                              <a:latin typeface="Cambria Math" panose="02040503050406030204" pitchFamily="18" charset="0"/>
                              <a:ea typeface="Cambria Math" panose="02040503050406030204" pitchFamily="18" charset="0"/>
                            </a:rPr>
                          </m:ctrlPr>
                        </m:sSupPr>
                        <m:e>
                          <m:r>
                            <a:rPr lang="nl-BE" i="1">
                              <a:latin typeface="Cambria Math" panose="02040503050406030204" pitchFamily="18" charset="0"/>
                              <a:ea typeface="Cambria Math" panose="02040503050406030204" pitchFamily="18" charset="0"/>
                            </a:rPr>
                            <m:t>10</m:t>
                          </m:r>
                        </m:e>
                        <m:sup>
                          <m:r>
                            <a:rPr lang="nl-BE" i="1">
                              <a:latin typeface="Cambria Math" panose="02040503050406030204" pitchFamily="18" charset="0"/>
                              <a:ea typeface="Cambria Math" panose="02040503050406030204" pitchFamily="18" charset="0"/>
                            </a:rPr>
                            <m:t>−4</m:t>
                          </m:r>
                        </m:sup>
                      </m:sSup>
                      <m:r>
                        <a:rPr lang="nl-BE" i="1">
                          <a:latin typeface="Cambria Math" panose="02040503050406030204" pitchFamily="18" charset="0"/>
                          <a:ea typeface="Cambria Math" panose="02040503050406030204" pitchFamily="18" charset="0"/>
                        </a:rPr>
                        <m:t>𝑟𝑎𝑑</m:t>
                      </m:r>
                      <m:r>
                        <a:rPr lang="nl-BE" i="1">
                          <a:latin typeface="Cambria Math" panose="02040503050406030204" pitchFamily="18" charset="0"/>
                          <a:ea typeface="Cambria Math" panose="02040503050406030204" pitchFamily="18" charset="0"/>
                        </a:rPr>
                        <m:t>/</m:t>
                      </m:r>
                      <m:r>
                        <a:rPr lang="nl-BE" i="1">
                          <a:latin typeface="Cambria Math" panose="02040503050406030204" pitchFamily="18" charset="0"/>
                          <a:ea typeface="Cambria Math" panose="02040503050406030204" pitchFamily="18" charset="0"/>
                        </a:rPr>
                        <m:t>𝑠</m:t>
                      </m:r>
                    </m:oMath>
                  </m:oMathPara>
                </a14:m>
                <a:endParaRPr lang="nl-BE"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nl-BE" i="1">
                          <a:latin typeface="Cambria Math" panose="02040503050406030204" pitchFamily="18" charset="0"/>
                        </a:rPr>
                        <m:t>𝑣</m:t>
                      </m:r>
                      <m:r>
                        <a:rPr lang="nl-BE" i="1">
                          <a:latin typeface="Cambria Math" panose="02040503050406030204" pitchFamily="18" charset="0"/>
                        </a:rPr>
                        <m:t>=</m:t>
                      </m:r>
                      <m:f>
                        <m:fPr>
                          <m:ctrlPr>
                            <a:rPr lang="nl-BE" i="1">
                              <a:latin typeface="Cambria Math" panose="02040503050406030204" pitchFamily="18" charset="0"/>
                            </a:rPr>
                          </m:ctrlPr>
                        </m:fPr>
                        <m:num>
                          <m:r>
                            <a:rPr lang="nl-BE" i="1">
                              <a:latin typeface="Cambria Math" panose="02040503050406030204" pitchFamily="18" charset="0"/>
                            </a:rPr>
                            <m:t>2.</m:t>
                          </m:r>
                          <m:r>
                            <a:rPr lang="nl-BE" i="1">
                              <a:latin typeface="Cambria Math" panose="02040503050406030204" pitchFamily="18" charset="0"/>
                            </a:rPr>
                            <m:t>𝜋</m:t>
                          </m:r>
                          <m:r>
                            <a:rPr lang="nl-BE" i="1">
                              <a:latin typeface="Cambria Math" panose="02040503050406030204" pitchFamily="18" charset="0"/>
                            </a:rPr>
                            <m:t>.</m:t>
                          </m:r>
                          <m:r>
                            <a:rPr lang="nl-BE" i="1">
                              <a:latin typeface="Cambria Math" panose="02040503050406030204" pitchFamily="18" charset="0"/>
                            </a:rPr>
                            <m:t>𝑟</m:t>
                          </m:r>
                        </m:num>
                        <m:den>
                          <m:r>
                            <a:rPr lang="nl-BE" i="1">
                              <a:latin typeface="Cambria Math" panose="02040503050406030204" pitchFamily="18" charset="0"/>
                            </a:rPr>
                            <m:t>𝑇</m:t>
                          </m:r>
                        </m:den>
                      </m:f>
                    </m:oMath>
                  </m:oMathPara>
                </a14:m>
                <a:endParaRPr lang="nl-BE"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nl-BE" i="1">
                          <a:latin typeface="Cambria Math" panose="02040503050406030204" pitchFamily="18" charset="0"/>
                        </a:rPr>
                        <m:t>𝑇</m:t>
                      </m:r>
                      <m:r>
                        <a:rPr lang="nl-BE" i="1">
                          <a:latin typeface="Cambria Math" panose="02040503050406030204" pitchFamily="18" charset="0"/>
                        </a:rPr>
                        <m:t>=</m:t>
                      </m:r>
                      <m:f>
                        <m:fPr>
                          <m:ctrlPr>
                            <a:rPr lang="nl-BE" i="1">
                              <a:latin typeface="Cambria Math" panose="02040503050406030204" pitchFamily="18" charset="0"/>
                            </a:rPr>
                          </m:ctrlPr>
                        </m:fPr>
                        <m:num>
                          <m:r>
                            <a:rPr lang="nl-BE" i="1">
                              <a:latin typeface="Cambria Math" panose="02040503050406030204" pitchFamily="18" charset="0"/>
                            </a:rPr>
                            <m:t>2.</m:t>
                          </m:r>
                          <m:r>
                            <a:rPr lang="nl-BE" i="1">
                              <a:latin typeface="Cambria Math" panose="02040503050406030204" pitchFamily="18" charset="0"/>
                            </a:rPr>
                            <m:t>𝜋</m:t>
                          </m:r>
                          <m:r>
                            <a:rPr lang="nl-BE" i="1">
                              <a:latin typeface="Cambria Math" panose="02040503050406030204" pitchFamily="18" charset="0"/>
                            </a:rPr>
                            <m:t>.</m:t>
                          </m:r>
                          <m:r>
                            <a:rPr lang="nl-BE" i="1">
                              <a:latin typeface="Cambria Math" panose="02040503050406030204" pitchFamily="18" charset="0"/>
                            </a:rPr>
                            <m:t>𝑟</m:t>
                          </m:r>
                        </m:num>
                        <m:den>
                          <m:r>
                            <a:rPr lang="nl-BE" i="1">
                              <a:latin typeface="Cambria Math" panose="02040503050406030204" pitchFamily="18" charset="0"/>
                            </a:rPr>
                            <m:t>𝑣</m:t>
                          </m:r>
                        </m:den>
                      </m:f>
                    </m:oMath>
                  </m:oMathPara>
                </a14:m>
                <a:endParaRPr lang="nl-BE" dirty="0"/>
              </a:p>
              <a:p>
                <a:pPr algn="ctr"/>
                <a14:m>
                  <m:oMathPara xmlns:m="http://schemas.openxmlformats.org/officeDocument/2006/math">
                    <m:oMathParaPr>
                      <m:jc m:val="centerGroup"/>
                    </m:oMathParaPr>
                    <m:oMath xmlns:m="http://schemas.openxmlformats.org/officeDocument/2006/math">
                      <m:r>
                        <a:rPr lang="nl-BE" i="1">
                          <a:latin typeface="Cambria Math" panose="02040503050406030204" pitchFamily="18" charset="0"/>
                        </a:rPr>
                        <m:t>𝑇</m:t>
                      </m:r>
                      <m:r>
                        <a:rPr lang="nl-BE" i="1">
                          <a:latin typeface="Cambria Math" panose="02040503050406030204" pitchFamily="18" charset="0"/>
                        </a:rPr>
                        <m:t>=</m:t>
                      </m:r>
                      <m:f>
                        <m:fPr>
                          <m:ctrlPr>
                            <a:rPr lang="nl-BE" i="1">
                              <a:latin typeface="Cambria Math" panose="02040503050406030204" pitchFamily="18" charset="0"/>
                            </a:rPr>
                          </m:ctrlPr>
                        </m:fPr>
                        <m:num>
                          <m:r>
                            <a:rPr lang="nl-BE" i="1">
                              <a:latin typeface="Cambria Math" panose="02040503050406030204" pitchFamily="18" charset="0"/>
                            </a:rPr>
                            <m:t>2.</m:t>
                          </m:r>
                          <m:r>
                            <a:rPr lang="nl-BE" i="1">
                              <a:latin typeface="Cambria Math" panose="02040503050406030204" pitchFamily="18" charset="0"/>
                            </a:rPr>
                            <m:t>𝜋</m:t>
                          </m:r>
                          <m:r>
                            <a:rPr lang="nl-BE" i="1">
                              <a:latin typeface="Cambria Math" panose="02040503050406030204" pitchFamily="18" charset="0"/>
                            </a:rPr>
                            <m:t>.(</m:t>
                          </m:r>
                          <m:r>
                            <m:rPr>
                              <m:nor/>
                            </m:rPr>
                            <a:rPr lang="nl-BE" dirty="0"/>
                            <m:t>23 </m:t>
                          </m:r>
                          <m:r>
                            <a:rPr lang="nl-BE" i="1" dirty="0">
                              <a:latin typeface="Cambria Math" panose="02040503050406030204" pitchFamily="18" charset="0"/>
                            </a:rPr>
                            <m:t>222.</m:t>
                          </m:r>
                          <m:sSup>
                            <m:sSupPr>
                              <m:ctrlPr>
                                <a:rPr lang="nl-BE" i="1" dirty="0">
                                  <a:latin typeface="Cambria Math" panose="02040503050406030204" pitchFamily="18" charset="0"/>
                                </a:rPr>
                              </m:ctrlPr>
                            </m:sSupPr>
                            <m:e>
                              <m:r>
                                <a:rPr lang="nl-BE" i="1" dirty="0">
                                  <a:latin typeface="Cambria Math" panose="02040503050406030204" pitchFamily="18" charset="0"/>
                                </a:rPr>
                                <m:t>10</m:t>
                              </m:r>
                            </m:e>
                            <m:sup>
                              <m:r>
                                <a:rPr lang="nl-BE" i="1" dirty="0">
                                  <a:latin typeface="Cambria Math" panose="02040503050406030204" pitchFamily="18" charset="0"/>
                                </a:rPr>
                                <m:t>3</m:t>
                              </m:r>
                            </m:sup>
                          </m:sSup>
                          <m:r>
                            <a:rPr lang="nl-BE" i="1" dirty="0">
                              <a:latin typeface="Cambria Math" panose="02040503050406030204" pitchFamily="18" charset="0"/>
                            </a:rPr>
                            <m:t>+6370.</m:t>
                          </m:r>
                          <m:sSup>
                            <m:sSupPr>
                              <m:ctrlPr>
                                <a:rPr lang="nl-BE" i="1" dirty="0">
                                  <a:latin typeface="Cambria Math" panose="02040503050406030204" pitchFamily="18" charset="0"/>
                                </a:rPr>
                              </m:ctrlPr>
                            </m:sSupPr>
                            <m:e>
                              <m:r>
                                <a:rPr lang="nl-BE" i="1" dirty="0">
                                  <a:latin typeface="Cambria Math" panose="02040503050406030204" pitchFamily="18" charset="0"/>
                                </a:rPr>
                                <m:t>10</m:t>
                              </m:r>
                            </m:e>
                            <m:sup>
                              <m:r>
                                <a:rPr lang="nl-BE" i="1" dirty="0">
                                  <a:latin typeface="Cambria Math" panose="02040503050406030204" pitchFamily="18" charset="0"/>
                                </a:rPr>
                                <m:t>3</m:t>
                              </m:r>
                            </m:sup>
                          </m:sSup>
                          <m:r>
                            <a:rPr lang="nl-BE" i="1" dirty="0">
                              <a:latin typeface="Cambria Math" panose="02040503050406030204" pitchFamily="18" charset="0"/>
                            </a:rPr>
                            <m:t>)</m:t>
                          </m:r>
                        </m:num>
                        <m:den>
                          <m:r>
                            <a:rPr lang="nl-BE" i="1" dirty="0">
                              <a:latin typeface="Cambria Math" panose="02040503050406030204" pitchFamily="18" charset="0"/>
                            </a:rPr>
                            <m:t>3670</m:t>
                          </m:r>
                        </m:den>
                      </m:f>
                      <m:r>
                        <a:rPr lang="nl-BE" i="1">
                          <a:latin typeface="Cambria Math" panose="02040503050406030204" pitchFamily="18" charset="0"/>
                        </a:rPr>
                        <m:t>=5,066.</m:t>
                      </m:r>
                      <m:sSup>
                        <m:sSupPr>
                          <m:ctrlPr>
                            <a:rPr lang="nl-BE" i="1">
                              <a:latin typeface="Cambria Math" panose="02040503050406030204" pitchFamily="18" charset="0"/>
                            </a:rPr>
                          </m:ctrlPr>
                        </m:sSupPr>
                        <m:e>
                          <m:r>
                            <a:rPr lang="nl-BE" i="1">
                              <a:latin typeface="Cambria Math" panose="02040503050406030204" pitchFamily="18" charset="0"/>
                            </a:rPr>
                            <m:t>10</m:t>
                          </m:r>
                        </m:e>
                        <m:sup>
                          <m:r>
                            <a:rPr lang="nl-BE" i="1">
                              <a:latin typeface="Cambria Math" panose="02040503050406030204" pitchFamily="18" charset="0"/>
                            </a:rPr>
                            <m:t>4</m:t>
                          </m:r>
                        </m:sup>
                      </m:sSup>
                      <m:r>
                        <a:rPr lang="nl-BE" i="1">
                          <a:latin typeface="Cambria Math" panose="02040503050406030204" pitchFamily="18" charset="0"/>
                        </a:rPr>
                        <m:t>𝑠</m:t>
                      </m:r>
                      <m:r>
                        <a:rPr lang="nl-BE" i="1">
                          <a:latin typeface="Cambria Math" panose="02040503050406030204" pitchFamily="18" charset="0"/>
                        </a:rPr>
                        <m:t> (≈14</m:t>
                      </m:r>
                      <m:r>
                        <a:rPr lang="nl-BE" i="1">
                          <a:latin typeface="Cambria Math" panose="02040503050406030204" pitchFamily="18" charset="0"/>
                        </a:rPr>
                        <m:t>h</m:t>
                      </m:r>
                      <m:r>
                        <a:rPr lang="nl-BE" i="1">
                          <a:latin typeface="Cambria Math" panose="02040503050406030204" pitchFamily="18" charset="0"/>
                        </a:rPr>
                        <m:t>)</m:t>
                      </m:r>
                    </m:oMath>
                  </m:oMathPara>
                </a14:m>
                <a:endParaRPr lang="nl-BE" dirty="0"/>
              </a:p>
            </p:txBody>
          </p:sp>
        </mc:Choice>
        <mc:Fallback xmlns="">
          <p:sp>
            <p:nvSpPr>
              <p:cNvPr id="4" name="Rechthoek 3"/>
              <p:cNvSpPr>
                <a:spLocks noRot="1" noChangeAspect="1" noMove="1" noResize="1" noEditPoints="1" noAdjustHandles="1" noChangeArrowheads="1" noChangeShapeType="1" noTextEdit="1"/>
              </p:cNvSpPr>
              <p:nvPr/>
            </p:nvSpPr>
            <p:spPr>
              <a:xfrm>
                <a:off x="6348536" y="692697"/>
                <a:ext cx="4572000" cy="5880841"/>
              </a:xfrm>
              <a:prstGeom prst="rect">
                <a:avLst/>
              </a:prstGeom>
              <a:blipFill>
                <a:blip r:embed="rId2"/>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29611451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Toetsdoelen</a:t>
            </a:r>
          </a:p>
        </p:txBody>
      </p:sp>
      <p:sp>
        <p:nvSpPr>
          <p:cNvPr id="3" name="Content Placeholder 2"/>
          <p:cNvSpPr>
            <a:spLocks noGrp="1"/>
          </p:cNvSpPr>
          <p:nvPr>
            <p:ph idx="1"/>
          </p:nvPr>
        </p:nvSpPr>
        <p:spPr>
          <a:xfrm>
            <a:off x="479376" y="1825625"/>
            <a:ext cx="10874424" cy="4351338"/>
          </a:xfrm>
        </p:spPr>
        <p:txBody>
          <a:bodyPr>
            <a:normAutofit/>
          </a:bodyPr>
          <a:lstStyle/>
          <a:p>
            <a:pPr marL="0" lvl="0" indent="0">
              <a:buNone/>
            </a:pPr>
            <a:r>
              <a:rPr b="1" dirty="0"/>
              <a:t>Hoe </a:t>
            </a:r>
            <a:r>
              <a:rPr b="1" dirty="0" err="1"/>
              <a:t>gebruik</a:t>
            </a:r>
            <a:r>
              <a:rPr b="1" dirty="0"/>
              <a:t> je de checklist op de </a:t>
            </a:r>
            <a:r>
              <a:rPr b="1" dirty="0" err="1"/>
              <a:t>volgende</a:t>
            </a:r>
            <a:r>
              <a:rPr b="1" dirty="0"/>
              <a:t> slide?</a:t>
            </a:r>
            <a:br>
              <a:rPr dirty="0"/>
            </a:br>
            <a:r>
              <a:rPr dirty="0"/>
              <a:t>- </a:t>
            </a:r>
            <a:r>
              <a:rPr b="1" dirty="0" err="1"/>
              <a:t>Tijdens</a:t>
            </a:r>
            <a:r>
              <a:rPr b="1" dirty="0"/>
              <a:t> </a:t>
            </a:r>
            <a:r>
              <a:rPr b="1" dirty="0" err="1"/>
              <a:t>studeren</a:t>
            </a:r>
            <a:r>
              <a:rPr b="1" dirty="0"/>
              <a:t>:</a:t>
            </a:r>
            <a:r>
              <a:rPr dirty="0"/>
              <a:t> </a:t>
            </a:r>
            <a:r>
              <a:rPr dirty="0" err="1"/>
              <a:t>vink</a:t>
            </a:r>
            <a:r>
              <a:rPr dirty="0"/>
              <a:t> </a:t>
            </a:r>
            <a:r>
              <a:rPr dirty="0" err="1"/>
              <a:t>af</a:t>
            </a:r>
            <a:r>
              <a:rPr dirty="0"/>
              <a:t> </a:t>
            </a:r>
            <a:r>
              <a:rPr dirty="0" err="1"/>
              <a:t>wanneer</a:t>
            </a:r>
            <a:r>
              <a:rPr dirty="0"/>
              <a:t> je </a:t>
            </a:r>
            <a:r>
              <a:rPr dirty="0" err="1"/>
              <a:t>een</a:t>
            </a:r>
            <a:r>
              <a:rPr dirty="0"/>
              <a:t> </a:t>
            </a:r>
            <a:r>
              <a:rPr dirty="0" err="1"/>
              <a:t>doel</a:t>
            </a:r>
            <a:r>
              <a:rPr dirty="0"/>
              <a:t> </a:t>
            </a:r>
            <a:r>
              <a:rPr dirty="0" err="1"/>
              <a:t>zelfstandig</a:t>
            </a:r>
            <a:r>
              <a:rPr dirty="0"/>
              <a:t> </a:t>
            </a:r>
            <a:r>
              <a:rPr dirty="0" err="1"/>
              <a:t>kan</a:t>
            </a:r>
            <a:r>
              <a:rPr dirty="0"/>
              <a:t> </a:t>
            </a:r>
            <a:r>
              <a:rPr dirty="0" err="1"/>
              <a:t>uitleggen</a:t>
            </a:r>
            <a:r>
              <a:rPr dirty="0"/>
              <a:t> of </a:t>
            </a:r>
            <a:r>
              <a:rPr dirty="0" err="1"/>
              <a:t>toepassen</a:t>
            </a:r>
            <a:r>
              <a:rPr dirty="0"/>
              <a:t>.</a:t>
            </a:r>
            <a:br>
              <a:rPr dirty="0"/>
            </a:br>
            <a:r>
              <a:rPr dirty="0"/>
              <a:t>- </a:t>
            </a:r>
            <a:r>
              <a:rPr b="1" dirty="0"/>
              <a:t>Na de </a:t>
            </a:r>
            <a:r>
              <a:rPr b="1" dirty="0" err="1"/>
              <a:t>toets</a:t>
            </a:r>
            <a:r>
              <a:rPr b="1" dirty="0"/>
              <a:t>:</a:t>
            </a:r>
            <a:r>
              <a:rPr dirty="0"/>
              <a:t> </a:t>
            </a:r>
            <a:r>
              <a:rPr dirty="0" err="1"/>
              <a:t>markeer</a:t>
            </a:r>
            <a:r>
              <a:rPr dirty="0"/>
              <a:t> wat al </a:t>
            </a:r>
            <a:r>
              <a:rPr dirty="0" err="1"/>
              <a:t>vlot</a:t>
            </a:r>
            <a:r>
              <a:rPr dirty="0"/>
              <a:t> </a:t>
            </a:r>
            <a:r>
              <a:rPr dirty="0" err="1"/>
              <a:t>lukt</a:t>
            </a:r>
            <a:r>
              <a:rPr dirty="0"/>
              <a:t> </a:t>
            </a:r>
            <a:r>
              <a:rPr dirty="0" err="1"/>
              <a:t>en</a:t>
            </a:r>
            <a:r>
              <a:rPr dirty="0"/>
              <a:t> wat </a:t>
            </a:r>
            <a:r>
              <a:rPr dirty="0" err="1"/>
              <a:t>herhaling</a:t>
            </a:r>
            <a:r>
              <a:rPr dirty="0"/>
              <a:t> </a:t>
            </a:r>
            <a:r>
              <a:rPr dirty="0" err="1"/>
              <a:t>vraagt</a:t>
            </a:r>
            <a:r>
              <a:rPr dirty="0"/>
              <a:t>.</a:t>
            </a:r>
            <a:br>
              <a:rPr dirty="0"/>
            </a:br>
            <a:r>
              <a:rPr dirty="0"/>
              <a:t>- </a:t>
            </a:r>
            <a:r>
              <a:rPr b="1" dirty="0"/>
              <a:t>Voor examen:</a:t>
            </a:r>
            <a:r>
              <a:rPr dirty="0"/>
              <a:t> </a:t>
            </a:r>
            <a:r>
              <a:rPr dirty="0" err="1"/>
              <a:t>vink</a:t>
            </a:r>
            <a:r>
              <a:rPr dirty="0"/>
              <a:t> </a:t>
            </a:r>
            <a:r>
              <a:rPr dirty="0" err="1"/>
              <a:t>enkel</a:t>
            </a:r>
            <a:r>
              <a:rPr dirty="0"/>
              <a:t> </a:t>
            </a:r>
            <a:r>
              <a:rPr dirty="0" err="1"/>
              <a:t>aan</a:t>
            </a:r>
            <a:r>
              <a:rPr dirty="0"/>
              <a:t> </a:t>
            </a:r>
            <a:r>
              <a:rPr dirty="0" err="1"/>
              <a:t>wanneer</a:t>
            </a:r>
            <a:r>
              <a:rPr dirty="0"/>
              <a:t> je </a:t>
            </a:r>
            <a:r>
              <a:rPr dirty="0" err="1"/>
              <a:t>een</a:t>
            </a:r>
            <a:r>
              <a:rPr dirty="0"/>
              <a:t> </a:t>
            </a:r>
            <a:r>
              <a:rPr dirty="0" err="1"/>
              <a:t>examenvraag</a:t>
            </a:r>
            <a:r>
              <a:rPr dirty="0"/>
              <a:t> over </a:t>
            </a:r>
            <a:r>
              <a:rPr dirty="0" err="1"/>
              <a:t>dit</a:t>
            </a:r>
            <a:r>
              <a:rPr dirty="0"/>
              <a:t> </a:t>
            </a:r>
            <a:r>
              <a:rPr dirty="0" err="1"/>
              <a:t>doel</a:t>
            </a:r>
            <a:r>
              <a:rPr dirty="0"/>
              <a:t> </a:t>
            </a:r>
            <a:r>
              <a:rPr dirty="0" err="1"/>
              <a:t>foutloos</a:t>
            </a:r>
            <a:r>
              <a:rPr dirty="0"/>
              <a:t> </a:t>
            </a:r>
            <a:r>
              <a:rPr dirty="0" err="1"/>
              <a:t>kunt</a:t>
            </a:r>
            <a:r>
              <a:rPr dirty="0"/>
              <a:t> </a:t>
            </a:r>
            <a:r>
              <a:rPr dirty="0" err="1"/>
              <a:t>oplossen</a:t>
            </a:r>
            <a:r>
              <a:rPr dirty="0"/>
              <a:t> </a:t>
            </a:r>
            <a:r>
              <a:rPr dirty="0" err="1"/>
              <a:t>zonder</a:t>
            </a:r>
            <a:r>
              <a:rPr dirty="0"/>
              <a:t> </a:t>
            </a:r>
            <a:r>
              <a:rPr dirty="0" err="1"/>
              <a:t>hulp</a:t>
            </a:r>
            <a:r>
              <a:rPr dirty="0"/>
              <a:t>.</a:t>
            </a:r>
          </a:p>
        </p:txBody>
      </p:sp>
    </p:spTree>
    <p:extLst>
      <p:ext uri="{BB962C8B-B14F-4D97-AF65-F5344CB8AC3E}">
        <p14:creationId xmlns:p14="http://schemas.microsoft.com/office/powerpoint/2010/main" val="76179248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2827"/>
            <a:ext cx="10515600" cy="1325563"/>
          </a:xfrm>
        </p:spPr>
        <p:txBody>
          <a:bodyPr/>
          <a:lstStyle/>
          <a:p>
            <a:pPr marL="0" lvl="0" indent="0">
              <a:buNone/>
            </a:pPr>
            <a:r>
              <a:rPr dirty="0" err="1"/>
              <a:t>Toetsdoelen</a:t>
            </a:r>
            <a:r>
              <a:rPr dirty="0"/>
              <a:t> — Checklist</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8865004"/>
              </p:ext>
            </p:extLst>
          </p:nvPr>
        </p:nvGraphicFramePr>
        <p:xfrm>
          <a:off x="155340" y="1124744"/>
          <a:ext cx="11881320" cy="3566160"/>
        </p:xfrm>
        <a:graphic>
          <a:graphicData uri="http://schemas.openxmlformats.org/drawingml/2006/table">
            <a:tbl>
              <a:tblPr firstRow="1" bandRow="1">
                <a:tableStyleId>{5C22544A-7EE6-4342-B048-85BDC9FD1C3A}</a:tableStyleId>
              </a:tblPr>
              <a:tblGrid>
                <a:gridCol w="9001000">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tblGrid>
              <a:tr h="0">
                <a:tc>
                  <a:txBody>
                    <a:bodyPr/>
                    <a:lstStyle/>
                    <a:p>
                      <a:pPr marL="0" lvl="0" indent="0">
                        <a:buNone/>
                      </a:pPr>
                      <a:r>
                        <a:t>Ik kan …</a:t>
                      </a:r>
                    </a:p>
                  </a:txBody>
                  <a:tcPr/>
                </a:tc>
                <a:tc>
                  <a:txBody>
                    <a:bodyPr/>
                    <a:lstStyle/>
                    <a:p>
                      <a:pPr marL="0" lvl="0" indent="0" algn="r">
                        <a:buNone/>
                      </a:pPr>
                      <a:r>
                        <a:t>Tijdens studeren</a:t>
                      </a:r>
                    </a:p>
                  </a:txBody>
                  <a:tcPr/>
                </a:tc>
                <a:tc>
                  <a:txBody>
                    <a:bodyPr/>
                    <a:lstStyle/>
                    <a:p>
                      <a:pPr marL="0" lvl="0" indent="0" algn="r">
                        <a:buNone/>
                      </a:pPr>
                      <a:r>
                        <a:t>Na de toets</a:t>
                      </a:r>
                    </a:p>
                  </a:txBody>
                  <a:tcPr/>
                </a:tc>
                <a:tc>
                  <a:txBody>
                    <a:bodyPr/>
                    <a:lstStyle/>
                    <a:p>
                      <a:pPr marL="0" lvl="0" indent="0" algn="r">
                        <a:buNone/>
                      </a:pPr>
                      <a:r>
                        <a:t>Voor examen</a:t>
                      </a:r>
                    </a:p>
                  </a:txBody>
                  <a:tcPr/>
                </a:tc>
                <a:extLst>
                  <a:ext uri="{0D108BD9-81ED-4DB2-BD59-A6C34878D82A}">
                    <a16:rowId xmlns:a16="http://schemas.microsoft.com/office/drawing/2014/main" val="10000"/>
                  </a:ext>
                </a:extLst>
              </a:tr>
              <a:tr h="0">
                <a:tc>
                  <a:txBody>
                    <a:bodyPr/>
                    <a:lstStyle/>
                    <a:p>
                      <a:pPr marL="0" lvl="0" indent="0">
                        <a:buNone/>
                      </a:pPr>
                      <a:r>
                        <a:t>… periodieke bewegingen onderscheiden en ECB herkennen.</a:t>
                      </a:r>
                    </a:p>
                  </a:txBody>
                  <a:tcPr/>
                </a:tc>
                <a:tc>
                  <a:txBody>
                    <a:bodyPr/>
                    <a:lstStyle/>
                    <a:p>
                      <a:pPr marL="0" lvl="0" indent="0" algn="r">
                        <a:buNone/>
                      </a:pPr>
                      <a:r>
                        <a:t>☐</a:t>
                      </a:r>
                    </a:p>
                  </a:txBody>
                  <a:tcPr/>
                </a:tc>
                <a:tc>
                  <a:txBody>
                    <a:bodyPr/>
                    <a:lstStyle/>
                    <a:p>
                      <a:pPr marL="0" lvl="0" indent="0" algn="r">
                        <a:buNone/>
                      </a:pPr>
                      <a:r>
                        <a:t>☐</a:t>
                      </a:r>
                    </a:p>
                  </a:txBody>
                  <a:tcPr/>
                </a:tc>
                <a:tc>
                  <a:txBody>
                    <a:bodyPr/>
                    <a:lstStyle/>
                    <a:p>
                      <a:pPr marL="0" lvl="0" indent="0" algn="r">
                        <a:buNone/>
                      </a:pPr>
                      <a:r>
                        <a:t>☐</a:t>
                      </a:r>
                    </a:p>
                  </a:txBody>
                  <a:tcPr/>
                </a:tc>
                <a:extLst>
                  <a:ext uri="{0D108BD9-81ED-4DB2-BD59-A6C34878D82A}">
                    <a16:rowId xmlns:a16="http://schemas.microsoft.com/office/drawing/2014/main" val="10001"/>
                  </a:ext>
                </a:extLst>
              </a:tr>
              <a:tr h="0">
                <a:tc>
                  <a:txBody>
                    <a:bodyPr/>
                    <a:lstStyle/>
                    <a:p>
                      <a:pPr marL="0" lvl="0" indent="0">
                        <a:buNone/>
                      </a:pPr>
                      <a:r>
                        <a:t>… radialen gebruiken en graden ↔ radialen omzetten.</a:t>
                      </a:r>
                    </a:p>
                  </a:txBody>
                  <a:tcPr/>
                </a:tc>
                <a:tc>
                  <a:txBody>
                    <a:bodyPr/>
                    <a:lstStyle/>
                    <a:p>
                      <a:pPr marL="0" lvl="0" indent="0" algn="r">
                        <a:buNone/>
                      </a:pPr>
                      <a:r>
                        <a:t>☐</a:t>
                      </a:r>
                    </a:p>
                  </a:txBody>
                  <a:tcPr/>
                </a:tc>
                <a:tc>
                  <a:txBody>
                    <a:bodyPr/>
                    <a:lstStyle/>
                    <a:p>
                      <a:pPr marL="0" lvl="0" indent="0" algn="r">
                        <a:buNone/>
                      </a:pPr>
                      <a:r>
                        <a:t>☐</a:t>
                      </a:r>
                    </a:p>
                  </a:txBody>
                  <a:tcPr/>
                </a:tc>
                <a:tc>
                  <a:txBody>
                    <a:bodyPr/>
                    <a:lstStyle/>
                    <a:p>
                      <a:pPr marL="0" lvl="0" indent="0" algn="r">
                        <a:buNone/>
                      </a:pPr>
                      <a:r>
                        <a:t>☐</a:t>
                      </a:r>
                    </a:p>
                  </a:txBody>
                  <a:tcPr/>
                </a:tc>
                <a:extLst>
                  <a:ext uri="{0D108BD9-81ED-4DB2-BD59-A6C34878D82A}">
                    <a16:rowId xmlns:a16="http://schemas.microsoft.com/office/drawing/2014/main" val="10002"/>
                  </a:ext>
                </a:extLst>
              </a:tr>
              <a:tr h="0">
                <a:tc>
                  <a:txBody>
                    <a:bodyPr/>
                    <a:lstStyle/>
                    <a:p>
                      <a:pPr marL="0" lvl="0" indent="0">
                        <a:buNone/>
                      </a:pPr>
                      <a:r>
                        <a:rPr dirty="0"/>
                        <a:t>… (</a:t>
                      </a:r>
                      <a:r>
                        <a:rPr lang="nl-BE" dirty="0"/>
                        <a:t>golflengte</a:t>
                      </a:r>
                      <a:r>
                        <a:rPr dirty="0"/>
                        <a:t> ), ( T ) </a:t>
                      </a:r>
                      <a:r>
                        <a:rPr dirty="0" err="1"/>
                        <a:t>en</a:t>
                      </a:r>
                      <a:r>
                        <a:rPr dirty="0"/>
                        <a:t> ( f ) </a:t>
                      </a:r>
                      <a:r>
                        <a:rPr dirty="0" err="1"/>
                        <a:t>definiëren</a:t>
                      </a:r>
                      <a:r>
                        <a:rPr dirty="0"/>
                        <a:t> </a:t>
                      </a:r>
                      <a:r>
                        <a:rPr dirty="0" err="1"/>
                        <a:t>en</a:t>
                      </a:r>
                      <a:r>
                        <a:rPr dirty="0"/>
                        <a:t> </a:t>
                      </a:r>
                      <a:r>
                        <a:rPr dirty="0" err="1"/>
                        <a:t>verbanden</a:t>
                      </a:r>
                      <a:r>
                        <a:rPr dirty="0"/>
                        <a:t> </a:t>
                      </a:r>
                      <a:r>
                        <a:rPr dirty="0" err="1"/>
                        <a:t>toepassen</a:t>
                      </a:r>
                      <a:r>
                        <a:rPr dirty="0"/>
                        <a:t>.</a:t>
                      </a:r>
                    </a:p>
                  </a:txBody>
                  <a:tcPr/>
                </a:tc>
                <a:tc>
                  <a:txBody>
                    <a:bodyPr/>
                    <a:lstStyle/>
                    <a:p>
                      <a:pPr marL="0" lvl="0" indent="0" algn="r">
                        <a:buNone/>
                      </a:pPr>
                      <a:r>
                        <a:t>☐</a:t>
                      </a:r>
                    </a:p>
                  </a:txBody>
                  <a:tcPr/>
                </a:tc>
                <a:tc>
                  <a:txBody>
                    <a:bodyPr/>
                    <a:lstStyle/>
                    <a:p>
                      <a:pPr marL="0" lvl="0" indent="0" algn="r">
                        <a:buNone/>
                      </a:pPr>
                      <a:r>
                        <a:t>☐</a:t>
                      </a:r>
                    </a:p>
                  </a:txBody>
                  <a:tcPr/>
                </a:tc>
                <a:tc>
                  <a:txBody>
                    <a:bodyPr/>
                    <a:lstStyle/>
                    <a:p>
                      <a:pPr marL="0" lvl="0" indent="0" algn="r">
                        <a:buNone/>
                      </a:pPr>
                      <a:r>
                        <a:t>☐</a:t>
                      </a:r>
                    </a:p>
                  </a:txBody>
                  <a:tcPr/>
                </a:tc>
                <a:extLst>
                  <a:ext uri="{0D108BD9-81ED-4DB2-BD59-A6C34878D82A}">
                    <a16:rowId xmlns:a16="http://schemas.microsoft.com/office/drawing/2014/main" val="10003"/>
                  </a:ext>
                </a:extLst>
              </a:tr>
              <a:tr h="0">
                <a:tc>
                  <a:txBody>
                    <a:bodyPr/>
                    <a:lstStyle/>
                    <a:p>
                      <a:pPr marL="0" lvl="0" indent="0">
                        <a:buNone/>
                      </a:pPr>
                      <a:r>
                        <a:t>… baansnelheid berekenen in contexten (rotorblad, klok, evenaar, hartslag).</a:t>
                      </a:r>
                    </a:p>
                  </a:txBody>
                  <a:tcPr/>
                </a:tc>
                <a:tc>
                  <a:txBody>
                    <a:bodyPr/>
                    <a:lstStyle/>
                    <a:p>
                      <a:pPr marL="0" lvl="0" indent="0" algn="r">
                        <a:buNone/>
                      </a:pPr>
                      <a:r>
                        <a:t>☐</a:t>
                      </a:r>
                    </a:p>
                  </a:txBody>
                  <a:tcPr/>
                </a:tc>
                <a:tc>
                  <a:txBody>
                    <a:bodyPr/>
                    <a:lstStyle/>
                    <a:p>
                      <a:pPr marL="0" lvl="0" indent="0" algn="r">
                        <a:buNone/>
                      </a:pPr>
                      <a:r>
                        <a:t>☐</a:t>
                      </a:r>
                    </a:p>
                  </a:txBody>
                  <a:tcPr/>
                </a:tc>
                <a:tc>
                  <a:txBody>
                    <a:bodyPr/>
                    <a:lstStyle/>
                    <a:p>
                      <a:pPr marL="0" lvl="0" indent="0" algn="r">
                        <a:buNone/>
                      </a:pPr>
                      <a:r>
                        <a:t>☐</a:t>
                      </a:r>
                    </a:p>
                  </a:txBody>
                  <a:tcPr/>
                </a:tc>
                <a:extLst>
                  <a:ext uri="{0D108BD9-81ED-4DB2-BD59-A6C34878D82A}">
                    <a16:rowId xmlns:a16="http://schemas.microsoft.com/office/drawing/2014/main" val="10004"/>
                  </a:ext>
                </a:extLst>
              </a:tr>
              <a:tr h="0">
                <a:tc>
                  <a:txBody>
                    <a:bodyPr/>
                    <a:lstStyle/>
                    <a:p>
                      <a:pPr marL="0" lvl="0" indent="0">
                        <a:buNone/>
                      </a:pPr>
                      <a:r>
                        <a:t>… uitleggen waarom ECB versnelling heeft en ( a_c==^2 r ) berekenen.</a:t>
                      </a:r>
                    </a:p>
                  </a:txBody>
                  <a:tcPr/>
                </a:tc>
                <a:tc>
                  <a:txBody>
                    <a:bodyPr/>
                    <a:lstStyle/>
                    <a:p>
                      <a:pPr marL="0" lvl="0" indent="0" algn="r">
                        <a:buNone/>
                      </a:pPr>
                      <a:r>
                        <a:t>☐</a:t>
                      </a:r>
                    </a:p>
                  </a:txBody>
                  <a:tcPr/>
                </a:tc>
                <a:tc>
                  <a:txBody>
                    <a:bodyPr/>
                    <a:lstStyle/>
                    <a:p>
                      <a:pPr marL="0" lvl="0" indent="0" algn="r">
                        <a:buNone/>
                      </a:pPr>
                      <a:r>
                        <a:t>☐</a:t>
                      </a:r>
                    </a:p>
                  </a:txBody>
                  <a:tcPr/>
                </a:tc>
                <a:tc>
                  <a:txBody>
                    <a:bodyPr/>
                    <a:lstStyle/>
                    <a:p>
                      <a:pPr marL="0" lvl="0" indent="0" algn="r">
                        <a:buNone/>
                      </a:pPr>
                      <a:r>
                        <a:t>☐</a:t>
                      </a:r>
                    </a:p>
                  </a:txBody>
                  <a:tcPr/>
                </a:tc>
                <a:extLst>
                  <a:ext uri="{0D108BD9-81ED-4DB2-BD59-A6C34878D82A}">
                    <a16:rowId xmlns:a16="http://schemas.microsoft.com/office/drawing/2014/main" val="10005"/>
                  </a:ext>
                </a:extLst>
              </a:tr>
              <a:tr h="0">
                <a:tc>
                  <a:txBody>
                    <a:bodyPr/>
                    <a:lstStyle/>
                    <a:p>
                      <a:pPr marL="0" lvl="0" indent="0">
                        <a:buNone/>
                      </a:pPr>
                      <a:r>
                        <a:t>… centripetale kracht berekenen en de bronkracht identificeren.</a:t>
                      </a:r>
                    </a:p>
                  </a:txBody>
                  <a:tcPr/>
                </a:tc>
                <a:tc>
                  <a:txBody>
                    <a:bodyPr/>
                    <a:lstStyle/>
                    <a:p>
                      <a:pPr marL="0" lvl="0" indent="0" algn="r">
                        <a:buNone/>
                      </a:pPr>
                      <a:r>
                        <a:t>☐</a:t>
                      </a:r>
                    </a:p>
                  </a:txBody>
                  <a:tcPr/>
                </a:tc>
                <a:tc>
                  <a:txBody>
                    <a:bodyPr/>
                    <a:lstStyle/>
                    <a:p>
                      <a:pPr marL="0" lvl="0" indent="0" algn="r">
                        <a:buNone/>
                      </a:pPr>
                      <a:r>
                        <a:t>☐</a:t>
                      </a:r>
                    </a:p>
                  </a:txBody>
                  <a:tcPr/>
                </a:tc>
                <a:tc>
                  <a:txBody>
                    <a:bodyPr/>
                    <a:lstStyle/>
                    <a:p>
                      <a:pPr marL="0" lvl="0" indent="0" algn="r">
                        <a:buNone/>
                      </a:pPr>
                      <a:r>
                        <a:t>☐</a:t>
                      </a:r>
                    </a:p>
                  </a:txBody>
                  <a:tcPr/>
                </a:tc>
                <a:extLst>
                  <a:ext uri="{0D108BD9-81ED-4DB2-BD59-A6C34878D82A}">
                    <a16:rowId xmlns:a16="http://schemas.microsoft.com/office/drawing/2014/main" val="10006"/>
                  </a:ext>
                </a:extLst>
              </a:tr>
              <a:tr h="0">
                <a:tc>
                  <a:txBody>
                    <a:bodyPr/>
                    <a:lstStyle/>
                    <a:p>
                      <a:pPr marL="0" lvl="0" indent="0">
                        <a:buNone/>
                      </a:pPr>
                      <a:r>
                        <a:t>… krachten ontbinden in normale en tangentiële component en ECB toelichten.</a:t>
                      </a:r>
                    </a:p>
                  </a:txBody>
                  <a:tcPr/>
                </a:tc>
                <a:tc>
                  <a:txBody>
                    <a:bodyPr/>
                    <a:lstStyle/>
                    <a:p>
                      <a:pPr marL="0" lvl="0" indent="0" algn="r">
                        <a:buNone/>
                      </a:pPr>
                      <a:r>
                        <a:t>☐</a:t>
                      </a:r>
                    </a:p>
                  </a:txBody>
                  <a:tcPr/>
                </a:tc>
                <a:tc>
                  <a:txBody>
                    <a:bodyPr/>
                    <a:lstStyle/>
                    <a:p>
                      <a:pPr marL="0" lvl="0" indent="0" algn="r">
                        <a:buNone/>
                      </a:pPr>
                      <a:r>
                        <a:t>☐</a:t>
                      </a:r>
                    </a:p>
                  </a:txBody>
                  <a:tcPr/>
                </a:tc>
                <a:tc>
                  <a:txBody>
                    <a:bodyPr/>
                    <a:lstStyle/>
                    <a:p>
                      <a:pPr marL="0" lvl="0" indent="0" algn="r">
                        <a:buNone/>
                      </a:pPr>
                      <a:r>
                        <a:t>☐</a:t>
                      </a:r>
                    </a:p>
                  </a:txBody>
                  <a:tcPr/>
                </a:tc>
                <a:extLst>
                  <a:ext uri="{0D108BD9-81ED-4DB2-BD59-A6C34878D82A}">
                    <a16:rowId xmlns:a16="http://schemas.microsoft.com/office/drawing/2014/main" val="10007"/>
                  </a:ext>
                </a:extLst>
              </a:tr>
              <a:tr h="0">
                <a:tc>
                  <a:txBody>
                    <a:bodyPr/>
                    <a:lstStyle/>
                    <a:p>
                      <a:pPr marL="0" lvl="0" indent="0">
                        <a:buNone/>
                      </a:pPr>
                      <a:r>
                        <a:t>… satellietbanen analyseren via gravitatie = centripetale kracht (v, r, T).</a:t>
                      </a:r>
                    </a:p>
                  </a:txBody>
                  <a:tcPr/>
                </a:tc>
                <a:tc>
                  <a:txBody>
                    <a:bodyPr/>
                    <a:lstStyle/>
                    <a:p>
                      <a:pPr marL="0" lvl="0" indent="0" algn="r">
                        <a:buNone/>
                      </a:pPr>
                      <a:r>
                        <a:t>☐</a:t>
                      </a:r>
                    </a:p>
                  </a:txBody>
                  <a:tcPr/>
                </a:tc>
                <a:tc>
                  <a:txBody>
                    <a:bodyPr/>
                    <a:lstStyle/>
                    <a:p>
                      <a:pPr marL="0" lvl="0" indent="0" algn="r">
                        <a:buNone/>
                      </a:pPr>
                      <a:r>
                        <a:t>☐</a:t>
                      </a:r>
                    </a:p>
                  </a:txBody>
                  <a:tcPr/>
                </a:tc>
                <a:tc>
                  <a:txBody>
                    <a:bodyPr/>
                    <a:lstStyle/>
                    <a:p>
                      <a:pPr marL="0" lvl="0" indent="0" algn="r">
                        <a:buNone/>
                      </a:pPr>
                      <a:r>
                        <a:rPr dirty="0"/>
                        <a:t>☐</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006217581"/>
      </p:ext>
    </p:extLst>
  </p:cSld>
  <p:clrMapOvr>
    <a:masterClrMapping/>
  </p:clrMapOvr>
</p:sld>
</file>

<file path=ppt/theme/theme1.xml><?xml version="1.0" encoding="utf-8"?>
<a:theme xmlns:a="http://schemas.openxmlformats.org/drawingml/2006/main" name="Diepte">
  <a:themeElements>
    <a:clrScheme name="Diepte">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iepte">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ept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Diepte</Template>
  <TotalTime>5107</TotalTime>
  <Words>4273</Words>
  <Application>Microsoft Office PowerPoint</Application>
  <PresentationFormat>Breedbeeld</PresentationFormat>
  <Paragraphs>570</Paragraphs>
  <Slides>91</Slides>
  <Notes>7</Notes>
  <HiddenSlides>0</HiddenSlides>
  <MMClips>0</MMClips>
  <ScaleCrop>false</ScaleCrop>
  <HeadingPairs>
    <vt:vector size="8" baseType="variant">
      <vt:variant>
        <vt:lpstr>Gebruikte lettertypen</vt:lpstr>
      </vt:variant>
      <vt:variant>
        <vt:i4>10</vt:i4>
      </vt:variant>
      <vt:variant>
        <vt:lpstr>Thema</vt:lpstr>
      </vt:variant>
      <vt:variant>
        <vt:i4>1</vt:i4>
      </vt:variant>
      <vt:variant>
        <vt:lpstr>Ingesloten OLE-bronprogramma's</vt:lpstr>
      </vt:variant>
      <vt:variant>
        <vt:i4>1</vt:i4>
      </vt:variant>
      <vt:variant>
        <vt:lpstr>Diatitels</vt:lpstr>
      </vt:variant>
      <vt:variant>
        <vt:i4>91</vt:i4>
      </vt:variant>
    </vt:vector>
  </HeadingPairs>
  <TitlesOfParts>
    <vt:vector size="103" baseType="lpstr">
      <vt:lpstr>Arial</vt:lpstr>
      <vt:lpstr>Arial Unicode MS</vt:lpstr>
      <vt:lpstr>Calibri</vt:lpstr>
      <vt:lpstr>Cambria Math</vt:lpstr>
      <vt:lpstr>Corbel</vt:lpstr>
      <vt:lpstr>Roboto</vt:lpstr>
      <vt:lpstr>Tahoma</vt:lpstr>
      <vt:lpstr>Times New Roman</vt:lpstr>
      <vt:lpstr>Wingdings</vt:lpstr>
      <vt:lpstr>Wingdings 3</vt:lpstr>
      <vt:lpstr>Diepte</vt:lpstr>
      <vt:lpstr>Vergelijking</vt:lpstr>
      <vt:lpstr>EENPARIG CIRKELVORMIGE BEWEGING</vt:lpstr>
      <vt:lpstr>Lesdoelen</vt:lpstr>
      <vt:lpstr>Structuur van de PowerPoint</vt:lpstr>
      <vt:lpstr>Periodieke bewegingen </vt:lpstr>
      <vt:lpstr>Periodieke bewegingen </vt:lpstr>
      <vt:lpstr>Eenparig cirkelvormige beweging (ECB)</vt:lpstr>
      <vt:lpstr>Eenparig cirkelvormige beweging (ECB)</vt:lpstr>
      <vt:lpstr>Eenparig cirkelvormige beweging (ECB)</vt:lpstr>
      <vt:lpstr>De cirkelbaan</vt:lpstr>
      <vt:lpstr>Radialen </vt:lpstr>
      <vt:lpstr>Hoeksnelheid</vt:lpstr>
      <vt:lpstr>Hoeksnelheid</vt:lpstr>
      <vt:lpstr>Plaatsvector</vt:lpstr>
      <vt:lpstr>Periode en frequentie</vt:lpstr>
      <vt:lpstr>Periode en frequentie</vt:lpstr>
      <vt:lpstr>Verband tussen hoeksnelheid en periode</vt:lpstr>
      <vt:lpstr>Verband tussen hoeksnelheid en frequentie</vt:lpstr>
      <vt:lpstr>Baansnelheid</vt:lpstr>
      <vt:lpstr>Vragen</vt:lpstr>
      <vt:lpstr>Berekening</vt:lpstr>
      <vt:lpstr>Opgave A</vt:lpstr>
      <vt:lpstr>Opgave A</vt:lpstr>
      <vt:lpstr>Opgave B</vt:lpstr>
      <vt:lpstr>Opgave B</vt:lpstr>
      <vt:lpstr>Opgave C</vt:lpstr>
      <vt:lpstr>Opgave D</vt:lpstr>
      <vt:lpstr>Opgave D</vt:lpstr>
      <vt:lpstr>Opgave E</vt:lpstr>
      <vt:lpstr>Opgave E</vt:lpstr>
      <vt:lpstr>Opgave E</vt:lpstr>
      <vt:lpstr>Extra opgave</vt:lpstr>
      <vt:lpstr>Extra opgave</vt:lpstr>
      <vt:lpstr>Opgave F (Mercurius: extra oef)</vt:lpstr>
      <vt:lpstr>Opgave F</vt:lpstr>
      <vt:lpstr>Centripetale kracht en centripetale versnelling</vt:lpstr>
      <vt:lpstr>Centripetale kracht en centripetale versnelling</vt:lpstr>
      <vt:lpstr>Centripetale versnelling</vt:lpstr>
      <vt:lpstr>Centripetale kracht</vt:lpstr>
      <vt:lpstr>Grootte van de centripetale kracht</vt:lpstr>
      <vt:lpstr>Centripetale kracht: vragen</vt:lpstr>
      <vt:lpstr>Centripetale kracht: vragen</vt:lpstr>
      <vt:lpstr>Grootte van de centripetale kracht</vt:lpstr>
      <vt:lpstr>Tangentiële en normale component van een krachtvector</vt:lpstr>
      <vt:lpstr>Ontbinden van krachten  (opmerking: geen ECB, voorbeeld enkel om krachten te  leren ontbinden).</vt:lpstr>
      <vt:lpstr>Ontbinden van krachten</vt:lpstr>
      <vt:lpstr>Ontbinden van krachten</vt:lpstr>
      <vt:lpstr>Ontbinden van krachten</vt:lpstr>
      <vt:lpstr>Ontbinden van krachten</vt:lpstr>
      <vt:lpstr>Ontbinden van krachten</vt:lpstr>
      <vt:lpstr>Beweging van satellieten in  benadering van een cirkelbaan</vt:lpstr>
      <vt:lpstr>Beweging van satellieten in benadering van een cirkelbaan</vt:lpstr>
      <vt:lpstr>Opgave 1</vt:lpstr>
      <vt:lpstr>Opgave 1</vt:lpstr>
      <vt:lpstr>Opgave 1</vt:lpstr>
      <vt:lpstr>Einde 11/02/26</vt:lpstr>
      <vt:lpstr>Opgave 2</vt:lpstr>
      <vt:lpstr>Opgave 2</vt:lpstr>
      <vt:lpstr>Opgave 2</vt:lpstr>
      <vt:lpstr>Opgave 3 (extra oef)</vt:lpstr>
      <vt:lpstr>Opgave 3</vt:lpstr>
      <vt:lpstr>ALGEMENE OEFENINGEN CENTRIPETALE KRACHT</vt:lpstr>
      <vt:lpstr>Opgave 4</vt:lpstr>
      <vt:lpstr>Opgave 4</vt:lpstr>
      <vt:lpstr>Opgave 4</vt:lpstr>
      <vt:lpstr>Opgave 5 (extra oef.)</vt:lpstr>
      <vt:lpstr>Opgave 5</vt:lpstr>
      <vt:lpstr>Opgave 6</vt:lpstr>
      <vt:lpstr>Opgave 7 (extra oef.)</vt:lpstr>
      <vt:lpstr>Opgave 7</vt:lpstr>
      <vt:lpstr>Opgave 7</vt:lpstr>
      <vt:lpstr>Opgave 7</vt:lpstr>
      <vt:lpstr>Verband tussen hoeksnelheid en baansnelheid</vt:lpstr>
      <vt:lpstr>Opgave 8</vt:lpstr>
      <vt:lpstr>Opgave 8</vt:lpstr>
      <vt:lpstr>Opgave 9</vt:lpstr>
      <vt:lpstr>Opgave 9</vt:lpstr>
      <vt:lpstr>Einde 12/2</vt:lpstr>
      <vt:lpstr>Opgave 10 (extra oef.)</vt:lpstr>
      <vt:lpstr>Opgave 10</vt:lpstr>
      <vt:lpstr>Opgave 11</vt:lpstr>
      <vt:lpstr>Opgave 11</vt:lpstr>
      <vt:lpstr>Opgave 12</vt:lpstr>
      <vt:lpstr>Opgave 12</vt:lpstr>
      <vt:lpstr>Opgave 13</vt:lpstr>
      <vt:lpstr>Opgave 13</vt:lpstr>
      <vt:lpstr>Galileo: satellietnavigatiesysteem</vt:lpstr>
      <vt:lpstr>Galileo: satellietnavigatiesysteem</vt:lpstr>
      <vt:lpstr>Galileo: opgave 14 (extra oef.)</vt:lpstr>
      <vt:lpstr>Galileo: opgave 14</vt:lpstr>
      <vt:lpstr>Toetsdoelen</vt:lpstr>
      <vt:lpstr>Toetsdoelen —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eenparig cirkelvormige beweging</dc:title>
  <dc:creator>koen</dc:creator>
  <cp:lastModifiedBy>Koen DE BELIE</cp:lastModifiedBy>
  <cp:revision>115</cp:revision>
  <dcterms:created xsi:type="dcterms:W3CDTF">2008-08-31T09:12:36Z</dcterms:created>
  <dcterms:modified xsi:type="dcterms:W3CDTF">2026-02-24T17:43:29Z</dcterms:modified>
</cp:coreProperties>
</file>