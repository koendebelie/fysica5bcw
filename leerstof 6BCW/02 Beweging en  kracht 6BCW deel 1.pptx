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72"/>
  </p:notesMasterIdLst>
  <p:sldIdLst>
    <p:sldId id="256" r:id="rId2"/>
    <p:sldId id="258" r:id="rId3"/>
    <p:sldId id="259" r:id="rId4"/>
    <p:sldId id="260" r:id="rId5"/>
    <p:sldId id="347"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309" r:id="rId21"/>
    <p:sldId id="276" r:id="rId22"/>
    <p:sldId id="278" r:id="rId23"/>
    <p:sldId id="279" r:id="rId24"/>
    <p:sldId id="280" r:id="rId25"/>
    <p:sldId id="282" r:id="rId26"/>
    <p:sldId id="283" r:id="rId27"/>
    <p:sldId id="284" r:id="rId28"/>
    <p:sldId id="310" r:id="rId29"/>
    <p:sldId id="311" r:id="rId30"/>
    <p:sldId id="313" r:id="rId31"/>
    <p:sldId id="287" r:id="rId32"/>
    <p:sldId id="288" r:id="rId33"/>
    <p:sldId id="314" r:id="rId34"/>
    <p:sldId id="290" r:id="rId35"/>
    <p:sldId id="348" r:id="rId36"/>
    <p:sldId id="291" r:id="rId37"/>
    <p:sldId id="292" r:id="rId38"/>
    <p:sldId id="293" r:id="rId39"/>
    <p:sldId id="294" r:id="rId40"/>
    <p:sldId id="295" r:id="rId41"/>
    <p:sldId id="297" r:id="rId42"/>
    <p:sldId id="315" r:id="rId43"/>
    <p:sldId id="298" r:id="rId44"/>
    <p:sldId id="299" r:id="rId45"/>
    <p:sldId id="300" r:id="rId46"/>
    <p:sldId id="301" r:id="rId47"/>
    <p:sldId id="349" r:id="rId48"/>
    <p:sldId id="302" r:id="rId49"/>
    <p:sldId id="303" r:id="rId50"/>
    <p:sldId id="304" r:id="rId51"/>
    <p:sldId id="305" r:id="rId52"/>
    <p:sldId id="307" r:id="rId53"/>
    <p:sldId id="316" r:id="rId54"/>
    <p:sldId id="325" r:id="rId55"/>
    <p:sldId id="326" r:id="rId56"/>
    <p:sldId id="336" r:id="rId57"/>
    <p:sldId id="257" r:id="rId58"/>
    <p:sldId id="337" r:id="rId59"/>
    <p:sldId id="338" r:id="rId60"/>
    <p:sldId id="332" r:id="rId61"/>
    <p:sldId id="333" r:id="rId62"/>
    <p:sldId id="339" r:id="rId63"/>
    <p:sldId id="340" r:id="rId64"/>
    <p:sldId id="341" r:id="rId65"/>
    <p:sldId id="342" r:id="rId66"/>
    <p:sldId id="343" r:id="rId67"/>
    <p:sldId id="344" r:id="rId68"/>
    <p:sldId id="345" r:id="rId69"/>
    <p:sldId id="346" r:id="rId70"/>
    <p:sldId id="334"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0C57C6-FF00-4EFD-A662-9158CBA9E54E}" v="35" dt="2026-09-29T09:40:44.8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4" d="100"/>
          <a:sy n="44" d="100"/>
        </p:scale>
        <p:origin x="984"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en DE BELIE" userId="S::koen.debelie@leraar.campushast.be::0b604c76-dc05-41eb-aae4-58be6ad353f8" providerId="AD" clId="Web-{00000000-0000-0000-0000-000000000000}"/>
    <pc:docChg chg="delSld">
      <pc:chgData name="Koen DE BELIE" userId="S::koen.debelie@leraar.campushast.be::0b604c76-dc05-41eb-aae4-58be6ad353f8" providerId="AD" clId="Web-{00000000-0000-0000-0000-000000000000}" dt="2026-09-08T09:22:05.118" v="0"/>
      <pc:docMkLst>
        <pc:docMk/>
      </pc:docMkLst>
    </pc:docChg>
  </pc:docChgLst>
  <pc:docChgLst>
    <pc:chgData name="Koen DE BELIE" userId="0b604c76-dc05-41eb-aae4-58be6ad353f8" providerId="ADAL" clId="{A0CAB841-4192-4D5A-AB98-8769508D3B25}"/>
    <pc:docChg chg="custSel addSld modSld">
      <pc:chgData name="Koen DE BELIE" userId="0b604c76-dc05-41eb-aae4-58be6ad353f8" providerId="ADAL" clId="{A0CAB841-4192-4D5A-AB98-8769508D3B25}" dt="2026-09-29T10:08:33.871" v="130" actId="404"/>
      <pc:docMkLst>
        <pc:docMk/>
      </pc:docMkLst>
      <pc:sldChg chg="addSp modSp mod">
        <pc:chgData name="Koen DE BELIE" userId="0b604c76-dc05-41eb-aae4-58be6ad353f8" providerId="ADAL" clId="{A0CAB841-4192-4D5A-AB98-8769508D3B25}" dt="2026-09-18T07:04:46.710" v="17" actId="1076"/>
        <pc:sldMkLst>
          <pc:docMk/>
          <pc:sldMk cId="0" sldId="269"/>
        </pc:sldMkLst>
        <pc:picChg chg="add mod">
          <ac:chgData name="Koen DE BELIE" userId="0b604c76-dc05-41eb-aae4-58be6ad353f8" providerId="ADAL" clId="{A0CAB841-4192-4D5A-AB98-8769508D3B25}" dt="2026-09-18T07:04:46.710" v="17" actId="1076"/>
          <ac:picMkLst>
            <pc:docMk/>
            <pc:sldMk cId="0" sldId="269"/>
            <ac:picMk id="5" creationId="{97D488DB-001D-B907-3EE8-8AA88601D9F6}"/>
          </ac:picMkLst>
        </pc:picChg>
      </pc:sldChg>
      <pc:sldChg chg="modSp">
        <pc:chgData name="Koen DE BELIE" userId="0b604c76-dc05-41eb-aae4-58be6ad353f8" providerId="ADAL" clId="{A0CAB841-4192-4D5A-AB98-8769508D3B25}" dt="2026-09-29T09:39:22.071" v="65" actId="20577"/>
        <pc:sldMkLst>
          <pc:docMk/>
          <pc:sldMk cId="0" sldId="302"/>
        </pc:sldMkLst>
        <pc:spChg chg="mod">
          <ac:chgData name="Koen DE BELIE" userId="0b604c76-dc05-41eb-aae4-58be6ad353f8" providerId="ADAL" clId="{A0CAB841-4192-4D5A-AB98-8769508D3B25}" dt="2026-09-29T09:39:22.071" v="65" actId="20577"/>
          <ac:spMkLst>
            <pc:docMk/>
            <pc:sldMk cId="0" sldId="302"/>
            <ac:spMk id="3" creationId="{00000000-0000-0000-0000-000000000000}"/>
          </ac:spMkLst>
        </pc:spChg>
      </pc:sldChg>
      <pc:sldChg chg="modSp">
        <pc:chgData name="Koen DE BELIE" userId="0b604c76-dc05-41eb-aae4-58be6ad353f8" providerId="ADAL" clId="{A0CAB841-4192-4D5A-AB98-8769508D3B25}" dt="2026-09-29T09:40:44.899" v="81" actId="20577"/>
        <pc:sldMkLst>
          <pc:docMk/>
          <pc:sldMk cId="0" sldId="303"/>
        </pc:sldMkLst>
        <pc:spChg chg="mod">
          <ac:chgData name="Koen DE BELIE" userId="0b604c76-dc05-41eb-aae4-58be6ad353f8" providerId="ADAL" clId="{A0CAB841-4192-4D5A-AB98-8769508D3B25}" dt="2026-09-29T09:40:44.899" v="81" actId="20577"/>
          <ac:spMkLst>
            <pc:docMk/>
            <pc:sldMk cId="0" sldId="303"/>
            <ac:spMk id="3" creationId="{00000000-0000-0000-0000-000000000000}"/>
          </ac:spMkLst>
        </pc:spChg>
      </pc:sldChg>
      <pc:sldChg chg="modSp mod">
        <pc:chgData name="Koen DE BELIE" userId="0b604c76-dc05-41eb-aae4-58be6ad353f8" providerId="ADAL" clId="{A0CAB841-4192-4D5A-AB98-8769508D3B25}" dt="2026-09-29T10:08:33.871" v="130" actId="404"/>
        <pc:sldMkLst>
          <pc:docMk/>
          <pc:sldMk cId="0" sldId="326"/>
        </pc:sldMkLst>
        <pc:spChg chg="mod">
          <ac:chgData name="Koen DE BELIE" userId="0b604c76-dc05-41eb-aae4-58be6ad353f8" providerId="ADAL" clId="{A0CAB841-4192-4D5A-AB98-8769508D3B25}" dt="2026-09-29T10:08:33.871" v="130" actId="404"/>
          <ac:spMkLst>
            <pc:docMk/>
            <pc:sldMk cId="0" sldId="326"/>
            <ac:spMk id="2" creationId="{00000000-0000-0000-0000-000000000000}"/>
          </ac:spMkLst>
        </pc:spChg>
      </pc:sldChg>
      <pc:sldChg chg="modSp new mod">
        <pc:chgData name="Koen DE BELIE" userId="0b604c76-dc05-41eb-aae4-58be6ad353f8" providerId="ADAL" clId="{A0CAB841-4192-4D5A-AB98-8769508D3B25}" dt="2026-09-15T11:02:45.004" v="15" actId="20577"/>
        <pc:sldMkLst>
          <pc:docMk/>
          <pc:sldMk cId="460797341" sldId="347"/>
        </pc:sldMkLst>
        <pc:spChg chg="mod">
          <ac:chgData name="Koen DE BELIE" userId="0b604c76-dc05-41eb-aae4-58be6ad353f8" providerId="ADAL" clId="{A0CAB841-4192-4D5A-AB98-8769508D3B25}" dt="2026-09-15T11:02:45.004" v="15" actId="20577"/>
          <ac:spMkLst>
            <pc:docMk/>
            <pc:sldMk cId="460797341" sldId="347"/>
            <ac:spMk id="2" creationId="{142265F6-B3E2-198F-D41C-0A5824A9FC54}"/>
          </ac:spMkLst>
        </pc:spChg>
      </pc:sldChg>
      <pc:sldChg chg="modSp new mod">
        <pc:chgData name="Koen DE BELIE" userId="0b604c76-dc05-41eb-aae4-58be6ad353f8" providerId="ADAL" clId="{A0CAB841-4192-4D5A-AB98-8769508D3B25}" dt="2026-09-18T08:08:30.072" v="31" actId="20577"/>
        <pc:sldMkLst>
          <pc:docMk/>
          <pc:sldMk cId="431046170" sldId="348"/>
        </pc:sldMkLst>
        <pc:spChg chg="mod">
          <ac:chgData name="Koen DE BELIE" userId="0b604c76-dc05-41eb-aae4-58be6ad353f8" providerId="ADAL" clId="{A0CAB841-4192-4D5A-AB98-8769508D3B25}" dt="2026-09-18T08:08:30.072" v="31" actId="20577"/>
          <ac:spMkLst>
            <pc:docMk/>
            <pc:sldMk cId="431046170" sldId="348"/>
            <ac:spMk id="2" creationId="{69178DCD-D2F9-F023-A256-2048F9138803}"/>
          </ac:spMkLst>
        </pc:spChg>
      </pc:sldChg>
      <pc:sldChg chg="modSp new mod">
        <pc:chgData name="Koen DE BELIE" userId="0b604c76-dc05-41eb-aae4-58be6ad353f8" providerId="ADAL" clId="{A0CAB841-4192-4D5A-AB98-8769508D3B25}" dt="2026-09-25T08:09:55.003" v="46" actId="20577"/>
        <pc:sldMkLst>
          <pc:docMk/>
          <pc:sldMk cId="2144968070" sldId="349"/>
        </pc:sldMkLst>
        <pc:spChg chg="mod">
          <ac:chgData name="Koen DE BELIE" userId="0b604c76-dc05-41eb-aae4-58be6ad353f8" providerId="ADAL" clId="{A0CAB841-4192-4D5A-AB98-8769508D3B25}" dt="2026-09-25T08:09:55.003" v="46" actId="20577"/>
          <ac:spMkLst>
            <pc:docMk/>
            <pc:sldMk cId="2144968070" sldId="349"/>
            <ac:spMk id="2" creationId="{EADF4B60-3187-82D3-546D-02CFBE2C04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F77C0-B1FB-4833-8B31-E962FE8689D6}" type="datetimeFigureOut">
              <a:rPr lang="nl-BE" smtClean="0"/>
              <a:t>29/09/2026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E32D13-EC5A-4DAE-AAB9-7BA8DA48BD33}" type="slidenum">
              <a:rPr lang="nl-BE" smtClean="0"/>
              <a:t>‹nr.›</a:t>
            </a:fld>
            <a:endParaRPr lang="nl-BE"/>
          </a:p>
        </p:txBody>
      </p:sp>
    </p:spTree>
    <p:extLst>
      <p:ext uri="{BB962C8B-B14F-4D97-AF65-F5344CB8AC3E}">
        <p14:creationId xmlns:p14="http://schemas.microsoft.com/office/powerpoint/2010/main" val="4231616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Diagrammen tekenen</a:t>
            </a:r>
          </a:p>
        </p:txBody>
      </p:sp>
      <p:sp>
        <p:nvSpPr>
          <p:cNvPr id="4" name="Tijdelijke aanduiding voor dianummer 3"/>
          <p:cNvSpPr>
            <a:spLocks noGrp="1"/>
          </p:cNvSpPr>
          <p:nvPr>
            <p:ph type="sldNum" sz="quarter" idx="5"/>
          </p:nvPr>
        </p:nvSpPr>
        <p:spPr/>
        <p:txBody>
          <a:bodyPr/>
          <a:lstStyle/>
          <a:p>
            <a:fld id="{53E32D13-EC5A-4DAE-AAB9-7BA8DA48BD33}" type="slidenum">
              <a:rPr lang="nl-BE" smtClean="0"/>
              <a:t>51</a:t>
            </a:fld>
            <a:endParaRPr lang="nl-BE"/>
          </a:p>
        </p:txBody>
      </p:sp>
    </p:spTree>
    <p:extLst>
      <p:ext uri="{BB962C8B-B14F-4D97-AF65-F5344CB8AC3E}">
        <p14:creationId xmlns:p14="http://schemas.microsoft.com/office/powerpoint/2010/main" val="1222838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Curve en cirkel tekenen met snelheidsvectoren</a:t>
            </a:r>
          </a:p>
        </p:txBody>
      </p:sp>
      <p:sp>
        <p:nvSpPr>
          <p:cNvPr id="4" name="Tijdelijke aanduiding voor dianummer 3"/>
          <p:cNvSpPr>
            <a:spLocks noGrp="1"/>
          </p:cNvSpPr>
          <p:nvPr>
            <p:ph type="sldNum" sz="quarter" idx="5"/>
          </p:nvPr>
        </p:nvSpPr>
        <p:spPr/>
        <p:txBody>
          <a:bodyPr/>
          <a:lstStyle/>
          <a:p>
            <a:fld id="{53E32D13-EC5A-4DAE-AAB9-7BA8DA48BD33}" type="slidenum">
              <a:rPr lang="nl-BE" smtClean="0"/>
              <a:t>54</a:t>
            </a:fld>
            <a:endParaRPr lang="nl-BE"/>
          </a:p>
        </p:txBody>
      </p:sp>
    </p:spTree>
    <p:extLst>
      <p:ext uri="{BB962C8B-B14F-4D97-AF65-F5344CB8AC3E}">
        <p14:creationId xmlns:p14="http://schemas.microsoft.com/office/powerpoint/2010/main" val="2885018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53E32D13-EC5A-4DAE-AAB9-7BA8DA48BD33}" type="slidenum">
              <a:rPr lang="nl-BE" smtClean="0"/>
              <a:t>69</a:t>
            </a:fld>
            <a:endParaRPr lang="nl-BE"/>
          </a:p>
        </p:txBody>
      </p:sp>
    </p:spTree>
    <p:extLst>
      <p:ext uri="{BB962C8B-B14F-4D97-AF65-F5344CB8AC3E}">
        <p14:creationId xmlns:p14="http://schemas.microsoft.com/office/powerpoint/2010/main" val="3032372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nl-NL"/>
              <a:t>Klik om stijl te bewerken</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74944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nl-NL"/>
              <a:t>Klik om stijl te bewerken</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4000112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26846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nl-NL"/>
              <a:t>Klik om stijl te bewerken</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120000" y="2505075"/>
            <a:ext cx="5025216"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nl-NL"/>
              <a:t>Klikken om de tekststijl van het model te bewerken</a:t>
            </a:r>
          </a:p>
        </p:txBody>
      </p:sp>
      <p:sp>
        <p:nvSpPr>
          <p:cNvPr id="6" name="Content Placeholder 5"/>
          <p:cNvSpPr>
            <a:spLocks noGrp="1"/>
          </p:cNvSpPr>
          <p:nvPr>
            <p:ph sz="quarter" idx="4"/>
          </p:nvPr>
        </p:nvSpPr>
        <p:spPr>
          <a:xfrm>
            <a:off x="6319840" y="2505075"/>
            <a:ext cx="503554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54595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10398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39682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4067038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108036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che 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nl-NL"/>
              <a:t>Klik om stijl te bewerken</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481457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en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nl-NL"/>
              <a:t>Klik om stijl te bewerken</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4231324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eraat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nl-NL"/>
              <a:t>Klik om stijl te bewerken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4679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amkaartje">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nl-NL"/>
              <a:t>Klik om stijl te bewerken</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03054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mme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nl-NL"/>
              <a:t>Klik om stijl te bewerken</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nl-NL"/>
              <a:t>Klikken om de tekststijl van het model te bewerken</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nl-NL"/>
              <a:t>Klikken om de tekststijl van het model te bewerken</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099940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Afbeelding-kolom">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nl-NL"/>
              <a:t>Klik om stijl te bewerken</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53964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277807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nl-NL"/>
              <a:t>Klik om stijl te bewerken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5214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5733" y="18255"/>
            <a:ext cx="10515600" cy="1325563"/>
          </a:xfrm>
          <a:prstGeom prst="rect">
            <a:avLst/>
          </a:prstGeom>
        </p:spPr>
        <p:txBody>
          <a:bodyPr vert="horz" lIns="91440" tIns="45720" rIns="91440" bIns="45720" rtlCol="0" anchor="ctr">
            <a:normAutofit/>
          </a:bodyPr>
          <a:lstStyle/>
          <a:p>
            <a:r>
              <a:rPr lang="nl-NL"/>
              <a:t>Klik om stijl te bewerken</a:t>
            </a:r>
            <a:endParaRPr lang="en-US" dirty="0"/>
          </a:p>
        </p:txBody>
      </p:sp>
      <p:sp>
        <p:nvSpPr>
          <p:cNvPr id="3" name="Text Placeholder 2"/>
          <p:cNvSpPr>
            <a:spLocks noGrp="1"/>
          </p:cNvSpPr>
          <p:nvPr>
            <p:ph type="body" idx="1"/>
          </p:nvPr>
        </p:nvSpPr>
        <p:spPr>
          <a:xfrm>
            <a:off x="318499" y="1343818"/>
            <a:ext cx="11609798" cy="5272739"/>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Tree>
    <p:extLst>
      <p:ext uri="{BB962C8B-B14F-4D97-AF65-F5344CB8AC3E}">
        <p14:creationId xmlns:p14="http://schemas.microsoft.com/office/powerpoint/2010/main" val="2766501910"/>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800"/>
        </a:spcBef>
        <a:buFont typeface="Arial" panose="020B0604020202020204" pitchFamily="34" charset="0"/>
        <a:buChar char="•"/>
        <a:defRPr sz="32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18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lvl="0"/>
            <a:r>
              <a:rPr lang="nl-BE" dirty="0"/>
              <a:t>Beweging en kracht D1</a:t>
            </a:r>
            <a:endParaRPr dirty="0"/>
          </a:p>
        </p:txBody>
      </p:sp>
      <p:sp>
        <p:nvSpPr>
          <p:cNvPr id="3" name="Content Placeholder 2"/>
          <p:cNvSpPr>
            <a:spLocks noGrp="1"/>
          </p:cNvSpPr>
          <p:nvPr>
            <p:ph type="subTitle" idx="1"/>
          </p:nvPr>
        </p:nvSpPr>
        <p:spPr/>
        <p:txBody>
          <a:bodyPr>
            <a:normAutofit/>
          </a:bodyPr>
          <a:lstStyle/>
          <a:p>
            <a:pPr marL="0" lvl="0" indent="0">
              <a:buNone/>
            </a:pPr>
            <a:r>
              <a:rPr lang="nl-BE" dirty="0"/>
              <a:t>Plaats en snelheid</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Inhoudsopgave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457200" lvl="0" indent="-457200">
                  <a:buAutoNum type="arabicPeriod"/>
                </a:pPr>
                <a:r>
                  <a:rPr dirty="0" err="1"/>
                  <a:t>Ruimte</a:t>
                </a:r>
                <a:r>
                  <a:rPr dirty="0"/>
                  <a:t> &amp; </a:t>
                </a:r>
                <a:r>
                  <a:rPr dirty="0" err="1"/>
                  <a:t>tijd</a:t>
                </a:r>
                <a:r>
                  <a:rPr dirty="0"/>
                  <a:t>; </a:t>
                </a:r>
                <a:r>
                  <a:rPr dirty="0" err="1"/>
                  <a:t>puntmassa</a:t>
                </a:r>
                <a:r>
                  <a:rPr dirty="0"/>
                  <a:t>; </a:t>
                </a:r>
                <a:r>
                  <a:rPr dirty="0" err="1"/>
                  <a:t>referentiestelsel</a:t>
                </a:r>
                <a:br>
                  <a:rPr dirty="0"/>
                </a:br>
                <a:endParaRPr dirty="0"/>
              </a:p>
              <a:p>
                <a:pPr marL="457200" lvl="0" indent="-457200">
                  <a:buAutoNum type="arabicPeriod"/>
                </a:pPr>
                <a:r>
                  <a:rPr dirty="0" err="1"/>
                  <a:t>Plaatsvector</a:t>
                </a:r>
                <a:r>
                  <a:rPr dirty="0"/>
                  <a:t>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r>
                  <a:rPr dirty="0"/>
                  <a:t>, </a:t>
                </a:r>
                <a:r>
                  <a:rPr dirty="0" err="1"/>
                  <a:t>bewegingsvergelijking</a:t>
                </a:r>
                <a:r>
                  <a:rPr dirty="0"/>
                  <a:t>, </a:t>
                </a:r>
                <a:r>
                  <a:rPr dirty="0" err="1"/>
                  <a:t>baan</a:t>
                </a:r>
                <a:r>
                  <a:rPr dirty="0"/>
                  <a:t>, </a:t>
                </a:r>
                <a14:m>
                  <m:oMath xmlns:m="http://schemas.openxmlformats.org/officeDocument/2006/math">
                    <m:r>
                      <a:rPr>
                        <a:latin typeface="Cambria Math" panose="02040503050406030204" pitchFamily="18" charset="0"/>
                      </a:rPr>
                      <m:t>𝑟</m:t>
                    </m:r>
                    <m:d>
                      <m:dPr>
                        <m:ctrlPr>
                          <a:rPr>
                            <a:latin typeface="Cambria Math" panose="02040503050406030204" pitchFamily="18" charset="0"/>
                          </a:rPr>
                        </m:ctrlPr>
                      </m:dPr>
                      <m:e>
                        <m:r>
                          <a:rPr>
                            <a:latin typeface="Cambria Math" panose="02040503050406030204" pitchFamily="18" charset="0"/>
                          </a:rPr>
                          <m:t>𝑡</m:t>
                        </m:r>
                      </m:e>
                    </m:d>
                  </m:oMath>
                </a14:m>
                <a:br>
                  <a:rPr dirty="0"/>
                </a:br>
                <a:endParaRPr dirty="0"/>
              </a:p>
              <a:p>
                <a:pPr marL="457200" lvl="0" indent="-457200">
                  <a:buAutoNum type="arabicPeriod"/>
                </a:pPr>
                <a:r>
                  <a:rPr dirty="0" err="1"/>
                  <a:t>Verplaatsing</a:t>
                </a:r>
                <a:r>
                  <a:rPr dirty="0"/>
                  <a:t> </a:t>
                </a:r>
                <a14:m>
                  <m:oMath xmlns:m="http://schemas.openxmlformats.org/officeDocument/2006/math">
                    <m:r>
                      <a:rPr>
                        <a:latin typeface="Cambria Math" panose="02040503050406030204" pitchFamily="18" charset="0"/>
                      </a:rPr>
                      <m:t>𝛥</m:t>
                    </m:r>
                    <m:acc>
                      <m:accPr>
                        <m:chr m:val="⃗"/>
                        <m:ctrlPr>
                          <a:rPr>
                            <a:latin typeface="Cambria Math" panose="02040503050406030204" pitchFamily="18" charset="0"/>
                          </a:rPr>
                        </m:ctrlPr>
                      </m:accPr>
                      <m:e>
                        <m:r>
                          <a:rPr>
                            <a:latin typeface="Cambria Math" panose="02040503050406030204" pitchFamily="18" charset="0"/>
                          </a:rPr>
                          <m:t>𝑟</m:t>
                        </m:r>
                      </m:e>
                    </m:acc>
                  </m:oMath>
                </a14:m>
                <a:r>
                  <a:rPr dirty="0"/>
                  <a:t> vs. </a:t>
                </a:r>
                <a:r>
                  <a:rPr dirty="0" err="1"/>
                  <a:t>afgelegde</a:t>
                </a:r>
                <a:r>
                  <a:rPr dirty="0"/>
                  <a:t> </a:t>
                </a:r>
                <a:r>
                  <a:rPr dirty="0" err="1"/>
                  <a:t>weg</a:t>
                </a:r>
                <a:r>
                  <a:rPr dirty="0"/>
                  <a:t> </a:t>
                </a:r>
                <a14:m>
                  <m:oMath xmlns:m="http://schemas.openxmlformats.org/officeDocument/2006/math">
                    <m:r>
                      <a:rPr>
                        <a:latin typeface="Cambria Math" panose="02040503050406030204" pitchFamily="18" charset="0"/>
                      </a:rPr>
                      <m:t>𝛥</m:t>
                    </m:r>
                    <m:r>
                      <a:rPr>
                        <a:latin typeface="Cambria Math" panose="02040503050406030204" pitchFamily="18" charset="0"/>
                      </a:rPr>
                      <m:t>𝑠</m:t>
                    </m:r>
                  </m:oMath>
                </a14:m>
                <a:br>
                  <a:rPr dirty="0"/>
                </a:br>
                <a:endParaRPr dirty="0"/>
              </a:p>
              <a:p>
                <a:pPr marL="457200" lvl="0" indent="-457200">
                  <a:buAutoNum type="arabicPeriod"/>
                </a:pPr>
                <a:r>
                  <a:rPr dirty="0" err="1"/>
                  <a:t>Tijdsduur</a:t>
                </a:r>
                <a:r>
                  <a:rPr dirty="0"/>
                  <a:t> </a:t>
                </a:r>
                <a14:m>
                  <m:oMath xmlns:m="http://schemas.openxmlformats.org/officeDocument/2006/math">
                    <m:r>
                      <a:rPr>
                        <a:latin typeface="Cambria Math" panose="02040503050406030204" pitchFamily="18" charset="0"/>
                      </a:rPr>
                      <m:t>𝛥</m:t>
                    </m:r>
                    <m:r>
                      <a:rPr>
                        <a:latin typeface="Cambria Math" panose="02040503050406030204" pitchFamily="18" charset="0"/>
                      </a:rPr>
                      <m:t>𝑡</m:t>
                    </m:r>
                  </m:oMath>
                </a14:m>
                <a:r>
                  <a:rPr dirty="0"/>
                  <a:t> </a:t>
                </a:r>
                <a:r>
                  <a:rPr dirty="0" err="1"/>
                  <a:t>en</a:t>
                </a:r>
                <a:r>
                  <a:rPr dirty="0"/>
                  <a:t> </a:t>
                </a:r>
                <a14:m>
                  <m:oMath xmlns:m="http://schemas.openxmlformats.org/officeDocument/2006/math">
                    <m:r>
                      <a:rPr>
                        <a:latin typeface="Cambria Math" panose="02040503050406030204" pitchFamily="18" charset="0"/>
                      </a:rPr>
                      <m:t>𝑑𝑡</m:t>
                    </m:r>
                  </m:oMath>
                </a14:m>
                <a:br>
                  <a:rPr dirty="0"/>
                </a:br>
                <a:endParaRPr dirty="0"/>
              </a:p>
              <a:p>
                <a:pPr marL="457200" lvl="0" indent="-457200">
                  <a:buAutoNum type="arabicPeriod"/>
                </a:pPr>
                <a:r>
                  <a:rPr dirty="0" err="1"/>
                  <a:t>Snelheid</a:t>
                </a:r>
                <a:r>
                  <a:rPr dirty="0"/>
                  <a:t>: </a:t>
                </a:r>
                <a:r>
                  <a:rPr dirty="0" err="1"/>
                  <a:t>gemiddeld</a:t>
                </a:r>
                <a:r>
                  <a:rPr dirty="0"/>
                  <a:t>, </a:t>
                </a:r>
                <a:r>
                  <a:rPr dirty="0" err="1"/>
                  <a:t>ogenblikkelijk</a:t>
                </a:r>
                <a:r>
                  <a:rPr dirty="0"/>
                  <a:t>; 1D/2D</a:t>
                </a:r>
                <a:br>
                  <a:rPr dirty="0"/>
                </a:br>
                <a:endParaRPr dirty="0"/>
              </a:p>
              <a:p>
                <a:pPr marL="457200" lvl="0" indent="-457200">
                  <a:buAutoNum type="arabicPeriod"/>
                </a:pPr>
                <a:r>
                  <a:rPr dirty="0" err="1"/>
                  <a:t>Grafieken</a:t>
                </a:r>
                <a:r>
                  <a:rPr dirty="0"/>
                  <a:t>: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a:t>
                </a:r>
                <a14:m>
                  <m:oMath xmlns:m="http://schemas.openxmlformats.org/officeDocument/2006/math">
                    <m:r>
                      <a:rPr>
                        <a:latin typeface="Cambria Math" panose="02040503050406030204" pitchFamily="18" charset="0"/>
                      </a:rPr>
                      <m:t>𝑣</m:t>
                    </m:r>
                    <m:d>
                      <m:dPr>
                        <m:ctrlPr>
                          <a:rPr>
                            <a:latin typeface="Cambria Math" panose="02040503050406030204" pitchFamily="18" charset="0"/>
                          </a:rPr>
                        </m:ctrlPr>
                      </m:dPr>
                      <m:e>
                        <m:r>
                          <a:rPr>
                            <a:latin typeface="Cambria Math" panose="02040503050406030204" pitchFamily="18" charset="0"/>
                          </a:rPr>
                          <m:t>𝑡</m:t>
                        </m:r>
                      </m:e>
                    </m:d>
                  </m:oMath>
                </a14:m>
                <a:r>
                  <a:rPr dirty="0"/>
                  <a:t>; </a:t>
                </a:r>
                <a:r>
                  <a:rPr dirty="0" err="1"/>
                  <a:t>helling</a:t>
                </a:r>
                <a:r>
                  <a:rPr dirty="0"/>
                  <a:t> </a:t>
                </a:r>
                <a:r>
                  <a:rPr dirty="0" err="1"/>
                  <a:t>en</a:t>
                </a:r>
                <a:r>
                  <a:rPr dirty="0"/>
                  <a:t> </a:t>
                </a:r>
                <a:r>
                  <a:rPr dirty="0" err="1"/>
                  <a:t>oppervlakte</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Ruimte</a:t>
            </a:r>
            <a:endParaRPr dirty="0"/>
          </a:p>
        </p:txBody>
      </p:sp>
      <p:sp>
        <p:nvSpPr>
          <p:cNvPr id="3" name="Content Placeholder 2"/>
          <p:cNvSpPr>
            <a:spLocks noGrp="1"/>
          </p:cNvSpPr>
          <p:nvPr>
            <p:ph idx="1"/>
          </p:nvPr>
        </p:nvSpPr>
        <p:spPr/>
        <p:txBody>
          <a:bodyPr/>
          <a:lstStyle/>
          <a:p>
            <a:pPr lvl="0"/>
            <a:r>
              <a:rPr dirty="0" err="1"/>
              <a:t>Ruimte</a:t>
            </a:r>
            <a:r>
              <a:rPr dirty="0"/>
              <a:t>: </a:t>
            </a:r>
            <a:r>
              <a:rPr dirty="0" err="1"/>
              <a:t>alles</a:t>
            </a:r>
            <a:r>
              <a:rPr dirty="0"/>
              <a:t> </a:t>
            </a:r>
            <a:r>
              <a:rPr dirty="0" err="1"/>
              <a:t>rondom</a:t>
            </a:r>
            <a:r>
              <a:rPr dirty="0"/>
              <a:t> </a:t>
            </a:r>
            <a:r>
              <a:rPr dirty="0" err="1"/>
              <a:t>ons</a:t>
            </a:r>
            <a:r>
              <a:rPr dirty="0"/>
              <a:t> </a:t>
            </a:r>
            <a:r>
              <a:rPr dirty="0" err="1"/>
              <a:t>waarin</a:t>
            </a:r>
            <a:r>
              <a:rPr dirty="0"/>
              <a:t> </a:t>
            </a:r>
            <a:r>
              <a:rPr dirty="0" err="1"/>
              <a:t>voorwerpen</a:t>
            </a:r>
            <a:r>
              <a:rPr dirty="0"/>
              <a:t> </a:t>
            </a:r>
            <a:r>
              <a:rPr dirty="0" err="1"/>
              <a:t>een</a:t>
            </a:r>
            <a:r>
              <a:rPr dirty="0"/>
              <a:t> </a:t>
            </a:r>
            <a:r>
              <a:rPr dirty="0" err="1"/>
              <a:t>plaats</a:t>
            </a:r>
            <a:r>
              <a:rPr dirty="0"/>
              <a:t> </a:t>
            </a:r>
            <a:r>
              <a:rPr dirty="0" err="1"/>
              <a:t>innemen</a:t>
            </a:r>
            <a:r>
              <a:rPr dirty="0"/>
              <a:t>.</a:t>
            </a:r>
            <a:br>
              <a:rPr dirty="0"/>
            </a:br>
            <a:endParaRPr dirty="0"/>
          </a:p>
          <a:p>
            <a:pPr lvl="0"/>
            <a:r>
              <a:rPr dirty="0" err="1"/>
              <a:t>Meetbaar</a:t>
            </a:r>
            <a:r>
              <a:rPr dirty="0"/>
              <a:t> met </a:t>
            </a:r>
            <a:r>
              <a:rPr dirty="0" err="1"/>
              <a:t>een</a:t>
            </a:r>
            <a:r>
              <a:rPr dirty="0"/>
              <a:t> </a:t>
            </a:r>
            <a:r>
              <a:rPr dirty="0" err="1"/>
              <a:t>meetlat</a:t>
            </a:r>
            <a:r>
              <a:rPr dirty="0"/>
              <a:t>; </a:t>
            </a:r>
            <a:r>
              <a:rPr dirty="0" err="1"/>
              <a:t>plaats</a:t>
            </a:r>
            <a:r>
              <a:rPr dirty="0"/>
              <a:t> </a:t>
            </a:r>
            <a:r>
              <a:rPr dirty="0" err="1"/>
              <a:t>bepalen</a:t>
            </a:r>
            <a:r>
              <a:rPr dirty="0"/>
              <a:t> </a:t>
            </a:r>
            <a:r>
              <a:rPr dirty="0" err="1"/>
              <a:t>langs</a:t>
            </a:r>
            <a:r>
              <a:rPr dirty="0"/>
              <a:t> 3 </a:t>
            </a:r>
            <a:r>
              <a:rPr dirty="0" err="1"/>
              <a:t>onafhankelijke</a:t>
            </a:r>
            <a:r>
              <a:rPr dirty="0"/>
              <a:t> </a:t>
            </a:r>
            <a:r>
              <a:rPr dirty="0" err="1"/>
              <a:t>richtingen</a:t>
            </a:r>
            <a:r>
              <a:rPr dirty="0"/>
              <a:t>.</a:t>
            </a:r>
            <a:br>
              <a:rPr dirty="0"/>
            </a:br>
            <a:endParaRPr dirty="0"/>
          </a:p>
          <a:p>
            <a:pPr lvl="0"/>
            <a:r>
              <a:rPr dirty="0" err="1"/>
              <a:t>Driedimensionaal</a:t>
            </a:r>
            <a:r>
              <a:rPr dirty="0"/>
              <a:t>: </a:t>
            </a:r>
            <a:r>
              <a:rPr dirty="0" err="1"/>
              <a:t>assen</a:t>
            </a:r>
            <a:r>
              <a:rPr dirty="0"/>
              <a:t> </a:t>
            </a:r>
            <a:r>
              <a:rPr dirty="0" err="1"/>
              <a:t>voor</a:t>
            </a:r>
            <a:r>
              <a:rPr dirty="0"/>
              <a:t>/achter, links/</a:t>
            </a:r>
            <a:r>
              <a:rPr dirty="0" err="1"/>
              <a:t>rechts</a:t>
            </a:r>
            <a:r>
              <a:rPr dirty="0"/>
              <a:t>, </a:t>
            </a:r>
            <a:r>
              <a:rPr dirty="0" err="1"/>
              <a:t>boven</a:t>
            </a:r>
            <a:r>
              <a:rPr dirty="0"/>
              <a:t>/</a:t>
            </a:r>
            <a:r>
              <a:rPr dirty="0" err="1"/>
              <a:t>onder</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Ruimte</a:t>
            </a:r>
            <a:r>
              <a:rPr dirty="0"/>
              <a:t> — </a:t>
            </a:r>
            <a:r>
              <a:rPr dirty="0" err="1"/>
              <a:t>assen</a:t>
            </a:r>
            <a:r>
              <a:rPr dirty="0"/>
              <a:t> </a:t>
            </a:r>
            <a:r>
              <a:rPr dirty="0" err="1"/>
              <a:t>en</a:t>
            </a:r>
            <a:r>
              <a:rPr dirty="0"/>
              <a:t> </a:t>
            </a:r>
            <a:r>
              <a:rPr dirty="0" err="1"/>
              <a:t>dimensies</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dirty="0" err="1"/>
                  <a:t>Orthogonale</a:t>
                </a:r>
                <a:r>
                  <a:rPr dirty="0"/>
                  <a:t> </a:t>
                </a:r>
                <a:r>
                  <a:rPr dirty="0" err="1"/>
                  <a:t>assen</a:t>
                </a:r>
                <a:r>
                  <a:rPr dirty="0"/>
                  <a:t>: </a:t>
                </a:r>
                <a14:m>
                  <m:oMath xmlns:m="http://schemas.openxmlformats.org/officeDocument/2006/math">
                    <m:r>
                      <a:rPr>
                        <a:latin typeface="Cambria Math" panose="02040503050406030204" pitchFamily="18" charset="0"/>
                      </a:rPr>
                      <m:t>𝑥</m:t>
                    </m:r>
                  </m:oMath>
                </a14:m>
                <a:r>
                  <a:rPr dirty="0"/>
                  <a:t>, </a:t>
                </a:r>
                <a14:m>
                  <m:oMath xmlns:m="http://schemas.openxmlformats.org/officeDocument/2006/math">
                    <m:r>
                      <a:rPr>
                        <a:latin typeface="Cambria Math" panose="02040503050406030204" pitchFamily="18" charset="0"/>
                      </a:rPr>
                      <m:t>𝑦</m:t>
                    </m:r>
                  </m:oMath>
                </a14:m>
                <a:r>
                  <a:rPr dirty="0"/>
                  <a:t>, </a:t>
                </a:r>
                <a14:m>
                  <m:oMath xmlns:m="http://schemas.openxmlformats.org/officeDocument/2006/math">
                    <m:r>
                      <a:rPr>
                        <a:latin typeface="Cambria Math" panose="02040503050406030204" pitchFamily="18" charset="0"/>
                      </a:rPr>
                      <m:t>𝑧</m:t>
                    </m:r>
                  </m:oMath>
                </a14:m>
                <a:r>
                  <a:rPr dirty="0"/>
                  <a:t>.</a:t>
                </a:r>
                <a:br>
                  <a:rPr dirty="0"/>
                </a:br>
                <a:endParaRPr dirty="0"/>
              </a:p>
              <a:p>
                <a:pPr lvl="0"/>
                <a:r>
                  <a:rPr b="1" dirty="0" err="1"/>
                  <a:t>Beweging</a:t>
                </a:r>
                <a:r>
                  <a:rPr dirty="0"/>
                  <a:t> = </a:t>
                </a:r>
                <a:r>
                  <a:rPr dirty="0" err="1"/>
                  <a:t>plaatsverandering</a:t>
                </a:r>
                <a:r>
                  <a:rPr dirty="0"/>
                  <a:t> in de </a:t>
                </a:r>
                <a:r>
                  <a:rPr dirty="0" err="1"/>
                  <a:t>tijd</a:t>
                </a:r>
                <a:r>
                  <a:rPr dirty="0"/>
                  <a:t>.</a:t>
                </a:r>
                <a:br>
                  <a:rPr dirty="0"/>
                </a:br>
                <a:endParaRPr dirty="0"/>
              </a:p>
              <a:p>
                <a:pPr lvl="0"/>
                <a:r>
                  <a:rPr dirty="0" err="1"/>
                  <a:t>Dimensie-classificatie</a:t>
                </a:r>
                <a:r>
                  <a:rPr dirty="0"/>
                  <a:t> van </a:t>
                </a:r>
                <a:r>
                  <a:rPr dirty="0" err="1"/>
                  <a:t>beweging</a:t>
                </a:r>
                <a:r>
                  <a:rPr dirty="0"/>
                  <a:t>:</a:t>
                </a:r>
              </a:p>
              <a:p>
                <a:pPr lvl="1"/>
                <a:r>
                  <a:rPr b="1" dirty="0"/>
                  <a:t>1D</a:t>
                </a:r>
                <a:r>
                  <a:rPr dirty="0"/>
                  <a:t>: </a:t>
                </a:r>
                <a:r>
                  <a:rPr dirty="0" err="1"/>
                  <a:t>beweging</a:t>
                </a:r>
                <a:r>
                  <a:rPr dirty="0"/>
                  <a:t> </a:t>
                </a:r>
                <a:r>
                  <a:rPr dirty="0" err="1"/>
                  <a:t>enkel</a:t>
                </a:r>
                <a:r>
                  <a:rPr dirty="0"/>
                  <a:t> </a:t>
                </a:r>
                <a:r>
                  <a:rPr dirty="0" err="1"/>
                  <a:t>langs</a:t>
                </a:r>
                <a:r>
                  <a:rPr dirty="0"/>
                  <a:t> </a:t>
                </a:r>
                <a:r>
                  <a:rPr dirty="0" err="1"/>
                  <a:t>één</a:t>
                </a:r>
                <a:r>
                  <a:rPr dirty="0"/>
                  <a:t> as (</a:t>
                </a:r>
                <a:r>
                  <a:rPr dirty="0" err="1"/>
                  <a:t>bv</a:t>
                </a:r>
                <a:r>
                  <a:rPr dirty="0"/>
                  <a:t>. </a:t>
                </a:r>
                <a:r>
                  <a:rPr dirty="0" err="1"/>
                  <a:t>trein</a:t>
                </a:r>
                <a:r>
                  <a:rPr dirty="0"/>
                  <a:t> op </a:t>
                </a:r>
                <a:r>
                  <a:rPr dirty="0" err="1"/>
                  <a:t>recht</a:t>
                </a:r>
                <a:r>
                  <a:rPr dirty="0"/>
                  <a:t> spoor).</a:t>
                </a:r>
              </a:p>
              <a:p>
                <a:pPr lvl="1"/>
                <a:r>
                  <a:rPr b="1" dirty="0"/>
                  <a:t>2D</a:t>
                </a:r>
                <a:r>
                  <a:rPr dirty="0"/>
                  <a:t>: </a:t>
                </a:r>
                <a:r>
                  <a:rPr dirty="0" err="1"/>
                  <a:t>vlakke</a:t>
                </a:r>
                <a:r>
                  <a:rPr dirty="0"/>
                  <a:t> </a:t>
                </a:r>
                <a:r>
                  <a:rPr dirty="0" err="1"/>
                  <a:t>beweging</a:t>
                </a:r>
                <a:r>
                  <a:rPr dirty="0"/>
                  <a:t> (</a:t>
                </a:r>
                <a:r>
                  <a:rPr dirty="0" err="1"/>
                  <a:t>bv</a:t>
                </a:r>
                <a:r>
                  <a:rPr dirty="0"/>
                  <a:t>. </a:t>
                </a:r>
                <a:r>
                  <a:rPr lang="nl-BE" dirty="0"/>
                  <a:t>paard op </a:t>
                </a:r>
                <a:r>
                  <a:rPr dirty="0" err="1"/>
                  <a:t>kermismolen</a:t>
                </a:r>
                <a:r>
                  <a:rPr dirty="0"/>
                  <a:t>, </a:t>
                </a:r>
                <a:r>
                  <a:rPr lang="nl-BE" dirty="0"/>
                  <a:t>zwemmer</a:t>
                </a:r>
                <a:r>
                  <a:rPr dirty="0"/>
                  <a:t> in </a:t>
                </a:r>
                <a:r>
                  <a:rPr dirty="0" err="1"/>
                  <a:t>zwembad</a:t>
                </a:r>
                <a:r>
                  <a:rPr lang="nl-BE" dirty="0"/>
                  <a:t> (blijft boven water</a:t>
                </a:r>
                <a:r>
                  <a:rPr dirty="0"/>
                  <a:t>).</a:t>
                </a:r>
              </a:p>
              <a:p>
                <a:pPr lvl="1"/>
                <a:r>
                  <a:rPr b="1" dirty="0"/>
                  <a:t>3D</a:t>
                </a:r>
                <a:r>
                  <a:rPr dirty="0"/>
                  <a:t>: </a:t>
                </a:r>
                <a:r>
                  <a:rPr dirty="0" err="1"/>
                  <a:t>volle-ruimte</a:t>
                </a:r>
                <a:r>
                  <a:rPr dirty="0"/>
                  <a:t> (</a:t>
                </a:r>
                <a:r>
                  <a:rPr dirty="0" err="1"/>
                  <a:t>bv</a:t>
                </a:r>
                <a:r>
                  <a:rPr dirty="0"/>
                  <a:t>. </a:t>
                </a:r>
                <a:r>
                  <a:rPr dirty="0" err="1"/>
                  <a:t>vlieg</a:t>
                </a:r>
                <a:r>
                  <a:rPr lang="nl-BE" dirty="0"/>
                  <a:t> in een kamer</a:t>
                </a:r>
                <a:r>
                  <a:rPr dirty="0"/>
                  <a:t>, </a:t>
                </a:r>
                <a:r>
                  <a:rPr dirty="0" err="1"/>
                  <a:t>wielrenner</a:t>
                </a:r>
                <a:r>
                  <a:rPr dirty="0"/>
                  <a:t> in </a:t>
                </a:r>
                <a:r>
                  <a:rPr dirty="0" err="1"/>
                  <a:t>bergen</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2265F6-B3E2-198F-D41C-0A5824A9FC54}"/>
              </a:ext>
            </a:extLst>
          </p:cNvPr>
          <p:cNvSpPr>
            <a:spLocks noGrp="1"/>
          </p:cNvSpPr>
          <p:nvPr>
            <p:ph type="title"/>
          </p:nvPr>
        </p:nvSpPr>
        <p:spPr/>
        <p:txBody>
          <a:bodyPr/>
          <a:lstStyle/>
          <a:p>
            <a:r>
              <a:rPr lang="nl-BE" dirty="0"/>
              <a:t>Einde 15/9/26</a:t>
            </a:r>
          </a:p>
        </p:txBody>
      </p:sp>
      <p:sp>
        <p:nvSpPr>
          <p:cNvPr id="3" name="Tijdelijke aanduiding voor inhoud 2">
            <a:extLst>
              <a:ext uri="{FF2B5EF4-FFF2-40B4-BE49-F238E27FC236}">
                <a16:creationId xmlns:a16="http://schemas.microsoft.com/office/drawing/2014/main" id="{29635162-FC69-4C9B-E885-B1A5EF3BEBBC}"/>
              </a:ext>
            </a:extLst>
          </p:cNvPr>
          <p:cNvSpPr>
            <a:spLocks noGrp="1"/>
          </p:cNvSpPr>
          <p:nvPr>
            <p:ph idx="1"/>
          </p:nvPr>
        </p:nvSpPr>
        <p:spPr/>
        <p:txBody>
          <a:bodyPr/>
          <a:lstStyle/>
          <a:p>
            <a:endParaRPr lang="nl-BE"/>
          </a:p>
        </p:txBody>
      </p:sp>
    </p:spTree>
    <p:extLst>
      <p:ext uri="{BB962C8B-B14F-4D97-AF65-F5344CB8AC3E}">
        <p14:creationId xmlns:p14="http://schemas.microsoft.com/office/powerpoint/2010/main" val="460797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Tijd</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nl-BE" dirty="0"/>
                  <a:t>Tijd: opeenvolging van momenten; niet rechtstreeks zintuiglijk, wel meetbaar met klok.</a:t>
                </a:r>
              </a:p>
              <a:p>
                <a:pPr lvl="0"/>
                <a:r>
                  <a:rPr lang="nl-BE" dirty="0"/>
                  <a:t>Scalaire grootheid</a:t>
                </a:r>
                <a:br>
                  <a:rPr lang="nl-BE" dirty="0"/>
                </a:br>
                <a:endParaRPr lang="nl-BE" dirty="0"/>
              </a:p>
              <a:p>
                <a:pPr lvl="0"/>
                <a:r>
                  <a:rPr lang="nl-BE" dirty="0"/>
                  <a:t>SI-eenheid: seconde </a:t>
                </a:r>
                <a14:m>
                  <m:oMath xmlns:m="http://schemas.openxmlformats.org/officeDocument/2006/math">
                    <m:d>
                      <m:dPr>
                        <m:begChr m:val="["/>
                        <m:endChr m:val="]"/>
                        <m:ctrlPr>
                          <a:rPr lang="nl-BE" b="0" i="0" smtClean="0">
                            <a:latin typeface="Cambria Math" panose="02040503050406030204" pitchFamily="18" charset="0"/>
                          </a:rPr>
                        </m:ctrlPr>
                      </m:dPr>
                      <m:e>
                        <m:r>
                          <m:rPr>
                            <m:sty m:val="p"/>
                          </m:rPr>
                          <a:rPr lang="nl-BE" b="0" i="0" smtClean="0">
                            <a:latin typeface="Cambria Math" panose="02040503050406030204" pitchFamily="18" charset="0"/>
                          </a:rPr>
                          <m:t>t</m:t>
                        </m:r>
                      </m:e>
                    </m:d>
                    <m:r>
                      <a:rPr lang="nl-BE" b="0" i="0" smtClean="0">
                        <a:latin typeface="Cambria Math" panose="02040503050406030204" pitchFamily="18" charset="0"/>
                      </a:rPr>
                      <m:t>= </m:t>
                    </m:r>
                  </m:oMath>
                </a14:m>
                <a:r>
                  <a:rPr lang="nl-BE" dirty="0"/>
                  <a:t> s</a:t>
                </a:r>
                <a:br>
                  <a:rPr lang="ar-AE" dirty="0"/>
                </a:br>
                <a:endParaRPr lang="ar-AE" dirty="0"/>
              </a:p>
              <a:p>
                <a:pPr lvl="0"/>
                <a:r>
                  <a:rPr lang="nl-BE" dirty="0"/>
                  <a:t>Voor </a:t>
                </a:r>
                <a:r>
                  <a:rPr lang="nl-BE" dirty="0" err="1"/>
                  <a:t>elke</a:t>
                </a:r>
                <a:r>
                  <a:rPr lang="nl-BE" dirty="0"/>
                  <a:t> meting: </a:t>
                </a:r>
                <a:r>
                  <a:rPr lang="nl-BE" dirty="0" err="1"/>
                  <a:t>spreek</a:t>
                </a:r>
                <a:r>
                  <a:rPr lang="nl-BE" dirty="0"/>
                  <a:t> </a:t>
                </a:r>
                <a:r>
                  <a:rPr lang="nl-BE" dirty="0" err="1"/>
                  <a:t>nulpunt</a:t>
                </a:r>
                <a:r>
                  <a:rPr lang="nl-BE" dirty="0"/>
                  <a:t> </a:t>
                </a:r>
                <a:r>
                  <a:rPr lang="nl-BE" dirty="0" err="1"/>
                  <a:t>en</a:t>
                </a:r>
                <a:r>
                  <a:rPr lang="nl-BE" dirty="0"/>
                  <a:t> </a:t>
                </a:r>
                <a:r>
                  <a:rPr lang="nl-BE" dirty="0" err="1"/>
                  <a:t>eenheid</a:t>
                </a:r>
                <a:r>
                  <a:rPr lang="nl-BE" dirty="0"/>
                  <a:t> </a:t>
                </a:r>
                <a:r>
                  <a:rPr lang="nl-BE" dirty="0" err="1"/>
                  <a:t>af</a:t>
                </a:r>
                <a:r>
                  <a:rPr lang="nl-BE" dirty="0"/>
                  <a:t>.</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Tijd</a:t>
            </a:r>
            <a:r>
              <a:rPr dirty="0"/>
              <a:t> — </a:t>
            </a:r>
            <a:r>
              <a:rPr dirty="0" err="1"/>
              <a:t>klassieke</a:t>
            </a:r>
            <a:r>
              <a:rPr dirty="0"/>
              <a:t> </a:t>
            </a:r>
            <a:r>
              <a:rPr dirty="0" err="1"/>
              <a:t>mechanica</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dirty="0"/>
                  <a:t>In de </a:t>
                </a:r>
                <a:r>
                  <a:rPr b="1" dirty="0" err="1"/>
                  <a:t>klassieke</a:t>
                </a:r>
                <a:r>
                  <a:rPr b="1" dirty="0"/>
                  <a:t> </a:t>
                </a:r>
                <a:r>
                  <a:rPr b="1" dirty="0" err="1"/>
                  <a:t>mechanica</a:t>
                </a:r>
                <a:r>
                  <a:rPr dirty="0"/>
                  <a:t> is </a:t>
                </a:r>
                <a:r>
                  <a:rPr b="1" dirty="0" err="1"/>
                  <a:t>tijd</a:t>
                </a:r>
                <a:r>
                  <a:rPr b="1" dirty="0"/>
                  <a:t> </a:t>
                </a:r>
                <a:r>
                  <a:rPr b="1" dirty="0" err="1"/>
                  <a:t>absoluut</a:t>
                </a:r>
                <a:r>
                  <a:rPr dirty="0"/>
                  <a:t> (</a:t>
                </a:r>
                <a:r>
                  <a:rPr dirty="0" err="1"/>
                  <a:t>voor</a:t>
                </a:r>
                <a:r>
                  <a:rPr dirty="0"/>
                  <a:t> </a:t>
                </a:r>
                <a:r>
                  <a:rPr dirty="0" err="1"/>
                  <a:t>iedereen</a:t>
                </a:r>
                <a:r>
                  <a:rPr dirty="0"/>
                  <a:t> </a:t>
                </a:r>
                <a:r>
                  <a:rPr dirty="0" err="1"/>
                  <a:t>dezelfde</a:t>
                </a:r>
                <a:r>
                  <a:rPr dirty="0"/>
                  <a:t> </a:t>
                </a:r>
                <a14:m>
                  <m:oMath xmlns:m="http://schemas.openxmlformats.org/officeDocument/2006/math">
                    <m:r>
                      <a:rPr>
                        <a:latin typeface="Cambria Math" panose="02040503050406030204" pitchFamily="18" charset="0"/>
                      </a:rPr>
                      <m:t>𝑡</m:t>
                    </m:r>
                  </m:oMath>
                </a14:m>
                <a:r>
                  <a:rPr dirty="0"/>
                  <a:t>).</a:t>
                </a:r>
                <a:br>
                  <a:rPr dirty="0"/>
                </a:br>
                <a:endParaRPr dirty="0"/>
              </a:p>
              <a:p>
                <a:pPr lvl="0"/>
                <a:r>
                  <a:rPr b="1" dirty="0" err="1"/>
                  <a:t>Plaats</a:t>
                </a:r>
                <a:r>
                  <a:rPr dirty="0"/>
                  <a:t> </a:t>
                </a:r>
                <a:r>
                  <a:rPr dirty="0" err="1"/>
                  <a:t>en</a:t>
                </a:r>
                <a:r>
                  <a:rPr dirty="0"/>
                  <a:t> </a:t>
                </a:r>
                <a:r>
                  <a:rPr b="1" dirty="0" err="1"/>
                  <a:t>tijd</a:t>
                </a:r>
                <a:r>
                  <a:rPr dirty="0"/>
                  <a:t> </a:t>
                </a:r>
                <a:r>
                  <a:rPr dirty="0" err="1"/>
                  <a:t>worden</a:t>
                </a:r>
                <a:r>
                  <a:rPr dirty="0"/>
                  <a:t> </a:t>
                </a:r>
                <a:r>
                  <a:rPr dirty="0" err="1"/>
                  <a:t>daar</a:t>
                </a:r>
                <a:r>
                  <a:rPr dirty="0"/>
                  <a:t> </a:t>
                </a:r>
                <a:r>
                  <a:rPr dirty="0" err="1"/>
                  <a:t>als</a:t>
                </a:r>
                <a:r>
                  <a:rPr dirty="0"/>
                  <a:t> </a:t>
                </a:r>
                <a:r>
                  <a:rPr b="1" dirty="0" err="1"/>
                  <a:t>onafhankelijk</a:t>
                </a:r>
                <a:r>
                  <a:rPr dirty="0"/>
                  <a:t> </a:t>
                </a:r>
                <a:r>
                  <a:rPr dirty="0" err="1"/>
                  <a:t>beschouwd</a:t>
                </a:r>
                <a:r>
                  <a:rPr dirty="0"/>
                  <a:t>.</a:t>
                </a:r>
                <a:br>
                  <a:rPr dirty="0"/>
                </a:b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Ruimtetijd</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nl-NL" i="1" dirty="0"/>
                  <a:t> In relativiteitstheorie: koppeling ruimte–tijd.</a:t>
                </a:r>
              </a:p>
              <a:p>
                <a:endParaRPr lang="nl-BE" i="1" dirty="0"/>
              </a:p>
              <a:p>
                <a:r>
                  <a:rPr i="1" dirty="0" err="1"/>
                  <a:t>Handig</a:t>
                </a:r>
                <a:r>
                  <a:rPr i="1" dirty="0"/>
                  <a:t> </a:t>
                </a:r>
                <a:r>
                  <a:rPr i="1" dirty="0" err="1"/>
                  <a:t>denkkader</a:t>
                </a:r>
                <a:r>
                  <a:rPr i="1" dirty="0"/>
                  <a:t>: </a:t>
                </a:r>
                <a:r>
                  <a:rPr b="1" i="1" dirty="0" err="1"/>
                  <a:t>ruimte</a:t>
                </a:r>
                <a:r>
                  <a:rPr b="1" i="1" dirty="0"/>
                  <a:t> (3D) + </a:t>
                </a:r>
                <a:r>
                  <a:rPr b="1" i="1" dirty="0" err="1"/>
                  <a:t>tijd</a:t>
                </a:r>
                <a:r>
                  <a:rPr b="1" i="1" dirty="0"/>
                  <a:t> (1D)</a:t>
                </a:r>
                <a:r>
                  <a:rPr i="1" dirty="0"/>
                  <a:t> </a:t>
                </a:r>
                <a14:m>
                  <m:oMath xmlns:m="http://schemas.openxmlformats.org/officeDocument/2006/math">
                    <m:r>
                      <a:rPr i="1">
                        <a:latin typeface="Cambria Math" panose="02040503050406030204" pitchFamily="18" charset="0"/>
                      </a:rPr>
                      <m:t>⇒</m:t>
                    </m:r>
                  </m:oMath>
                </a14:m>
                <a:r>
                  <a:rPr i="1" dirty="0"/>
                  <a:t> “</a:t>
                </a:r>
                <a:r>
                  <a:rPr i="1" dirty="0" err="1"/>
                  <a:t>ruimtetijd</a:t>
                </a:r>
                <a:r>
                  <a:rPr i="1" dirty="0"/>
                  <a:t>”.</a:t>
                </a:r>
                <a:endParaRPr lang="nl-BE" i="1" dirty="0"/>
              </a:p>
              <a:p>
                <a:pPr marL="0" indent="0">
                  <a:buNone/>
                </a:pPr>
                <a:endParaRPr i="1" dirty="0"/>
              </a:p>
              <a:p>
                <a:pPr lvl="0"/>
                <a:r>
                  <a:rPr i="1" dirty="0"/>
                  <a:t>Elke </a:t>
                </a:r>
                <a:r>
                  <a:rPr i="1" dirty="0" err="1"/>
                  <a:t>beweging</a:t>
                </a:r>
                <a:r>
                  <a:rPr i="1" dirty="0"/>
                  <a:t> </a:t>
                </a:r>
                <a:r>
                  <a:rPr i="1" dirty="0" err="1"/>
                  <a:t>speelt</a:t>
                </a:r>
                <a:r>
                  <a:rPr i="1" dirty="0"/>
                  <a:t> </a:t>
                </a:r>
                <a:r>
                  <a:rPr i="1" dirty="0" err="1"/>
                  <a:t>zich</a:t>
                </a:r>
                <a:r>
                  <a:rPr i="1" dirty="0"/>
                  <a:t> </a:t>
                </a:r>
                <a:r>
                  <a:rPr i="1" dirty="0" err="1"/>
                  <a:t>af</a:t>
                </a:r>
                <a:r>
                  <a:rPr i="1" dirty="0"/>
                  <a:t> </a:t>
                </a:r>
                <a:r>
                  <a:rPr b="1" i="1" dirty="0"/>
                  <a:t>in </a:t>
                </a:r>
                <a:r>
                  <a:rPr b="1" i="1" dirty="0" err="1"/>
                  <a:t>ruimte</a:t>
                </a:r>
                <a:r>
                  <a:rPr b="1" i="1" dirty="0"/>
                  <a:t> </a:t>
                </a:r>
                <a:r>
                  <a:rPr b="1" i="1" dirty="0" err="1"/>
                  <a:t>én</a:t>
                </a:r>
                <a:r>
                  <a:rPr b="1" i="1" dirty="0"/>
                  <a:t> </a:t>
                </a:r>
                <a:r>
                  <a:rPr b="1" i="1" dirty="0" err="1"/>
                  <a:t>tijd</a:t>
                </a:r>
                <a:r>
                  <a:rPr i="1" dirty="0"/>
                  <a:t>.</a:t>
                </a:r>
                <a:br>
                  <a:rPr i="1" dirty="0"/>
                </a:br>
                <a:endParaRPr i="1" dirty="0"/>
              </a:p>
              <a:p>
                <a:pPr lvl="0"/>
                <a:r>
                  <a:rPr b="1" i="1" dirty="0"/>
                  <a:t>Hier</a:t>
                </a:r>
                <a:r>
                  <a:rPr i="1" dirty="0"/>
                  <a:t> </a:t>
                </a:r>
                <a:r>
                  <a:rPr i="1" dirty="0" err="1"/>
                  <a:t>focussen</a:t>
                </a:r>
                <a:r>
                  <a:rPr i="1" dirty="0"/>
                  <a:t> we op </a:t>
                </a:r>
                <a:r>
                  <a:rPr i="1" dirty="0" err="1"/>
                  <a:t>klassieke</a:t>
                </a:r>
                <a:r>
                  <a:rPr i="1" dirty="0"/>
                  <a:t> </a:t>
                </a:r>
                <a:r>
                  <a:rPr i="1" dirty="0" err="1"/>
                  <a:t>opvatting</a:t>
                </a:r>
                <a:r>
                  <a:rPr i="1" dirty="0"/>
                  <a:t>: </a:t>
                </a:r>
                <a:r>
                  <a:rPr i="1" dirty="0" err="1"/>
                  <a:t>tijd</a:t>
                </a:r>
                <a:r>
                  <a:rPr i="1" dirty="0"/>
                  <a:t> </a:t>
                </a:r>
                <a:r>
                  <a:rPr i="1" dirty="0" err="1"/>
                  <a:t>loopt</a:t>
                </a:r>
                <a:r>
                  <a:rPr i="1" dirty="0"/>
                  <a:t> </a:t>
                </a:r>
                <a:r>
                  <a:rPr b="1" i="1" dirty="0"/>
                  <a:t>uniform</a:t>
                </a:r>
                <a:r>
                  <a:rPr i="1" dirty="0"/>
                  <a:t>, </a:t>
                </a:r>
                <a:r>
                  <a:rPr i="1" dirty="0" err="1"/>
                  <a:t>los</a:t>
                </a:r>
                <a:r>
                  <a:rPr i="1" dirty="0"/>
                  <a:t> van </a:t>
                </a:r>
                <a:r>
                  <a:rPr i="1" dirty="0" err="1"/>
                  <a:t>plaats</a:t>
                </a:r>
                <a:r>
                  <a:rPr i="1"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Model: </a:t>
            </a:r>
            <a:r>
              <a:rPr dirty="0" err="1"/>
              <a:t>puntmassa</a:t>
            </a:r>
            <a:endParaRPr dirty="0"/>
          </a:p>
        </p:txBody>
      </p:sp>
      <p:sp>
        <p:nvSpPr>
          <p:cNvPr id="3" name="Content Placeholder 2"/>
          <p:cNvSpPr>
            <a:spLocks noGrp="1"/>
          </p:cNvSpPr>
          <p:nvPr>
            <p:ph idx="1"/>
          </p:nvPr>
        </p:nvSpPr>
        <p:spPr/>
        <p:txBody>
          <a:bodyPr/>
          <a:lstStyle/>
          <a:p>
            <a:pPr lvl="0"/>
            <a:r>
              <a:rPr b="1"/>
              <a:t>Puntmassa</a:t>
            </a:r>
            <a:r>
              <a:t>: vereenvoudigd model</a:t>
            </a:r>
          </a:p>
          <a:p>
            <a:pPr lvl="1"/>
            <a:r>
              <a:t>Geen afmetingen, </a:t>
            </a:r>
            <a:r>
              <a:rPr b="1"/>
              <a:t>massa</a:t>
            </a:r>
            <a:r>
              <a:t> blijft behouden.</a:t>
            </a:r>
            <a:br/>
            <a:endParaRPr/>
          </a:p>
          <a:p>
            <a:pPr lvl="1"/>
            <a:r>
              <a:t>Maakt complexe bewegingen wiskundig hanteerbaar.</a:t>
            </a:r>
          </a:p>
          <a:p>
            <a:pPr lvl="0"/>
            <a:r>
              <a:t>Toepassing: eerst </a:t>
            </a:r>
            <a:r>
              <a:rPr b="1"/>
              <a:t>eenvoudig model</a:t>
            </a:r>
            <a:r>
              <a:t> correct begrijpen ⇒ daarna pas verfijnen.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Waarom</a:t>
            </a:r>
            <a:r>
              <a:rPr dirty="0"/>
              <a:t> </a:t>
            </a:r>
            <a:r>
              <a:rPr dirty="0" err="1"/>
              <a:t>modelleren</a:t>
            </a:r>
            <a:r>
              <a:rPr dirty="0"/>
              <a:t>?</a:t>
            </a:r>
          </a:p>
        </p:txBody>
      </p:sp>
      <p:sp>
        <p:nvSpPr>
          <p:cNvPr id="3" name="Content Placeholder 2"/>
          <p:cNvSpPr>
            <a:spLocks noGrp="1"/>
          </p:cNvSpPr>
          <p:nvPr>
            <p:ph idx="1"/>
          </p:nvPr>
        </p:nvSpPr>
        <p:spPr/>
        <p:txBody>
          <a:bodyPr/>
          <a:lstStyle/>
          <a:p>
            <a:pPr lvl="0"/>
            <a:r>
              <a:t>Reële voorwerpen = complex (vorm, rotatie, interne beweging).</a:t>
            </a:r>
            <a:br/>
            <a:endParaRPr/>
          </a:p>
          <a:p>
            <a:pPr lvl="0"/>
            <a:r>
              <a:rPr b="1"/>
              <a:t>Puntmassa</a:t>
            </a:r>
            <a:r>
              <a:t> laat toe:</a:t>
            </a:r>
          </a:p>
          <a:p>
            <a:pPr lvl="1"/>
            <a:r>
              <a:t>eenduidige </a:t>
            </a:r>
            <a:r>
              <a:rPr b="1"/>
              <a:t>plaats</a:t>
            </a:r>
            <a:r>
              <a:t>, </a:t>
            </a:r>
            <a:r>
              <a:rPr b="1"/>
              <a:t>snelheid</a:t>
            </a:r>
            <a:r>
              <a:t>, </a:t>
            </a:r>
            <a:r>
              <a:rPr b="1"/>
              <a:t>versnelling</a:t>
            </a:r>
            <a:r>
              <a:t> te definiëren;</a:t>
            </a:r>
            <a:br/>
            <a:endParaRPr/>
          </a:p>
          <a:p>
            <a:pPr lvl="1"/>
            <a:r>
              <a:rPr b="1"/>
              <a:t>vectoriële</a:t>
            </a:r>
            <a:r>
              <a:t> taal consequent te gebruiken.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Plaats</a:t>
            </a:r>
            <a:endParaRPr dirty="0"/>
          </a:p>
        </p:txBody>
      </p:sp>
      <p:sp>
        <p:nvSpPr>
          <p:cNvPr id="3" name="Content Placeholder 2"/>
          <p:cNvSpPr>
            <a:spLocks noGrp="1"/>
          </p:cNvSpPr>
          <p:nvPr>
            <p:ph idx="1"/>
          </p:nvPr>
        </p:nvSpPr>
        <p:spPr/>
        <p:txBody>
          <a:bodyPr/>
          <a:lstStyle/>
          <a:p>
            <a:pPr lvl="0"/>
            <a:r>
              <a:rPr b="1" dirty="0" err="1"/>
              <a:t>Plaats</a:t>
            </a:r>
            <a:r>
              <a:rPr b="1" dirty="0"/>
              <a:t>/</a:t>
            </a:r>
            <a:r>
              <a:rPr b="1" dirty="0" err="1"/>
              <a:t>positie</a:t>
            </a:r>
            <a:r>
              <a:rPr dirty="0"/>
              <a:t> is </a:t>
            </a:r>
            <a:r>
              <a:rPr dirty="0" err="1"/>
              <a:t>altijd</a:t>
            </a:r>
            <a:r>
              <a:rPr dirty="0"/>
              <a:t> </a:t>
            </a:r>
            <a:r>
              <a:rPr b="1" dirty="0" err="1"/>
              <a:t>relatief</a:t>
            </a:r>
            <a:r>
              <a:rPr dirty="0"/>
              <a:t> </a:t>
            </a:r>
            <a:r>
              <a:rPr dirty="0" err="1"/>
              <a:t>t.o.v</a:t>
            </a:r>
            <a:r>
              <a:rPr dirty="0"/>
              <a:t>. </a:t>
            </a:r>
            <a:r>
              <a:rPr dirty="0" err="1"/>
              <a:t>een</a:t>
            </a:r>
            <a:r>
              <a:rPr dirty="0"/>
              <a:t> </a:t>
            </a:r>
            <a:r>
              <a:rPr b="1" dirty="0" err="1"/>
              <a:t>referentiepunt</a:t>
            </a:r>
            <a:r>
              <a:rPr b="1" dirty="0"/>
              <a:t>/-</a:t>
            </a:r>
            <a:r>
              <a:rPr b="1" dirty="0" err="1"/>
              <a:t>stelsel</a:t>
            </a:r>
            <a:r>
              <a:rPr dirty="0"/>
              <a:t>.</a:t>
            </a:r>
            <a:br>
              <a:rPr dirty="0"/>
            </a:br>
            <a:endParaRPr dirty="0"/>
          </a:p>
          <a:p>
            <a:pPr lvl="0"/>
            <a:r>
              <a:rPr dirty="0"/>
              <a:t>Voor </a:t>
            </a:r>
            <a:r>
              <a:rPr dirty="0" err="1"/>
              <a:t>afspraken</a:t>
            </a:r>
            <a:r>
              <a:rPr dirty="0"/>
              <a:t> </a:t>
            </a:r>
            <a:r>
              <a:rPr dirty="0" err="1"/>
              <a:t>en</a:t>
            </a:r>
            <a:r>
              <a:rPr dirty="0"/>
              <a:t> </a:t>
            </a:r>
            <a:r>
              <a:rPr dirty="0" err="1"/>
              <a:t>berekeningen</a:t>
            </a:r>
            <a:r>
              <a:rPr dirty="0"/>
              <a:t>: </a:t>
            </a:r>
            <a:r>
              <a:rPr dirty="0" err="1"/>
              <a:t>kies</a:t>
            </a:r>
            <a:r>
              <a:rPr dirty="0"/>
              <a:t> </a:t>
            </a:r>
            <a:r>
              <a:rPr dirty="0" err="1"/>
              <a:t>een</a:t>
            </a:r>
            <a:r>
              <a:rPr dirty="0"/>
              <a:t> </a:t>
            </a:r>
            <a:r>
              <a:rPr b="1" dirty="0"/>
              <a:t>vast</a:t>
            </a:r>
            <a:r>
              <a:rPr dirty="0"/>
              <a:t> </a:t>
            </a:r>
            <a:r>
              <a:rPr dirty="0" err="1"/>
              <a:t>referentiestelsel</a:t>
            </a:r>
            <a:r>
              <a:rPr dirty="0"/>
              <a:t>.</a:t>
            </a:r>
          </a:p>
        </p:txBody>
      </p:sp>
      <p:pic>
        <p:nvPicPr>
          <p:cNvPr id="5" name="Afbeelding 4">
            <a:extLst>
              <a:ext uri="{FF2B5EF4-FFF2-40B4-BE49-F238E27FC236}">
                <a16:creationId xmlns:a16="http://schemas.microsoft.com/office/drawing/2014/main" id="{641612A2-082D-6F48-5707-01E1082F5770}"/>
              </a:ext>
            </a:extLst>
          </p:cNvPr>
          <p:cNvPicPr>
            <a:picLocks noChangeAspect="1"/>
          </p:cNvPicPr>
          <p:nvPr/>
        </p:nvPicPr>
        <p:blipFill>
          <a:blip r:embed="rId2"/>
          <a:stretch>
            <a:fillRect/>
          </a:stretch>
        </p:blipFill>
        <p:spPr>
          <a:xfrm>
            <a:off x="4038123" y="3174112"/>
            <a:ext cx="4115753" cy="31996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Plaats</a:t>
            </a:r>
            <a:r>
              <a:rPr dirty="0"/>
              <a:t> vs. </a:t>
            </a:r>
            <a:r>
              <a:rPr dirty="0" err="1"/>
              <a:t>tijd</a:t>
            </a:r>
            <a:r>
              <a:rPr dirty="0"/>
              <a:t> (</a:t>
            </a:r>
            <a:r>
              <a:rPr dirty="0" err="1"/>
              <a:t>klassiek</a:t>
            </a:r>
            <a:r>
              <a:rPr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dirty="0"/>
                  <a:t>Bij </a:t>
                </a:r>
                <a:r>
                  <a:rPr dirty="0" err="1"/>
                  <a:t>verandering</a:t>
                </a:r>
                <a:r>
                  <a:rPr dirty="0"/>
                  <a:t> van </a:t>
                </a:r>
                <a:r>
                  <a:rPr dirty="0" err="1"/>
                  <a:t>referentiepunt</a:t>
                </a:r>
                <a:r>
                  <a:rPr dirty="0"/>
                  <a:t> (</a:t>
                </a:r>
                <a:r>
                  <a:rPr dirty="0" err="1"/>
                  <a:t>andere</a:t>
                </a:r>
                <a:r>
                  <a:rPr dirty="0"/>
                  <a:t> </a:t>
                </a:r>
                <a:r>
                  <a:rPr dirty="0" err="1"/>
                  <a:t>oorsprong</a:t>
                </a:r>
                <a:r>
                  <a:rPr dirty="0"/>
                  <a:t>/</a:t>
                </a:r>
                <a:r>
                  <a:rPr dirty="0" err="1"/>
                  <a:t>assen</a:t>
                </a:r>
                <a:r>
                  <a:rPr dirty="0"/>
                  <a:t>): </a:t>
                </a:r>
                <a:r>
                  <a:rPr b="1" dirty="0" err="1"/>
                  <a:t>plaatscoördinaten</a:t>
                </a:r>
                <a:r>
                  <a:rPr b="1" dirty="0"/>
                  <a:t> </a:t>
                </a:r>
                <a:r>
                  <a:rPr b="1" dirty="0" err="1"/>
                  <a:t>veranderen</a:t>
                </a:r>
                <a:r>
                  <a:rPr dirty="0"/>
                  <a:t>.</a:t>
                </a:r>
                <a:br>
                  <a:rPr dirty="0"/>
                </a:br>
                <a:endParaRPr dirty="0"/>
              </a:p>
              <a:p>
                <a:pPr lvl="0"/>
                <a:r>
                  <a:rPr dirty="0"/>
                  <a:t>In </a:t>
                </a:r>
                <a:r>
                  <a:rPr dirty="0" err="1"/>
                  <a:t>klassieke</a:t>
                </a:r>
                <a:r>
                  <a:rPr dirty="0"/>
                  <a:t> </a:t>
                </a:r>
                <a:r>
                  <a:rPr dirty="0" err="1"/>
                  <a:t>mechanica</a:t>
                </a:r>
                <a:r>
                  <a:rPr dirty="0"/>
                  <a:t>: </a:t>
                </a:r>
                <a:r>
                  <a:rPr b="1" dirty="0" err="1"/>
                  <a:t>tijd</a:t>
                </a:r>
                <a:r>
                  <a:rPr b="1" dirty="0"/>
                  <a:t> </a:t>
                </a:r>
                <a14:m>
                  <m:oMath xmlns:m="http://schemas.openxmlformats.org/officeDocument/2006/math">
                    <m:r>
                      <a:rPr>
                        <a:latin typeface="Cambria Math" panose="02040503050406030204" pitchFamily="18" charset="0"/>
                      </a:rPr>
                      <m:t>𝑡</m:t>
                    </m:r>
                  </m:oMath>
                </a14:m>
                <a:r>
                  <a:rPr b="1" dirty="0"/>
                  <a:t> </a:t>
                </a:r>
                <a:r>
                  <a:rPr b="1" dirty="0" err="1"/>
                  <a:t>verandert</a:t>
                </a:r>
                <a:r>
                  <a:rPr b="1" dirty="0"/>
                  <a:t> </a:t>
                </a:r>
                <a:r>
                  <a:rPr b="1" dirty="0" err="1"/>
                  <a:t>niet</a:t>
                </a:r>
                <a:r>
                  <a:rPr dirty="0"/>
                  <a:t> </a:t>
                </a:r>
                <a:r>
                  <a:rPr dirty="0" err="1"/>
                  <a:t>bij</a:t>
                </a:r>
                <a:r>
                  <a:rPr dirty="0"/>
                  <a:t> </a:t>
                </a:r>
                <a:r>
                  <a:rPr dirty="0" err="1"/>
                  <a:t>referentiewissel</a:t>
                </a:r>
                <a:r>
                  <a:rPr dirty="0"/>
                  <a:t>.</a:t>
                </a:r>
                <a:br>
                  <a:rPr dirty="0"/>
                </a:br>
                <a:endParaRPr dirty="0"/>
              </a:p>
              <a:p>
                <a:pPr lvl="0"/>
                <a14:m>
                  <m:oMath xmlns:m="http://schemas.openxmlformats.org/officeDocument/2006/math">
                    <m:r>
                      <a:rPr>
                        <a:latin typeface="Cambria Math" panose="02040503050406030204" pitchFamily="18" charset="0"/>
                      </a:rPr>
                      <m:t>𝑡</m:t>
                    </m:r>
                  </m:oMath>
                </a14:m>
                <a:r>
                  <a:rPr dirty="0"/>
                  <a:t> is </a:t>
                </a:r>
                <a:r>
                  <a:rPr b="1" dirty="0" err="1"/>
                  <a:t>universeel</a:t>
                </a:r>
                <a:r>
                  <a:rPr dirty="0"/>
                  <a:t>, </a:t>
                </a:r>
                <a:r>
                  <a:rPr dirty="0" err="1"/>
                  <a:t>plaats</a:t>
                </a:r>
                <a:r>
                  <a:rPr dirty="0"/>
                  <a:t> </a:t>
                </a:r>
                <a:r>
                  <a:rPr dirty="0" err="1"/>
                  <a:t>hangt</a:t>
                </a:r>
                <a:r>
                  <a:rPr dirty="0"/>
                  <a:t> </a:t>
                </a:r>
                <a:r>
                  <a:rPr dirty="0" err="1"/>
                  <a:t>af</a:t>
                </a:r>
                <a:r>
                  <a:rPr dirty="0"/>
                  <a:t> van </a:t>
                </a:r>
                <a:r>
                  <a:rPr b="1" dirty="0"/>
                  <a:t>observer</a:t>
                </a:r>
                <a:r>
                  <a:rPr dirty="0"/>
                  <a:t> (</a:t>
                </a:r>
                <a:r>
                  <a:rPr dirty="0" err="1"/>
                  <a:t>keuze</a:t>
                </a:r>
                <a:r>
                  <a:rPr dirty="0"/>
                  <a:t> van </a:t>
                </a:r>
                <a:r>
                  <a:rPr dirty="0" err="1"/>
                  <a:t>stelsel</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Cartesisch</a:t>
            </a:r>
            <a:r>
              <a:rPr dirty="0"/>
              <a:t> </a:t>
            </a:r>
            <a:r>
              <a:rPr dirty="0" err="1"/>
              <a:t>coördinatenstelsel</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nl-BE" dirty="0"/>
                  <a:t>Orthogonaal </a:t>
                </a:r>
                <a:r>
                  <a:rPr lang="nl-BE" dirty="0" err="1"/>
                  <a:t>assenstelsel</a:t>
                </a:r>
                <a:r>
                  <a:rPr lang="nl-BE" dirty="0"/>
                  <a:t> met </a:t>
                </a:r>
                <a:r>
                  <a:rPr lang="nl-BE" dirty="0" err="1"/>
                  <a:t>oorsprong</a:t>
                </a:r>
                <a:r>
                  <a:rPr lang="nl-BE" dirty="0"/>
                  <a:t> </a:t>
                </a:r>
                <a14:m>
                  <m:oMath xmlns:m="http://schemas.openxmlformats.org/officeDocument/2006/math">
                    <m:r>
                      <a:rPr lang="nl-BE">
                        <a:latin typeface="Cambria Math" panose="02040503050406030204" pitchFamily="18" charset="0"/>
                      </a:rPr>
                      <m:t>𝑂</m:t>
                    </m:r>
                  </m:oMath>
                </a14:m>
                <a:r>
                  <a:rPr lang="nl-BE" dirty="0"/>
                  <a:t>: </a:t>
                </a:r>
                <a:r>
                  <a:rPr lang="nl-BE" dirty="0" err="1"/>
                  <a:t>assen</a:t>
                </a:r>
                <a:r>
                  <a:rPr lang="nl-BE" dirty="0"/>
                  <a:t> </a:t>
                </a:r>
                <a14:m>
                  <m:oMath xmlns:m="http://schemas.openxmlformats.org/officeDocument/2006/math">
                    <m:r>
                      <a:rPr lang="nl-BE">
                        <a:latin typeface="Cambria Math" panose="02040503050406030204" pitchFamily="18" charset="0"/>
                      </a:rPr>
                      <m:t>𝑥</m:t>
                    </m:r>
                  </m:oMath>
                </a14:m>
                <a:r>
                  <a:rPr lang="nl-BE" dirty="0"/>
                  <a:t>, </a:t>
                </a:r>
                <a14:m>
                  <m:oMath xmlns:m="http://schemas.openxmlformats.org/officeDocument/2006/math">
                    <m:r>
                      <a:rPr lang="nl-BE">
                        <a:latin typeface="Cambria Math" panose="02040503050406030204" pitchFamily="18" charset="0"/>
                      </a:rPr>
                      <m:t>𝑦</m:t>
                    </m:r>
                  </m:oMath>
                </a14:m>
                <a:r>
                  <a:rPr lang="nl-BE" dirty="0"/>
                  <a:t>, </a:t>
                </a:r>
                <a14:m>
                  <m:oMath xmlns:m="http://schemas.openxmlformats.org/officeDocument/2006/math">
                    <m:r>
                      <a:rPr lang="nl-BE">
                        <a:latin typeface="Cambria Math" panose="02040503050406030204" pitchFamily="18" charset="0"/>
                      </a:rPr>
                      <m:t>𝑧</m:t>
                    </m:r>
                  </m:oMath>
                </a14:m>
                <a:r>
                  <a:rPr lang="nl-BE" dirty="0"/>
                  <a:t>.</a:t>
                </a:r>
                <a:br>
                  <a:rPr lang="nl-BE" dirty="0"/>
                </a:br>
                <a:endParaRPr lang="nl-BE" dirty="0"/>
              </a:p>
              <a:p>
                <a:pPr lvl="0"/>
                <a:r>
                  <a:rPr lang="nl-BE" b="1" dirty="0" err="1"/>
                  <a:t>Eenheidsvectoren</a:t>
                </a:r>
                <a:r>
                  <a:rPr lang="nl-BE" dirty="0"/>
                  <a:t> per as:</a:t>
                </a:r>
              </a:p>
              <a:p>
                <a:pPr lvl="1"/>
                <a14:m>
                  <m:oMath xmlns:m="http://schemas.openxmlformats.org/officeDocument/2006/math">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oMath>
                </a14:m>
                <a:r>
                  <a:rPr lang="ar-AE" dirty="0"/>
                  <a:t> </a:t>
                </a:r>
                <a:r>
                  <a:rPr lang="nl-BE" dirty="0" err="1"/>
                  <a:t>langs</a:t>
                </a:r>
                <a:r>
                  <a:rPr lang="nl-BE" dirty="0"/>
                  <a:t> </a:t>
                </a:r>
                <a14:m>
                  <m:oMath xmlns:m="http://schemas.openxmlformats.org/officeDocument/2006/math">
                    <m:r>
                      <a:rPr lang="nl-BE">
                        <a:latin typeface="Cambria Math" panose="02040503050406030204" pitchFamily="18" charset="0"/>
                      </a:rPr>
                      <m:t>𝑥</m:t>
                    </m:r>
                  </m:oMath>
                </a14:m>
                <a:r>
                  <a:rPr lang="nl-BE" dirty="0"/>
                  <a:t>, </a:t>
                </a:r>
                <a14:m>
                  <m:oMath xmlns:m="http://schemas.openxmlformats.org/officeDocument/2006/math">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𝑦</m:t>
                        </m:r>
                      </m:sub>
                    </m:sSub>
                  </m:oMath>
                </a14:m>
                <a:r>
                  <a:rPr lang="ar-AE" dirty="0"/>
                  <a:t> </a:t>
                </a:r>
                <a:r>
                  <a:rPr lang="nl-BE" dirty="0" err="1"/>
                  <a:t>langs</a:t>
                </a:r>
                <a:r>
                  <a:rPr lang="nl-BE" dirty="0"/>
                  <a:t> </a:t>
                </a:r>
                <a14:m>
                  <m:oMath xmlns:m="http://schemas.openxmlformats.org/officeDocument/2006/math">
                    <m:r>
                      <a:rPr lang="nl-BE">
                        <a:latin typeface="Cambria Math" panose="02040503050406030204" pitchFamily="18" charset="0"/>
                      </a:rPr>
                      <m:t>𝑦</m:t>
                    </m:r>
                  </m:oMath>
                </a14:m>
                <a:r>
                  <a:rPr lang="nl-BE" dirty="0"/>
                  <a:t>, </a:t>
                </a:r>
                <a14:m>
                  <m:oMath xmlns:m="http://schemas.openxmlformats.org/officeDocument/2006/math">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𝑧</m:t>
                        </m:r>
                      </m:sub>
                    </m:sSub>
                  </m:oMath>
                </a14:m>
                <a:r>
                  <a:rPr lang="ar-AE" dirty="0"/>
                  <a:t> </a:t>
                </a:r>
                <a:r>
                  <a:rPr lang="nl-BE" dirty="0" err="1"/>
                  <a:t>langs</a:t>
                </a:r>
                <a:r>
                  <a:rPr lang="nl-BE" dirty="0"/>
                  <a:t> </a:t>
                </a:r>
                <a14:m>
                  <m:oMath xmlns:m="http://schemas.openxmlformats.org/officeDocument/2006/math">
                    <m:r>
                      <a:rPr lang="nl-BE">
                        <a:latin typeface="Cambria Math" panose="02040503050406030204" pitchFamily="18" charset="0"/>
                      </a:rPr>
                      <m:t>𝑧</m:t>
                    </m:r>
                  </m:oMath>
                </a14:m>
                <a:r>
                  <a:rPr lang="nl-BE" dirty="0"/>
                  <a:t>.</a:t>
                </a:r>
                <a:br>
                  <a:rPr lang="nl-BE" dirty="0"/>
                </a:br>
                <a:endParaRPr lang="nl-BE" dirty="0"/>
              </a:p>
              <a:p>
                <a:pPr lvl="0"/>
                <a:r>
                  <a:rPr lang="nl-BE" dirty="0" err="1"/>
                  <a:t>Coördinaten</a:t>
                </a:r>
                <a:r>
                  <a:rPr lang="nl-BE" dirty="0"/>
                  <a:t> </a:t>
                </a:r>
                <a:r>
                  <a:rPr lang="nl-BE" b="1" dirty="0"/>
                  <a:t>in meter</a:t>
                </a:r>
                <a:r>
                  <a:rPr lang="nl-BE" dirty="0"/>
                  <a:t> </a:t>
                </a:r>
                <a14:m>
                  <m:oMath xmlns:m="http://schemas.openxmlformats.org/officeDocument/2006/math">
                    <m:r>
                      <a:rPr lang="nl-BE" b="0" i="1" smtClean="0">
                        <a:latin typeface="Cambria Math" panose="02040503050406030204" pitchFamily="18" charset="0"/>
                      </a:rPr>
                      <m:t>(</m:t>
                    </m:r>
                  </m:oMath>
                </a14:m>
                <a:r>
                  <a:rPr lang="nl-BE" dirty="0"/>
                  <a:t>m); </a:t>
                </a:r>
              </a:p>
              <a:p>
                <a:pPr lvl="0"/>
                <a:r>
                  <a:rPr lang="nl-BE" dirty="0" err="1"/>
                  <a:t>teken</a:t>
                </a:r>
                <a:r>
                  <a:rPr lang="nl-BE" dirty="0"/>
                  <a:t> </a:t>
                </a:r>
                <a:r>
                  <a:rPr lang="nl-BE" dirty="0" err="1"/>
                  <a:t>afhankelijk</a:t>
                </a:r>
                <a:r>
                  <a:rPr lang="nl-BE" dirty="0"/>
                  <a:t> van </a:t>
                </a:r>
                <a:r>
                  <a:rPr lang="nl-BE" dirty="0" err="1"/>
                  <a:t>aszin</a:t>
                </a:r>
                <a:r>
                  <a:rPr lang="nl-BE" dirty="0"/>
                  <a:t> </a:t>
                </a:r>
                <a:r>
                  <a:rPr lang="nl-BE" dirty="0" err="1"/>
                  <a:t>en</a:t>
                </a:r>
                <a:r>
                  <a:rPr lang="nl-BE" dirty="0"/>
                  <a:t> </a:t>
                </a:r>
                <a:r>
                  <a:rPr lang="nl-BE" dirty="0" err="1"/>
                  <a:t>oorsprong</a:t>
                </a:r>
                <a:r>
                  <a:rPr lang="nl-BE" dirty="0"/>
                  <a:t>.</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71F5E723-421F-B4BE-2775-36BDE4A5C3B6}"/>
              </a:ext>
            </a:extLst>
          </p:cNvPr>
          <p:cNvPicPr>
            <a:picLocks noChangeAspect="1"/>
          </p:cNvPicPr>
          <p:nvPr/>
        </p:nvPicPr>
        <p:blipFill>
          <a:blip r:embed="rId3"/>
          <a:stretch>
            <a:fillRect/>
          </a:stretch>
        </p:blipFill>
        <p:spPr>
          <a:xfrm>
            <a:off x="8027098" y="2380869"/>
            <a:ext cx="3543110" cy="33542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nl-BE" dirty="0" err="1"/>
              <a:t>Plaatsvector</a:t>
            </a:r>
            <a:r>
              <a:rPr lang="nl-BE" dirty="0"/>
              <a:t> — definitie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nl-BE" b="1" dirty="0" err="1"/>
                  <a:t>Plaatsvector</a:t>
                </a:r>
                <a:r>
                  <a:rPr lang="nl-BE" dirty="0"/>
                  <a:t> </a:t>
                </a:r>
                <a14:m>
                  <m:oMath xmlns:m="http://schemas.openxmlformats.org/officeDocument/2006/math">
                    <m:acc>
                      <m:accPr>
                        <m:chr m:val="⃗"/>
                        <m:ctrlPr>
                          <a:rPr lang="ar-AE">
                            <a:latin typeface="Cambria Math" panose="02040503050406030204" pitchFamily="18" charset="0"/>
                          </a:rPr>
                        </m:ctrlPr>
                      </m:accPr>
                      <m:e>
                        <m:r>
                          <a:rPr lang="ar-AE">
                            <a:latin typeface="Cambria Math" panose="02040503050406030204" pitchFamily="18" charset="0"/>
                          </a:rPr>
                          <m:t>𝑟</m:t>
                        </m:r>
                      </m:e>
                    </m:acc>
                  </m:oMath>
                </a14:m>
                <a:r>
                  <a:rPr lang="ar-AE" dirty="0"/>
                  <a:t> </a:t>
                </a:r>
                <a:r>
                  <a:rPr lang="nl-BE" dirty="0"/>
                  <a:t>van een punt </a:t>
                </a:r>
                <a14:m>
                  <m:oMath xmlns:m="http://schemas.openxmlformats.org/officeDocument/2006/math">
                    <m:r>
                      <a:rPr lang="nl-BE">
                        <a:latin typeface="Cambria Math" panose="02040503050406030204" pitchFamily="18" charset="0"/>
                      </a:rPr>
                      <m:t>𝑃</m:t>
                    </m:r>
                    <m:d>
                      <m:dPr>
                        <m:ctrlPr>
                          <a:rPr lang="ar-AE">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r>
                          <a:rPr lang="ar-AE">
                            <a:latin typeface="Cambria Math" panose="02040503050406030204" pitchFamily="18" charset="0"/>
                          </a:rPr>
                          <m:t>𝑦</m:t>
                        </m:r>
                        <m:r>
                          <a:rPr lang="ar-AE">
                            <a:latin typeface="Cambria Math" panose="02040503050406030204" pitchFamily="18" charset="0"/>
                          </a:rPr>
                          <m:t>,</m:t>
                        </m:r>
                        <m:r>
                          <a:rPr lang="ar-AE">
                            <a:latin typeface="Cambria Math" panose="02040503050406030204" pitchFamily="18" charset="0"/>
                          </a:rPr>
                          <m:t>𝑧</m:t>
                        </m:r>
                      </m:e>
                    </m:d>
                  </m:oMath>
                </a14:m>
                <a:r>
                  <a:rPr lang="ar-AE" dirty="0"/>
                  <a:t>:</a:t>
                </a:r>
              </a:p>
              <a:p>
                <a:pPr lvl="0"/>
                <a14:m>
                  <m:oMath xmlns:m="http://schemas.openxmlformats.org/officeDocument/2006/math">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r>
                      <a:rPr lang="ar-AE">
                        <a:latin typeface="Cambria Math" panose="02040503050406030204" pitchFamily="18" charset="0"/>
                      </a:rPr>
                      <m:t>𝑥</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r>
                      <a:rPr lang="ar-AE">
                        <a:latin typeface="Cambria Math" panose="02040503050406030204" pitchFamily="18" charset="0"/>
                      </a:rPr>
                      <m:t>𝑦</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𝑦</m:t>
                        </m:r>
                      </m:sub>
                    </m:sSub>
                    <m:r>
                      <a:rPr lang="ar-AE">
                        <a:latin typeface="Cambria Math" panose="02040503050406030204" pitchFamily="18" charset="0"/>
                      </a:rPr>
                      <m:t>+</m:t>
                    </m:r>
                    <m:r>
                      <a:rPr lang="ar-AE">
                        <a:latin typeface="Cambria Math" panose="02040503050406030204" pitchFamily="18" charset="0"/>
                      </a:rPr>
                      <m:t>𝑧</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𝑧</m:t>
                        </m:r>
                      </m:sub>
                    </m:sSub>
                  </m:oMath>
                </a14:m>
                <a:endParaRPr lang="ar-AE" dirty="0"/>
              </a:p>
              <a:p>
                <a:pPr lvl="0"/>
                <a:r>
                  <a:rPr lang="nl-BE" b="1" dirty="0"/>
                  <a:t>Beginpunt</a:t>
                </a:r>
                <a:r>
                  <a:rPr lang="nl-BE" dirty="0"/>
                  <a:t>: oorsprong </a:t>
                </a:r>
                <a14:m>
                  <m:oMath xmlns:m="http://schemas.openxmlformats.org/officeDocument/2006/math">
                    <m:r>
                      <a:rPr lang="nl-BE">
                        <a:latin typeface="Cambria Math" panose="02040503050406030204" pitchFamily="18" charset="0"/>
                      </a:rPr>
                      <m:t>𝑂</m:t>
                    </m:r>
                  </m:oMath>
                </a14:m>
                <a:r>
                  <a:rPr lang="nl-BE" dirty="0"/>
                  <a:t>. </a:t>
                </a:r>
                <a:r>
                  <a:rPr lang="nl-BE" b="1" dirty="0"/>
                  <a:t>Eindpunt</a:t>
                </a:r>
                <a:r>
                  <a:rPr lang="nl-BE" dirty="0"/>
                  <a:t>: het punt </a:t>
                </a:r>
                <a14:m>
                  <m:oMath xmlns:m="http://schemas.openxmlformats.org/officeDocument/2006/math">
                    <m:r>
                      <a:rPr lang="nl-BE">
                        <a:latin typeface="Cambria Math" panose="02040503050406030204" pitchFamily="18" charset="0"/>
                      </a:rPr>
                      <m:t>𝑃</m:t>
                    </m:r>
                  </m:oMath>
                </a14:m>
                <a:r>
                  <a:rPr lang="nl-BE" dirty="0"/>
                  <a:t>.</a:t>
                </a:r>
                <a:br>
                  <a:rPr lang="nl-BE" dirty="0"/>
                </a:br>
                <a:endParaRPr lang="nl-BE" dirty="0"/>
              </a:p>
              <a:p>
                <a:pPr lvl="0"/>
                <a:r>
                  <a:rPr lang="nl-BE" dirty="0"/>
                  <a:t>Interpretatie: vector wijst van </a:t>
                </a:r>
                <a14:m>
                  <m:oMath xmlns:m="http://schemas.openxmlformats.org/officeDocument/2006/math">
                    <m:r>
                      <a:rPr lang="nl-BE">
                        <a:latin typeface="Cambria Math" panose="02040503050406030204" pitchFamily="18" charset="0"/>
                      </a:rPr>
                      <m:t>𝑂</m:t>
                    </m:r>
                  </m:oMath>
                </a14:m>
                <a:r>
                  <a:rPr lang="nl-BE" dirty="0"/>
                  <a:t> naar </a:t>
                </a:r>
                <a:br>
                  <a:rPr lang="nl-BE" dirty="0"/>
                </a:br>
                <a:r>
                  <a:rPr lang="nl-BE" dirty="0"/>
                  <a:t>de </a:t>
                </a:r>
                <a:r>
                  <a:rPr lang="nl-BE" b="1" dirty="0"/>
                  <a:t>locatie</a:t>
                </a:r>
                <a:r>
                  <a:rPr lang="nl-BE" dirty="0"/>
                  <a:t> van de puntmassa.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97D488DB-001D-B907-3EE8-8AA88601D9F6}"/>
              </a:ext>
            </a:extLst>
          </p:cNvPr>
          <p:cNvPicPr>
            <a:picLocks noChangeAspect="1"/>
          </p:cNvPicPr>
          <p:nvPr/>
        </p:nvPicPr>
        <p:blipFill>
          <a:blip r:embed="rId3"/>
          <a:stretch>
            <a:fillRect/>
          </a:stretch>
        </p:blipFill>
        <p:spPr>
          <a:xfrm>
            <a:off x="8385187" y="3262265"/>
            <a:ext cx="3543110" cy="33542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dirty="0" err="1"/>
              <a:t>Plaatsvector</a:t>
            </a:r>
            <a:r>
              <a:rPr dirty="0"/>
              <a:t> — </a:t>
            </a:r>
            <a:r>
              <a:rPr dirty="0" err="1"/>
              <a:t>notatie</a:t>
            </a:r>
            <a:r>
              <a:rPr dirty="0"/>
              <a:t> &amp; </a:t>
            </a:r>
            <a:r>
              <a:rPr dirty="0" err="1"/>
              <a:t>groot</a:t>
            </a:r>
            <a:r>
              <a:rPr lang="nl-BE" dirty="0"/>
              <a:t>te</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499" y="1612343"/>
                <a:ext cx="11609798" cy="5272739"/>
              </a:xfrm>
            </p:spPr>
            <p:txBody>
              <a:bodyPr/>
              <a:lstStyle/>
              <a:p>
                <a:pPr lvl="0"/>
                <a:r>
                  <a:rPr dirty="0" err="1"/>
                  <a:t>Componentnotatie</a:t>
                </a:r>
                <a:r>
                  <a:rPr dirty="0"/>
                  <a:t>: </a:t>
                </a:r>
                <a14:m>
                  <m:oMath xmlns:m="http://schemas.openxmlformats.org/officeDocument/2006/math">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𝑥</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𝑦</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𝑧</m:t>
                            </m:r>
                          </m:sub>
                        </m:sSub>
                      </m:e>
                    </m:d>
                  </m:oMath>
                </a14:m>
                <a:r>
                  <a:rPr dirty="0"/>
                  <a:t> met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𝑥</m:t>
                        </m:r>
                      </m:sub>
                    </m:sSub>
                    <m:r>
                      <a:rPr>
                        <a:latin typeface="Cambria Math" panose="02040503050406030204" pitchFamily="18" charset="0"/>
                      </a:rPr>
                      <m:t>=</m:t>
                    </m:r>
                    <m:r>
                      <a:rPr>
                        <a:latin typeface="Cambria Math" panose="02040503050406030204" pitchFamily="18" charset="0"/>
                      </a:rPr>
                      <m:t>𝑥</m:t>
                    </m:r>
                  </m:oMath>
                </a14:m>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𝑦</m:t>
                        </m:r>
                      </m:sub>
                    </m:sSub>
                    <m:r>
                      <a:rPr>
                        <a:latin typeface="Cambria Math" panose="02040503050406030204" pitchFamily="18" charset="0"/>
                      </a:rPr>
                      <m:t>=</m:t>
                    </m:r>
                    <m:r>
                      <a:rPr>
                        <a:latin typeface="Cambria Math" panose="02040503050406030204" pitchFamily="18" charset="0"/>
                      </a:rPr>
                      <m:t>𝑦</m:t>
                    </m:r>
                  </m:oMath>
                </a14:m>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𝑧</m:t>
                        </m:r>
                      </m:sub>
                    </m:sSub>
                    <m:r>
                      <a:rPr>
                        <a:latin typeface="Cambria Math" panose="02040503050406030204" pitchFamily="18" charset="0"/>
                      </a:rPr>
                      <m:t>=</m:t>
                    </m:r>
                    <m:r>
                      <a:rPr>
                        <a:latin typeface="Cambria Math" panose="02040503050406030204" pitchFamily="18" charset="0"/>
                      </a:rPr>
                      <m:t>𝑧</m:t>
                    </m:r>
                  </m:oMath>
                </a14:m>
                <a:r>
                  <a:rPr dirty="0"/>
                  <a:t>.</a:t>
                </a:r>
                <a:br>
                  <a:rPr dirty="0"/>
                </a:br>
                <a:endParaRPr dirty="0"/>
              </a:p>
              <a:p>
                <a:pPr lvl="0"/>
                <a:r>
                  <a:rPr dirty="0" err="1"/>
                  <a:t>Grootte</a:t>
                </a:r>
                <a:r>
                  <a:rPr dirty="0"/>
                  <a:t> van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r>
                  <a:rPr dirty="0"/>
                  <a:t>:</a:t>
                </a:r>
              </a:p>
              <a:p>
                <a:pPr lvl="0"/>
                <a14:m>
                  <m:oMath xmlns:m="http://schemas.openxmlformats.org/officeDocument/2006/math">
                    <m:r>
                      <a:rPr>
                        <a:latin typeface="Cambria Math" panose="02040503050406030204" pitchFamily="18" charset="0"/>
                      </a:rPr>
                      <m:t>𝑟</m:t>
                    </m:r>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rad>
                      <m:radPr>
                        <m:degHide m:val="on"/>
                        <m:ctrlPr>
                          <a:rPr i="1">
                            <a:latin typeface="Cambria Math" panose="02040503050406030204" pitchFamily="18" charset="0"/>
                          </a:rPr>
                        </m:ctrlPr>
                      </m:radPr>
                      <m:deg/>
                      <m:e>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2</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𝑧</m:t>
                            </m:r>
                          </m:e>
                          <m:sup>
                            <m:r>
                              <a:rPr>
                                <a:latin typeface="Cambria Math" panose="02040503050406030204" pitchFamily="18" charset="0"/>
                              </a:rPr>
                              <m:t>2</m:t>
                            </m:r>
                          </m:sup>
                        </m:sSup>
                      </m:e>
                    </m:rad>
                  </m:oMath>
                </a14:m>
                <a:endParaRPr dirty="0"/>
              </a:p>
              <a:p>
                <a:pPr lvl="0"/>
                <a:r>
                  <a:rPr dirty="0" err="1"/>
                  <a:t>Coördinaten</a:t>
                </a:r>
                <a:r>
                  <a:rPr dirty="0"/>
                  <a:t> </a:t>
                </a:r>
                <a:r>
                  <a:rPr dirty="0" err="1"/>
                  <a:t>kunnen</a:t>
                </a:r>
                <a:r>
                  <a:rPr dirty="0"/>
                  <a:t> </a:t>
                </a:r>
                <a:r>
                  <a:rPr b="1" dirty="0" err="1"/>
                  <a:t>positief</a:t>
                </a:r>
                <a:r>
                  <a:rPr b="1" dirty="0"/>
                  <a:t>/</a:t>
                </a:r>
                <a:r>
                  <a:rPr b="1" dirty="0" err="1"/>
                  <a:t>negatief</a:t>
                </a:r>
                <a:r>
                  <a:rPr dirty="0"/>
                  <a:t> </a:t>
                </a:r>
                <a:br>
                  <a:rPr lang="nl-BE" dirty="0"/>
                </a:br>
                <a:r>
                  <a:rPr dirty="0" err="1"/>
                  <a:t>zijn</a:t>
                </a:r>
                <a:r>
                  <a:rPr dirty="0"/>
                  <a:t> </a:t>
                </a:r>
                <a:r>
                  <a:rPr dirty="0" err="1"/>
                  <a:t>naargelang</a:t>
                </a:r>
                <a:r>
                  <a:rPr dirty="0"/>
                  <a:t> de </a:t>
                </a:r>
                <a:r>
                  <a:rPr dirty="0" err="1"/>
                  <a:t>gekozen</a:t>
                </a:r>
                <a:r>
                  <a:rPr dirty="0"/>
                  <a:t> </a:t>
                </a:r>
                <a:r>
                  <a:rPr dirty="0" err="1"/>
                  <a:t>aszin</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499" y="1612343"/>
                <a:ext cx="11609798" cy="5272739"/>
              </a:xfrm>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C9496C7A-4A61-7AC1-101A-0F6626456A50}"/>
              </a:ext>
            </a:extLst>
          </p:cNvPr>
          <p:cNvPicPr>
            <a:picLocks noChangeAspect="1"/>
          </p:cNvPicPr>
          <p:nvPr/>
        </p:nvPicPr>
        <p:blipFill>
          <a:blip r:embed="rId3"/>
          <a:stretch>
            <a:fillRect/>
          </a:stretch>
        </p:blipFill>
        <p:spPr>
          <a:xfrm>
            <a:off x="7942131" y="2637632"/>
            <a:ext cx="3038475" cy="2876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nl-BE" dirty="0"/>
              <a:t>M</a:t>
            </a:r>
            <a:r>
              <a:rPr dirty="0"/>
              <a:t>eten in de </a:t>
            </a:r>
            <a:r>
              <a:rPr dirty="0" err="1"/>
              <a:t>praktijk</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t>Voor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r>
                  <a:t> meet je </a:t>
                </a:r>
                <a:r>
                  <a:rPr b="1"/>
                  <a:t>coördinaten</a:t>
                </a:r>
                <a:r>
                  <a:t> (niet de vector zelf) met liniaal/meetlat.</a:t>
                </a:r>
                <a:br/>
                <a:endParaRPr/>
              </a:p>
              <a:p>
                <a:pPr lvl="0"/>
                <a:r>
                  <a:rPr b="1"/>
                  <a:t>Afspraken vooraf</a:t>
                </a:r>
                <a:r>
                  <a:t>:</a:t>
                </a:r>
              </a:p>
              <a:p>
                <a:pPr lvl="1"/>
                <a:r>
                  <a:t>waar ligt </a:t>
                </a:r>
                <a14:m>
                  <m:oMath xmlns:m="http://schemas.openxmlformats.org/officeDocument/2006/math">
                    <m:r>
                      <a:rPr>
                        <a:latin typeface="Cambria Math" panose="02040503050406030204" pitchFamily="18" charset="0"/>
                      </a:rPr>
                      <m:t>𝑂</m:t>
                    </m:r>
                  </m:oMath>
                </a14:m>
                <a:r>
                  <a:t>?</a:t>
                </a:r>
                <a:br/>
                <a:endParaRPr/>
              </a:p>
              <a:p>
                <a:pPr lvl="1"/>
                <a:r>
                  <a:t>wat is de </a:t>
                </a:r>
                <a:r>
                  <a:rPr b="1"/>
                  <a:t>schaal</a:t>
                </a:r>
                <a:r>
                  <a:t> (eenheid op elke as)?</a:t>
                </a:r>
                <a:br/>
                <a:endParaRPr/>
              </a:p>
              <a:p>
                <a:pPr lvl="1"/>
                <a:r>
                  <a:t>welke </a:t>
                </a:r>
                <a:r>
                  <a:rPr b="1"/>
                  <a:t>zin</a:t>
                </a:r>
                <a:r>
                  <a:t> heeft elke 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EE948AB5-2A0C-676A-A4C2-9E66294DCC4D}"/>
              </a:ext>
            </a:extLst>
          </p:cNvPr>
          <p:cNvPicPr>
            <a:picLocks noChangeAspect="1"/>
          </p:cNvPicPr>
          <p:nvPr/>
        </p:nvPicPr>
        <p:blipFill>
          <a:blip r:embed="rId3"/>
          <a:stretch>
            <a:fillRect/>
          </a:stretch>
        </p:blipFill>
        <p:spPr>
          <a:xfrm>
            <a:off x="7429690" y="2523076"/>
            <a:ext cx="4128326" cy="39083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dirty="0" err="1"/>
              <a:t>Veranderen</a:t>
            </a:r>
            <a:r>
              <a:rPr dirty="0"/>
              <a:t> van </a:t>
            </a:r>
            <a:r>
              <a:rPr dirty="0" err="1"/>
              <a:t>oorsprong</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dirty="0"/>
                  <a:t>Nieuw </a:t>
                </a:r>
                <a:r>
                  <a:rPr dirty="0" err="1"/>
                  <a:t>stelsel</a:t>
                </a:r>
                <a:r>
                  <a:rPr dirty="0"/>
                  <a:t> </a:t>
                </a:r>
                <a14:m>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r>
                          <a:rPr>
                            <a:latin typeface="Cambria Math" panose="02040503050406030204" pitchFamily="18" charset="0"/>
                          </a:rPr>
                          <m:t>′</m:t>
                        </m:r>
                      </m:e>
                    </m:d>
                  </m:oMath>
                </a14:m>
                <a:r>
                  <a:rPr dirty="0"/>
                  <a:t> met </a:t>
                </a:r>
                <a:r>
                  <a:rPr dirty="0" err="1"/>
                  <a:t>oorsprong</a:t>
                </a:r>
                <a:r>
                  <a:rPr dirty="0"/>
                  <a:t> </a:t>
                </a:r>
                <a14:m>
                  <m:oMath xmlns:m="http://schemas.openxmlformats.org/officeDocument/2006/math">
                    <m:r>
                      <a:rPr>
                        <a:latin typeface="Cambria Math" panose="02040503050406030204" pitchFamily="18" charset="0"/>
                      </a:rPr>
                      <m:t>𝑂</m:t>
                    </m:r>
                    <m:r>
                      <a:rPr>
                        <a:latin typeface="Cambria Math" panose="02040503050406030204" pitchFamily="18" charset="0"/>
                      </a:rPr>
                      <m:t>′</m:t>
                    </m:r>
                  </m:oMath>
                </a14:m>
                <a:r>
                  <a:rPr dirty="0"/>
                  <a:t> </a:t>
                </a:r>
                <a:r>
                  <a:rPr dirty="0" err="1"/>
                  <a:t>zal</a:t>
                </a:r>
                <a:r>
                  <a:rPr dirty="0"/>
                  <a:t> </a:t>
                </a:r>
                <a:r>
                  <a:rPr b="1" dirty="0" err="1"/>
                  <a:t>andere</a:t>
                </a:r>
                <a:r>
                  <a:rPr b="1" dirty="0"/>
                  <a:t> </a:t>
                </a:r>
                <a:r>
                  <a:rPr b="1" dirty="0" err="1"/>
                  <a:t>coördinaten</a:t>
                </a:r>
                <a:r>
                  <a:rPr dirty="0"/>
                  <a:t> </a:t>
                </a:r>
                <a:r>
                  <a:rPr dirty="0" err="1"/>
                  <a:t>geven</a:t>
                </a:r>
                <a:r>
                  <a:rPr dirty="0"/>
                  <a:t>.</a:t>
                </a:r>
                <a:br>
                  <a:rPr dirty="0"/>
                </a:br>
                <a:endParaRPr dirty="0"/>
              </a:p>
              <a:p>
                <a:pPr lvl="0"/>
                <a:r>
                  <a:rPr b="1" dirty="0" err="1"/>
                  <a:t>Zelfde</a:t>
                </a:r>
                <a:r>
                  <a:rPr b="1" dirty="0"/>
                  <a:t> punt</a:t>
                </a:r>
                <a:r>
                  <a:rPr dirty="0"/>
                  <a:t> </a:t>
                </a:r>
                <a14:m>
                  <m:oMath xmlns:m="http://schemas.openxmlformats.org/officeDocument/2006/math">
                    <m:r>
                      <a:rPr>
                        <a:latin typeface="Cambria Math" panose="02040503050406030204" pitchFamily="18" charset="0"/>
                      </a:rPr>
                      <m:t>𝑃</m:t>
                    </m:r>
                  </m:oMath>
                </a14:m>
                <a:r>
                  <a:rPr dirty="0"/>
                  <a:t> </a:t>
                </a:r>
                <a14:m>
                  <m:oMath xmlns:m="http://schemas.openxmlformats.org/officeDocument/2006/math">
                    <m:r>
                      <a:rPr>
                        <a:latin typeface="Cambria Math" panose="02040503050406030204" pitchFamily="18" charset="0"/>
                      </a:rPr>
                      <m:t>⇒</m:t>
                    </m:r>
                  </m:oMath>
                </a14:m>
                <a:r>
                  <a:rPr dirty="0"/>
                  <a:t> </a:t>
                </a:r>
                <a:r>
                  <a:rPr b="1" dirty="0" err="1"/>
                  <a:t>andere</a:t>
                </a:r>
                <a:r>
                  <a:rPr b="1" dirty="0"/>
                  <a:t> </a:t>
                </a:r>
                <a:r>
                  <a:rPr b="1" dirty="0" err="1"/>
                  <a:t>tripel</a:t>
                </a:r>
                <a:r>
                  <a:rPr dirty="0"/>
                  <a:t> </a:t>
                </a:r>
                <a14:m>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r>
                          <a:rPr>
                            <a:latin typeface="Cambria Math" panose="02040503050406030204" pitchFamily="18" charset="0"/>
                          </a:rPr>
                          <m:t>′</m:t>
                        </m:r>
                      </m:e>
                    </m:d>
                  </m:oMath>
                </a14:m>
                <a:r>
                  <a:rPr dirty="0"/>
                  <a:t>, maar </a:t>
                </a:r>
                <a:r>
                  <a:rPr b="1" dirty="0" err="1"/>
                  <a:t>fysische</a:t>
                </a:r>
                <a:r>
                  <a:rPr b="1" dirty="0"/>
                  <a:t> </a:t>
                </a:r>
                <a:r>
                  <a:rPr b="1" dirty="0" err="1"/>
                  <a:t>situatie</a:t>
                </a:r>
                <a:r>
                  <a:rPr dirty="0"/>
                  <a:t> </a:t>
                </a:r>
                <a:r>
                  <a:rPr dirty="0" err="1"/>
                  <a:t>blijft</a:t>
                </a:r>
                <a:r>
                  <a:rPr dirty="0"/>
                  <a:t> </a:t>
                </a:r>
                <a:r>
                  <a:rPr dirty="0" err="1"/>
                  <a:t>identiek</a:t>
                </a:r>
                <a:r>
                  <a:rPr dirty="0"/>
                  <a:t>.</a:t>
                </a:r>
                <a:br>
                  <a:rPr dirty="0"/>
                </a:b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D557F385-CB8A-D172-2FEC-CCA8B63144BA}"/>
              </a:ext>
            </a:extLst>
          </p:cNvPr>
          <p:cNvPicPr>
            <a:picLocks noChangeAspect="1"/>
          </p:cNvPicPr>
          <p:nvPr/>
        </p:nvPicPr>
        <p:blipFill>
          <a:blip r:embed="rId3"/>
          <a:stretch>
            <a:fillRect/>
          </a:stretch>
        </p:blipFill>
        <p:spPr>
          <a:xfrm>
            <a:off x="4379520" y="3537966"/>
            <a:ext cx="3386784" cy="2900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Valkuilen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t>Tijd </a:t>
                </a:r>
                <a14:m>
                  <m:oMath xmlns:m="http://schemas.openxmlformats.org/officeDocument/2006/math">
                    <m:r>
                      <a:rPr>
                        <a:latin typeface="Cambria Math" panose="02040503050406030204" pitchFamily="18" charset="0"/>
                      </a:rPr>
                      <m:t>𝑡</m:t>
                    </m:r>
                  </m:oMath>
                </a14:m>
                <a:r>
                  <a:t> is </a:t>
                </a:r>
                <a:r>
                  <a:rPr b="1"/>
                  <a:t>geen vector</a:t>
                </a:r>
                <a:r>
                  <a:t> (scalaire grootheid).</a:t>
                </a:r>
                <a:br/>
                <a:endParaRPr/>
              </a:p>
              <a:p>
                <a:pPr lvl="0"/>
                <a:r>
                  <a:rPr b="1"/>
                  <a:t>Plaats zonder referentie</a:t>
                </a:r>
                <a:r>
                  <a:t> is betekenisloos: altijd </a:t>
                </a:r>
                <a:r>
                  <a:rPr b="1"/>
                  <a:t>t.o.v.</a:t>
                </a:r>
                <a:r>
                  <a:t> een stelsel.</a:t>
                </a:r>
                <a:br/>
                <a:endParaRPr/>
              </a:p>
              <a:p>
                <a:pPr lvl="0"/>
                <a:r>
                  <a:rPr b="1"/>
                  <a:t>Teken</a:t>
                </a:r>
                <a:r>
                  <a:t> van coördinaten hangt af van </a:t>
                </a:r>
                <a:r>
                  <a:rPr b="1"/>
                  <a:t>keuze</a:t>
                </a:r>
                <a:r>
                  <a:t> van </a:t>
                </a:r>
                <a14:m>
                  <m:oMath xmlns:m="http://schemas.openxmlformats.org/officeDocument/2006/math">
                    <m:r>
                      <a:rPr>
                        <a:latin typeface="Cambria Math" panose="02040503050406030204" pitchFamily="18" charset="0"/>
                      </a:rPr>
                      <m:t>𝑂</m:t>
                    </m:r>
                  </m:oMath>
                </a14:m>
                <a:r>
                  <a:t> en aszinnen.</a:t>
                </a:r>
                <a:br/>
                <a:endParaRPr/>
              </a:p>
              <a:p>
                <a:pPr lvl="0"/>
                <a:r>
                  <a:t>Verwissel </a:t>
                </a:r>
                <a:r>
                  <a:rPr b="1"/>
                  <a:t>punt</a:t>
                </a:r>
                <a:r>
                  <a:t> (locatie) niet met </a:t>
                </a:r>
                <a:r>
                  <a:rPr b="1"/>
                  <a:t>vector</a:t>
                </a:r>
                <a:r>
                  <a:t> (van </a:t>
                </a:r>
                <a14:m>
                  <m:oMath xmlns:m="http://schemas.openxmlformats.org/officeDocument/2006/math">
                    <m:r>
                      <a:rPr>
                        <a:latin typeface="Cambria Math" panose="02040503050406030204" pitchFamily="18" charset="0"/>
                      </a:rPr>
                      <m:t>𝑂</m:t>
                    </m:r>
                  </m:oMath>
                </a14:m>
                <a:r>
                  <a:t> naar die locatie).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Check jezelf (juist / fout)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marL="457200" lvl="0" indent="-457200">
                  <a:buAutoNum type="arabicPeriod"/>
                </a:pPr>
                <a:r>
                  <a:rPr dirty="0"/>
                  <a:t>De </a:t>
                </a:r>
                <a:r>
                  <a:rPr dirty="0" err="1"/>
                  <a:t>tijd</a:t>
                </a:r>
                <a:r>
                  <a:rPr dirty="0"/>
                  <a:t> </a:t>
                </a:r>
                <a14:m>
                  <m:oMath xmlns:m="http://schemas.openxmlformats.org/officeDocument/2006/math">
                    <m:r>
                      <a:rPr>
                        <a:latin typeface="Cambria Math" panose="02040503050406030204" pitchFamily="18" charset="0"/>
                      </a:rPr>
                      <m:t>𝑡</m:t>
                    </m:r>
                  </m:oMath>
                </a14:m>
                <a:r>
                  <a:rPr dirty="0"/>
                  <a:t> is </a:t>
                </a:r>
                <a:r>
                  <a:rPr dirty="0" err="1"/>
                  <a:t>vectorieel</a:t>
                </a:r>
                <a:r>
                  <a:rPr dirty="0"/>
                  <a:t>.</a:t>
                </a:r>
                <a:br>
                  <a:rPr dirty="0"/>
                </a:br>
                <a:endParaRPr dirty="0"/>
              </a:p>
              <a:p>
                <a:pPr marL="457200" lvl="0" indent="-457200">
                  <a:buAutoNum type="arabicPeriod"/>
                </a:pPr>
                <a:r>
                  <a:rPr dirty="0"/>
                  <a:t>De </a:t>
                </a:r>
                <a:r>
                  <a:rPr dirty="0" err="1"/>
                  <a:t>plaats</a:t>
                </a:r>
                <a:r>
                  <a:rPr dirty="0"/>
                  <a:t> van </a:t>
                </a:r>
                <a:r>
                  <a:rPr dirty="0" err="1"/>
                  <a:t>een</a:t>
                </a:r>
                <a:r>
                  <a:rPr dirty="0"/>
                  <a:t> </a:t>
                </a:r>
                <a:r>
                  <a:rPr dirty="0" err="1"/>
                  <a:t>voorwerp</a:t>
                </a:r>
                <a:r>
                  <a:rPr dirty="0"/>
                  <a:t> is </a:t>
                </a:r>
                <a:r>
                  <a:rPr dirty="0" err="1"/>
                  <a:t>onafhankelijk</a:t>
                </a:r>
                <a:r>
                  <a:rPr dirty="0"/>
                  <a:t> van het </a:t>
                </a:r>
                <a:r>
                  <a:rPr dirty="0" err="1"/>
                  <a:t>gekozen</a:t>
                </a:r>
                <a:r>
                  <a:rPr dirty="0"/>
                  <a:t> </a:t>
                </a:r>
                <a:r>
                  <a:rPr dirty="0" err="1"/>
                  <a:t>referentiestelsel</a:t>
                </a:r>
                <a:r>
                  <a:rPr dirty="0"/>
                  <a:t>.</a:t>
                </a:r>
                <a:br>
                  <a:rPr dirty="0"/>
                </a:br>
                <a:endParaRPr dirty="0"/>
              </a:p>
              <a:p>
                <a:pPr marL="457200" lvl="0" indent="-457200">
                  <a:buAutoNum type="arabicPeriod"/>
                </a:pPr>
                <a:r>
                  <a:rPr dirty="0"/>
                  <a:t>In </a:t>
                </a:r>
                <a:r>
                  <a:rPr dirty="0" err="1"/>
                  <a:t>een</a:t>
                </a:r>
                <a:r>
                  <a:rPr dirty="0"/>
                  <a:t> </a:t>
                </a:r>
                <a:r>
                  <a:rPr dirty="0" err="1"/>
                  <a:t>klassiek</a:t>
                </a:r>
                <a:r>
                  <a:rPr dirty="0"/>
                  <a:t> </a:t>
                </a:r>
                <a:r>
                  <a:rPr dirty="0" err="1"/>
                  <a:t>kader</a:t>
                </a:r>
                <a:r>
                  <a:rPr dirty="0"/>
                  <a:t> </a:t>
                </a:r>
                <a:r>
                  <a:rPr dirty="0" err="1"/>
                  <a:t>delen</a:t>
                </a:r>
                <a:r>
                  <a:rPr dirty="0"/>
                  <a:t> alle </a:t>
                </a:r>
                <a:r>
                  <a:rPr dirty="0" err="1"/>
                  <a:t>waarnemers</a:t>
                </a:r>
                <a:r>
                  <a:rPr dirty="0"/>
                  <a:t> </a:t>
                </a:r>
                <a:r>
                  <a:rPr dirty="0" err="1"/>
                  <a:t>hetzelfde</a:t>
                </a:r>
                <a:r>
                  <a:rPr dirty="0"/>
                  <a:t> </a:t>
                </a:r>
                <a14:m>
                  <m:oMath xmlns:m="http://schemas.openxmlformats.org/officeDocument/2006/math">
                    <m:r>
                      <a:rPr>
                        <a:latin typeface="Cambria Math" panose="02040503050406030204" pitchFamily="18" charset="0"/>
                      </a:rPr>
                      <m:t>𝑡</m:t>
                    </m:r>
                  </m:oMath>
                </a14:m>
                <a:r>
                  <a:rPr dirty="0"/>
                  <a:t>.</a:t>
                </a:r>
                <a:br>
                  <a:rPr dirty="0"/>
                </a:br>
                <a:endParaRPr dirty="0"/>
              </a:p>
              <a:p>
                <a:pPr marL="457200" lvl="0" indent="-457200">
                  <a:buAutoNum type="arabicPeriod"/>
                </a:pPr>
                <a:r>
                  <a:rPr dirty="0"/>
                  <a:t>De </a:t>
                </a:r>
                <a:r>
                  <a:rPr dirty="0" err="1"/>
                  <a:t>plaatsvector</a:t>
                </a:r>
                <a:r>
                  <a:rPr dirty="0"/>
                  <a:t> van </a:t>
                </a:r>
                <a14:m>
                  <m:oMath xmlns:m="http://schemas.openxmlformats.org/officeDocument/2006/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e>
                    </m:d>
                  </m:oMath>
                </a14:m>
                <a:r>
                  <a:rPr dirty="0"/>
                  <a:t> is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r>
                      <a:rPr>
                        <a:latin typeface="Cambria Math" panose="02040503050406030204" pitchFamily="18" charset="0"/>
                      </a:rPr>
                      <m:t>+</m:t>
                    </m:r>
                    <m:r>
                      <a:rPr>
                        <a:latin typeface="Cambria Math" panose="02040503050406030204" pitchFamily="18" charset="0"/>
                      </a:rPr>
                      <m:t>𝑧</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𝑧</m:t>
                        </m:r>
                      </m:sub>
                    </m:sSub>
                  </m:oMath>
                </a14:m>
                <a:r>
                  <a:rPr dirty="0"/>
                  <a:t>.</a:t>
                </a:r>
                <a:br>
                  <a:rPr dirty="0"/>
                </a:br>
                <a:endParaRPr dirty="0"/>
              </a:p>
              <a:p>
                <a:pPr marL="457200" lvl="0" indent="-457200">
                  <a:buAutoNum type="arabicPeriod"/>
                </a:pPr>
                <a:r>
                  <a:rPr dirty="0"/>
                  <a:t>Een </a:t>
                </a:r>
                <a:r>
                  <a:rPr dirty="0" err="1"/>
                  <a:t>negatieve</a:t>
                </a:r>
                <a:r>
                  <a:rPr dirty="0"/>
                  <a:t> </a:t>
                </a:r>
                <a14:m>
                  <m:oMath xmlns:m="http://schemas.openxmlformats.org/officeDocument/2006/math">
                    <m:r>
                      <a:rPr>
                        <a:latin typeface="Cambria Math" panose="02040503050406030204" pitchFamily="18" charset="0"/>
                      </a:rPr>
                      <m:t>𝑥</m:t>
                    </m:r>
                  </m:oMath>
                </a14:m>
                <a:r>
                  <a:rPr dirty="0"/>
                  <a:t>-</a:t>
                </a:r>
                <a:r>
                  <a:rPr dirty="0" err="1"/>
                  <a:t>coördinaat</a:t>
                </a:r>
                <a:r>
                  <a:rPr dirty="0"/>
                  <a:t> </a:t>
                </a:r>
                <a:r>
                  <a:rPr dirty="0" err="1"/>
                  <a:t>kan</a:t>
                </a:r>
                <a:r>
                  <a:rPr dirty="0"/>
                  <a:t> </a:t>
                </a:r>
                <a:r>
                  <a:rPr dirty="0" err="1"/>
                  <a:t>niet</a:t>
                </a:r>
                <a:r>
                  <a:rPr dirty="0"/>
                  <a:t>, want </a:t>
                </a:r>
                <a:r>
                  <a:rPr dirty="0" err="1"/>
                  <a:t>afstand</a:t>
                </a:r>
                <a:r>
                  <a:rPr dirty="0"/>
                  <a:t> is </a:t>
                </a:r>
                <a:r>
                  <a:rPr dirty="0" err="1"/>
                  <a:t>altijd</a:t>
                </a:r>
                <a:r>
                  <a:rPr dirty="0"/>
                  <a:t> </a:t>
                </a:r>
                <a:r>
                  <a:rPr dirty="0" err="1"/>
                  <a:t>positief</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C9D9-AF50-545B-B942-D6AB4FC99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C5E49-7FBB-B497-BA2D-6C91483C0F43}"/>
              </a:ext>
            </a:extLst>
          </p:cNvPr>
          <p:cNvSpPr>
            <a:spLocks noGrp="1"/>
          </p:cNvSpPr>
          <p:nvPr>
            <p:ph type="title"/>
          </p:nvPr>
        </p:nvSpPr>
        <p:spPr/>
        <p:txBody>
          <a:bodyPr/>
          <a:lstStyle/>
          <a:p>
            <a:pPr marL="0" lvl="0" indent="0">
              <a:buNone/>
            </a:pPr>
            <a:r>
              <a:t>Check jezelf (juist / fout)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07283D-2F28-2878-C4F8-152D90B49CE9}"/>
                  </a:ext>
                </a:extLst>
              </p:cNvPr>
              <p:cNvSpPr>
                <a:spLocks noGrp="1"/>
              </p:cNvSpPr>
              <p:nvPr>
                <p:ph idx="1"/>
              </p:nvPr>
            </p:nvSpPr>
            <p:spPr/>
            <p:txBody>
              <a:bodyPr>
                <a:normAutofit fontScale="92500" lnSpcReduction="20000"/>
              </a:bodyPr>
              <a:lstStyle/>
              <a:p>
                <a:pPr marL="457200" lvl="0" indent="-457200">
                  <a:buAutoNum type="arabicPeriod"/>
                </a:pPr>
                <a:r>
                  <a:rPr dirty="0"/>
                  <a:t>De </a:t>
                </a:r>
                <a:r>
                  <a:rPr dirty="0" err="1"/>
                  <a:t>tijd</a:t>
                </a:r>
                <a:r>
                  <a:rPr dirty="0"/>
                  <a:t> </a:t>
                </a:r>
                <a14:m>
                  <m:oMath xmlns:m="http://schemas.openxmlformats.org/officeDocument/2006/math">
                    <m:r>
                      <a:rPr>
                        <a:latin typeface="Cambria Math" panose="02040503050406030204" pitchFamily="18" charset="0"/>
                      </a:rPr>
                      <m:t>𝑡</m:t>
                    </m:r>
                  </m:oMath>
                </a14:m>
                <a:r>
                  <a:rPr dirty="0"/>
                  <a:t> is </a:t>
                </a:r>
                <a:r>
                  <a:rPr dirty="0" err="1"/>
                  <a:t>vectorieel</a:t>
                </a:r>
                <a:r>
                  <a:rPr dirty="0"/>
                  <a:t>.</a:t>
                </a:r>
                <a:br>
                  <a:rPr dirty="0"/>
                </a:br>
                <a:endParaRPr dirty="0"/>
              </a:p>
              <a:p>
                <a:pPr marL="457200" lvl="0" indent="-457200">
                  <a:buAutoNum type="arabicPeriod"/>
                </a:pPr>
                <a:r>
                  <a:rPr dirty="0"/>
                  <a:t>De </a:t>
                </a:r>
                <a:r>
                  <a:rPr dirty="0" err="1"/>
                  <a:t>plaats</a:t>
                </a:r>
                <a:r>
                  <a:rPr dirty="0"/>
                  <a:t> van </a:t>
                </a:r>
                <a:r>
                  <a:rPr dirty="0" err="1"/>
                  <a:t>een</a:t>
                </a:r>
                <a:r>
                  <a:rPr dirty="0"/>
                  <a:t> </a:t>
                </a:r>
                <a:r>
                  <a:rPr dirty="0" err="1"/>
                  <a:t>voorwerp</a:t>
                </a:r>
                <a:r>
                  <a:rPr dirty="0"/>
                  <a:t> is </a:t>
                </a:r>
                <a:r>
                  <a:rPr dirty="0" err="1"/>
                  <a:t>onafhankelijk</a:t>
                </a:r>
                <a:r>
                  <a:rPr dirty="0"/>
                  <a:t> van het </a:t>
                </a:r>
                <a:r>
                  <a:rPr dirty="0" err="1"/>
                  <a:t>gekozen</a:t>
                </a:r>
                <a:r>
                  <a:rPr dirty="0"/>
                  <a:t> </a:t>
                </a:r>
                <a:r>
                  <a:rPr dirty="0" err="1"/>
                  <a:t>referentiestelsel</a:t>
                </a:r>
                <a:r>
                  <a:rPr dirty="0"/>
                  <a:t>.</a:t>
                </a:r>
                <a:br>
                  <a:rPr dirty="0"/>
                </a:br>
                <a:endParaRPr dirty="0"/>
              </a:p>
              <a:p>
                <a:pPr marL="457200" lvl="0" indent="-457200">
                  <a:buAutoNum type="arabicPeriod"/>
                </a:pPr>
                <a:r>
                  <a:rPr dirty="0"/>
                  <a:t>In </a:t>
                </a:r>
                <a:r>
                  <a:rPr dirty="0" err="1"/>
                  <a:t>een</a:t>
                </a:r>
                <a:r>
                  <a:rPr dirty="0"/>
                  <a:t> </a:t>
                </a:r>
                <a:r>
                  <a:rPr dirty="0" err="1"/>
                  <a:t>klassiek</a:t>
                </a:r>
                <a:r>
                  <a:rPr dirty="0"/>
                  <a:t> </a:t>
                </a:r>
                <a:r>
                  <a:rPr dirty="0" err="1"/>
                  <a:t>kader</a:t>
                </a:r>
                <a:r>
                  <a:rPr dirty="0"/>
                  <a:t> </a:t>
                </a:r>
                <a:r>
                  <a:rPr dirty="0" err="1"/>
                  <a:t>delen</a:t>
                </a:r>
                <a:r>
                  <a:rPr dirty="0"/>
                  <a:t> alle </a:t>
                </a:r>
                <a:r>
                  <a:rPr dirty="0" err="1"/>
                  <a:t>waarnemers</a:t>
                </a:r>
                <a:r>
                  <a:rPr dirty="0"/>
                  <a:t> </a:t>
                </a:r>
                <a:r>
                  <a:rPr dirty="0" err="1"/>
                  <a:t>hetzelfde</a:t>
                </a:r>
                <a:r>
                  <a:rPr dirty="0"/>
                  <a:t> </a:t>
                </a:r>
                <a14:m>
                  <m:oMath xmlns:m="http://schemas.openxmlformats.org/officeDocument/2006/math">
                    <m:r>
                      <a:rPr>
                        <a:latin typeface="Cambria Math" panose="02040503050406030204" pitchFamily="18" charset="0"/>
                      </a:rPr>
                      <m:t>𝑡</m:t>
                    </m:r>
                  </m:oMath>
                </a14:m>
                <a:r>
                  <a:rPr dirty="0"/>
                  <a:t>.</a:t>
                </a:r>
                <a:br>
                  <a:rPr dirty="0"/>
                </a:br>
                <a:endParaRPr dirty="0"/>
              </a:p>
              <a:p>
                <a:pPr marL="457200" lvl="0" indent="-457200">
                  <a:buAutoNum type="arabicPeriod"/>
                </a:pPr>
                <a:r>
                  <a:rPr dirty="0"/>
                  <a:t>De </a:t>
                </a:r>
                <a:r>
                  <a:rPr dirty="0" err="1"/>
                  <a:t>plaatsvector</a:t>
                </a:r>
                <a:r>
                  <a:rPr dirty="0"/>
                  <a:t> van </a:t>
                </a:r>
                <a14:m>
                  <m:oMath xmlns:m="http://schemas.openxmlformats.org/officeDocument/2006/math">
                    <m:r>
                      <a:rPr>
                        <a:latin typeface="Cambria Math" panose="02040503050406030204" pitchFamily="18" charset="0"/>
                      </a:rPr>
                      <m:t>𝑃</m:t>
                    </m:r>
                    <m:d>
                      <m:dPr>
                        <m:ctrlPr>
                          <a:rPr>
                            <a:latin typeface="Cambria Math" panose="02040503050406030204" pitchFamily="18" charset="0"/>
                          </a:rPr>
                        </m:ctrlPr>
                      </m:dP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e>
                    </m:d>
                  </m:oMath>
                </a14:m>
                <a:r>
                  <a:rPr dirty="0"/>
                  <a:t> is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r>
                      <a:rPr>
                        <a:latin typeface="Cambria Math" panose="02040503050406030204" pitchFamily="18" charset="0"/>
                      </a:rPr>
                      <m:t>+</m:t>
                    </m:r>
                    <m:r>
                      <a:rPr>
                        <a:latin typeface="Cambria Math" panose="02040503050406030204" pitchFamily="18" charset="0"/>
                      </a:rPr>
                      <m:t>𝑧</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𝑧</m:t>
                        </m:r>
                      </m:sub>
                    </m:sSub>
                  </m:oMath>
                </a14:m>
                <a:r>
                  <a:rPr dirty="0"/>
                  <a:t>.</a:t>
                </a:r>
                <a:br>
                  <a:rPr dirty="0"/>
                </a:br>
                <a:endParaRPr dirty="0"/>
              </a:p>
              <a:p>
                <a:pPr marL="457200" lvl="0" indent="-457200">
                  <a:buAutoNum type="arabicPeriod"/>
                </a:pPr>
                <a:r>
                  <a:rPr dirty="0"/>
                  <a:t>Een </a:t>
                </a:r>
                <a:r>
                  <a:rPr dirty="0" err="1"/>
                  <a:t>negatieve</a:t>
                </a:r>
                <a:r>
                  <a:rPr dirty="0"/>
                  <a:t> </a:t>
                </a:r>
                <a14:m>
                  <m:oMath xmlns:m="http://schemas.openxmlformats.org/officeDocument/2006/math">
                    <m:r>
                      <a:rPr>
                        <a:latin typeface="Cambria Math" panose="02040503050406030204" pitchFamily="18" charset="0"/>
                      </a:rPr>
                      <m:t>𝑥</m:t>
                    </m:r>
                  </m:oMath>
                </a14:m>
                <a:r>
                  <a:rPr dirty="0"/>
                  <a:t>-</a:t>
                </a:r>
                <a:r>
                  <a:rPr dirty="0" err="1"/>
                  <a:t>coördinaat</a:t>
                </a:r>
                <a:r>
                  <a:rPr dirty="0"/>
                  <a:t> </a:t>
                </a:r>
                <a:r>
                  <a:rPr dirty="0" err="1"/>
                  <a:t>kan</a:t>
                </a:r>
                <a:r>
                  <a:rPr dirty="0"/>
                  <a:t> </a:t>
                </a:r>
                <a:r>
                  <a:rPr dirty="0" err="1"/>
                  <a:t>niet</a:t>
                </a:r>
                <a:r>
                  <a:rPr dirty="0"/>
                  <a:t>, want </a:t>
                </a:r>
                <a:r>
                  <a:rPr dirty="0" err="1"/>
                  <a:t>afstand</a:t>
                </a:r>
                <a:r>
                  <a:rPr dirty="0"/>
                  <a:t> is </a:t>
                </a:r>
                <a:r>
                  <a:rPr dirty="0" err="1"/>
                  <a:t>altijd</a:t>
                </a:r>
                <a:r>
                  <a:rPr dirty="0"/>
                  <a:t> </a:t>
                </a:r>
                <a:r>
                  <a:rPr dirty="0" err="1"/>
                  <a:t>positief</a:t>
                </a:r>
                <a:r>
                  <a:rPr dirty="0"/>
                  <a:t>.</a:t>
                </a:r>
              </a:p>
              <a:p>
                <a:pPr marL="0" lvl="0" indent="0">
                  <a:buNone/>
                </a:pPr>
                <a:r>
                  <a:rPr b="1" dirty="0" err="1"/>
                  <a:t>Antwoorden</a:t>
                </a:r>
                <a:r>
                  <a:rPr b="1" dirty="0"/>
                  <a:t>:</a:t>
                </a:r>
                <a:r>
                  <a:rPr dirty="0"/>
                  <a:t> 1:Fout — 2:Fout — 3:Juist — 4:Juist — 5:Fout</a:t>
                </a:r>
              </a:p>
            </p:txBody>
          </p:sp>
        </mc:Choice>
        <mc:Fallback xmlns="">
          <p:sp>
            <p:nvSpPr>
              <p:cNvPr id="3" name="Content Placeholder 2">
                <a:extLst>
                  <a:ext uri="{FF2B5EF4-FFF2-40B4-BE49-F238E27FC236}">
                    <a16:creationId xmlns:a16="http://schemas.microsoft.com/office/drawing/2014/main" id="{7C07283D-2F28-2878-C4F8-152D90B49CE9}"/>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3584188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Plaatscoördinaten</a:t>
            </a:r>
            <a:r>
              <a:rPr dirty="0"/>
              <a:t> </a:t>
            </a:r>
            <a:r>
              <a:rPr dirty="0" err="1"/>
              <a:t>meten</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dirty="0"/>
                  <a:t>We </a:t>
                </a:r>
                <a:r>
                  <a:rPr dirty="0" err="1"/>
                  <a:t>meten</a:t>
                </a:r>
                <a:r>
                  <a:rPr dirty="0"/>
                  <a:t> </a:t>
                </a:r>
                <a:r>
                  <a:rPr b="1" dirty="0" err="1"/>
                  <a:t>coördinaten</a:t>
                </a:r>
                <a:r>
                  <a:rPr dirty="0"/>
                  <a:t> (</a:t>
                </a:r>
                <a:r>
                  <a:rPr dirty="0" err="1"/>
                  <a:t>niet</a:t>
                </a:r>
                <a:r>
                  <a:rPr dirty="0"/>
                  <a:t>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r>
                  <a:rPr dirty="0"/>
                  <a:t> </a:t>
                </a:r>
                <a:r>
                  <a:rPr dirty="0" err="1"/>
                  <a:t>zelf</a:t>
                </a:r>
                <a:r>
                  <a:rPr dirty="0"/>
                  <a:t>) met </a:t>
                </a:r>
                <a:r>
                  <a:rPr b="1" dirty="0" err="1"/>
                  <a:t>lat</a:t>
                </a:r>
                <a:r>
                  <a:rPr b="1" dirty="0"/>
                  <a:t>/</a:t>
                </a:r>
                <a:r>
                  <a:rPr b="1" dirty="0" err="1"/>
                  <a:t>schaal</a:t>
                </a:r>
                <a:r>
                  <a:rPr dirty="0"/>
                  <a:t>.</a:t>
                </a:r>
              </a:p>
              <a:p>
                <a:pPr lvl="0"/>
                <a:r>
                  <a:rPr dirty="0" err="1"/>
                  <a:t>Afspraak</a:t>
                </a:r>
                <a:r>
                  <a:rPr dirty="0"/>
                  <a:t> </a:t>
                </a:r>
                <a:r>
                  <a:rPr b="1" dirty="0" err="1"/>
                  <a:t>nulpunt</a:t>
                </a:r>
                <a:r>
                  <a:rPr dirty="0"/>
                  <a:t> </a:t>
                </a:r>
                <a:r>
                  <a:rPr dirty="0" err="1"/>
                  <a:t>en</a:t>
                </a:r>
                <a:r>
                  <a:rPr dirty="0"/>
                  <a:t> </a:t>
                </a:r>
                <a:r>
                  <a:rPr b="1" dirty="0" err="1"/>
                  <a:t>eenheid</a:t>
                </a:r>
                <a:r>
                  <a:rPr dirty="0"/>
                  <a:t> </a:t>
                </a:r>
                <a:r>
                  <a:rPr dirty="0" err="1"/>
                  <a:t>vooraf</a:t>
                </a:r>
                <a:r>
                  <a:rPr dirty="0"/>
                  <a:t>.</a:t>
                </a:r>
              </a:p>
              <a:p>
                <a:pPr lvl="0"/>
                <a:r>
                  <a:rPr dirty="0"/>
                  <a:t>SI-</a:t>
                </a:r>
                <a:r>
                  <a:rPr dirty="0" err="1"/>
                  <a:t>eenheid</a:t>
                </a:r>
                <a:r>
                  <a:rPr dirty="0"/>
                  <a:t> </a:t>
                </a:r>
                <a:r>
                  <a:rPr dirty="0" err="1"/>
                  <a:t>voor</a:t>
                </a:r>
                <a:r>
                  <a:rPr dirty="0"/>
                  <a:t> </a:t>
                </a:r>
                <a:r>
                  <a:rPr dirty="0" err="1"/>
                  <a:t>positie</a:t>
                </a:r>
                <a:r>
                  <a:rPr dirty="0"/>
                  <a:t>: </a:t>
                </a:r>
                <a:r>
                  <a:rPr b="1" dirty="0"/>
                  <a:t>meter</a:t>
                </a:r>
                <a:r>
                  <a:rPr lang="nl-BE" b="1" dirty="0"/>
                  <a:t> (m)</a:t>
                </a:r>
                <a:r>
                  <a:rPr dirty="0"/>
                  <a:t>.</a:t>
                </a:r>
              </a:p>
              <a:p>
                <a:pPr lvl="0"/>
                <a:r>
                  <a:rPr dirty="0" err="1"/>
                  <a:t>Coördinaten</a:t>
                </a:r>
                <a:r>
                  <a:rPr dirty="0"/>
                  <a:t> </a:t>
                </a:r>
                <a:r>
                  <a:rPr dirty="0" err="1"/>
                  <a:t>kunnen</a:t>
                </a:r>
                <a:r>
                  <a:rPr dirty="0"/>
                  <a:t> </a:t>
                </a:r>
                <a:r>
                  <a:rPr b="1" dirty="0" err="1"/>
                  <a:t>positief</a:t>
                </a:r>
                <a:r>
                  <a:rPr b="1" dirty="0"/>
                  <a:t>/</a:t>
                </a:r>
                <a:r>
                  <a:rPr b="1" dirty="0" err="1"/>
                  <a:t>negatief</a:t>
                </a:r>
                <a:r>
                  <a:rPr dirty="0"/>
                  <a:t> </a:t>
                </a:r>
                <a:r>
                  <a:rPr dirty="0" err="1"/>
                  <a:t>zijn</a:t>
                </a:r>
                <a:r>
                  <a:rPr dirty="0"/>
                  <a:t> (</a:t>
                </a:r>
                <a:r>
                  <a:rPr dirty="0" err="1"/>
                  <a:t>afhankelijk</a:t>
                </a:r>
                <a:r>
                  <a:rPr dirty="0"/>
                  <a:t> van </a:t>
                </a:r>
                <a:r>
                  <a:rPr dirty="0" err="1"/>
                  <a:t>aszin</a:t>
                </a:r>
                <a:r>
                  <a:rPr dirty="0"/>
                  <a:t> </a:t>
                </a:r>
                <a:r>
                  <a:rPr dirty="0" err="1"/>
                  <a:t>en</a:t>
                </a:r>
                <a:r>
                  <a:rPr dirty="0"/>
                  <a:t> </a:t>
                </a:r>
                <a:r>
                  <a:rPr dirty="0" err="1"/>
                  <a:t>oorsprong</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Bewegingsvergelijking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b="1"/>
                  <a:t>Plaatsvector als functie van de tijd</a:t>
                </a:r>
                <a:r>
                  <a:t>:</a:t>
                </a:r>
              </a:p>
              <a:p>
                <a:pPr lvl="0"/>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r>
                      <a:rPr>
                        <a:latin typeface="Cambria Math" panose="02040503050406030204" pitchFamily="18" charset="0"/>
                      </a:rPr>
                      <m:t>𝑦</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r>
                      <a:rPr>
                        <a:latin typeface="Cambria Math" panose="02040503050406030204" pitchFamily="18" charset="0"/>
                      </a:rPr>
                      <m:t>+</m:t>
                    </m:r>
                    <m:r>
                      <a:rPr>
                        <a:latin typeface="Cambria Math" panose="02040503050406030204" pitchFamily="18" charset="0"/>
                      </a:rPr>
                      <m:t>𝑧</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𝑧</m:t>
                        </m:r>
                      </m:sub>
                    </m:sSub>
                  </m:oMath>
                </a14:m>
                <a:endParaRPr/>
              </a:p>
              <a:p>
                <a:pPr lvl="0"/>
                <a:r>
                  <a:rPr b="1"/>
                  <a:t>Baan</a:t>
                </a:r>
                <a:r>
                  <a:t>: verzameling eindpunten van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oMath>
                </a14:m>
                <a:r>
                  <a:t> in de ruimte.</a:t>
                </a:r>
              </a:p>
              <a:p>
                <a:pPr lvl="0"/>
                <a:r>
                  <a:rPr b="1"/>
                  <a:t>Baanvergelijking</a:t>
                </a:r>
                <a:r>
                  <a:t>: verband tussen </a:t>
                </a:r>
                <a14:m>
                  <m:oMath xmlns:m="http://schemas.openxmlformats.org/officeDocument/2006/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oMath>
                </a14:m>
                <a:r>
                  <a:t> dat de </a:t>
                </a:r>
                <a:r>
                  <a:rPr b="1"/>
                  <a:t>vorm</a:t>
                </a:r>
                <a:r>
                  <a:t> beschrijft (bv. ellips).</a:t>
                </a:r>
              </a:p>
              <a:p>
                <a:pPr lvl="0"/>
                <a:r>
                  <a:rPr b="1"/>
                  <a:t>Bewegingsvergelijking</a:t>
                </a:r>
                <a:r>
                  <a:t> vertelt </a:t>
                </a:r>
                <a:r>
                  <a:rPr b="1"/>
                  <a:t>hoe</a:t>
                </a:r>
                <a:r>
                  <a:t> het punt die baan doorloopt in de </a:t>
                </a:r>
                <a:r>
                  <a:rPr b="1"/>
                  <a:t>tijd</a:t>
                </a:r>
                <a: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Grootte</a:t>
            </a:r>
            <a:r>
              <a:rPr dirty="0"/>
              <a:t> van de </a:t>
            </a:r>
            <a:r>
              <a:rPr dirty="0" err="1"/>
              <a:t>plaatsvector</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14:m>
                  <m:oMath xmlns:m="http://schemas.openxmlformats.org/officeDocument/2006/math">
                    <m:r>
                      <a:rPr>
                        <a:latin typeface="Cambria Math" panose="02040503050406030204" pitchFamily="18" charset="0"/>
                      </a:rPr>
                      <m:t>𝑟</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𝑥</m:t>
                        </m:r>
                        <m:sSup>
                          <m:sSupPr>
                            <m:ctrlPr>
                              <a:rPr i="1">
                                <a:latin typeface="Cambria Math" panose="02040503050406030204" pitchFamily="18" charset="0"/>
                              </a:rPr>
                            </m:ctrlPr>
                          </m:sSupPr>
                          <m:e>
                            <m:d>
                              <m:dPr>
                                <m:ctrlPr>
                                  <a:rPr>
                                    <a:latin typeface="Cambria Math" panose="02040503050406030204" pitchFamily="18" charset="0"/>
                                  </a:rPr>
                                </m:ctrlPr>
                              </m:dPr>
                              <m:e>
                                <m:r>
                                  <a:rPr>
                                    <a:latin typeface="Cambria Math" panose="02040503050406030204" pitchFamily="18" charset="0"/>
                                  </a:rPr>
                                  <m:t>𝑡</m:t>
                                </m:r>
                              </m:e>
                            </m:d>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𝑦</m:t>
                        </m:r>
                        <m:sSup>
                          <m:sSupPr>
                            <m:ctrlPr>
                              <a:rPr i="1">
                                <a:latin typeface="Cambria Math" panose="02040503050406030204" pitchFamily="18" charset="0"/>
                              </a:rPr>
                            </m:ctrlPr>
                          </m:sSupPr>
                          <m:e>
                            <m:d>
                              <m:dPr>
                                <m:ctrlPr>
                                  <a:rPr>
                                    <a:latin typeface="Cambria Math" panose="02040503050406030204" pitchFamily="18" charset="0"/>
                                  </a:rPr>
                                </m:ctrlPr>
                              </m:dPr>
                              <m:e>
                                <m:r>
                                  <a:rPr>
                                    <a:latin typeface="Cambria Math" panose="02040503050406030204" pitchFamily="18" charset="0"/>
                                  </a:rPr>
                                  <m:t>𝑡</m:t>
                                </m:r>
                              </m:e>
                            </m:d>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𝑧</m:t>
                        </m:r>
                        <m:sSup>
                          <m:sSupPr>
                            <m:ctrlPr>
                              <a:rPr i="1">
                                <a:latin typeface="Cambria Math" panose="02040503050406030204" pitchFamily="18" charset="0"/>
                              </a:rPr>
                            </m:ctrlPr>
                          </m:sSupPr>
                          <m:e>
                            <m:d>
                              <m:dPr>
                                <m:ctrlPr>
                                  <a:rPr>
                                    <a:latin typeface="Cambria Math" panose="02040503050406030204" pitchFamily="18" charset="0"/>
                                  </a:rPr>
                                </m:ctrlPr>
                              </m:dPr>
                              <m:e>
                                <m:r>
                                  <a:rPr>
                                    <a:latin typeface="Cambria Math" panose="02040503050406030204" pitchFamily="18" charset="0"/>
                                  </a:rPr>
                                  <m:t>𝑡</m:t>
                                </m:r>
                              </m:e>
                            </m:d>
                          </m:e>
                          <m:sup>
                            <m:r>
                              <a:rPr>
                                <a:latin typeface="Cambria Math" panose="02040503050406030204" pitchFamily="18" charset="0"/>
                              </a:rPr>
                              <m:t>2</m:t>
                            </m:r>
                          </m:sup>
                        </m:sSup>
                      </m:e>
                    </m:rad>
                  </m:oMath>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Reducties</a:t>
            </a:r>
            <a:r>
              <a:rPr dirty="0"/>
              <a:t> </a:t>
            </a:r>
            <a:r>
              <a:rPr dirty="0" err="1"/>
              <a:t>naar</a:t>
            </a:r>
            <a:r>
              <a:rPr dirty="0"/>
              <a:t> 2D </a:t>
            </a:r>
            <a:r>
              <a:rPr dirty="0" err="1"/>
              <a:t>en</a:t>
            </a:r>
            <a:r>
              <a:rPr dirty="0"/>
              <a:t> 1D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b="1" dirty="0"/>
                  <a:t>2D-beweging</a:t>
                </a:r>
                <a:r>
                  <a:rPr dirty="0"/>
                  <a:t> (</a:t>
                </a:r>
                <a:r>
                  <a:rPr dirty="0" err="1"/>
                  <a:t>vlak</a:t>
                </a:r>
                <a:r>
                  <a:rPr dirty="0"/>
                  <a:t>):</a:t>
                </a:r>
              </a:p>
              <a:p>
                <a:pPr lvl="0"/>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r>
                      <a:rPr>
                        <a:latin typeface="Cambria Math" panose="02040503050406030204" pitchFamily="18" charset="0"/>
                      </a:rPr>
                      <m:t>𝑦</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oMath>
                </a14:m>
                <a:endParaRPr dirty="0"/>
              </a:p>
              <a:p>
                <a:pPr lvl="0"/>
                <a:r>
                  <a:rPr b="1" dirty="0"/>
                  <a:t>1D-beweging</a:t>
                </a:r>
                <a:r>
                  <a:rPr dirty="0"/>
                  <a:t> (</a:t>
                </a:r>
                <a:r>
                  <a:rPr dirty="0" err="1"/>
                  <a:t>rechte</a:t>
                </a:r>
                <a:r>
                  <a:rPr dirty="0"/>
                  <a:t>):</a:t>
                </a:r>
              </a:p>
              <a:p>
                <a:pPr lvl="0"/>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oMath>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Voorwerp</a:t>
            </a:r>
            <a:r>
              <a:rPr dirty="0"/>
              <a:t> in rust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499" y="1960129"/>
                <a:ext cx="11609798" cy="5272739"/>
              </a:xfrm>
            </p:spPr>
            <p:txBody>
              <a:bodyPr/>
              <a:lstStyle/>
              <a:p>
                <a:pPr lvl="0"/>
                <a:r>
                  <a:rPr b="1" dirty="0"/>
                  <a:t>Rust</a:t>
                </a:r>
                <a:r>
                  <a:rPr dirty="0"/>
                  <a:t>: </a:t>
                </a:r>
                <a:r>
                  <a:rPr dirty="0" err="1"/>
                  <a:t>positie</a:t>
                </a:r>
                <a:r>
                  <a:rPr dirty="0"/>
                  <a:t> </a:t>
                </a:r>
                <a:r>
                  <a:rPr b="1" dirty="0" err="1"/>
                  <a:t>verandert</a:t>
                </a:r>
                <a:r>
                  <a:rPr b="1" dirty="0"/>
                  <a:t> </a:t>
                </a:r>
                <a:r>
                  <a:rPr b="1" dirty="0" err="1"/>
                  <a:t>niet</a:t>
                </a:r>
                <a:r>
                  <a:rPr dirty="0"/>
                  <a:t> in de </a:t>
                </a:r>
                <a:r>
                  <a:rPr dirty="0" err="1"/>
                  <a:t>tijd</a:t>
                </a:r>
                <a:r>
                  <a:rPr dirty="0"/>
                  <a:t>.</a:t>
                </a:r>
              </a:p>
              <a:p>
                <a:pPr lvl="0"/>
                <a:r>
                  <a:rPr dirty="0" err="1"/>
                  <a:t>Keuze</a:t>
                </a:r>
                <a:r>
                  <a:rPr dirty="0"/>
                  <a:t> </a:t>
                </a:r>
                <a14:m>
                  <m:oMath xmlns:m="http://schemas.openxmlformats.org/officeDocument/2006/math">
                    <m:r>
                      <a:rPr>
                        <a:latin typeface="Cambria Math" panose="02040503050406030204" pitchFamily="18" charset="0"/>
                      </a:rPr>
                      <m:t>𝑥</m:t>
                    </m:r>
                  </m:oMath>
                </a14:m>
                <a:r>
                  <a:rPr dirty="0"/>
                  <a:t>-as </a:t>
                </a:r>
                <a:r>
                  <a:rPr lang="nl-BE" dirty="0"/>
                  <a:t>zodat </a:t>
                </a:r>
                <a:r>
                  <a:rPr dirty="0" err="1"/>
                  <a:t>voorwerp</a:t>
                </a:r>
                <a:r>
                  <a:rPr lang="nl-BE" dirty="0"/>
                  <a:t> zich op x-as bevindt</a:t>
                </a:r>
                <a:r>
                  <a:rPr dirty="0"/>
                  <a:t>:</a:t>
                </a:r>
              </a:p>
              <a:p>
                <a:pPr lvl="0"/>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m:rPr>
                        <m:nor/>
                      </m:rPr>
                      <a:rPr i="0"/>
                      <m:t>constante</m:t>
                    </m:r>
                    <m:r>
                      <a:rPr>
                        <a:latin typeface="Cambria Math" panose="02040503050406030204" pitchFamily="18" charset="0"/>
                      </a:rPr>
                      <m:t> ⇒ </m:t>
                    </m:r>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m:rPr>
                        <m:nor/>
                      </m:rPr>
                      <a:rPr i="0"/>
                      <m:t>constante</m:t>
                    </m:r>
                    <m:r>
                      <a:rPr>
                        <a:latin typeface="Cambria Math" panose="02040503050406030204" pitchFamily="18" charset="0"/>
                      </a:rPr>
                      <m:t>⋅</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oMath>
                </a14:m>
                <a:endParaRPr dirty="0"/>
              </a:p>
              <a:p>
                <a:pPr lvl="0"/>
                <a:r>
                  <a:rPr b="1" dirty="0"/>
                  <a:t>Baan</a:t>
                </a:r>
                <a:r>
                  <a:rPr dirty="0"/>
                  <a:t>: </a:t>
                </a:r>
                <a:r>
                  <a:rPr dirty="0" err="1"/>
                  <a:t>één</a:t>
                </a:r>
                <a:r>
                  <a:rPr dirty="0"/>
                  <a:t> punt in de </a:t>
                </a:r>
                <a:r>
                  <a:rPr dirty="0" err="1"/>
                  <a:t>ruimte</a:t>
                </a:r>
                <a:r>
                  <a:rPr dirty="0"/>
                  <a:t>.</a:t>
                </a:r>
              </a:p>
              <a:p>
                <a:pPr lvl="0"/>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b="1" dirty="0"/>
                  <a:t>-diagram</a:t>
                </a:r>
                <a:r>
                  <a:rPr dirty="0"/>
                  <a:t>: </a:t>
                </a:r>
                <a:r>
                  <a:rPr dirty="0" err="1"/>
                  <a:t>horizontale</a:t>
                </a:r>
                <a:r>
                  <a:rPr dirty="0"/>
                  <a:t> </a:t>
                </a:r>
                <a:r>
                  <a:rPr dirty="0" err="1"/>
                  <a:t>lijn</a:t>
                </a:r>
                <a:r>
                  <a:rPr dirty="0"/>
                  <a:t> (parallel </a:t>
                </a:r>
                <a:r>
                  <a:rPr dirty="0" err="1"/>
                  <a:t>aan</a:t>
                </a:r>
                <a:r>
                  <a:rPr dirty="0"/>
                  <a:t> </a:t>
                </a:r>
                <a:r>
                  <a:rPr dirty="0" err="1"/>
                  <a:t>tijdas</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499" y="1960129"/>
                <a:ext cx="11609798" cy="5272739"/>
              </a:xfrm>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6FA9460B-257D-5586-407C-DCC3F0E4551A}"/>
              </a:ext>
            </a:extLst>
          </p:cNvPr>
          <p:cNvPicPr>
            <a:picLocks noChangeAspect="1"/>
          </p:cNvPicPr>
          <p:nvPr/>
        </p:nvPicPr>
        <p:blipFill>
          <a:blip r:embed="rId3"/>
          <a:stretch>
            <a:fillRect/>
          </a:stretch>
        </p:blipFill>
        <p:spPr>
          <a:xfrm>
            <a:off x="9322131" y="2195512"/>
            <a:ext cx="2457450" cy="24669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Verplaatsing</a:t>
            </a:r>
            <a:r>
              <a:rPr dirty="0"/>
              <a:t> — </a:t>
            </a:r>
            <a:r>
              <a:rPr dirty="0" err="1"/>
              <a:t>definitie</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b="1"/>
                  <a:t>Algemeen (vector)</a:t>
                </a:r>
                <a:r>
                  <a:t>:</a:t>
                </a:r>
              </a:p>
              <a:p>
                <a:pPr lvl="0"/>
                <a14:m>
                  <m:oMath xmlns:m="http://schemas.openxmlformats.org/officeDocument/2006/math">
                    <m:r>
                      <a:rPr>
                        <a:latin typeface="Cambria Math" panose="02040503050406030204" pitchFamily="18" charset="0"/>
                      </a:rPr>
                      <m:t>𝛥</m:t>
                    </m:r>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𝑟</m:t>
                            </m:r>
                          </m:e>
                        </m:acc>
                      </m:e>
                      <m:sub>
                        <m:r>
                          <a:rPr>
                            <a:latin typeface="Cambria Math" panose="02040503050406030204" pitchFamily="18" charset="0"/>
                          </a:rPr>
                          <m:t>0</m:t>
                        </m:r>
                      </m:sub>
                    </m:sSub>
                  </m:oMath>
                </a14:m>
                <a:endParaRPr/>
              </a:p>
              <a:p>
                <a:pPr lvl="0"/>
                <a:r>
                  <a:t>Begin- en eindsituatie horen bij elke </a:t>
                </a:r>
                <a14:m>
                  <m:oMath xmlns:m="http://schemas.openxmlformats.org/officeDocument/2006/math">
                    <m:r>
                      <a:rPr>
                        <a:latin typeface="Cambria Math" panose="02040503050406030204" pitchFamily="18" charset="0"/>
                      </a:rPr>
                      <m:t>𝛥</m:t>
                    </m:r>
                  </m:oMath>
                </a14:m>
                <a:r>
                  <a:t>-notatie.</a:t>
                </a:r>
              </a:p>
              <a:p>
                <a:pPr lvl="0"/>
                <a:r>
                  <a:rPr b="1"/>
                  <a:t>Vectorieel</a:t>
                </a:r>
                <a:r>
                  <a:t>: richting/zin/grootte zijn relevant.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Verplaatsing</a:t>
            </a:r>
            <a:r>
              <a:rPr dirty="0"/>
              <a:t> in 1D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nl-BE" dirty="0"/>
                  <a:t>Met </a:t>
                </a:r>
                <a14:m>
                  <m:oMath xmlns:m="http://schemas.openxmlformats.org/officeDocument/2006/math">
                    <m:r>
                      <a:rPr lang="nl-BE">
                        <a:latin typeface="Cambria Math" panose="02040503050406030204" pitchFamily="18" charset="0"/>
                      </a:rPr>
                      <m:t>𝑥</m:t>
                    </m:r>
                  </m:oMath>
                </a14:m>
                <a:r>
                  <a:rPr lang="nl-BE" dirty="0"/>
                  <a:t>-as</a:t>
                </a:r>
              </a:p>
              <a:p>
                <a:pPr lvl="0"/>
                <a14:m>
                  <m:oMath xmlns:m="http://schemas.openxmlformats.org/officeDocument/2006/math">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𝑟</m:t>
                            </m:r>
                          </m:e>
                        </m:acc>
                      </m:e>
                      <m:sub>
                        <m:r>
                          <a:rPr lang="ar-AE">
                            <a:latin typeface="Cambria Math" panose="02040503050406030204" pitchFamily="18" charset="0"/>
                          </a:rPr>
                          <m:t>0</m:t>
                        </m:r>
                      </m:sub>
                    </m:sSub>
                    <m:r>
                      <a:rPr lang="ar-AE">
                        <a:latin typeface="Cambria Math" panose="02040503050406030204" pitchFamily="18" charset="0"/>
                      </a:rPr>
                      <m:t>=</m:t>
                    </m:r>
                    <m:r>
                      <a:rPr lang="ar-AE">
                        <a:latin typeface="Cambria Math" panose="02040503050406030204" pitchFamily="18" charset="0"/>
                      </a:rPr>
                      <m:t>𝑥</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e>
                    </m:d>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r>
                      <a:rPr lang="ar-AE">
                        <a:latin typeface="Cambria Math" panose="02040503050406030204" pitchFamily="18" charset="0"/>
                      </a:rPr>
                      <m:t>𝛥</m:t>
                    </m:r>
                    <m:r>
                      <a:rPr lang="ar-AE">
                        <a:latin typeface="Cambria Math" panose="02040503050406030204" pitchFamily="18" charset="0"/>
                      </a:rPr>
                      <m:t>𝑥</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oMath>
                </a14:m>
                <a:endParaRPr lang="ar-AE" dirty="0"/>
              </a:p>
              <a:p>
                <a:pPr lvl="0"/>
                <a:r>
                  <a:rPr lang="nl-BE" b="1" dirty="0"/>
                  <a:t>Teken van </a:t>
                </a:r>
                <a14:m>
                  <m:oMath xmlns:m="http://schemas.openxmlformats.org/officeDocument/2006/math">
                    <m:r>
                      <a:rPr lang="nl-BE">
                        <a:latin typeface="Cambria Math" panose="02040503050406030204" pitchFamily="18" charset="0"/>
                      </a:rPr>
                      <m:t>𝛥</m:t>
                    </m:r>
                    <m:r>
                      <a:rPr lang="nl-BE">
                        <a:latin typeface="Cambria Math" panose="02040503050406030204" pitchFamily="18" charset="0"/>
                      </a:rPr>
                      <m:t>𝑥</m:t>
                    </m:r>
                  </m:oMath>
                </a14:m>
                <a:r>
                  <a:rPr lang="nl-BE" dirty="0"/>
                  <a:t>:</a:t>
                </a:r>
              </a:p>
              <a:p>
                <a:pPr lvl="1"/>
                <a14:m>
                  <m:oMath xmlns:m="http://schemas.openxmlformats.org/officeDocument/2006/math">
                    <m:r>
                      <a:rPr lang="nl-BE">
                        <a:latin typeface="Cambria Math" panose="02040503050406030204" pitchFamily="18" charset="0"/>
                      </a:rPr>
                      <m:t>+</m:t>
                    </m:r>
                  </m:oMath>
                </a14:m>
                <a:r>
                  <a:rPr lang="nl-BE" dirty="0"/>
                  <a:t>: </a:t>
                </a:r>
                <a:r>
                  <a:rPr lang="nl-BE" dirty="0" err="1"/>
                  <a:t>verplaatsing</a:t>
                </a:r>
                <a:r>
                  <a:rPr lang="nl-BE" dirty="0"/>
                  <a:t> in </a:t>
                </a:r>
                <a:r>
                  <a:rPr lang="nl-BE" b="1" dirty="0" err="1"/>
                  <a:t>positieve</a:t>
                </a:r>
                <a:r>
                  <a:rPr lang="nl-BE" dirty="0"/>
                  <a:t> </a:t>
                </a:r>
                <a14:m>
                  <m:oMath xmlns:m="http://schemas.openxmlformats.org/officeDocument/2006/math">
                    <m:r>
                      <a:rPr lang="nl-BE">
                        <a:latin typeface="Cambria Math" panose="02040503050406030204" pitchFamily="18" charset="0"/>
                      </a:rPr>
                      <m:t>𝑥</m:t>
                    </m:r>
                  </m:oMath>
                </a14:m>
                <a:r>
                  <a:rPr lang="nl-BE" dirty="0"/>
                  <a:t>-zin.</a:t>
                </a:r>
              </a:p>
              <a:p>
                <a:pPr lvl="1"/>
                <a14:m>
                  <m:oMath xmlns:m="http://schemas.openxmlformats.org/officeDocument/2006/math">
                    <m:r>
                      <a:rPr lang="nl-BE">
                        <a:latin typeface="Cambria Math" panose="02040503050406030204" pitchFamily="18" charset="0"/>
                      </a:rPr>
                      <m:t>−</m:t>
                    </m:r>
                  </m:oMath>
                </a14:m>
                <a:r>
                  <a:rPr lang="nl-BE" dirty="0"/>
                  <a:t>: </a:t>
                </a:r>
                <a:r>
                  <a:rPr lang="nl-BE" dirty="0" err="1"/>
                  <a:t>verplaatsing</a:t>
                </a:r>
                <a:r>
                  <a:rPr lang="nl-BE" dirty="0"/>
                  <a:t> in </a:t>
                </a:r>
                <a:r>
                  <a:rPr lang="nl-BE" b="1" dirty="0" err="1"/>
                  <a:t>tegengestelde</a:t>
                </a:r>
                <a:r>
                  <a:rPr lang="nl-BE" dirty="0"/>
                  <a:t> zin.</a:t>
                </a:r>
              </a:p>
              <a:p>
                <a:pPr lvl="0"/>
                <a:r>
                  <a:rPr lang="nl-BE" b="1" dirty="0" err="1"/>
                  <a:t>Grootte</a:t>
                </a:r>
                <a:r>
                  <a:rPr lang="nl-BE" dirty="0"/>
                  <a:t> (1D):</a:t>
                </a:r>
              </a:p>
              <a:p>
                <a:pPr lvl="0"/>
                <a14:m>
                  <m:oMath xmlns:m="http://schemas.openxmlformats.org/officeDocument/2006/math">
                    <m:r>
                      <a:rPr lang="nl-BE">
                        <a:latin typeface="Cambria Math" panose="02040503050406030204" pitchFamily="18" charset="0"/>
                      </a:rPr>
                      <m:t>|</m:t>
                    </m:r>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r>
                      <a:rPr lang="ar-AE">
                        <a:latin typeface="Cambria Math" panose="02040503050406030204" pitchFamily="18" charset="0"/>
                      </a:rPr>
                      <m:t>𝑥</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| </m:t>
                    </m:r>
                    <m:r>
                      <a:rPr lang="nl-BE" b="0" i="1" smtClean="0">
                        <a:latin typeface="Cambria Math" panose="02040503050406030204" pitchFamily="18" charset="0"/>
                      </a:rPr>
                      <m:t>(</m:t>
                    </m:r>
                    <m:r>
                      <a:rPr lang="nl-BE" b="0" i="1" smtClean="0">
                        <a:latin typeface="Cambria Math" panose="02040503050406030204" pitchFamily="18" charset="0"/>
                      </a:rPr>
                      <m:t>𝑖𝑛</m:t>
                    </m:r>
                    <m:r>
                      <a:rPr lang="nl-BE" b="0" i="1" smtClean="0">
                        <a:latin typeface="Cambria Math" panose="02040503050406030204" pitchFamily="18" charset="0"/>
                      </a:rPr>
                      <m:t> </m:t>
                    </m:r>
                    <m:r>
                      <a:rPr lang="nl-BE" b="0" i="1" smtClean="0">
                        <a:latin typeface="Cambria Math" panose="02040503050406030204" pitchFamily="18" charset="0"/>
                      </a:rPr>
                      <m:t>𝑚</m:t>
                    </m:r>
                    <m:r>
                      <a:rPr lang="ar-AE" b="0" i="1" smtClean="0">
                        <a:latin typeface="Cambria Math" panose="02040503050406030204" pitchFamily="18" charset="0"/>
                      </a:rPr>
                      <m:t>)</m:t>
                    </m:r>
                  </m:oMath>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9FA45-0995-F784-A836-1B7295686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EA3E2-92E0-53E4-3D00-26266E5289D1}"/>
              </a:ext>
            </a:extLst>
          </p:cNvPr>
          <p:cNvSpPr>
            <a:spLocks noGrp="1"/>
          </p:cNvSpPr>
          <p:nvPr>
            <p:ph type="title"/>
          </p:nvPr>
        </p:nvSpPr>
        <p:spPr/>
        <p:txBody>
          <a:bodyPr>
            <a:normAutofit fontScale="90000"/>
          </a:bodyPr>
          <a:lstStyle/>
          <a:p>
            <a:pPr marL="0" lvl="0" indent="0">
              <a:buNone/>
            </a:pPr>
            <a:r>
              <a:rPr dirty="0"/>
              <a:t>V</a:t>
            </a:r>
            <a:r>
              <a:rPr lang="nl-BE" dirty="0" err="1"/>
              <a:t>oorbeeldoefening</a:t>
            </a:r>
            <a:r>
              <a:rPr dirty="0"/>
              <a:t> — </a:t>
            </a:r>
            <a:r>
              <a:rPr dirty="0" err="1"/>
              <a:t>Wandelaar</a:t>
            </a:r>
            <a:r>
              <a:rPr dirty="0"/>
              <a:t> </a:t>
            </a:r>
            <a:r>
              <a:rPr lang="nl-BE" dirty="0"/>
              <a:t>(1D)</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1D3CA0-A181-BBAD-36A4-3D95DBAAF88B}"/>
                  </a:ext>
                </a:extLst>
              </p:cNvPr>
              <p:cNvSpPr>
                <a:spLocks noGrp="1"/>
              </p:cNvSpPr>
              <p:nvPr>
                <p:ph idx="1"/>
              </p:nvPr>
            </p:nvSpPr>
            <p:spPr>
              <a:xfrm>
                <a:off x="428227" y="2960109"/>
                <a:ext cx="11609798" cy="5272739"/>
              </a:xfrm>
            </p:spPr>
            <p:txBody>
              <a:bodyPr/>
              <a:lstStyle/>
              <a:p>
                <a:pPr lvl="0"/>
                <a:r>
                  <a:rPr lang="nl-BE" dirty="0"/>
                  <a:t>Gegeven: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=12 </m:t>
                    </m:r>
                    <m:r>
                      <m:rPr>
                        <m:sty m:val="p"/>
                      </m:rPr>
                      <a:rPr lang="nl-BE">
                        <a:latin typeface="Cambria Math" panose="02040503050406030204" pitchFamily="18" charset="0"/>
                      </a:rPr>
                      <m:t>m</m:t>
                    </m:r>
                  </m:oMath>
                </a14:m>
                <a:r>
                  <a:rPr lang="nl-BE" dirty="0"/>
                  <a:t>, </a:t>
                </a:r>
                <a14:m>
                  <m:oMath xmlns:m="http://schemas.openxmlformats.org/officeDocument/2006/math">
                    <m:r>
                      <a:rPr lang="nl-BE">
                        <a:latin typeface="Cambria Math" panose="02040503050406030204" pitchFamily="18" charset="0"/>
                      </a:rPr>
                      <m:t>𝑥</m:t>
                    </m:r>
                    <m:r>
                      <a:rPr lang="nl-BE">
                        <a:latin typeface="Cambria Math" panose="02040503050406030204" pitchFamily="18" charset="0"/>
                      </a:rPr>
                      <m:t>=3 </m:t>
                    </m:r>
                    <m:r>
                      <m:rPr>
                        <m:sty m:val="p"/>
                      </m:rPr>
                      <a:rPr lang="nl-BE">
                        <a:latin typeface="Cambria Math" panose="02040503050406030204" pitchFamily="18" charset="0"/>
                      </a:rPr>
                      <m:t>m</m:t>
                    </m:r>
                  </m:oMath>
                </a14:m>
                <a:r>
                  <a:rPr lang="nl-BE" dirty="0"/>
                  <a:t>.</a:t>
                </a:r>
              </a:p>
              <a:p>
                <a:pPr lvl="0"/>
                <a:r>
                  <a:rPr lang="nl-BE" dirty="0" err="1"/>
                  <a:t>Berekening</a:t>
                </a:r>
                <a:r>
                  <a:rPr lang="nl-BE" dirty="0"/>
                  <a:t>: </a:t>
                </a:r>
                <a14:m>
                  <m:oMath xmlns:m="http://schemas.openxmlformats.org/officeDocument/2006/math">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𝑟</m:t>
                            </m:r>
                          </m:e>
                        </m:acc>
                      </m:e>
                      <m:sub>
                        <m:r>
                          <a:rPr lang="ar-AE">
                            <a:latin typeface="Cambria Math" panose="02040503050406030204" pitchFamily="18" charset="0"/>
                          </a:rPr>
                          <m:t>0</m:t>
                        </m:r>
                      </m:sub>
                    </m:sSub>
                    <m:r>
                      <a:rPr lang="nl-BE" b="0" i="1" smtClean="0">
                        <a:latin typeface="Cambria Math" panose="02040503050406030204" pitchFamily="18" charset="0"/>
                      </a:rPr>
                      <m:t>= </m:t>
                    </m:r>
                    <m:r>
                      <a:rPr lang="ar-AE">
                        <a:latin typeface="Cambria Math" panose="02040503050406030204" pitchFamily="18" charset="0"/>
                      </a:rPr>
                      <m:t>𝑥</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e>
                    </m:d>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oMath>
                </a14:m>
                <a:br>
                  <a:rPr lang="nl-BE" i="1" dirty="0">
                    <a:latin typeface="Cambria Math" panose="02040503050406030204" pitchFamily="18" charset="0"/>
                  </a:rPr>
                </a:br>
                <a:br>
                  <a:rPr lang="nl-BE" i="1" dirty="0">
                    <a:latin typeface="Cambria Math" panose="02040503050406030204" pitchFamily="18" charset="0"/>
                  </a:rPr>
                </a:br>
                <a14:m>
                  <m:oMath xmlns:m="http://schemas.openxmlformats.org/officeDocument/2006/math">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3−12</m:t>
                        </m:r>
                      </m:e>
                    </m:d>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=−9 </m:t>
                    </m:r>
                    <m:r>
                      <m:rPr>
                        <m:sty m:val="p"/>
                      </m:rPr>
                      <a:rPr lang="nl-BE">
                        <a:latin typeface="Cambria Math" panose="02040503050406030204" pitchFamily="18" charset="0"/>
                      </a:rPr>
                      <m:t>m</m:t>
                    </m:r>
                    <m:r>
                      <a:rPr lang="nl-B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oMath>
                </a14:m>
                <a:endParaRPr lang="ar-AE" dirty="0"/>
              </a:p>
              <a:p>
                <a:pPr lvl="0"/>
                <a:r>
                  <a:rPr lang="nl-BE" dirty="0" err="1"/>
                  <a:t>Interpretatie</a:t>
                </a:r>
                <a:r>
                  <a:rPr lang="nl-BE" dirty="0"/>
                  <a:t>: </a:t>
                </a:r>
                <a14:m>
                  <m:oMath xmlns:m="http://schemas.openxmlformats.org/officeDocument/2006/math">
                    <m:r>
                      <a:rPr lang="nl-BE">
                        <a:latin typeface="Cambria Math" panose="02040503050406030204" pitchFamily="18" charset="0"/>
                      </a:rPr>
                      <m:t>9 </m:t>
                    </m:r>
                    <m:r>
                      <m:rPr>
                        <m:sty m:val="p"/>
                      </m:rPr>
                      <a:rPr lang="nl-BE">
                        <a:latin typeface="Cambria Math" panose="02040503050406030204" pitchFamily="18" charset="0"/>
                      </a:rPr>
                      <m:t>m</m:t>
                    </m:r>
                  </m:oMath>
                </a14:m>
                <a:r>
                  <a:rPr lang="nl-BE" dirty="0"/>
                  <a:t> in </a:t>
                </a:r>
                <a:r>
                  <a:rPr lang="nl-BE" b="1" dirty="0" err="1"/>
                  <a:t>negatieve</a:t>
                </a:r>
                <a:r>
                  <a:rPr lang="nl-BE" dirty="0"/>
                  <a:t> </a:t>
                </a:r>
                <a14:m>
                  <m:oMath xmlns:m="http://schemas.openxmlformats.org/officeDocument/2006/math">
                    <m:r>
                      <a:rPr lang="nl-BE">
                        <a:latin typeface="Cambria Math" panose="02040503050406030204" pitchFamily="18" charset="0"/>
                      </a:rPr>
                      <m:t>𝑥</m:t>
                    </m:r>
                  </m:oMath>
                </a14:m>
                <a:r>
                  <a:rPr lang="nl-BE" dirty="0"/>
                  <a:t>-zin.</a:t>
                </a:r>
                <a:endParaRPr dirty="0"/>
              </a:p>
            </p:txBody>
          </p:sp>
        </mc:Choice>
        <mc:Fallback xmlns="">
          <p:sp>
            <p:nvSpPr>
              <p:cNvPr id="3" name="Content Placeholder 2">
                <a:extLst>
                  <a:ext uri="{FF2B5EF4-FFF2-40B4-BE49-F238E27FC236}">
                    <a16:creationId xmlns:a16="http://schemas.microsoft.com/office/drawing/2014/main" id="{8E1D3CA0-A181-BBAD-36A4-3D95DBAAF88B}"/>
                  </a:ext>
                </a:extLst>
              </p:cNvPr>
              <p:cNvSpPr>
                <a:spLocks noGrp="1" noRot="1" noChangeAspect="1" noMove="1" noResize="1" noEditPoints="1" noAdjustHandles="1" noChangeArrowheads="1" noChangeShapeType="1" noTextEdit="1"/>
              </p:cNvSpPr>
              <p:nvPr>
                <p:ph idx="1"/>
              </p:nvPr>
            </p:nvSpPr>
            <p:spPr>
              <a:xfrm>
                <a:off x="428227" y="2960109"/>
                <a:ext cx="11609798" cy="5272739"/>
              </a:xfrm>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8E352EC5-4FD4-91FC-3326-A3E6B94F3131}"/>
              </a:ext>
            </a:extLst>
          </p:cNvPr>
          <p:cNvPicPr>
            <a:picLocks noChangeAspect="1"/>
          </p:cNvPicPr>
          <p:nvPr/>
        </p:nvPicPr>
        <p:blipFill>
          <a:blip r:embed="rId3"/>
          <a:stretch>
            <a:fillRect/>
          </a:stretch>
        </p:blipFill>
        <p:spPr>
          <a:xfrm>
            <a:off x="2451888" y="1343818"/>
            <a:ext cx="7103289" cy="1407859"/>
          </a:xfrm>
          <a:prstGeom prst="rect">
            <a:avLst/>
          </a:prstGeom>
        </p:spPr>
      </p:pic>
    </p:spTree>
    <p:extLst>
      <p:ext uri="{BB962C8B-B14F-4D97-AF65-F5344CB8AC3E}">
        <p14:creationId xmlns:p14="http://schemas.microsoft.com/office/powerpoint/2010/main" val="2262723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nl-BE" dirty="0"/>
              <a:t>Verschil tussen V</a:t>
            </a:r>
            <a:r>
              <a:rPr dirty="0" err="1"/>
              <a:t>erplaatsing</a:t>
            </a:r>
            <a:r>
              <a:rPr dirty="0"/>
              <a:t> </a:t>
            </a:r>
            <a:r>
              <a:rPr lang="nl-BE" dirty="0"/>
              <a:t>en</a:t>
            </a:r>
            <a:r>
              <a:rPr dirty="0"/>
              <a:t> </a:t>
            </a:r>
            <a:r>
              <a:rPr dirty="0" err="1"/>
              <a:t>Afgelegde</a:t>
            </a:r>
            <a:r>
              <a:rPr dirty="0"/>
              <a:t> </a:t>
            </a:r>
            <a:r>
              <a:rPr dirty="0" err="1"/>
              <a:t>weg</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498" y="1702037"/>
                <a:ext cx="11873501" cy="5272739"/>
              </a:xfrm>
            </p:spPr>
            <p:txBody>
              <a:bodyPr>
                <a:normAutofit/>
              </a:bodyPr>
              <a:lstStyle/>
              <a:p>
                <a:pPr lvl="0"/>
                <a:r>
                  <a:rPr b="1" dirty="0" err="1"/>
                  <a:t>Verplaatsing</a:t>
                </a:r>
                <a:r>
                  <a:rPr dirty="0"/>
                  <a:t> (</a:t>
                </a:r>
                <a14:m>
                  <m:oMath xmlns:m="http://schemas.openxmlformats.org/officeDocument/2006/math">
                    <m:r>
                      <a:rPr>
                        <a:latin typeface="Cambria Math" panose="02040503050406030204" pitchFamily="18" charset="0"/>
                      </a:rPr>
                      <m:t>𝛥</m:t>
                    </m:r>
                    <m:acc>
                      <m:accPr>
                        <m:chr m:val="⃗"/>
                        <m:ctrlPr>
                          <a:rPr>
                            <a:latin typeface="Cambria Math" panose="02040503050406030204" pitchFamily="18" charset="0"/>
                          </a:rPr>
                        </m:ctrlPr>
                      </m:accPr>
                      <m:e>
                        <m:r>
                          <a:rPr>
                            <a:latin typeface="Cambria Math" panose="02040503050406030204" pitchFamily="18" charset="0"/>
                          </a:rPr>
                          <m:t>𝑟</m:t>
                        </m:r>
                      </m:e>
                    </m:acc>
                  </m:oMath>
                </a14:m>
                <a:r>
                  <a:rPr dirty="0"/>
                  <a:t>):</a:t>
                </a:r>
                <a:br>
                  <a:rPr dirty="0"/>
                </a:br>
                <a:r>
                  <a:rPr lang="nl-BE" dirty="0"/>
                  <a:t>vector van beginpunt naar eindpunt:</a:t>
                </a:r>
              </a:p>
              <a:p>
                <a:pPr marL="0" lvl="0" indent="0">
                  <a:buNone/>
                </a:pPr>
                <a14:m>
                  <m:oMathPara xmlns:m="http://schemas.openxmlformats.org/officeDocument/2006/math">
                    <m:oMath>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𝑟</m:t>
                              </m:r>
                            </m:e>
                          </m:acc>
                        </m:e>
                        <m:sub>
                          <m:r>
                            <a:rPr lang="ar-AE">
                              <a:latin typeface="Cambria Math" panose="02040503050406030204" pitchFamily="18" charset="0"/>
                            </a:rPr>
                            <m:t>0</m:t>
                          </m:r>
                        </m:sub>
                      </m:sSub>
                    </m:oMath>
                  </m:oMathPara>
                </a14:m>
                <a:endParaRPr dirty="0"/>
              </a:p>
              <a:p>
                <a:pPr lvl="0"/>
                <a:r>
                  <a:rPr b="1" dirty="0" err="1"/>
                  <a:t>Afgelegde</a:t>
                </a:r>
                <a:r>
                  <a:rPr b="1" dirty="0"/>
                  <a:t> </a:t>
                </a:r>
                <a:r>
                  <a:rPr b="1" dirty="0" err="1"/>
                  <a:t>weg</a:t>
                </a:r>
                <a:r>
                  <a:rPr dirty="0"/>
                  <a:t> (</a:t>
                </a:r>
                <a14:m>
                  <m:oMath xmlns:m="http://schemas.openxmlformats.org/officeDocument/2006/math">
                    <m:r>
                      <a:rPr>
                        <a:latin typeface="Cambria Math" panose="02040503050406030204" pitchFamily="18" charset="0"/>
                      </a:rPr>
                      <m:t>𝛥</m:t>
                    </m:r>
                    <m:r>
                      <a:rPr>
                        <a:latin typeface="Cambria Math" panose="02040503050406030204" pitchFamily="18" charset="0"/>
                      </a:rPr>
                      <m:t>𝑠</m:t>
                    </m:r>
                  </m:oMath>
                </a14:m>
                <a:r>
                  <a:rPr dirty="0"/>
                  <a:t>):</a:t>
                </a:r>
                <a:br>
                  <a:rPr dirty="0"/>
                </a:br>
                <a:r>
                  <a:rPr dirty="0" err="1"/>
                  <a:t>Totale</a:t>
                </a:r>
                <a:r>
                  <a:rPr dirty="0"/>
                  <a:t> </a:t>
                </a:r>
                <a:r>
                  <a:rPr dirty="0" err="1"/>
                  <a:t>lengte</a:t>
                </a:r>
                <a:r>
                  <a:rPr dirty="0"/>
                  <a:t> van het </a:t>
                </a:r>
                <a:r>
                  <a:rPr dirty="0" err="1"/>
                  <a:t>gevolgde</a:t>
                </a:r>
                <a:r>
                  <a:rPr dirty="0"/>
                  <a:t> </a:t>
                </a:r>
                <a:r>
                  <a:rPr dirty="0" err="1"/>
                  <a:t>traject</a:t>
                </a:r>
                <a:r>
                  <a:rPr dirty="0"/>
                  <a:t> (</a:t>
                </a:r>
                <a:r>
                  <a:rPr dirty="0" err="1"/>
                  <a:t>altijd</a:t>
                </a:r>
                <a:r>
                  <a:rPr dirty="0"/>
                  <a:t> </a:t>
                </a:r>
                <a:r>
                  <a:rPr dirty="0" err="1"/>
                  <a:t>positief</a:t>
                </a:r>
                <a:r>
                  <a:rPr dirty="0"/>
                  <a:t>, </a:t>
                </a:r>
                <a:r>
                  <a:rPr dirty="0" err="1"/>
                  <a:t>geen</a:t>
                </a:r>
                <a:r>
                  <a:rPr dirty="0"/>
                  <a:t> </a:t>
                </a:r>
                <a:r>
                  <a:rPr dirty="0" err="1"/>
                  <a:t>richting</a:t>
                </a:r>
                <a:r>
                  <a:rPr dirty="0"/>
                  <a:t>).</a:t>
                </a:r>
                <a:endParaRPr lang="nl-BE" dirty="0"/>
              </a:p>
              <a:p>
                <a:pPr lvl="0"/>
                <a14:m>
                  <m:oMath xmlns:m="http://schemas.openxmlformats.org/officeDocument/2006/math">
                    <m:r>
                      <a:rPr lang="ar-AE">
                        <a:latin typeface="Cambria Math" panose="02040503050406030204" pitchFamily="18" charset="0"/>
                      </a:rPr>
                      <m:t>𝛥</m:t>
                    </m:r>
                    <m:r>
                      <a:rPr lang="ar-AE">
                        <a:latin typeface="Cambria Math" panose="02040503050406030204" pitchFamily="18" charset="0"/>
                      </a:rPr>
                      <m:t>𝑠</m:t>
                    </m:r>
                    <m:r>
                      <a:rPr lang="ar-AE">
                        <a:latin typeface="Cambria Math" panose="02040503050406030204" pitchFamily="18" charset="0"/>
                      </a:rPr>
                      <m:t>≥|</m:t>
                    </m:r>
                    <m:r>
                      <a:rPr lang="ar-A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oMath>
                </a14:m>
                <a:endParaRPr lang="ar-AE" dirty="0"/>
              </a:p>
              <a:p>
                <a:pPr lvl="1"/>
                <a:r>
                  <a:rPr lang="nl-BE" dirty="0" err="1"/>
                  <a:t>Gelijkheid</a:t>
                </a:r>
                <a:r>
                  <a:rPr lang="nl-BE" dirty="0"/>
                  <a:t> </a:t>
                </a:r>
                <a:r>
                  <a:rPr lang="nl-BE" dirty="0" err="1"/>
                  <a:t>enkel</a:t>
                </a:r>
                <a:r>
                  <a:rPr lang="nl-BE" dirty="0"/>
                  <a:t> </a:t>
                </a:r>
                <a:r>
                  <a:rPr lang="nl-BE" dirty="0" err="1"/>
                  <a:t>bij</a:t>
                </a:r>
                <a:r>
                  <a:rPr lang="nl-BE" dirty="0"/>
                  <a:t> </a:t>
                </a:r>
                <a:r>
                  <a:rPr lang="nl-BE" b="1" dirty="0" err="1"/>
                  <a:t>rechte</a:t>
                </a:r>
                <a:r>
                  <a:rPr lang="nl-BE" b="1" dirty="0"/>
                  <a:t> </a:t>
                </a:r>
                <a:r>
                  <a:rPr lang="nl-BE" b="1" dirty="0" err="1"/>
                  <a:t>baan</a:t>
                </a:r>
                <a:r>
                  <a:rPr lang="nl-BE" b="1" dirty="0"/>
                  <a:t> in </a:t>
                </a:r>
                <a:r>
                  <a:rPr lang="nl-BE" b="1" dirty="0" err="1"/>
                  <a:t>één</a:t>
                </a:r>
                <a:r>
                  <a:rPr lang="nl-BE" b="1" dirty="0"/>
                  <a:t> zin</a:t>
                </a:r>
                <a:r>
                  <a:rPr lang="nl-BE" dirty="0"/>
                  <a:t>: </a:t>
                </a:r>
                <a14:m>
                  <m:oMath xmlns:m="http://schemas.openxmlformats.org/officeDocument/2006/math">
                    <m:r>
                      <a:rPr lang="ar-AE">
                        <a:latin typeface="Cambria Math" panose="02040503050406030204" pitchFamily="18" charset="0"/>
                      </a:rPr>
                      <m:t>𝛥</m:t>
                    </m:r>
                    <m:r>
                      <a:rPr lang="ar-AE">
                        <a:latin typeface="Cambria Math" panose="02040503050406030204" pitchFamily="18" charset="0"/>
                      </a:rPr>
                      <m:t>𝑠</m:t>
                    </m:r>
                  </m:oMath>
                </a14:m>
                <a:r>
                  <a:rPr lang="nl-BE" dirty="0"/>
                  <a:t> =</a:t>
                </a:r>
                <a:r>
                  <a:rPr lang="ar-AE" dirty="0"/>
                  <a:t> </a:t>
                </a:r>
                <a14:m>
                  <m:oMath xmlns:m="http://schemas.openxmlformats.org/officeDocument/2006/math">
                    <m:d>
                      <m:dPr>
                        <m:begChr m:val="|"/>
                        <m:endChr m:val="|"/>
                        <m:ctrlPr>
                          <a:rPr lang="ar-AE">
                            <a:latin typeface="Cambria Math" panose="02040503050406030204" pitchFamily="18" charset="0"/>
                          </a:rPr>
                        </m:ctrlPr>
                      </m:dPr>
                      <m:e>
                        <m:r>
                          <a:rPr lang="ar-A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e>
                    </m:d>
                  </m:oMath>
                </a14:m>
                <a:endParaRPr lang="nl-BE" dirty="0"/>
              </a:p>
              <a:p>
                <a:pPr lvl="1"/>
                <a:r>
                  <a:rPr lang="nl-BE" dirty="0"/>
                  <a:t>Bij </a:t>
                </a:r>
                <a:r>
                  <a:rPr lang="nl-BE" b="1" dirty="0" err="1"/>
                  <a:t>heen-en-weer</a:t>
                </a:r>
                <a:r>
                  <a:rPr lang="nl-BE" b="1" dirty="0"/>
                  <a:t> of </a:t>
                </a:r>
                <a:r>
                  <a:rPr lang="nl-BE" b="1" dirty="0" err="1"/>
                  <a:t>gebogen</a:t>
                </a:r>
                <a:r>
                  <a:rPr lang="nl-BE" b="1" dirty="0"/>
                  <a:t> </a:t>
                </a:r>
                <a:r>
                  <a:rPr lang="nl-BE" b="1" dirty="0" err="1"/>
                  <a:t>beweging</a:t>
                </a:r>
                <a:r>
                  <a:rPr lang="nl-BE" dirty="0"/>
                  <a:t>: </a:t>
                </a:r>
                <a14:m>
                  <m:oMath xmlns:m="http://schemas.openxmlformats.org/officeDocument/2006/math">
                    <m:r>
                      <a:rPr lang="nl-BE">
                        <a:latin typeface="Cambria Math" panose="02040503050406030204" pitchFamily="18" charset="0"/>
                      </a:rPr>
                      <m:t>𝛥</m:t>
                    </m:r>
                    <m:r>
                      <a:rPr lang="nl-BE">
                        <a:latin typeface="Cambria Math" panose="02040503050406030204" pitchFamily="18" charset="0"/>
                      </a:rPr>
                      <m:t>𝑠</m:t>
                    </m:r>
                    <m:r>
                      <a:rPr lang="nl-BE">
                        <a:latin typeface="Cambria Math" panose="02040503050406030204" pitchFamily="18" charset="0"/>
                      </a:rPr>
                      <m:t>&gt;</m:t>
                    </m:r>
                    <m:d>
                      <m:dPr>
                        <m:begChr m:val="|"/>
                        <m:endChr m:val="|"/>
                        <m:ctrlPr>
                          <a:rPr lang="ar-AE">
                            <a:latin typeface="Cambria Math" panose="02040503050406030204" pitchFamily="18" charset="0"/>
                          </a:rPr>
                        </m:ctrlPr>
                      </m:dPr>
                      <m:e>
                        <m:r>
                          <a:rPr lang="ar-A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e>
                    </m:d>
                  </m:oMath>
                </a14:m>
                <a:endParaRPr lang="ar-AE" dirty="0"/>
              </a:p>
              <a:p>
                <a:pPr lvl="1"/>
                <a:endParaRPr lang="ar-AE" dirty="0"/>
              </a:p>
              <a:p>
                <a:pPr lvl="0"/>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498" y="1702037"/>
                <a:ext cx="11873501" cy="5272739"/>
              </a:xfrm>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919E2332-88F0-593C-BE7C-8FBABDDE936B}"/>
              </a:ext>
            </a:extLst>
          </p:cNvPr>
          <p:cNvPicPr>
            <a:picLocks noChangeAspect="1"/>
          </p:cNvPicPr>
          <p:nvPr/>
        </p:nvPicPr>
        <p:blipFill>
          <a:blip r:embed="rId3"/>
          <a:stretch>
            <a:fillRect/>
          </a:stretch>
        </p:blipFill>
        <p:spPr>
          <a:xfrm>
            <a:off x="8946618" y="0"/>
            <a:ext cx="3245382" cy="247085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74680" y="1377310"/>
                <a:ext cx="11609798" cy="5272739"/>
              </a:xfrm>
            </p:spPr>
            <p:txBody>
              <a:bodyPr>
                <a:normAutofit/>
              </a:bodyPr>
              <a:lstStyle/>
              <a:p>
                <a:pPr marL="0" lvl="0" indent="0">
                  <a:buNone/>
                </a:pPr>
                <a:r>
                  <a:rPr sz="3600" b="1" dirty="0" err="1"/>
                  <a:t>Voorbeeld</a:t>
                </a:r>
                <a:r>
                  <a:rPr sz="3600" b="1" dirty="0"/>
                  <a:t>:</a:t>
                </a:r>
                <a:endParaRPr lang="nl-BE" sz="3600" b="1" dirty="0"/>
              </a:p>
              <a:p>
                <a:pPr marL="0" lvl="0" indent="0">
                  <a:buNone/>
                </a:pPr>
                <a:br>
                  <a:rPr sz="3600" dirty="0"/>
                </a:br>
                <a:r>
                  <a:rPr sz="3600" dirty="0"/>
                  <a:t>Een </a:t>
                </a:r>
                <a:r>
                  <a:rPr sz="3600" dirty="0" err="1"/>
                  <a:t>voorwerp</a:t>
                </a:r>
                <a:r>
                  <a:rPr sz="3600" dirty="0"/>
                  <a:t> </a:t>
                </a:r>
                <a:r>
                  <a:rPr sz="3600" dirty="0" err="1"/>
                  <a:t>beweegt</a:t>
                </a:r>
                <a:r>
                  <a:rPr sz="3600" dirty="0"/>
                  <a:t> van A </a:t>
                </a:r>
                <a:r>
                  <a:rPr sz="3600" dirty="0" err="1"/>
                  <a:t>naar</a:t>
                </a:r>
                <a:r>
                  <a:rPr sz="3600" dirty="0"/>
                  <a:t> B </a:t>
                </a:r>
                <a:r>
                  <a:rPr sz="3600" dirty="0" err="1"/>
                  <a:t>en</a:t>
                </a:r>
                <a:r>
                  <a:rPr sz="3600" dirty="0"/>
                  <a:t> </a:t>
                </a:r>
                <a:r>
                  <a:rPr sz="3600" dirty="0" err="1"/>
                  <a:t>terug</a:t>
                </a:r>
                <a:r>
                  <a:rPr sz="3600" dirty="0"/>
                  <a:t> </a:t>
                </a:r>
                <a:r>
                  <a:rPr sz="3600" dirty="0" err="1"/>
                  <a:t>naar</a:t>
                </a:r>
                <a:r>
                  <a:rPr sz="3600" dirty="0"/>
                  <a:t> A:</a:t>
                </a:r>
                <a:br>
                  <a:rPr sz="3600" dirty="0"/>
                </a:br>
                <a:r>
                  <a:rPr sz="3600" dirty="0"/>
                  <a:t>- </a:t>
                </a:r>
                <a:r>
                  <a:rPr sz="3600" b="1" dirty="0" err="1"/>
                  <a:t>Verplaatsing</a:t>
                </a:r>
                <a:r>
                  <a:rPr sz="3600" b="1" dirty="0"/>
                  <a:t>:</a:t>
                </a:r>
                <a:r>
                  <a:rPr sz="3600" dirty="0"/>
                  <a:t> </a:t>
                </a:r>
                <a14:m>
                  <m:oMath xmlns:m="http://schemas.openxmlformats.org/officeDocument/2006/math">
                    <m:r>
                      <a:rPr sz="3600">
                        <a:latin typeface="Cambria Math" panose="02040503050406030204" pitchFamily="18" charset="0"/>
                      </a:rPr>
                      <m:t>0</m:t>
                    </m:r>
                  </m:oMath>
                </a14:m>
                <a:br>
                  <a:rPr sz="3600" dirty="0"/>
                </a:br>
                <a:r>
                  <a:rPr sz="3600" dirty="0"/>
                  <a:t>- </a:t>
                </a:r>
                <a:r>
                  <a:rPr sz="3600" b="1" dirty="0" err="1"/>
                  <a:t>Afgelegde</a:t>
                </a:r>
                <a:r>
                  <a:rPr sz="3600" b="1" dirty="0"/>
                  <a:t> </a:t>
                </a:r>
                <a:r>
                  <a:rPr sz="3600" b="1" dirty="0" err="1"/>
                  <a:t>weg</a:t>
                </a:r>
                <a:r>
                  <a:rPr sz="3600" b="1" dirty="0"/>
                  <a:t>:</a:t>
                </a:r>
                <a:r>
                  <a:rPr sz="3600" dirty="0"/>
                  <a:t> </a:t>
                </a:r>
                <a14:m>
                  <m:oMath xmlns:m="http://schemas.openxmlformats.org/officeDocument/2006/math">
                    <m:r>
                      <a:rPr sz="3600">
                        <a:latin typeface="Cambria Math" panose="02040503050406030204" pitchFamily="18" charset="0"/>
                      </a:rPr>
                      <m:t>2</m:t>
                    </m:r>
                  </m:oMath>
                </a14:m>
                <a:r>
                  <a:rPr lang="nl-BE" sz="3600" dirty="0"/>
                  <a:t> keer</a:t>
                </a:r>
                <a:r>
                  <a:rPr sz="3600" dirty="0"/>
                  <a:t> </a:t>
                </a:r>
                <a:r>
                  <a:rPr sz="3600" dirty="0" err="1"/>
                  <a:t>afstand</a:t>
                </a:r>
                <a:r>
                  <a:rPr sz="3600" dirty="0"/>
                  <a:t> A–B</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74680" y="1377310"/>
                <a:ext cx="11609798" cy="5272739"/>
              </a:xfrm>
              <a:blipFill>
                <a:blip r:embed="rId2"/>
                <a:stretch>
                  <a:fillRect/>
                </a:stretch>
              </a:blipFill>
            </p:spPr>
            <p:txBody>
              <a:bodyPr/>
              <a:lstStyle/>
              <a:p>
                <a:r>
                  <a:rPr lang="nl-BE">
                    <a:noFill/>
                  </a:rPr>
                  <a:t> </a:t>
                </a:r>
              </a:p>
            </p:txBody>
          </p:sp>
        </mc:Fallback>
      </mc:AlternateContent>
      <p:sp>
        <p:nvSpPr>
          <p:cNvPr id="2" name="Title 1">
            <a:extLst>
              <a:ext uri="{FF2B5EF4-FFF2-40B4-BE49-F238E27FC236}">
                <a16:creationId xmlns:a16="http://schemas.microsoft.com/office/drawing/2014/main" id="{26818D0A-FFC7-363A-A501-0E866B425733}"/>
              </a:ext>
            </a:extLst>
          </p:cNvPr>
          <p:cNvSpPr>
            <a:spLocks noGrp="1"/>
          </p:cNvSpPr>
          <p:nvPr>
            <p:ph type="title"/>
          </p:nvPr>
        </p:nvSpPr>
        <p:spPr>
          <a:xfrm>
            <a:off x="0" y="18255"/>
            <a:ext cx="12191999" cy="1325563"/>
          </a:xfrm>
        </p:spPr>
        <p:txBody>
          <a:bodyPr>
            <a:normAutofit fontScale="90000"/>
          </a:bodyPr>
          <a:lstStyle/>
          <a:p>
            <a:pPr marL="0" lvl="0" indent="0">
              <a:buNone/>
            </a:pPr>
            <a:r>
              <a:rPr lang="nl-BE" dirty="0"/>
              <a:t>Verschil tussen V</a:t>
            </a:r>
            <a:r>
              <a:rPr dirty="0" err="1"/>
              <a:t>erplaatsing</a:t>
            </a:r>
            <a:r>
              <a:rPr dirty="0"/>
              <a:t> </a:t>
            </a:r>
            <a:r>
              <a:rPr lang="nl-BE" dirty="0"/>
              <a:t>en</a:t>
            </a:r>
            <a:r>
              <a:rPr dirty="0"/>
              <a:t> </a:t>
            </a:r>
            <a:r>
              <a:rPr dirty="0" err="1"/>
              <a:t>Afgelegde</a:t>
            </a:r>
            <a:r>
              <a:rPr dirty="0"/>
              <a:t> </a:t>
            </a:r>
            <a:r>
              <a:rPr dirty="0" err="1"/>
              <a:t>weg</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Valkuilen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b="1"/>
                  <a:t>Verwar</a:t>
                </a:r>
                <a:r>
                  <a:t> baan (geometrie in ruimte) niet met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b="1"/>
                  <a:t>-grafiek</a:t>
                </a:r>
                <a:r>
                  <a:t> (component in tijd).</a:t>
                </a:r>
              </a:p>
              <a:p>
                <a:pPr lvl="0"/>
                <a:r>
                  <a:rPr b="1"/>
                  <a:t>Coördinaten meten</a:t>
                </a:r>
                <a:r>
                  <a:t> </a:t>
                </a:r>
                <a14:m>
                  <m:oMath xmlns:m="http://schemas.openxmlformats.org/officeDocument/2006/math">
                    <m:r>
                      <a:rPr>
                        <a:latin typeface="Cambria Math" panose="02040503050406030204" pitchFamily="18" charset="0"/>
                      </a:rPr>
                      <m:t>≠</m:t>
                    </m:r>
                  </m:oMath>
                </a14:m>
                <a:r>
                  <a:t> vector meten: we meten </a:t>
                </a:r>
                <a14:m>
                  <m:oMath xmlns:m="http://schemas.openxmlformats.org/officeDocument/2006/math">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oMath>
                </a14:m>
                <a:r>
                  <a:t>;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r>
                  <a:t> is afgeleid.</a:t>
                </a:r>
              </a:p>
              <a:p>
                <a:pPr lvl="0"/>
                <a:r>
                  <a:rPr b="1"/>
                  <a:t>Teken</a:t>
                </a:r>
                <a:r>
                  <a:t> van coördinaten en verplaatsing hangt af van </a:t>
                </a:r>
                <a:r>
                  <a:rPr b="1"/>
                  <a:t>gekozen aszinnen</a:t>
                </a:r>
                <a:r>
                  <a:t>.</a:t>
                </a:r>
              </a:p>
              <a:p>
                <a:pPr lvl="0"/>
                <a:r>
                  <a:rPr b="1"/>
                  <a:t>Rust</a:t>
                </a:r>
                <a:r>
                  <a:t> betekent niet “</a:t>
                </a:r>
                <a14:m>
                  <m:oMath xmlns:m="http://schemas.openxmlformats.org/officeDocument/2006/math">
                    <m:r>
                      <a:rPr>
                        <a:latin typeface="Cambria Math" panose="02040503050406030204" pitchFamily="18" charset="0"/>
                      </a:rPr>
                      <m:t>𝑥</m:t>
                    </m:r>
                    <m:r>
                      <a:rPr>
                        <a:latin typeface="Cambria Math" panose="02040503050406030204" pitchFamily="18" charset="0"/>
                      </a:rPr>
                      <m:t>=0</m:t>
                    </m:r>
                  </m:oMath>
                </a14:m>
                <a:r>
                  <a:t>”, wel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m:rPr>
                        <m:nor/>
                      </m:rPr>
                      <a:rPr i="0"/>
                      <m:t>constante</m:t>
                    </m:r>
                  </m:oMath>
                </a14:m>
                <a: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Check jezelf (juist/fout)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457200" lvl="0" indent="-457200">
                  <a:buAutoNum type="arabicPeriod"/>
                </a:pP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d>
                      <m:dPr>
                        <m:ctrlPr>
                          <a:rPr>
                            <a:latin typeface="Cambria Math" panose="02040503050406030204" pitchFamily="18" charset="0"/>
                          </a:rPr>
                        </m:ctrlPr>
                      </m:dPr>
                      <m:e>
                        <m:r>
                          <a:rPr>
                            <a:latin typeface="Cambria Math" panose="02040503050406030204" pitchFamily="18" charset="0"/>
                          </a:rPr>
                          <m:t>𝑡</m:t>
                        </m:r>
                      </m:e>
                    </m:d>
                  </m:oMath>
                </a14:m>
                <a:r>
                  <a:rPr dirty="0"/>
                  <a:t> </a:t>
                </a:r>
                <a:r>
                  <a:rPr dirty="0" err="1"/>
                  <a:t>geeft</a:t>
                </a:r>
                <a:r>
                  <a:rPr dirty="0"/>
                  <a:t> </a:t>
                </a:r>
                <a:r>
                  <a:rPr dirty="0" err="1"/>
                  <a:t>altijd</a:t>
                </a:r>
                <a:r>
                  <a:rPr dirty="0"/>
                  <a:t> </a:t>
                </a:r>
                <a:r>
                  <a:rPr dirty="0" err="1"/>
                  <a:t>ook</a:t>
                </a:r>
                <a:r>
                  <a:rPr dirty="0"/>
                  <a:t> </a:t>
                </a:r>
                <a:r>
                  <a:rPr dirty="0" err="1"/>
                  <a:t>meteen</a:t>
                </a:r>
                <a:r>
                  <a:rPr dirty="0"/>
                  <a:t> de </a:t>
                </a:r>
                <a:r>
                  <a:rPr dirty="0" err="1"/>
                  <a:t>vorm</a:t>
                </a:r>
                <a:r>
                  <a:rPr dirty="0"/>
                  <a:t> van de </a:t>
                </a:r>
                <a:r>
                  <a:rPr dirty="0" err="1"/>
                  <a:t>baan</a:t>
                </a:r>
                <a:r>
                  <a:rPr dirty="0"/>
                  <a:t> </a:t>
                </a:r>
                <a:r>
                  <a:rPr dirty="0" err="1"/>
                  <a:t>zonder</a:t>
                </a:r>
                <a:r>
                  <a:rPr dirty="0"/>
                  <a:t> </a:t>
                </a:r>
                <a:r>
                  <a:rPr dirty="0" err="1"/>
                  <a:t>bijkomende</a:t>
                </a:r>
                <a:r>
                  <a:rPr dirty="0"/>
                  <a:t> info.</a:t>
                </a:r>
                <a:br>
                  <a:rPr dirty="0"/>
                </a:br>
                <a:endParaRPr dirty="0"/>
              </a:p>
              <a:p>
                <a:pPr marL="457200" lvl="0" indent="-457200">
                  <a:buAutoNum type="arabicPeriod"/>
                </a:pPr>
                <a:r>
                  <a:rPr dirty="0"/>
                  <a:t>In 1D </a:t>
                </a:r>
                <a:r>
                  <a:rPr dirty="0" err="1"/>
                  <a:t>geldt</a:t>
                </a:r>
                <a:r>
                  <a:rPr dirty="0"/>
                  <a:t>: </a:t>
                </a:r>
                <a14:m>
                  <m:oMath xmlns:m="http://schemas.openxmlformats.org/officeDocument/2006/math">
                    <m:r>
                      <a:rPr>
                        <a:latin typeface="Cambria Math" panose="02040503050406030204" pitchFamily="18" charset="0"/>
                      </a:rPr>
                      <m:t>𝛥</m:t>
                    </m:r>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r>
                      <a:rPr>
                        <a:latin typeface="Cambria Math" panose="02040503050406030204" pitchFamily="18" charset="0"/>
                      </a:rPr>
                      <m:t>𝛥</m:t>
                    </m:r>
                    <m:r>
                      <a:rPr>
                        <a:latin typeface="Cambria Math" panose="02040503050406030204" pitchFamily="18" charset="0"/>
                      </a:rPr>
                      <m:t>𝑥</m:t>
                    </m:r>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oMath>
                </a14:m>
                <a:r>
                  <a:rPr dirty="0"/>
                  <a:t>.</a:t>
                </a:r>
                <a:br>
                  <a:rPr dirty="0"/>
                </a:br>
                <a:endParaRPr dirty="0"/>
              </a:p>
              <a:p>
                <a:pPr marL="457200" lvl="0" indent="-457200">
                  <a:buAutoNum type="arabicPeriod"/>
                </a:pPr>
                <a:r>
                  <a:rPr dirty="0"/>
                  <a:t>In rust is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a:t>
                </a:r>
                <a:r>
                  <a:rPr dirty="0" err="1"/>
                  <a:t>een</a:t>
                </a:r>
                <a:r>
                  <a:rPr dirty="0"/>
                  <a:t> </a:t>
                </a:r>
                <a:r>
                  <a:rPr dirty="0" err="1"/>
                  <a:t>constante</a:t>
                </a:r>
                <a:r>
                  <a:rPr dirty="0"/>
                  <a:t> </a:t>
                </a:r>
                <a:r>
                  <a:rPr dirty="0" err="1"/>
                  <a:t>en</a:t>
                </a:r>
                <a:r>
                  <a:rPr dirty="0"/>
                  <a:t> is de </a:t>
                </a:r>
                <a:r>
                  <a:rPr dirty="0" err="1"/>
                  <a:t>baan</a:t>
                </a:r>
                <a:r>
                  <a:rPr dirty="0"/>
                  <a:t> </a:t>
                </a:r>
                <a:r>
                  <a:rPr dirty="0" err="1"/>
                  <a:t>één</a:t>
                </a:r>
                <a:r>
                  <a:rPr dirty="0"/>
                  <a:t> punt.</a:t>
                </a:r>
                <a:br>
                  <a:rPr dirty="0"/>
                </a:br>
                <a:endParaRPr dirty="0"/>
              </a:p>
              <a:p>
                <a:pPr marL="457200" lvl="0" indent="-457200">
                  <a:buAutoNum type="arabicPeriod"/>
                </a:pPr>
                <a:r>
                  <a:rPr dirty="0"/>
                  <a:t>De </a:t>
                </a:r>
                <a:r>
                  <a:rPr dirty="0" err="1"/>
                  <a:t>grootte</a:t>
                </a:r>
                <a:r>
                  <a:rPr lang="nl-BE" dirty="0"/>
                  <a:t> van</a:t>
                </a:r>
                <a:r>
                  <a:rPr dirty="0"/>
                  <a:t> </a:t>
                </a:r>
                <a14:m>
                  <m:oMath xmlns:m="http://schemas.openxmlformats.org/officeDocument/2006/math">
                    <m:r>
                      <a:rPr>
                        <a:latin typeface="Cambria Math" panose="02040503050406030204" pitchFamily="18" charset="0"/>
                      </a:rPr>
                      <m:t>𝑟</m:t>
                    </m:r>
                    <m:d>
                      <m:dPr>
                        <m:ctrlPr>
                          <a:rPr>
                            <a:latin typeface="Cambria Math" panose="02040503050406030204" pitchFamily="18" charset="0"/>
                          </a:rPr>
                        </m:ctrlPr>
                      </m:dPr>
                      <m:e>
                        <m:r>
                          <a:rPr>
                            <a:latin typeface="Cambria Math" panose="02040503050406030204" pitchFamily="18" charset="0"/>
                          </a:rPr>
                          <m:t>𝑡</m:t>
                        </m:r>
                      </m:e>
                    </m:d>
                  </m:oMath>
                </a14:m>
                <a:r>
                  <a:rPr dirty="0"/>
                  <a:t> is </a:t>
                </a:r>
                <a14:m>
                  <m:oMath xmlns:m="http://schemas.openxmlformats.org/officeDocument/2006/math">
                    <m:r>
                      <a:rPr>
                        <a:latin typeface="Cambria Math" panose="02040503050406030204" pitchFamily="18" charset="0"/>
                      </a:rPr>
                      <m:t>𝑟</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a:rPr>
                        <a:latin typeface="Cambria Math" panose="02040503050406030204" pitchFamily="18" charset="0"/>
                      </a:rPr>
                      <m:t>𝑦</m:t>
                    </m:r>
                    <m:d>
                      <m:dPr>
                        <m:ctrlPr>
                          <a:rPr>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r>
                      <a:rPr>
                        <a:latin typeface="Cambria Math" panose="02040503050406030204" pitchFamily="18" charset="0"/>
                      </a:rPr>
                      <m:t>𝑧</m:t>
                    </m:r>
                    <m:d>
                      <m:dPr>
                        <m:ctrlPr>
                          <a:rPr>
                            <a:latin typeface="Cambria Math" panose="02040503050406030204" pitchFamily="18" charset="0"/>
                          </a:rPr>
                        </m:ctrlPr>
                      </m:dPr>
                      <m:e>
                        <m:r>
                          <a:rPr>
                            <a:latin typeface="Cambria Math" panose="02040503050406030204" pitchFamily="18" charset="0"/>
                          </a:rPr>
                          <m:t>𝑡</m:t>
                        </m:r>
                      </m:e>
                    </m:d>
                  </m:oMath>
                </a14:m>
                <a:r>
                  <a:rPr dirty="0"/>
                  <a:t>.</a:t>
                </a:r>
                <a:br>
                  <a:rPr dirty="0"/>
                </a:br>
                <a:endParaRPr dirty="0"/>
              </a:p>
              <a:p>
                <a:pPr marL="457200" lvl="0" indent="-457200">
                  <a:buAutoNum type="arabicPeriod"/>
                </a:pPr>
                <a:r>
                  <a:rPr dirty="0"/>
                  <a:t>Een </a:t>
                </a:r>
                <a:r>
                  <a:rPr dirty="0" err="1"/>
                  <a:t>negatieve</a:t>
                </a:r>
                <a:r>
                  <a:rPr dirty="0"/>
                  <a:t> </a:t>
                </a:r>
                <a:r>
                  <a:rPr dirty="0" err="1"/>
                  <a:t>coördinaat</a:t>
                </a:r>
                <a:r>
                  <a:rPr dirty="0"/>
                  <a:t> is </a:t>
                </a:r>
                <a:r>
                  <a:rPr dirty="0" err="1"/>
                  <a:t>onmogelijk</a:t>
                </a:r>
                <a:r>
                  <a:rPr dirty="0"/>
                  <a:t> </a:t>
                </a:r>
                <a:r>
                  <a:rPr dirty="0" err="1"/>
                  <a:t>omdat</a:t>
                </a:r>
                <a:r>
                  <a:rPr dirty="0"/>
                  <a:t> </a:t>
                </a:r>
                <a:r>
                  <a:rPr dirty="0" err="1"/>
                  <a:t>afstand</a:t>
                </a:r>
                <a:r>
                  <a:rPr dirty="0"/>
                  <a:t> </a:t>
                </a:r>
                <a:r>
                  <a:rPr dirty="0" err="1"/>
                  <a:t>niet</a:t>
                </a:r>
                <a:r>
                  <a:rPr dirty="0"/>
                  <a:t> </a:t>
                </a:r>
                <a:r>
                  <a:rPr dirty="0" err="1"/>
                  <a:t>negatief</a:t>
                </a:r>
                <a:r>
                  <a:rPr dirty="0"/>
                  <a:t> </a:t>
                </a:r>
                <a:r>
                  <a:rPr dirty="0" err="1"/>
                  <a:t>kan</a:t>
                </a:r>
                <a:r>
                  <a:rPr dirty="0"/>
                  <a:t> </a:t>
                </a:r>
                <a:r>
                  <a:rPr dirty="0" err="1"/>
                  <a:t>zijn</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EB86E-D2B2-3A92-AAED-14BA89BB8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69C43-24AC-0365-FFC3-9E94A1BB6AF0}"/>
              </a:ext>
            </a:extLst>
          </p:cNvPr>
          <p:cNvSpPr>
            <a:spLocks noGrp="1"/>
          </p:cNvSpPr>
          <p:nvPr>
            <p:ph type="title"/>
          </p:nvPr>
        </p:nvSpPr>
        <p:spPr/>
        <p:txBody>
          <a:bodyPr/>
          <a:lstStyle/>
          <a:p>
            <a:pPr marL="0" lvl="0" indent="0">
              <a:buNone/>
            </a:pPr>
            <a:r>
              <a:t>Check jezelf (juist/fout)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6E587C-1750-AA87-FF25-7113B06A0C47}"/>
                  </a:ext>
                </a:extLst>
              </p:cNvPr>
              <p:cNvSpPr>
                <a:spLocks noGrp="1"/>
              </p:cNvSpPr>
              <p:nvPr>
                <p:ph idx="1"/>
              </p:nvPr>
            </p:nvSpPr>
            <p:spPr/>
            <p:txBody>
              <a:bodyPr>
                <a:normAutofit fontScale="85000" lnSpcReduction="10000"/>
              </a:bodyPr>
              <a:lstStyle/>
              <a:p>
                <a:pPr marL="457200" lvl="0" indent="-457200">
                  <a:buAutoNum type="arabicPeriod"/>
                </a:pPr>
                <a14:m>
                  <m:oMath xmlns:m="http://schemas.openxmlformats.org/officeDocument/2006/math">
                    <m:acc>
                      <m:accPr>
                        <m:chr m:val="⃗"/>
                        <m:ctrlPr>
                          <a:rPr lang="ar-AE">
                            <a:latin typeface="Cambria Math" panose="02040503050406030204" pitchFamily="18" charset="0"/>
                          </a:rPr>
                        </m:ctrlPr>
                      </m:accPr>
                      <m:e>
                        <m:r>
                          <a:rPr lang="ar-AE">
                            <a:latin typeface="Cambria Math" panose="02040503050406030204" pitchFamily="18" charset="0"/>
                          </a:rPr>
                          <m:t>𝑟</m:t>
                        </m:r>
                      </m:e>
                    </m:acc>
                    <m:d>
                      <m:dPr>
                        <m:ctrlPr>
                          <a:rPr lang="ar-AE">
                            <a:latin typeface="Cambria Math" panose="02040503050406030204" pitchFamily="18" charset="0"/>
                          </a:rPr>
                        </m:ctrlPr>
                      </m:dPr>
                      <m:e>
                        <m:r>
                          <a:rPr lang="ar-AE">
                            <a:latin typeface="Cambria Math" panose="02040503050406030204" pitchFamily="18" charset="0"/>
                          </a:rPr>
                          <m:t>𝑡</m:t>
                        </m:r>
                      </m:e>
                    </m:d>
                  </m:oMath>
                </a14:m>
                <a:r>
                  <a:rPr lang="ar-AE" dirty="0"/>
                  <a:t> </a:t>
                </a:r>
                <a:r>
                  <a:rPr lang="nl-BE" dirty="0" err="1"/>
                  <a:t>geeft</a:t>
                </a:r>
                <a:r>
                  <a:rPr lang="nl-BE" dirty="0"/>
                  <a:t> </a:t>
                </a:r>
                <a:r>
                  <a:rPr lang="nl-BE" dirty="0" err="1"/>
                  <a:t>altijd</a:t>
                </a:r>
                <a:r>
                  <a:rPr lang="nl-BE" dirty="0"/>
                  <a:t> </a:t>
                </a:r>
                <a:r>
                  <a:rPr lang="nl-BE" dirty="0" err="1"/>
                  <a:t>ook</a:t>
                </a:r>
                <a:r>
                  <a:rPr lang="nl-BE" dirty="0"/>
                  <a:t> </a:t>
                </a:r>
                <a:r>
                  <a:rPr lang="nl-BE" dirty="0" err="1"/>
                  <a:t>meteen</a:t>
                </a:r>
                <a:r>
                  <a:rPr lang="nl-BE" dirty="0"/>
                  <a:t> de </a:t>
                </a:r>
                <a:r>
                  <a:rPr lang="nl-BE" dirty="0" err="1"/>
                  <a:t>vorm</a:t>
                </a:r>
                <a:r>
                  <a:rPr lang="nl-BE" dirty="0"/>
                  <a:t> van de </a:t>
                </a:r>
                <a:r>
                  <a:rPr lang="nl-BE" dirty="0" err="1"/>
                  <a:t>baan</a:t>
                </a:r>
                <a:r>
                  <a:rPr lang="nl-BE" dirty="0"/>
                  <a:t> </a:t>
                </a:r>
                <a:r>
                  <a:rPr lang="nl-BE" dirty="0" err="1"/>
                  <a:t>zonder</a:t>
                </a:r>
                <a:r>
                  <a:rPr lang="nl-BE" dirty="0"/>
                  <a:t> </a:t>
                </a:r>
                <a:r>
                  <a:rPr lang="nl-BE" dirty="0" err="1"/>
                  <a:t>bijkomende</a:t>
                </a:r>
                <a:r>
                  <a:rPr lang="nl-BE" dirty="0"/>
                  <a:t> info.</a:t>
                </a:r>
                <a:br>
                  <a:rPr lang="nl-BE" dirty="0"/>
                </a:br>
                <a:endParaRPr lang="nl-BE" dirty="0"/>
              </a:p>
              <a:p>
                <a:pPr marL="457200" lvl="0" indent="-457200">
                  <a:buAutoNum type="arabicPeriod"/>
                </a:pPr>
                <a:r>
                  <a:rPr lang="nl-BE" dirty="0"/>
                  <a:t>In 1D </a:t>
                </a:r>
                <a:r>
                  <a:rPr lang="nl-BE" dirty="0" err="1"/>
                  <a:t>geldt</a:t>
                </a:r>
                <a:r>
                  <a:rPr lang="nl-BE" dirty="0"/>
                  <a:t>: </a:t>
                </a:r>
                <a14:m>
                  <m:oMath xmlns:m="http://schemas.openxmlformats.org/officeDocument/2006/math">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r>
                      <a:rPr lang="ar-AE">
                        <a:latin typeface="Cambria Math" panose="02040503050406030204" pitchFamily="18" charset="0"/>
                      </a:rPr>
                      <m:t>𝛥</m:t>
                    </m:r>
                    <m:r>
                      <a:rPr lang="ar-AE">
                        <a:latin typeface="Cambria Math" panose="02040503050406030204" pitchFamily="18" charset="0"/>
                      </a:rPr>
                      <m:t>𝑥</m:t>
                    </m:r>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oMath>
                </a14:m>
                <a:r>
                  <a:rPr lang="ar-AE" dirty="0"/>
                  <a:t>.</a:t>
                </a:r>
                <a:br>
                  <a:rPr lang="ar-AE" dirty="0"/>
                </a:br>
                <a:endParaRPr lang="ar-AE" dirty="0"/>
              </a:p>
              <a:p>
                <a:pPr marL="457200" lvl="0" indent="-457200">
                  <a:buAutoNum type="arabicPeriod"/>
                </a:pPr>
                <a:r>
                  <a:rPr lang="nl-BE" dirty="0"/>
                  <a:t>In rust is </a:t>
                </a:r>
                <a14:m>
                  <m:oMath xmlns:m="http://schemas.openxmlformats.org/officeDocument/2006/math">
                    <m:r>
                      <a:rPr lang="nl-BE">
                        <a:latin typeface="Cambria Math" panose="02040503050406030204" pitchFamily="18" charset="0"/>
                      </a:rPr>
                      <m:t>𝑥</m:t>
                    </m:r>
                    <m:d>
                      <m:dPr>
                        <m:ctrlPr>
                          <a:rPr lang="ar-AE">
                            <a:latin typeface="Cambria Math" panose="02040503050406030204" pitchFamily="18" charset="0"/>
                          </a:rPr>
                        </m:ctrlPr>
                      </m:dPr>
                      <m:e>
                        <m:r>
                          <a:rPr lang="ar-AE">
                            <a:latin typeface="Cambria Math" panose="02040503050406030204" pitchFamily="18" charset="0"/>
                          </a:rPr>
                          <m:t>𝑡</m:t>
                        </m:r>
                      </m:e>
                    </m:d>
                  </m:oMath>
                </a14:m>
                <a:r>
                  <a:rPr lang="ar-AE" dirty="0"/>
                  <a:t> </a:t>
                </a:r>
                <a:r>
                  <a:rPr lang="nl-BE" dirty="0" err="1"/>
                  <a:t>een</a:t>
                </a:r>
                <a:r>
                  <a:rPr lang="nl-BE" dirty="0"/>
                  <a:t> </a:t>
                </a:r>
                <a:r>
                  <a:rPr lang="nl-BE" dirty="0" err="1"/>
                  <a:t>constante</a:t>
                </a:r>
                <a:r>
                  <a:rPr lang="nl-BE" dirty="0"/>
                  <a:t> </a:t>
                </a:r>
                <a:r>
                  <a:rPr lang="nl-BE" dirty="0" err="1"/>
                  <a:t>en</a:t>
                </a:r>
                <a:r>
                  <a:rPr lang="nl-BE" dirty="0"/>
                  <a:t> is de </a:t>
                </a:r>
                <a:r>
                  <a:rPr lang="nl-BE" dirty="0" err="1"/>
                  <a:t>baan</a:t>
                </a:r>
                <a:r>
                  <a:rPr lang="nl-BE" dirty="0"/>
                  <a:t> </a:t>
                </a:r>
                <a:r>
                  <a:rPr lang="nl-BE" dirty="0" err="1"/>
                  <a:t>één</a:t>
                </a:r>
                <a:r>
                  <a:rPr lang="nl-BE" dirty="0"/>
                  <a:t> punt.</a:t>
                </a:r>
                <a:br>
                  <a:rPr lang="nl-BE" dirty="0"/>
                </a:br>
                <a:endParaRPr lang="nl-BE" dirty="0"/>
              </a:p>
              <a:p>
                <a:pPr marL="457200" lvl="0" indent="-457200">
                  <a:buAutoNum type="arabicPeriod"/>
                </a:pPr>
                <a:r>
                  <a:rPr lang="nl-BE" dirty="0"/>
                  <a:t>De grootte van </a:t>
                </a:r>
                <a14:m>
                  <m:oMath xmlns:m="http://schemas.openxmlformats.org/officeDocument/2006/math">
                    <m:r>
                      <a:rPr lang="nl-BE">
                        <a:latin typeface="Cambria Math" panose="02040503050406030204" pitchFamily="18" charset="0"/>
                      </a:rPr>
                      <m:t>𝑟</m:t>
                    </m:r>
                    <m:d>
                      <m:dPr>
                        <m:ctrlPr>
                          <a:rPr lang="ar-AE">
                            <a:latin typeface="Cambria Math" panose="02040503050406030204" pitchFamily="18" charset="0"/>
                          </a:rPr>
                        </m:ctrlPr>
                      </m:dPr>
                      <m:e>
                        <m:r>
                          <a:rPr lang="ar-AE">
                            <a:latin typeface="Cambria Math" panose="02040503050406030204" pitchFamily="18" charset="0"/>
                          </a:rPr>
                          <m:t>𝑡</m:t>
                        </m:r>
                      </m:e>
                    </m:d>
                  </m:oMath>
                </a14:m>
                <a:r>
                  <a:rPr lang="ar-AE" dirty="0"/>
                  <a:t> </a:t>
                </a:r>
                <a:r>
                  <a:rPr lang="nl-BE" dirty="0"/>
                  <a:t>is </a:t>
                </a:r>
                <a14:m>
                  <m:oMath xmlns:m="http://schemas.openxmlformats.org/officeDocument/2006/math">
                    <m:r>
                      <a:rPr lang="nl-BE">
                        <a:latin typeface="Cambria Math" panose="02040503050406030204" pitchFamily="18" charset="0"/>
                      </a:rPr>
                      <m:t>𝑟</m:t>
                    </m:r>
                    <m:d>
                      <m:dPr>
                        <m:ctrlPr>
                          <a:rPr lang="ar-AE">
                            <a:latin typeface="Cambria Math" panose="02040503050406030204" pitchFamily="18" charset="0"/>
                          </a:rPr>
                        </m:ctrlPr>
                      </m:dPr>
                      <m:e>
                        <m:r>
                          <a:rPr lang="ar-AE">
                            <a:latin typeface="Cambria Math" panose="02040503050406030204" pitchFamily="18" charset="0"/>
                          </a:rPr>
                          <m:t>𝑡</m:t>
                        </m:r>
                      </m:e>
                    </m:d>
                    <m:r>
                      <a:rPr lang="ar-AE">
                        <a:latin typeface="Cambria Math" panose="02040503050406030204" pitchFamily="18" charset="0"/>
                      </a:rPr>
                      <m:t>=</m:t>
                    </m:r>
                    <m:r>
                      <a:rPr lang="ar-AE">
                        <a:latin typeface="Cambria Math" panose="02040503050406030204" pitchFamily="18" charset="0"/>
                      </a:rPr>
                      <m:t>𝑥</m:t>
                    </m:r>
                    <m:d>
                      <m:dPr>
                        <m:ctrlPr>
                          <a:rPr lang="ar-AE">
                            <a:latin typeface="Cambria Math" panose="02040503050406030204" pitchFamily="18" charset="0"/>
                          </a:rPr>
                        </m:ctrlPr>
                      </m:dPr>
                      <m:e>
                        <m:r>
                          <a:rPr lang="ar-AE">
                            <a:latin typeface="Cambria Math" panose="02040503050406030204" pitchFamily="18" charset="0"/>
                          </a:rPr>
                          <m:t>𝑡</m:t>
                        </m:r>
                      </m:e>
                    </m:d>
                    <m:r>
                      <a:rPr lang="ar-AE">
                        <a:latin typeface="Cambria Math" panose="02040503050406030204" pitchFamily="18" charset="0"/>
                      </a:rPr>
                      <m:t>+</m:t>
                    </m:r>
                    <m:r>
                      <a:rPr lang="ar-AE">
                        <a:latin typeface="Cambria Math" panose="02040503050406030204" pitchFamily="18" charset="0"/>
                      </a:rPr>
                      <m:t>𝑦</m:t>
                    </m:r>
                    <m:d>
                      <m:dPr>
                        <m:ctrlPr>
                          <a:rPr lang="ar-AE">
                            <a:latin typeface="Cambria Math" panose="02040503050406030204" pitchFamily="18" charset="0"/>
                          </a:rPr>
                        </m:ctrlPr>
                      </m:dPr>
                      <m:e>
                        <m:r>
                          <a:rPr lang="ar-AE">
                            <a:latin typeface="Cambria Math" panose="02040503050406030204" pitchFamily="18" charset="0"/>
                          </a:rPr>
                          <m:t>𝑡</m:t>
                        </m:r>
                      </m:e>
                    </m:d>
                    <m:r>
                      <a:rPr lang="ar-AE">
                        <a:latin typeface="Cambria Math" panose="02040503050406030204" pitchFamily="18" charset="0"/>
                      </a:rPr>
                      <m:t>+</m:t>
                    </m:r>
                    <m:r>
                      <a:rPr lang="ar-AE">
                        <a:latin typeface="Cambria Math" panose="02040503050406030204" pitchFamily="18" charset="0"/>
                      </a:rPr>
                      <m:t>𝑧</m:t>
                    </m:r>
                    <m:d>
                      <m:dPr>
                        <m:ctrlPr>
                          <a:rPr lang="ar-AE">
                            <a:latin typeface="Cambria Math" panose="02040503050406030204" pitchFamily="18" charset="0"/>
                          </a:rPr>
                        </m:ctrlPr>
                      </m:dPr>
                      <m:e>
                        <m:r>
                          <a:rPr lang="ar-AE">
                            <a:latin typeface="Cambria Math" panose="02040503050406030204" pitchFamily="18" charset="0"/>
                          </a:rPr>
                          <m:t>𝑡</m:t>
                        </m:r>
                      </m:e>
                    </m:d>
                  </m:oMath>
                </a14:m>
                <a:r>
                  <a:rPr lang="ar-AE" dirty="0"/>
                  <a:t>.</a:t>
                </a:r>
                <a:br>
                  <a:rPr lang="ar-AE" dirty="0"/>
                </a:br>
                <a:endParaRPr lang="ar-AE" dirty="0"/>
              </a:p>
              <a:p>
                <a:pPr marL="457200" lvl="0" indent="-457200">
                  <a:buAutoNum type="arabicPeriod"/>
                </a:pPr>
                <a:r>
                  <a:rPr lang="nl-BE" dirty="0"/>
                  <a:t>Een </a:t>
                </a:r>
                <a:r>
                  <a:rPr lang="nl-BE" dirty="0" err="1"/>
                  <a:t>negatieve</a:t>
                </a:r>
                <a:r>
                  <a:rPr lang="nl-BE" dirty="0"/>
                  <a:t> </a:t>
                </a:r>
                <a:r>
                  <a:rPr lang="nl-BE" dirty="0" err="1"/>
                  <a:t>coördinaat</a:t>
                </a:r>
                <a:r>
                  <a:rPr lang="nl-BE" dirty="0"/>
                  <a:t> is </a:t>
                </a:r>
                <a:r>
                  <a:rPr lang="nl-BE" dirty="0" err="1"/>
                  <a:t>onmogelijk</a:t>
                </a:r>
                <a:r>
                  <a:rPr lang="nl-BE" dirty="0"/>
                  <a:t> </a:t>
                </a:r>
                <a:r>
                  <a:rPr lang="nl-BE" dirty="0" err="1"/>
                  <a:t>omdat</a:t>
                </a:r>
                <a:r>
                  <a:rPr lang="nl-BE" dirty="0"/>
                  <a:t> </a:t>
                </a:r>
                <a:r>
                  <a:rPr lang="nl-BE" dirty="0" err="1"/>
                  <a:t>afstand</a:t>
                </a:r>
                <a:r>
                  <a:rPr lang="nl-BE" dirty="0"/>
                  <a:t> </a:t>
                </a:r>
                <a:r>
                  <a:rPr lang="nl-BE" dirty="0" err="1"/>
                  <a:t>niet</a:t>
                </a:r>
                <a:r>
                  <a:rPr lang="nl-BE" dirty="0"/>
                  <a:t> </a:t>
                </a:r>
                <a:r>
                  <a:rPr lang="nl-BE" dirty="0" err="1"/>
                  <a:t>negatief</a:t>
                </a:r>
                <a:r>
                  <a:rPr lang="nl-BE" dirty="0"/>
                  <a:t> </a:t>
                </a:r>
                <a:r>
                  <a:rPr lang="nl-BE" dirty="0" err="1"/>
                  <a:t>kan</a:t>
                </a:r>
                <a:r>
                  <a:rPr lang="nl-BE" dirty="0"/>
                  <a:t> </a:t>
                </a:r>
                <a:r>
                  <a:rPr lang="nl-BE" dirty="0" err="1"/>
                  <a:t>zijn</a:t>
                </a:r>
                <a:r>
                  <a:rPr lang="nl-BE" dirty="0"/>
                  <a:t>.</a:t>
                </a:r>
              </a:p>
              <a:p>
                <a:pPr marL="0" lvl="0" indent="0">
                  <a:buNone/>
                </a:pPr>
                <a:r>
                  <a:rPr lang="nl-BE" b="1" dirty="0" err="1"/>
                  <a:t>Antwoorden</a:t>
                </a:r>
                <a:r>
                  <a:rPr lang="nl-BE" b="1" dirty="0"/>
                  <a:t>:</a:t>
                </a:r>
                <a:r>
                  <a:rPr lang="nl-BE" dirty="0"/>
                  <a:t> 1:Fout — 2:Juist — 3:Juist — 4:Fout (</a:t>
                </a:r>
                <a:r>
                  <a:rPr lang="nl-BE" dirty="0" err="1"/>
                  <a:t>moet</a:t>
                </a:r>
                <a:r>
                  <a:rPr lang="nl-BE" dirty="0"/>
                  <a:t> </a:t>
                </a:r>
                <a14:m>
                  <m:oMath xmlns:m="http://schemas.openxmlformats.org/officeDocument/2006/math">
                    <m:rad>
                      <m:radPr>
                        <m:degHide m:val="on"/>
                        <m:ctrlPr>
                          <a:rPr lang="ar-AE" i="1">
                            <a:latin typeface="Cambria Math" panose="02040503050406030204" pitchFamily="18" charset="0"/>
                          </a:rPr>
                        </m:ctrlPr>
                      </m:radPr>
                      <m:deg/>
                      <m:e>
                        <m:sSup>
                          <m:sSupPr>
                            <m:ctrlPr>
                              <a:rPr lang="ar-AE">
                                <a:latin typeface="Cambria Math" panose="02040503050406030204" pitchFamily="18" charset="0"/>
                              </a:rPr>
                            </m:ctrlPr>
                          </m:sSupPr>
                          <m:e>
                            <m:r>
                              <a:rPr lang="ar-AE">
                                <a:latin typeface="Cambria Math" panose="02040503050406030204" pitchFamily="18" charset="0"/>
                              </a:rPr>
                              <m:t>𝑥</m:t>
                            </m:r>
                          </m:e>
                          <m:sup>
                            <m:r>
                              <a:rPr lang="ar-AE">
                                <a:latin typeface="Cambria Math" panose="02040503050406030204" pitchFamily="18" charset="0"/>
                              </a:rPr>
                              <m:t>2</m:t>
                            </m:r>
                          </m:sup>
                        </m:sSup>
                        <m:r>
                          <a:rPr lang="ar-AE">
                            <a:latin typeface="Cambria Math" panose="02040503050406030204" pitchFamily="18" charset="0"/>
                          </a:rPr>
                          <m:t>+</m:t>
                        </m:r>
                        <m:sSup>
                          <m:sSupPr>
                            <m:ctrlPr>
                              <a:rPr lang="ar-AE">
                                <a:latin typeface="Cambria Math" panose="02040503050406030204" pitchFamily="18" charset="0"/>
                              </a:rPr>
                            </m:ctrlPr>
                          </m:sSupPr>
                          <m:e>
                            <m:r>
                              <a:rPr lang="ar-AE">
                                <a:latin typeface="Cambria Math" panose="02040503050406030204" pitchFamily="18" charset="0"/>
                              </a:rPr>
                              <m:t>𝑦</m:t>
                            </m:r>
                          </m:e>
                          <m:sup>
                            <m:r>
                              <a:rPr lang="ar-AE">
                                <a:latin typeface="Cambria Math" panose="02040503050406030204" pitchFamily="18" charset="0"/>
                              </a:rPr>
                              <m:t>2</m:t>
                            </m:r>
                          </m:sup>
                        </m:sSup>
                        <m:r>
                          <a:rPr lang="ar-AE">
                            <a:latin typeface="Cambria Math" panose="02040503050406030204" pitchFamily="18" charset="0"/>
                          </a:rPr>
                          <m:t>+</m:t>
                        </m:r>
                        <m:sSup>
                          <m:sSupPr>
                            <m:ctrlPr>
                              <a:rPr lang="ar-AE">
                                <a:latin typeface="Cambria Math" panose="02040503050406030204" pitchFamily="18" charset="0"/>
                              </a:rPr>
                            </m:ctrlPr>
                          </m:sSupPr>
                          <m:e>
                            <m:r>
                              <a:rPr lang="ar-AE">
                                <a:latin typeface="Cambria Math" panose="02040503050406030204" pitchFamily="18" charset="0"/>
                              </a:rPr>
                              <m:t>𝑧</m:t>
                            </m:r>
                          </m:e>
                          <m:sup>
                            <m:r>
                              <a:rPr lang="ar-AE">
                                <a:latin typeface="Cambria Math" panose="02040503050406030204" pitchFamily="18" charset="0"/>
                              </a:rPr>
                              <m:t>2</m:t>
                            </m:r>
                          </m:sup>
                        </m:sSup>
                      </m:e>
                    </m:rad>
                  </m:oMath>
                </a14:m>
                <a:r>
                  <a:rPr lang="ar-AE" dirty="0"/>
                  <a:t> </a:t>
                </a:r>
                <a:r>
                  <a:rPr lang="nl-BE" dirty="0" err="1"/>
                  <a:t>zijn</a:t>
                </a:r>
                <a:r>
                  <a:rPr lang="nl-BE" dirty="0"/>
                  <a:t>) — 5:Fout (</a:t>
                </a:r>
                <a:r>
                  <a:rPr lang="nl-BE" dirty="0" err="1"/>
                  <a:t>coördinaat</a:t>
                </a:r>
                <a:r>
                  <a:rPr lang="nl-BE" dirty="0"/>
                  <a:t> </a:t>
                </a:r>
                <a:r>
                  <a:rPr lang="nl-BE" dirty="0" err="1"/>
                  <a:t>kan</a:t>
                </a:r>
                <a:r>
                  <a:rPr lang="nl-BE" dirty="0"/>
                  <a:t> </a:t>
                </a:r>
                <a:r>
                  <a:rPr lang="nl-BE" dirty="0" err="1"/>
                  <a:t>negatief</a:t>
                </a:r>
                <a:r>
                  <a:rPr lang="nl-BE" dirty="0"/>
                  <a:t> </a:t>
                </a:r>
                <a:r>
                  <a:rPr lang="nl-BE" dirty="0" err="1"/>
                  <a:t>zijn</a:t>
                </a:r>
                <a:r>
                  <a:rPr lang="nl-BE" dirty="0"/>
                  <a:t>)</a:t>
                </a:r>
                <a:endParaRPr dirty="0"/>
              </a:p>
            </p:txBody>
          </p:sp>
        </mc:Choice>
        <mc:Fallback xmlns="">
          <p:sp>
            <p:nvSpPr>
              <p:cNvPr id="3" name="Content Placeholder 2">
                <a:extLst>
                  <a:ext uri="{FF2B5EF4-FFF2-40B4-BE49-F238E27FC236}">
                    <a16:creationId xmlns:a16="http://schemas.microsoft.com/office/drawing/2014/main" id="{AD6E587C-1750-AA87-FF25-7113B06A0C4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059043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499" y="23467"/>
            <a:ext cx="12094590" cy="1325563"/>
          </a:xfrm>
        </p:spPr>
        <p:txBody>
          <a:bodyPr>
            <a:normAutofit fontScale="90000"/>
          </a:bodyPr>
          <a:lstStyle/>
          <a:p>
            <a:pPr marL="0" lvl="0" indent="0">
              <a:buNone/>
            </a:pPr>
            <a:r>
              <a:rPr dirty="0"/>
              <a:t>V</a:t>
            </a:r>
            <a:r>
              <a:rPr lang="nl-BE" dirty="0" err="1"/>
              <a:t>oorbeeldoefening</a:t>
            </a:r>
            <a:r>
              <a:rPr dirty="0"/>
              <a:t> — Loper op </a:t>
            </a:r>
            <a:r>
              <a:rPr dirty="0" err="1"/>
              <a:t>atletiekpiste</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lvl="0"/>
                <a:r>
                  <a:rPr lang="nl-BE" dirty="0"/>
                  <a:t>Start: </a:t>
                </a:r>
                <a14:m>
                  <m:oMath xmlns:m="http://schemas.openxmlformats.org/officeDocument/2006/math">
                    <m:d>
                      <m:dPr>
                        <m:ctrlPr>
                          <a:rPr lang="ar-AE" i="1">
                            <a:latin typeface="Cambria Math" panose="02040503050406030204" pitchFamily="18" charset="0"/>
                          </a:rPr>
                        </m:ctrlPr>
                      </m:dPr>
                      <m:e>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𝑦</m:t>
                            </m:r>
                          </m:e>
                          <m:sub>
                            <m:r>
                              <a:rPr lang="ar-AE">
                                <a:latin typeface="Cambria Math" panose="02040503050406030204" pitchFamily="18" charset="0"/>
                              </a:rPr>
                              <m:t>0</m:t>
                            </m:r>
                          </m:sub>
                        </m:sSub>
                      </m:e>
                    </m:d>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20,70</m:t>
                        </m:r>
                      </m:e>
                    </m:d>
                    <m:r>
                      <a:rPr lang="ar-AE">
                        <a:latin typeface="Cambria Math" panose="02040503050406030204" pitchFamily="18" charset="0"/>
                      </a:rPr>
                      <m:t> </m:t>
                    </m:r>
                    <m:r>
                      <m:rPr>
                        <m:sty m:val="p"/>
                      </m:rPr>
                      <a:rPr lang="nl-BE">
                        <a:latin typeface="Cambria Math" panose="02040503050406030204" pitchFamily="18" charset="0"/>
                      </a:rPr>
                      <m:t>m</m:t>
                    </m:r>
                  </m:oMath>
                </a14:m>
                <a:br>
                  <a:rPr lang="nl-BE" dirty="0"/>
                </a:br>
                <a:endParaRPr lang="nl-BE" dirty="0"/>
              </a:p>
              <a:p>
                <a:pPr lvl="0"/>
                <a:r>
                  <a:rPr lang="nl-BE" dirty="0"/>
                  <a:t>Eind: </a:t>
                </a:r>
                <a14:m>
                  <m:oMath xmlns:m="http://schemas.openxmlformats.org/officeDocument/2006/math">
                    <m:d>
                      <m:dPr>
                        <m:ctrlPr>
                          <a:rPr lang="ar-AE">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r>
                          <a:rPr lang="ar-AE">
                            <a:latin typeface="Cambria Math" panose="02040503050406030204" pitchFamily="18" charset="0"/>
                          </a:rPr>
                          <m:t>𝑦</m:t>
                        </m:r>
                      </m:e>
                    </m:d>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100,0</m:t>
                        </m:r>
                      </m:e>
                    </m:d>
                    <m:r>
                      <a:rPr lang="ar-AE">
                        <a:latin typeface="Cambria Math" panose="02040503050406030204" pitchFamily="18" charset="0"/>
                      </a:rPr>
                      <m:t> </m:t>
                    </m:r>
                    <m:r>
                      <m:rPr>
                        <m:sty m:val="p"/>
                      </m:rPr>
                      <a:rPr lang="nl-BE">
                        <a:latin typeface="Cambria Math" panose="02040503050406030204" pitchFamily="18" charset="0"/>
                      </a:rPr>
                      <m:t>m</m:t>
                    </m:r>
                  </m:oMath>
                </a14:m>
                <a:endParaRPr lang="nl-BE" dirty="0"/>
              </a:p>
              <a:p>
                <a:pPr lvl="0"/>
                <a:r>
                  <a:rPr lang="nl-BE" b="1" dirty="0" err="1"/>
                  <a:t>Verplaatsing</a:t>
                </a:r>
                <a:r>
                  <a:rPr lang="nl-BE" dirty="0"/>
                  <a:t>:</a:t>
                </a:r>
              </a:p>
              <a:p>
                <a:pPr marL="0" lvl="0" indent="0">
                  <a:buNone/>
                </a:pPr>
                <a14:m>
                  <m:oMathPara xmlns:m="http://schemas.openxmlformats.org/officeDocument/2006/math">
                    <m:oMathParaPr>
                      <m:jc m:val="center"/>
                    </m:oMathParaPr>
                    <m:oMath>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100−20</m:t>
                          </m:r>
                        </m:e>
                      </m:d>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m:t>
                      </m:r>
                      <m:d>
                        <m:dPr>
                          <m:ctrlPr>
                            <a:rPr lang="ar-AE">
                              <a:latin typeface="Cambria Math" panose="02040503050406030204" pitchFamily="18" charset="0"/>
                            </a:rPr>
                          </m:ctrlPr>
                        </m:dPr>
                        <m:e>
                          <m:r>
                            <a:rPr lang="ar-AE">
                              <a:latin typeface="Cambria Math" panose="02040503050406030204" pitchFamily="18" charset="0"/>
                            </a:rPr>
                            <m:t>0−70</m:t>
                          </m:r>
                        </m:e>
                      </m:d>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𝑦</m:t>
                          </m:r>
                        </m:sub>
                      </m:sSub>
                      <m:r>
                        <a:rPr lang="ar-AE">
                          <a:latin typeface="Cambria Math" panose="02040503050406030204" pitchFamily="18" charset="0"/>
                        </a:rPr>
                        <m:t>=80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𝑥</m:t>
                          </m:r>
                        </m:sub>
                      </m:sSub>
                      <m:r>
                        <a:rPr lang="ar-AE">
                          <a:latin typeface="Cambria Math" panose="02040503050406030204" pitchFamily="18" charset="0"/>
                        </a:rPr>
                        <m:t>−70 </m:t>
                      </m:r>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𝑒</m:t>
                              </m:r>
                            </m:e>
                          </m:acc>
                        </m:e>
                        <m:sub>
                          <m:r>
                            <a:rPr lang="ar-AE">
                              <a:latin typeface="Cambria Math" panose="02040503050406030204" pitchFamily="18" charset="0"/>
                            </a:rPr>
                            <m:t>𝑦</m:t>
                          </m:r>
                        </m:sub>
                      </m:sSub>
                    </m:oMath>
                  </m:oMathPara>
                </a14:m>
                <a:endParaRPr lang="ar-AE" dirty="0"/>
              </a:p>
              <a:p>
                <a:pPr lvl="0"/>
                <a:r>
                  <a:rPr lang="nl-BE" dirty="0" err="1"/>
                  <a:t>Grootte</a:t>
                </a:r>
                <a:r>
                  <a:rPr lang="nl-BE" dirty="0"/>
                  <a:t> van de verplaatsing:</a:t>
                </a:r>
              </a:p>
              <a:p>
                <a:pPr marL="0" lvl="0" indent="0">
                  <a:buNone/>
                </a:pPr>
                <a14:m>
                  <m:oMath xmlns:m="http://schemas.openxmlformats.org/officeDocument/2006/math">
                    <m:d>
                      <m:dPr>
                        <m:begChr m:val="|"/>
                        <m:endChr m:val="|"/>
                        <m:ctrlPr>
                          <a:rPr lang="nl-BE">
                            <a:latin typeface="Cambria Math" panose="02040503050406030204" pitchFamily="18" charset="0"/>
                          </a:rPr>
                        </m:ctrlPr>
                      </m:dPr>
                      <m:e>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e>
                    </m:d>
                    <m:r>
                      <a:rPr lang="ar-AE">
                        <a:latin typeface="Cambria Math" panose="02040503050406030204" pitchFamily="18" charset="0"/>
                      </a:rPr>
                      <m:t>=</m:t>
                    </m:r>
                    <m:rad>
                      <m:radPr>
                        <m:degHide m:val="on"/>
                        <m:ctrlPr>
                          <a:rPr lang="ar-AE" i="1">
                            <a:latin typeface="Cambria Math" panose="02040503050406030204" pitchFamily="18" charset="0"/>
                          </a:rPr>
                        </m:ctrlPr>
                      </m:radPr>
                      <m:deg/>
                      <m:e>
                        <m:sSup>
                          <m:sSupPr>
                            <m:ctrlPr>
                              <a:rPr lang="ar-AE">
                                <a:latin typeface="Cambria Math" panose="02040503050406030204" pitchFamily="18" charset="0"/>
                              </a:rPr>
                            </m:ctrlPr>
                          </m:sSupPr>
                          <m:e>
                            <m:r>
                              <a:rPr lang="ar-AE">
                                <a:latin typeface="Cambria Math" panose="02040503050406030204" pitchFamily="18" charset="0"/>
                              </a:rPr>
                              <m:t>80</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d>
                              <m:dPr>
                                <m:ctrlPr>
                                  <a:rPr lang="ar-AE">
                                    <a:latin typeface="Cambria Math" panose="02040503050406030204" pitchFamily="18" charset="0"/>
                                  </a:rPr>
                                </m:ctrlPr>
                              </m:dPr>
                              <m:e>
                                <m:r>
                                  <a:rPr lang="ar-AE">
                                    <a:latin typeface="Cambria Math" panose="02040503050406030204" pitchFamily="18" charset="0"/>
                                  </a:rPr>
                                  <m:t>−70</m:t>
                                </m:r>
                              </m:e>
                            </m:d>
                          </m:e>
                          <m:sup>
                            <m:r>
                              <a:rPr lang="ar-AE">
                                <a:latin typeface="Cambria Math" panose="02040503050406030204" pitchFamily="18" charset="0"/>
                              </a:rPr>
                              <m:t>2</m:t>
                            </m:r>
                          </m:sup>
                        </m:sSup>
                      </m:e>
                    </m:rad>
                    <m:r>
                      <a:rPr lang="ar-AE">
                        <a:latin typeface="Cambria Math" panose="02040503050406030204" pitchFamily="18" charset="0"/>
                      </a:rPr>
                      <m:t>≈1</m:t>
                    </m:r>
                    <m:r>
                      <a:rPr lang="nl-BE" b="0" i="0" smtClean="0">
                        <a:latin typeface="Cambria Math" panose="02040503050406030204" pitchFamily="18" charset="0"/>
                      </a:rPr>
                      <m:t>,1.10²</m:t>
                    </m:r>
                    <m:r>
                      <a:rPr lang="ar-AE">
                        <a:latin typeface="Cambria Math" panose="02040503050406030204" pitchFamily="18" charset="0"/>
                      </a:rPr>
                      <m:t> </m:t>
                    </m:r>
                    <m:r>
                      <m:rPr>
                        <m:sty m:val="p"/>
                      </m:rPr>
                      <a:rPr lang="nl-BE">
                        <a:latin typeface="Cambria Math" panose="02040503050406030204" pitchFamily="18" charset="0"/>
                      </a:rPr>
                      <m:t>m</m:t>
                    </m:r>
                  </m:oMath>
                </a14:m>
                <a:r>
                  <a:rPr lang="nl-BE" dirty="0"/>
                  <a:t> </a:t>
                </a:r>
              </a:p>
              <a:p>
                <a:pPr lvl="0"/>
                <a:r>
                  <a:rPr lang="nl-BE" b="1" dirty="0" err="1"/>
                  <a:t>Afgelegde</a:t>
                </a:r>
                <a:r>
                  <a:rPr lang="nl-BE" b="1" dirty="0"/>
                  <a:t> </a:t>
                </a:r>
                <a:r>
                  <a:rPr lang="nl-BE" b="1" dirty="0" err="1"/>
                  <a:t>weg</a:t>
                </a:r>
                <a:r>
                  <a:rPr lang="nl-BE" dirty="0"/>
                  <a:t>: </a:t>
                </a:r>
                <a14:m>
                  <m:oMath xmlns:m="http://schemas.openxmlformats.org/officeDocument/2006/math">
                    <m:r>
                      <a:rPr lang="nl-BE">
                        <a:latin typeface="Cambria Math" panose="02040503050406030204" pitchFamily="18" charset="0"/>
                      </a:rPr>
                      <m:t>𝛥</m:t>
                    </m:r>
                    <m:r>
                      <a:rPr lang="nl-BE">
                        <a:latin typeface="Cambria Math" panose="02040503050406030204" pitchFamily="18" charset="0"/>
                      </a:rPr>
                      <m:t>𝑠</m:t>
                    </m:r>
                    <m:r>
                      <a:rPr lang="nl-BE">
                        <a:latin typeface="Cambria Math" panose="02040503050406030204" pitchFamily="18" charset="0"/>
                      </a:rPr>
                      <m:t>=2,0.10² </m:t>
                    </m:r>
                    <m:r>
                      <m:rPr>
                        <m:sty m:val="p"/>
                      </m:rPr>
                      <a:rPr lang="nl-BE">
                        <a:latin typeface="Cambria Math" panose="02040503050406030204" pitchFamily="18" charset="0"/>
                      </a:rPr>
                      <m:t>m</m:t>
                    </m:r>
                  </m:oMath>
                </a14:m>
                <a:r>
                  <a:rPr lang="nl-BE" dirty="0"/>
                  <a:t> (</a:t>
                </a:r>
                <a:r>
                  <a:rPr lang="nl-BE" dirty="0" err="1"/>
                  <a:t>langs</a:t>
                </a:r>
                <a:r>
                  <a:rPr lang="nl-BE" dirty="0"/>
                  <a:t> de </a:t>
                </a:r>
                <a:r>
                  <a:rPr lang="nl-BE" dirty="0" err="1"/>
                  <a:t>baan</a:t>
                </a:r>
                <a:r>
                  <a:rPr lang="nl-BE" dirty="0"/>
                  <a:t>).</a:t>
                </a:r>
              </a:p>
              <a:p>
                <a:pPr lvl="0"/>
                <a:r>
                  <a:rPr lang="nl-BE" dirty="0" err="1"/>
                  <a:t>Conclusie</a:t>
                </a:r>
                <a:r>
                  <a:rPr lang="nl-BE" dirty="0"/>
                  <a:t>: </a:t>
                </a:r>
                <a14:m>
                  <m:oMath xmlns:m="http://schemas.openxmlformats.org/officeDocument/2006/math">
                    <m:r>
                      <a:rPr lang="nl-BE">
                        <a:latin typeface="Cambria Math" panose="02040503050406030204" pitchFamily="18" charset="0"/>
                      </a:rPr>
                      <m:t>𝛥</m:t>
                    </m:r>
                    <m:r>
                      <a:rPr lang="nl-BE">
                        <a:latin typeface="Cambria Math" panose="02040503050406030204" pitchFamily="18" charset="0"/>
                      </a:rPr>
                      <m:t>𝑠</m:t>
                    </m:r>
                    <m:r>
                      <a:rPr lang="nl-BE">
                        <a:latin typeface="Cambria Math" panose="02040503050406030204" pitchFamily="18" charset="0"/>
                      </a:rPr>
                      <m:t>&gt;|</m:t>
                    </m:r>
                    <m:r>
                      <a:rPr lang="nl-B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r>
                      <a:rPr lang="ar-AE">
                        <a:latin typeface="Cambria Math" panose="02040503050406030204" pitchFamily="18" charset="0"/>
                      </a:rPr>
                      <m:t>|</m:t>
                    </m:r>
                  </m:oMath>
                </a14:m>
                <a:r>
                  <a:rPr lang="ar-AE" dirty="0"/>
                  <a:t>.</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9949FD76-78D7-AD24-A700-F907C3FD2522}"/>
              </a:ext>
            </a:extLst>
          </p:cNvPr>
          <p:cNvPicPr>
            <a:picLocks noChangeAspect="1"/>
          </p:cNvPicPr>
          <p:nvPr/>
        </p:nvPicPr>
        <p:blipFill>
          <a:blip r:embed="rId3"/>
          <a:stretch>
            <a:fillRect/>
          </a:stretch>
        </p:blipFill>
        <p:spPr>
          <a:xfrm>
            <a:off x="8294766" y="1164658"/>
            <a:ext cx="3423697" cy="198019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178DCD-D2F9-F023-A256-2048F9138803}"/>
              </a:ext>
            </a:extLst>
          </p:cNvPr>
          <p:cNvSpPr>
            <a:spLocks noGrp="1"/>
          </p:cNvSpPr>
          <p:nvPr>
            <p:ph type="title"/>
          </p:nvPr>
        </p:nvSpPr>
        <p:spPr/>
        <p:txBody>
          <a:bodyPr/>
          <a:lstStyle/>
          <a:p>
            <a:r>
              <a:rPr lang="nl-BE" dirty="0"/>
              <a:t>Einde 18/9/26</a:t>
            </a:r>
          </a:p>
        </p:txBody>
      </p:sp>
      <p:sp>
        <p:nvSpPr>
          <p:cNvPr id="3" name="Tijdelijke aanduiding voor inhoud 2">
            <a:extLst>
              <a:ext uri="{FF2B5EF4-FFF2-40B4-BE49-F238E27FC236}">
                <a16:creationId xmlns:a16="http://schemas.microsoft.com/office/drawing/2014/main" id="{1F4C2C3A-5D61-B315-C3DE-D6D775613D05}"/>
              </a:ext>
            </a:extLst>
          </p:cNvPr>
          <p:cNvSpPr>
            <a:spLocks noGrp="1"/>
          </p:cNvSpPr>
          <p:nvPr>
            <p:ph idx="1"/>
          </p:nvPr>
        </p:nvSpPr>
        <p:spPr/>
        <p:txBody>
          <a:bodyPr/>
          <a:lstStyle/>
          <a:p>
            <a:endParaRPr lang="nl-BE"/>
          </a:p>
        </p:txBody>
      </p:sp>
    </p:spTree>
    <p:extLst>
      <p:ext uri="{BB962C8B-B14F-4D97-AF65-F5344CB8AC3E}">
        <p14:creationId xmlns:p14="http://schemas.microsoft.com/office/powerpoint/2010/main" val="431046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Andere </a:t>
            </a:r>
            <a:r>
              <a:rPr dirty="0" err="1"/>
              <a:t>coördinatensystemen</a:t>
            </a:r>
            <a:r>
              <a:rPr dirty="0"/>
              <a:t> </a:t>
            </a:r>
          </a:p>
        </p:txBody>
      </p:sp>
      <p:sp>
        <p:nvSpPr>
          <p:cNvPr id="3" name="Content Placeholder 2"/>
          <p:cNvSpPr>
            <a:spLocks noGrp="1"/>
          </p:cNvSpPr>
          <p:nvPr>
            <p:ph idx="1"/>
          </p:nvPr>
        </p:nvSpPr>
        <p:spPr/>
        <p:txBody>
          <a:bodyPr/>
          <a:lstStyle/>
          <a:p>
            <a:pPr lvl="0"/>
            <a:r>
              <a:rPr dirty="0"/>
              <a:t>In </a:t>
            </a:r>
            <a:r>
              <a:rPr dirty="0" err="1"/>
              <a:t>dagelijks</a:t>
            </a:r>
            <a:r>
              <a:rPr dirty="0"/>
              <a:t> </a:t>
            </a:r>
            <a:r>
              <a:rPr dirty="0" err="1"/>
              <a:t>leven</a:t>
            </a:r>
            <a:r>
              <a:rPr dirty="0"/>
              <a:t>: </a:t>
            </a:r>
            <a:r>
              <a:rPr b="1" dirty="0" err="1"/>
              <a:t>bolcoördinaten</a:t>
            </a:r>
            <a:r>
              <a:rPr dirty="0"/>
              <a:t>:</a:t>
            </a:r>
          </a:p>
          <a:p>
            <a:pPr lvl="1"/>
            <a:r>
              <a:rPr dirty="0" err="1"/>
              <a:t>Breedtegraad</a:t>
            </a:r>
            <a:r>
              <a:rPr dirty="0"/>
              <a:t>, </a:t>
            </a:r>
            <a:r>
              <a:rPr dirty="0" err="1"/>
              <a:t>lengtegraad</a:t>
            </a:r>
            <a:r>
              <a:rPr dirty="0"/>
              <a:t>, </a:t>
            </a:r>
            <a:r>
              <a:rPr dirty="0" err="1"/>
              <a:t>hoogte</a:t>
            </a:r>
            <a:r>
              <a:rPr dirty="0"/>
              <a:t>.</a:t>
            </a:r>
          </a:p>
          <a:p>
            <a:pPr lvl="1"/>
            <a:r>
              <a:rPr dirty="0" err="1"/>
              <a:t>Voorbeeld</a:t>
            </a:r>
            <a:r>
              <a:rPr dirty="0"/>
              <a:t>: smartphone </a:t>
            </a:r>
            <a:r>
              <a:rPr dirty="0" err="1"/>
              <a:t>gebruikt</a:t>
            </a:r>
            <a:r>
              <a:rPr dirty="0"/>
              <a:t> </a:t>
            </a:r>
            <a:r>
              <a:rPr b="1" dirty="0"/>
              <a:t>GPS</a:t>
            </a:r>
            <a:r>
              <a:rPr dirty="0"/>
              <a:t> om </a:t>
            </a:r>
            <a:r>
              <a:rPr dirty="0" err="1"/>
              <a:t>positie</a:t>
            </a:r>
            <a:r>
              <a:rPr dirty="0"/>
              <a:t> </a:t>
            </a:r>
            <a:r>
              <a:rPr dirty="0" err="1"/>
              <a:t>te</a:t>
            </a:r>
            <a:r>
              <a:rPr dirty="0"/>
              <a:t> </a:t>
            </a:r>
            <a:r>
              <a:rPr dirty="0" err="1"/>
              <a:t>bepalen</a:t>
            </a:r>
            <a:r>
              <a:rPr dirty="0"/>
              <a:t>.</a:t>
            </a:r>
          </a:p>
          <a:p>
            <a:pPr lvl="0"/>
            <a:r>
              <a:rPr dirty="0"/>
              <a:t>In </a:t>
            </a:r>
            <a:r>
              <a:rPr dirty="0" err="1"/>
              <a:t>dit</a:t>
            </a:r>
            <a:r>
              <a:rPr dirty="0"/>
              <a:t> </a:t>
            </a:r>
            <a:r>
              <a:rPr dirty="0" err="1"/>
              <a:t>hoofdstuk</a:t>
            </a:r>
            <a:r>
              <a:rPr dirty="0"/>
              <a:t>: focus op </a:t>
            </a:r>
            <a:r>
              <a:rPr b="1" dirty="0" err="1"/>
              <a:t>cartesiaans</a:t>
            </a:r>
            <a:r>
              <a:rPr dirty="0"/>
              <a:t> </a:t>
            </a:r>
            <a:r>
              <a:rPr dirty="0" err="1"/>
              <a:t>stelsel</a:t>
            </a:r>
            <a:r>
              <a:rPr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Tijdsduur</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b="1" dirty="0" err="1"/>
                  <a:t>Definitie</a:t>
                </a:r>
                <a:r>
                  <a:rPr dirty="0"/>
                  <a:t>:</a:t>
                </a:r>
              </a:p>
              <a:p>
                <a:pPr lvl="0"/>
                <a14:m>
                  <m:oMath xmlns:m="http://schemas.openxmlformats.org/officeDocument/2006/math">
                    <m:r>
                      <a:rPr>
                        <a:latin typeface="Cambria Math" panose="02040503050406030204" pitchFamily="18" charset="0"/>
                      </a:rPr>
                      <m:t>𝛥</m:t>
                    </m:r>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0</m:t>
                        </m:r>
                      </m:sub>
                    </m:sSub>
                    <m:r>
                      <a:rPr>
                        <a:latin typeface="Cambria Math" panose="02040503050406030204" pitchFamily="18" charset="0"/>
                      </a:rPr>
                      <m:t>, </m:t>
                    </m:r>
                    <m:r>
                      <a:rPr>
                        <a:latin typeface="Cambria Math" panose="02040503050406030204" pitchFamily="18" charset="0"/>
                      </a:rPr>
                      <m:t>𝛥</m:t>
                    </m:r>
                    <m:r>
                      <a:rPr>
                        <a:latin typeface="Cambria Math" panose="02040503050406030204" pitchFamily="18" charset="0"/>
                      </a:rPr>
                      <m:t>𝑡</m:t>
                    </m:r>
                    <m:r>
                      <a:rPr>
                        <a:latin typeface="Cambria Math" panose="02040503050406030204" pitchFamily="18" charset="0"/>
                      </a:rPr>
                      <m:t>&gt;0</m:t>
                    </m:r>
                  </m:oMath>
                </a14:m>
                <a:endParaRPr dirty="0"/>
              </a:p>
              <a:p>
                <a:pPr lvl="0"/>
                <a:r>
                  <a:rPr b="1" dirty="0" err="1"/>
                  <a:t>Eigenschappen</a:t>
                </a:r>
                <a:r>
                  <a:rPr dirty="0"/>
                  <a:t>:</a:t>
                </a:r>
              </a:p>
              <a:p>
                <a:pPr lvl="1"/>
                <a:r>
                  <a:rPr dirty="0" err="1"/>
                  <a:t>Altijd</a:t>
                </a:r>
                <a:r>
                  <a:rPr dirty="0"/>
                  <a:t> </a:t>
                </a:r>
                <a:r>
                  <a:rPr b="1" dirty="0" err="1"/>
                  <a:t>positief</a:t>
                </a:r>
                <a:r>
                  <a:rPr dirty="0"/>
                  <a:t> (</a:t>
                </a:r>
                <a:r>
                  <a:rPr dirty="0" err="1"/>
                  <a:t>mechanica</a:t>
                </a:r>
                <a:r>
                  <a:rPr dirty="0"/>
                  <a:t>: </a:t>
                </a:r>
                <a:r>
                  <a:rPr dirty="0" err="1"/>
                  <a:t>geen</a:t>
                </a:r>
                <a:r>
                  <a:rPr dirty="0"/>
                  <a:t> </a:t>
                </a:r>
                <a:r>
                  <a:rPr dirty="0" err="1"/>
                  <a:t>terugkeer</a:t>
                </a:r>
                <a:r>
                  <a:rPr dirty="0"/>
                  <a:t> in </a:t>
                </a:r>
                <a:r>
                  <a:rPr dirty="0" err="1"/>
                  <a:t>tijd</a:t>
                </a:r>
                <a:r>
                  <a:rPr dirty="0"/>
                  <a:t>).</a:t>
                </a:r>
              </a:p>
              <a:p>
                <a:pPr lvl="1"/>
                <a:r>
                  <a:rPr dirty="0"/>
                  <a:t>Kan </a:t>
                </a:r>
                <a:r>
                  <a:rPr b="1" dirty="0" err="1"/>
                  <a:t>zeer</a:t>
                </a:r>
                <a:r>
                  <a:rPr b="1" dirty="0"/>
                  <a:t> </a:t>
                </a:r>
                <a:r>
                  <a:rPr b="1" dirty="0" err="1"/>
                  <a:t>groot</a:t>
                </a:r>
                <a:r>
                  <a:rPr dirty="0"/>
                  <a:t> </a:t>
                </a:r>
                <a:r>
                  <a:rPr lang="nl-BE" dirty="0"/>
                  <a:t>zijn (</a:t>
                </a:r>
                <a:r>
                  <a:rPr dirty="0" err="1"/>
                  <a:t>kosmisch</a:t>
                </a:r>
                <a:r>
                  <a:rPr dirty="0"/>
                  <a:t>) of </a:t>
                </a:r>
                <a:r>
                  <a:rPr b="1" dirty="0" err="1"/>
                  <a:t>zeer</a:t>
                </a:r>
                <a:r>
                  <a:rPr b="1" dirty="0"/>
                  <a:t> </a:t>
                </a:r>
                <a:r>
                  <a:rPr b="1" dirty="0" err="1"/>
                  <a:t>klein</a:t>
                </a:r>
                <a:r>
                  <a:rPr dirty="0"/>
                  <a:t> (</a:t>
                </a:r>
                <a:r>
                  <a:rPr dirty="0" err="1"/>
                  <a:t>atomaire</a:t>
                </a:r>
                <a:r>
                  <a:rPr dirty="0"/>
                  <a:t> </a:t>
                </a:r>
                <a:r>
                  <a:rPr dirty="0" err="1"/>
                  <a:t>processen</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Verplaatsing</a:t>
            </a:r>
            <a:r>
              <a:rPr dirty="0"/>
              <a:t> in </a:t>
            </a:r>
            <a:r>
              <a:rPr dirty="0" err="1"/>
              <a:t>functie</a:t>
            </a:r>
            <a:r>
              <a:rPr dirty="0"/>
              <a:t> van </a:t>
            </a:r>
            <a:r>
              <a:rPr dirty="0" err="1"/>
              <a:t>tijd</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0">
                  <a:spcBef>
                    <a:spcPts val="2400"/>
                  </a:spcBef>
                </a:pPr>
                <a:r>
                  <a:rPr sz="4000" dirty="0"/>
                  <a:t>Voor </a:t>
                </a:r>
                <a:r>
                  <a:rPr sz="4000" dirty="0" err="1"/>
                  <a:t>een</a:t>
                </a:r>
                <a:r>
                  <a:rPr sz="4000" dirty="0"/>
                  <a:t> </a:t>
                </a:r>
                <a:r>
                  <a:rPr sz="4000" dirty="0" err="1"/>
                  <a:t>tijdsinterval</a:t>
                </a:r>
                <a:r>
                  <a:rPr sz="4000" dirty="0"/>
                  <a:t>:</a:t>
                </a:r>
              </a:p>
              <a:p>
                <a:pPr lvl="0">
                  <a:spcBef>
                    <a:spcPts val="2400"/>
                  </a:spcBef>
                </a:pPr>
                <a14:m>
                  <m:oMath xmlns:m="http://schemas.openxmlformats.org/officeDocument/2006/math">
                    <m:r>
                      <a:rPr sz="4000">
                        <a:latin typeface="Cambria Math" panose="02040503050406030204" pitchFamily="18" charset="0"/>
                      </a:rPr>
                      <m:t>𝛥</m:t>
                    </m:r>
                    <m:acc>
                      <m:accPr>
                        <m:chr m:val="⃗"/>
                        <m:ctrlPr>
                          <a:rPr sz="4000">
                            <a:latin typeface="Cambria Math" panose="02040503050406030204" pitchFamily="18" charset="0"/>
                          </a:rPr>
                        </m:ctrlPr>
                      </m:accPr>
                      <m:e>
                        <m:r>
                          <a:rPr sz="4000">
                            <a:latin typeface="Cambria Math" panose="02040503050406030204" pitchFamily="18" charset="0"/>
                          </a:rPr>
                          <m:t>𝑟</m:t>
                        </m:r>
                      </m:e>
                    </m:acc>
                    <m:r>
                      <a:rPr sz="4000">
                        <a:latin typeface="Cambria Math" panose="02040503050406030204" pitchFamily="18" charset="0"/>
                      </a:rPr>
                      <m:t>=</m:t>
                    </m:r>
                    <m:acc>
                      <m:accPr>
                        <m:chr m:val="⃗"/>
                        <m:ctrlPr>
                          <a:rPr sz="4000">
                            <a:latin typeface="Cambria Math" panose="02040503050406030204" pitchFamily="18" charset="0"/>
                          </a:rPr>
                        </m:ctrlPr>
                      </m:accPr>
                      <m:e>
                        <m:r>
                          <a:rPr sz="4000">
                            <a:latin typeface="Cambria Math" panose="02040503050406030204" pitchFamily="18" charset="0"/>
                          </a:rPr>
                          <m:t>𝑟</m:t>
                        </m:r>
                      </m:e>
                    </m:acc>
                    <m:d>
                      <m:dPr>
                        <m:ctrlPr>
                          <a:rPr sz="4000">
                            <a:latin typeface="Cambria Math" panose="02040503050406030204" pitchFamily="18" charset="0"/>
                          </a:rPr>
                        </m:ctrlPr>
                      </m:dPr>
                      <m:e>
                        <m:r>
                          <a:rPr sz="4000">
                            <a:latin typeface="Cambria Math" panose="02040503050406030204" pitchFamily="18" charset="0"/>
                          </a:rPr>
                          <m:t>𝑡</m:t>
                        </m:r>
                      </m:e>
                    </m:d>
                    <m:r>
                      <a:rPr sz="4000">
                        <a:latin typeface="Cambria Math" panose="02040503050406030204" pitchFamily="18" charset="0"/>
                      </a:rPr>
                      <m:t>−</m:t>
                    </m:r>
                    <m:acc>
                      <m:accPr>
                        <m:chr m:val="⃗"/>
                        <m:ctrlPr>
                          <a:rPr sz="4000">
                            <a:latin typeface="Cambria Math" panose="02040503050406030204" pitchFamily="18" charset="0"/>
                          </a:rPr>
                        </m:ctrlPr>
                      </m:accPr>
                      <m:e>
                        <m:r>
                          <a:rPr sz="4000">
                            <a:latin typeface="Cambria Math" panose="02040503050406030204" pitchFamily="18" charset="0"/>
                          </a:rPr>
                          <m:t>𝑟</m:t>
                        </m:r>
                      </m:e>
                    </m:acc>
                    <m:d>
                      <m:dPr>
                        <m:ctrlPr>
                          <a:rPr sz="4000" i="1">
                            <a:latin typeface="Cambria Math" panose="02040503050406030204" pitchFamily="18" charset="0"/>
                          </a:rPr>
                        </m:ctrlPr>
                      </m:dPr>
                      <m:e>
                        <m:sSub>
                          <m:sSubPr>
                            <m:ctrlPr>
                              <a:rPr sz="4000">
                                <a:latin typeface="Cambria Math" panose="02040503050406030204" pitchFamily="18" charset="0"/>
                              </a:rPr>
                            </m:ctrlPr>
                          </m:sSubPr>
                          <m:e>
                            <m:r>
                              <a:rPr sz="4000">
                                <a:latin typeface="Cambria Math" panose="02040503050406030204" pitchFamily="18" charset="0"/>
                              </a:rPr>
                              <m:t>𝑡</m:t>
                            </m:r>
                          </m:e>
                          <m:sub>
                            <m:r>
                              <a:rPr sz="4000">
                                <a:latin typeface="Cambria Math" panose="02040503050406030204" pitchFamily="18" charset="0"/>
                              </a:rPr>
                              <m:t>0</m:t>
                            </m:r>
                          </m:sub>
                        </m:sSub>
                      </m:e>
                    </m:d>
                  </m:oMath>
                </a14:m>
                <a:endParaRPr sz="4000" dirty="0"/>
              </a:p>
              <a:p>
                <a:pPr lvl="0">
                  <a:spcBef>
                    <a:spcPts val="2400"/>
                  </a:spcBef>
                </a:pPr>
                <a:r>
                  <a:rPr sz="4000" dirty="0"/>
                  <a:t>Index </a:t>
                </a:r>
                <a14:m>
                  <m:oMath xmlns:m="http://schemas.openxmlformats.org/officeDocument/2006/math">
                    <m:r>
                      <a:rPr sz="4000">
                        <a:latin typeface="Cambria Math" panose="02040503050406030204" pitchFamily="18" charset="0"/>
                      </a:rPr>
                      <m:t>0</m:t>
                    </m:r>
                  </m:oMath>
                </a14:m>
                <a:r>
                  <a:rPr sz="4000" dirty="0"/>
                  <a:t> </a:t>
                </a:r>
                <a:r>
                  <a:rPr sz="4000" dirty="0" err="1"/>
                  <a:t>duidt</a:t>
                </a:r>
                <a:r>
                  <a:rPr sz="4000" dirty="0"/>
                  <a:t> </a:t>
                </a:r>
                <a:r>
                  <a:rPr sz="4000" b="1" dirty="0" err="1"/>
                  <a:t>begintijdstip</a:t>
                </a:r>
                <a:r>
                  <a:rPr sz="4000" dirty="0"/>
                  <a:t> </a:t>
                </a:r>
                <a:r>
                  <a:rPr sz="4000" dirty="0" err="1"/>
                  <a:t>aan</a:t>
                </a:r>
                <a:r>
                  <a:rPr sz="40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Infinitesimaal</a:t>
            </a:r>
            <a:r>
              <a:rPr dirty="0"/>
              <a:t> </a:t>
            </a:r>
            <a:r>
              <a:rPr dirty="0" err="1"/>
              <a:t>tijdsinterval</a:t>
            </a:r>
            <a:r>
              <a:rPr dirty="0"/>
              <a: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dirty="0"/>
                  <a:t>Voor </a:t>
                </a:r>
                <a:r>
                  <a:rPr b="1" dirty="0"/>
                  <a:t>momentane</a:t>
                </a:r>
                <a:r>
                  <a:rPr dirty="0"/>
                  <a:t> </a:t>
                </a:r>
                <a:r>
                  <a:rPr dirty="0" err="1"/>
                  <a:t>grootheden</a:t>
                </a:r>
                <a:r>
                  <a:rPr dirty="0"/>
                  <a:t>:</a:t>
                </a:r>
                <a:endParaRPr lang="nl-BE" dirty="0"/>
              </a:p>
              <a:p>
                <a:pPr lvl="0"/>
                <a:endParaRPr dirty="0"/>
              </a:p>
              <a:p>
                <a:pPr marL="0" lvl="0" indent="0">
                  <a:buNone/>
                </a:pPr>
                <a14:m>
                  <m:oMathPara xmlns:m="http://schemas.openxmlformats.org/officeDocument/2006/math">
                    <m:oMathParaPr>
                      <m:jc m:val="center"/>
                    </m:oMathParaPr>
                    <m:oMath>
                      <m:r>
                        <a:rPr>
                          <a:latin typeface="Cambria Math" panose="02040503050406030204" pitchFamily="18" charset="0"/>
                        </a:rPr>
                        <m:t>𝑑𝑡</m:t>
                      </m:r>
                      <m:r>
                        <a:rPr>
                          <a:latin typeface="Cambria Math" panose="02040503050406030204" pitchFamily="18" charset="0"/>
                        </a:rPr>
                        <m:t>=</m:t>
                      </m:r>
                      <m:limLow>
                        <m:limLowPr>
                          <m:ctrlPr>
                            <a:rPr>
                              <a:latin typeface="Cambria Math" panose="02040503050406030204" pitchFamily="18" charset="0"/>
                            </a:rPr>
                          </m:ctrlPr>
                        </m:limLowPr>
                        <m:e>
                          <m:r>
                            <m:rPr>
                              <m:sty m:val="p"/>
                            </m:rPr>
                            <a:rPr>
                              <a:latin typeface="Cambria Math" panose="02040503050406030204" pitchFamily="18" charset="0"/>
                            </a:rPr>
                            <m:t>lim</m:t>
                          </m:r>
                        </m:e>
                        <m:lim>
                          <m:r>
                            <a:rPr>
                              <a:latin typeface="Cambria Math" panose="02040503050406030204" pitchFamily="18" charset="0"/>
                            </a:rPr>
                            <m:t>𝛥</m:t>
                          </m:r>
                          <m:r>
                            <a:rPr>
                              <a:latin typeface="Cambria Math" panose="02040503050406030204" pitchFamily="18" charset="0"/>
                            </a:rPr>
                            <m:t>𝑡</m:t>
                          </m:r>
                          <m:r>
                            <a:rPr>
                              <a:latin typeface="Cambria Math" panose="02040503050406030204" pitchFamily="18" charset="0"/>
                            </a:rPr>
                            <m:t>→0</m:t>
                          </m:r>
                        </m:lim>
                      </m:limLow>
                      <m:r>
                        <a:rPr>
                          <a:latin typeface="Cambria Math" panose="02040503050406030204" pitchFamily="18" charset="0"/>
                        </a:rPr>
                        <m:t>𝛥</m:t>
                      </m:r>
                      <m:r>
                        <a:rPr>
                          <a:latin typeface="Cambria Math" panose="02040503050406030204" pitchFamily="18" charset="0"/>
                        </a:rPr>
                        <m:t>𝑡</m:t>
                      </m:r>
                    </m:oMath>
                  </m:oMathPara>
                </a14:m>
                <a:endParaRPr dirty="0"/>
              </a:p>
              <a:p>
                <a:pPr lvl="0"/>
                <a:endParaRPr lang="nl-BE" b="1" dirty="0"/>
              </a:p>
              <a:p>
                <a:pPr lvl="0"/>
                <a:r>
                  <a:rPr lang="nl-BE" b="1" dirty="0"/>
                  <a:t>Niet echt</a:t>
                </a:r>
                <a:r>
                  <a:rPr b="1" dirty="0"/>
                  <a:t> </a:t>
                </a:r>
                <a:r>
                  <a:rPr b="1" dirty="0" err="1"/>
                  <a:t>nul</a:t>
                </a:r>
                <a:r>
                  <a:rPr dirty="0"/>
                  <a:t>, maar </a:t>
                </a:r>
                <a:r>
                  <a:rPr b="1" dirty="0" err="1"/>
                  <a:t>oneindig</a:t>
                </a:r>
                <a:r>
                  <a:rPr b="1" dirty="0"/>
                  <a:t> </a:t>
                </a:r>
                <a:r>
                  <a:rPr b="1" dirty="0" err="1"/>
                  <a:t>klein</a:t>
                </a:r>
                <a:r>
                  <a:rPr dirty="0"/>
                  <a:t>.</a:t>
                </a:r>
              </a:p>
              <a:p>
                <a:pPr lvl="0"/>
                <a:r>
                  <a:rPr dirty="0"/>
                  <a:t>Basis </a:t>
                </a:r>
                <a:r>
                  <a:rPr dirty="0" err="1"/>
                  <a:t>voor</a:t>
                </a:r>
                <a:r>
                  <a:rPr dirty="0"/>
                  <a:t> </a:t>
                </a:r>
                <a:r>
                  <a:rPr dirty="0" err="1"/>
                  <a:t>definities</a:t>
                </a:r>
                <a:r>
                  <a:rPr dirty="0"/>
                  <a:t> van </a:t>
                </a:r>
                <a:r>
                  <a:rPr b="1" dirty="0" err="1"/>
                  <a:t>ogenblikkelijke</a:t>
                </a:r>
                <a:r>
                  <a:rPr b="1" dirty="0"/>
                  <a:t> </a:t>
                </a:r>
                <a:r>
                  <a:rPr b="1" dirty="0" err="1"/>
                  <a:t>snelheid</a:t>
                </a:r>
                <a:r>
                  <a:rPr dirty="0"/>
                  <a:t> </a:t>
                </a:r>
                <a:r>
                  <a:rPr dirty="0" err="1"/>
                  <a:t>en</a:t>
                </a:r>
                <a:r>
                  <a:rPr dirty="0"/>
                  <a:t> </a:t>
                </a:r>
                <a:r>
                  <a:rPr b="1" dirty="0" err="1"/>
                  <a:t>afgeleiden</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Concept van “moment”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t>Een foto lijkt een </a:t>
                </a:r>
                <a:r>
                  <a:rPr b="1"/>
                  <a:t>momentopname</a:t>
                </a:r>
                <a:r>
                  <a:t>, maar bevat altijd een </a:t>
                </a:r>
                <a:r>
                  <a:rPr b="1"/>
                  <a:t>niet-nul tijdsduur</a:t>
                </a:r>
                <a:r>
                  <a:t>.</a:t>
                </a:r>
              </a:p>
              <a:p>
                <a:pPr lvl="0"/>
                <a:r>
                  <a:rPr b="1"/>
                  <a:t>Wiskundig</a:t>
                </a:r>
                <a:r>
                  <a:t>: moment = limiet van </a:t>
                </a:r>
                <a14:m>
                  <m:oMath xmlns:m="http://schemas.openxmlformats.org/officeDocument/2006/math">
                    <m:r>
                      <a:rPr>
                        <a:latin typeface="Cambria Math" panose="02040503050406030204" pitchFamily="18" charset="0"/>
                      </a:rPr>
                      <m:t>𝛥</m:t>
                    </m:r>
                    <m:r>
                      <a:rPr>
                        <a:latin typeface="Cambria Math" panose="02040503050406030204" pitchFamily="18" charset="0"/>
                      </a:rPr>
                      <m:t>𝑡</m:t>
                    </m:r>
                    <m:r>
                      <a:rPr>
                        <a:latin typeface="Cambria Math" panose="02040503050406030204" pitchFamily="18" charset="0"/>
                      </a:rPr>
                      <m:t>→0</m:t>
                    </m:r>
                  </m:oMath>
                </a14:m>
                <a: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1026" name="Picture 2">
            <a:extLst>
              <a:ext uri="{FF2B5EF4-FFF2-40B4-BE49-F238E27FC236}">
                <a16:creationId xmlns:a16="http://schemas.microsoft.com/office/drawing/2014/main" id="{47A90C1C-C835-838C-8A0A-D6774C224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8683" y="3254233"/>
            <a:ext cx="6513957" cy="31270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Check jezelf (juist/fout)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457200" lvl="0" indent="-457200">
                  <a:buAutoNum type="arabicPeriod"/>
                </a:pPr>
                <a:r>
                  <a:rPr dirty="0"/>
                  <a:t>Bij </a:t>
                </a:r>
                <a:r>
                  <a:rPr dirty="0" err="1"/>
                  <a:t>een</a:t>
                </a:r>
                <a:r>
                  <a:rPr dirty="0"/>
                  <a:t> </a:t>
                </a:r>
                <a:r>
                  <a:rPr dirty="0" err="1"/>
                  <a:t>rechte</a:t>
                </a:r>
                <a:r>
                  <a:rPr dirty="0"/>
                  <a:t> </a:t>
                </a:r>
                <a:r>
                  <a:rPr dirty="0" err="1"/>
                  <a:t>baan</a:t>
                </a:r>
                <a:r>
                  <a:rPr dirty="0"/>
                  <a:t> is </a:t>
                </a:r>
                <a14:m>
                  <m:oMath xmlns:m="http://schemas.openxmlformats.org/officeDocument/2006/math">
                    <m:r>
                      <a:rPr>
                        <a:latin typeface="Cambria Math" panose="02040503050406030204" pitchFamily="18" charset="0"/>
                      </a:rPr>
                      <m:t>𝛥</m:t>
                    </m:r>
                    <m:r>
                      <a:rPr>
                        <a:latin typeface="Cambria Math" panose="02040503050406030204" pitchFamily="18" charset="0"/>
                      </a:rPr>
                      <m:t>𝑠</m:t>
                    </m:r>
                  </m:oMath>
                </a14:m>
                <a:r>
                  <a:rPr dirty="0"/>
                  <a:t> </a:t>
                </a:r>
                <a:r>
                  <a:rPr dirty="0" err="1"/>
                  <a:t>altijd</a:t>
                </a:r>
                <a:r>
                  <a:rPr dirty="0"/>
                  <a:t> </a:t>
                </a:r>
                <a:r>
                  <a:rPr dirty="0" err="1"/>
                  <a:t>groter</a:t>
                </a:r>
                <a:r>
                  <a:rPr dirty="0"/>
                  <a:t> dan </a:t>
                </a:r>
                <a14:m>
                  <m:oMath xmlns:m="http://schemas.openxmlformats.org/officeDocument/2006/math">
                    <m:r>
                      <a:rPr>
                        <a:latin typeface="Cambria Math" panose="02040503050406030204" pitchFamily="18" charset="0"/>
                      </a:rPr>
                      <m:t>|</m:t>
                    </m:r>
                    <m:r>
                      <a:rPr>
                        <a:latin typeface="Cambria Math" panose="02040503050406030204" pitchFamily="18" charset="0"/>
                      </a:rPr>
                      <m:t>𝛥</m:t>
                    </m:r>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oMath>
                </a14:m>
                <a:r>
                  <a:rPr dirty="0"/>
                  <a:t>.</a:t>
                </a:r>
                <a:br>
                  <a:rPr dirty="0"/>
                </a:br>
                <a:endParaRPr dirty="0"/>
              </a:p>
              <a:p>
                <a:pPr marL="457200" lvl="0" indent="-457200">
                  <a:buAutoNum type="arabicPeriod"/>
                </a:pPr>
                <a:r>
                  <a:rPr dirty="0"/>
                  <a:t>Een GPS </a:t>
                </a:r>
                <a:r>
                  <a:rPr dirty="0" err="1"/>
                  <a:t>gebruikt</a:t>
                </a:r>
                <a:r>
                  <a:rPr dirty="0"/>
                  <a:t> </a:t>
                </a:r>
                <a:r>
                  <a:rPr dirty="0" err="1"/>
                  <a:t>cartesiaanse</a:t>
                </a:r>
                <a:r>
                  <a:rPr dirty="0"/>
                  <a:t> </a:t>
                </a:r>
                <a:r>
                  <a:rPr dirty="0" err="1"/>
                  <a:t>coördinaten</a:t>
                </a:r>
                <a:r>
                  <a:rPr dirty="0"/>
                  <a:t>.</a:t>
                </a:r>
                <a:br>
                  <a:rPr dirty="0"/>
                </a:br>
                <a:endParaRPr dirty="0"/>
              </a:p>
              <a:p>
                <a:pPr marL="457200" lvl="0" indent="-457200">
                  <a:buAutoNum type="arabicPeriod"/>
                </a:pPr>
                <a14:m>
                  <m:oMath xmlns:m="http://schemas.openxmlformats.org/officeDocument/2006/math">
                    <m:r>
                      <a:rPr>
                        <a:latin typeface="Cambria Math" panose="02040503050406030204" pitchFamily="18" charset="0"/>
                      </a:rPr>
                      <m:t>𝛥</m:t>
                    </m:r>
                    <m:r>
                      <a:rPr>
                        <a:latin typeface="Cambria Math" panose="02040503050406030204" pitchFamily="18" charset="0"/>
                      </a:rPr>
                      <m:t>𝑡</m:t>
                    </m:r>
                  </m:oMath>
                </a14:m>
                <a:r>
                  <a:rPr dirty="0"/>
                  <a:t> </a:t>
                </a:r>
                <a:r>
                  <a:rPr dirty="0" err="1"/>
                  <a:t>kan</a:t>
                </a:r>
                <a:r>
                  <a:rPr dirty="0"/>
                  <a:t> </a:t>
                </a:r>
                <a:r>
                  <a:rPr dirty="0" err="1"/>
                  <a:t>negatief</a:t>
                </a:r>
                <a:r>
                  <a:rPr dirty="0"/>
                  <a:t> </a:t>
                </a:r>
                <a:r>
                  <a:rPr dirty="0" err="1"/>
                  <a:t>zijn</a:t>
                </a:r>
                <a:r>
                  <a:rPr lang="nl-BE" dirty="0"/>
                  <a:t>.</a:t>
                </a:r>
                <a:br>
                  <a:rPr dirty="0"/>
                </a:br>
                <a:endParaRPr dirty="0"/>
              </a:p>
              <a:p>
                <a:pPr marL="457200" lvl="0" indent="-457200">
                  <a:buAutoNum type="arabicPeriod"/>
                </a:pPr>
                <a:r>
                  <a:rPr dirty="0"/>
                  <a:t>Het begrip </a:t>
                </a:r>
                <a14:m>
                  <m:oMath xmlns:m="http://schemas.openxmlformats.org/officeDocument/2006/math">
                    <m:r>
                      <a:rPr>
                        <a:latin typeface="Cambria Math" panose="02040503050406030204" pitchFamily="18" charset="0"/>
                      </a:rPr>
                      <m:t>𝑑𝑡</m:t>
                    </m:r>
                  </m:oMath>
                </a14:m>
                <a:r>
                  <a:rPr dirty="0"/>
                  <a:t> is </a:t>
                </a:r>
                <a:r>
                  <a:rPr dirty="0" err="1"/>
                  <a:t>een</a:t>
                </a:r>
                <a:r>
                  <a:rPr dirty="0"/>
                  <a:t> </a:t>
                </a:r>
                <a:r>
                  <a:rPr dirty="0" err="1"/>
                  <a:t>limiet</a:t>
                </a:r>
                <a:r>
                  <a:rPr dirty="0"/>
                  <a:t>, </a:t>
                </a:r>
                <a:r>
                  <a:rPr dirty="0" err="1"/>
                  <a:t>geen</a:t>
                </a:r>
                <a:r>
                  <a:rPr dirty="0"/>
                  <a:t> </a:t>
                </a:r>
                <a:r>
                  <a:rPr dirty="0" err="1"/>
                  <a:t>fysisch</a:t>
                </a:r>
                <a:r>
                  <a:rPr dirty="0"/>
                  <a:t> </a:t>
                </a:r>
                <a:r>
                  <a:rPr dirty="0" err="1"/>
                  <a:t>meetbare</a:t>
                </a:r>
                <a:r>
                  <a:rPr dirty="0"/>
                  <a:t> </a:t>
                </a:r>
                <a:r>
                  <a:rPr dirty="0" err="1"/>
                  <a:t>tijd</a:t>
                </a:r>
                <a:r>
                  <a:rPr dirty="0"/>
                  <a:t>.</a:t>
                </a:r>
                <a:br>
                  <a:rPr dirty="0"/>
                </a:br>
                <a:endParaRPr dirty="0"/>
              </a:p>
              <a:p>
                <a:pPr marL="457200" lvl="0" indent="-457200">
                  <a:buAutoNum type="arabicPeriod"/>
                </a:pPr>
                <a:r>
                  <a:rPr dirty="0"/>
                  <a:t>Een </a:t>
                </a:r>
                <a:r>
                  <a:rPr dirty="0" err="1"/>
                  <a:t>foto</a:t>
                </a:r>
                <a:r>
                  <a:rPr dirty="0"/>
                  <a:t> is </a:t>
                </a:r>
                <a:r>
                  <a:rPr dirty="0" err="1"/>
                  <a:t>een</a:t>
                </a:r>
                <a:r>
                  <a:rPr dirty="0"/>
                  <a:t> </a:t>
                </a:r>
                <a:r>
                  <a:rPr dirty="0" err="1"/>
                  <a:t>perfecte</a:t>
                </a:r>
                <a:r>
                  <a:rPr dirty="0"/>
                  <a:t> </a:t>
                </a:r>
                <a:r>
                  <a:rPr dirty="0" err="1"/>
                  <a:t>momentopname</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2822-938A-EFDE-DE3F-9F66014D9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55DDF-9182-F5AF-D37C-2F226E823C19}"/>
              </a:ext>
            </a:extLst>
          </p:cNvPr>
          <p:cNvSpPr>
            <a:spLocks noGrp="1"/>
          </p:cNvSpPr>
          <p:nvPr>
            <p:ph type="title"/>
          </p:nvPr>
        </p:nvSpPr>
        <p:spPr/>
        <p:txBody>
          <a:bodyPr/>
          <a:lstStyle/>
          <a:p>
            <a:pPr marL="0" lvl="0" indent="0">
              <a:buNone/>
            </a:pPr>
            <a:r>
              <a:t>Check jezelf (juist/fout)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EA44FD-90A0-4029-C2A4-9B406FD5ECDD}"/>
                  </a:ext>
                </a:extLst>
              </p:cNvPr>
              <p:cNvSpPr>
                <a:spLocks noGrp="1"/>
              </p:cNvSpPr>
              <p:nvPr>
                <p:ph idx="1"/>
              </p:nvPr>
            </p:nvSpPr>
            <p:spPr/>
            <p:txBody>
              <a:bodyPr>
                <a:normAutofit fontScale="92500" lnSpcReduction="10000"/>
              </a:bodyPr>
              <a:lstStyle/>
              <a:p>
                <a:pPr marL="457200" lvl="0" indent="-457200">
                  <a:buAutoNum type="arabicPeriod"/>
                </a:pPr>
                <a:r>
                  <a:rPr dirty="0"/>
                  <a:t>Bij </a:t>
                </a:r>
                <a:r>
                  <a:rPr dirty="0" err="1"/>
                  <a:t>een</a:t>
                </a:r>
                <a:r>
                  <a:rPr dirty="0"/>
                  <a:t> </a:t>
                </a:r>
                <a:r>
                  <a:rPr dirty="0" err="1"/>
                  <a:t>rechte</a:t>
                </a:r>
                <a:r>
                  <a:rPr dirty="0"/>
                  <a:t> </a:t>
                </a:r>
                <a:r>
                  <a:rPr dirty="0" err="1"/>
                  <a:t>baan</a:t>
                </a:r>
                <a:r>
                  <a:rPr dirty="0"/>
                  <a:t> is </a:t>
                </a:r>
                <a14:m>
                  <m:oMath xmlns:m="http://schemas.openxmlformats.org/officeDocument/2006/math">
                    <m:r>
                      <a:rPr>
                        <a:latin typeface="Cambria Math" panose="02040503050406030204" pitchFamily="18" charset="0"/>
                      </a:rPr>
                      <m:t>𝛥</m:t>
                    </m:r>
                    <m:r>
                      <a:rPr>
                        <a:latin typeface="Cambria Math" panose="02040503050406030204" pitchFamily="18" charset="0"/>
                      </a:rPr>
                      <m:t>𝑠</m:t>
                    </m:r>
                  </m:oMath>
                </a14:m>
                <a:r>
                  <a:rPr dirty="0"/>
                  <a:t> </a:t>
                </a:r>
                <a:r>
                  <a:rPr dirty="0" err="1"/>
                  <a:t>altijd</a:t>
                </a:r>
                <a:r>
                  <a:rPr dirty="0"/>
                  <a:t> </a:t>
                </a:r>
                <a:r>
                  <a:rPr dirty="0" err="1"/>
                  <a:t>groter</a:t>
                </a:r>
                <a:r>
                  <a:rPr dirty="0"/>
                  <a:t> dan </a:t>
                </a:r>
                <a14:m>
                  <m:oMath xmlns:m="http://schemas.openxmlformats.org/officeDocument/2006/math">
                    <m:r>
                      <a:rPr>
                        <a:latin typeface="Cambria Math" panose="02040503050406030204" pitchFamily="18" charset="0"/>
                      </a:rPr>
                      <m:t>|</m:t>
                    </m:r>
                    <m:r>
                      <a:rPr>
                        <a:latin typeface="Cambria Math" panose="02040503050406030204" pitchFamily="18" charset="0"/>
                      </a:rPr>
                      <m:t>𝛥</m:t>
                    </m:r>
                    <m:acc>
                      <m:accPr>
                        <m:chr m:val="⃗"/>
                        <m:ctrlPr>
                          <a:rPr>
                            <a:latin typeface="Cambria Math" panose="02040503050406030204" pitchFamily="18" charset="0"/>
                          </a:rPr>
                        </m:ctrlPr>
                      </m:accPr>
                      <m:e>
                        <m:r>
                          <a:rPr>
                            <a:latin typeface="Cambria Math" panose="02040503050406030204" pitchFamily="18" charset="0"/>
                          </a:rPr>
                          <m:t>𝑟</m:t>
                        </m:r>
                      </m:e>
                    </m:acc>
                    <m:r>
                      <a:rPr>
                        <a:latin typeface="Cambria Math" panose="02040503050406030204" pitchFamily="18" charset="0"/>
                      </a:rPr>
                      <m:t>|</m:t>
                    </m:r>
                  </m:oMath>
                </a14:m>
                <a:r>
                  <a:rPr dirty="0"/>
                  <a:t>.</a:t>
                </a:r>
                <a:br>
                  <a:rPr dirty="0"/>
                </a:br>
                <a:endParaRPr dirty="0"/>
              </a:p>
              <a:p>
                <a:pPr marL="457200" lvl="0" indent="-457200">
                  <a:buAutoNum type="arabicPeriod"/>
                </a:pPr>
                <a:r>
                  <a:rPr dirty="0"/>
                  <a:t>Een GPS </a:t>
                </a:r>
                <a:r>
                  <a:rPr dirty="0" err="1"/>
                  <a:t>gebruikt</a:t>
                </a:r>
                <a:r>
                  <a:rPr dirty="0"/>
                  <a:t> </a:t>
                </a:r>
                <a:r>
                  <a:rPr dirty="0" err="1"/>
                  <a:t>cartesiaanse</a:t>
                </a:r>
                <a:r>
                  <a:rPr dirty="0"/>
                  <a:t> </a:t>
                </a:r>
                <a:r>
                  <a:rPr dirty="0" err="1"/>
                  <a:t>coördinaten</a:t>
                </a:r>
                <a:r>
                  <a:rPr dirty="0"/>
                  <a:t>.</a:t>
                </a:r>
                <a:br>
                  <a:rPr dirty="0"/>
                </a:br>
                <a:endParaRPr dirty="0"/>
              </a:p>
              <a:p>
                <a:pPr marL="457200" lvl="0" indent="-457200">
                  <a:buAutoNum type="arabicPeriod"/>
                </a:pPr>
                <a14:m>
                  <m:oMath xmlns:m="http://schemas.openxmlformats.org/officeDocument/2006/math">
                    <m:r>
                      <a:rPr>
                        <a:latin typeface="Cambria Math" panose="02040503050406030204" pitchFamily="18" charset="0"/>
                      </a:rPr>
                      <m:t>𝛥</m:t>
                    </m:r>
                    <m:r>
                      <a:rPr>
                        <a:latin typeface="Cambria Math" panose="02040503050406030204" pitchFamily="18" charset="0"/>
                      </a:rPr>
                      <m:t>𝑡</m:t>
                    </m:r>
                  </m:oMath>
                </a14:m>
                <a:r>
                  <a:rPr dirty="0"/>
                  <a:t> </a:t>
                </a:r>
                <a:r>
                  <a:rPr dirty="0" err="1"/>
                  <a:t>kan</a:t>
                </a:r>
                <a:r>
                  <a:rPr dirty="0"/>
                  <a:t> </a:t>
                </a:r>
                <a:r>
                  <a:rPr dirty="0" err="1"/>
                  <a:t>negatief</a:t>
                </a:r>
                <a:r>
                  <a:rPr lang="nl-BE" dirty="0"/>
                  <a:t> zijn.</a:t>
                </a:r>
                <a:br>
                  <a:rPr dirty="0"/>
                </a:br>
                <a:endParaRPr dirty="0"/>
              </a:p>
              <a:p>
                <a:pPr marL="457200" lvl="0" indent="-457200">
                  <a:buAutoNum type="arabicPeriod"/>
                </a:pPr>
                <a:r>
                  <a:rPr dirty="0"/>
                  <a:t>Het begrip </a:t>
                </a:r>
                <a14:m>
                  <m:oMath xmlns:m="http://schemas.openxmlformats.org/officeDocument/2006/math">
                    <m:r>
                      <a:rPr>
                        <a:latin typeface="Cambria Math" panose="02040503050406030204" pitchFamily="18" charset="0"/>
                      </a:rPr>
                      <m:t>𝑑𝑡</m:t>
                    </m:r>
                  </m:oMath>
                </a14:m>
                <a:r>
                  <a:rPr dirty="0"/>
                  <a:t> is </a:t>
                </a:r>
                <a:r>
                  <a:rPr dirty="0" err="1"/>
                  <a:t>een</a:t>
                </a:r>
                <a:r>
                  <a:rPr dirty="0"/>
                  <a:t> </a:t>
                </a:r>
                <a:r>
                  <a:rPr dirty="0" err="1"/>
                  <a:t>limiet</a:t>
                </a:r>
                <a:r>
                  <a:rPr dirty="0"/>
                  <a:t>, </a:t>
                </a:r>
                <a:r>
                  <a:rPr dirty="0" err="1"/>
                  <a:t>geen</a:t>
                </a:r>
                <a:r>
                  <a:rPr dirty="0"/>
                  <a:t> </a:t>
                </a:r>
                <a:r>
                  <a:rPr dirty="0" err="1"/>
                  <a:t>fysisch</a:t>
                </a:r>
                <a:r>
                  <a:rPr dirty="0"/>
                  <a:t> </a:t>
                </a:r>
                <a:r>
                  <a:rPr dirty="0" err="1"/>
                  <a:t>meetbare</a:t>
                </a:r>
                <a:r>
                  <a:rPr dirty="0"/>
                  <a:t> </a:t>
                </a:r>
                <a:r>
                  <a:rPr dirty="0" err="1"/>
                  <a:t>tijd</a:t>
                </a:r>
                <a:r>
                  <a:rPr dirty="0"/>
                  <a:t>.</a:t>
                </a:r>
                <a:br>
                  <a:rPr dirty="0"/>
                </a:br>
                <a:endParaRPr dirty="0"/>
              </a:p>
              <a:p>
                <a:pPr marL="457200" lvl="0" indent="-457200">
                  <a:buAutoNum type="arabicPeriod"/>
                </a:pPr>
                <a:r>
                  <a:rPr dirty="0"/>
                  <a:t>Een </a:t>
                </a:r>
                <a:r>
                  <a:rPr dirty="0" err="1"/>
                  <a:t>foto</a:t>
                </a:r>
                <a:r>
                  <a:rPr dirty="0"/>
                  <a:t> is </a:t>
                </a:r>
                <a:r>
                  <a:rPr dirty="0" err="1"/>
                  <a:t>een</a:t>
                </a:r>
                <a:r>
                  <a:rPr dirty="0"/>
                  <a:t> </a:t>
                </a:r>
                <a:r>
                  <a:rPr dirty="0" err="1"/>
                  <a:t>perfecte</a:t>
                </a:r>
                <a:r>
                  <a:rPr dirty="0"/>
                  <a:t> </a:t>
                </a:r>
                <a:r>
                  <a:rPr dirty="0" err="1"/>
                  <a:t>momentopname</a:t>
                </a:r>
                <a:r>
                  <a:rPr dirty="0"/>
                  <a:t>.</a:t>
                </a:r>
              </a:p>
              <a:p>
                <a:pPr marL="0" lvl="0" indent="0">
                  <a:buNone/>
                </a:pPr>
                <a:r>
                  <a:rPr b="1" dirty="0" err="1"/>
                  <a:t>Antwoorden</a:t>
                </a:r>
                <a:r>
                  <a:rPr b="1" dirty="0"/>
                  <a:t>:</a:t>
                </a:r>
                <a:r>
                  <a:rPr dirty="0"/>
                  <a:t> 1:Fout (</a:t>
                </a:r>
                <a:r>
                  <a:rPr dirty="0" err="1"/>
                  <a:t>gelijk</a:t>
                </a:r>
                <a:r>
                  <a:rPr dirty="0"/>
                  <a:t> </a:t>
                </a:r>
                <a:r>
                  <a:rPr dirty="0" err="1"/>
                  <a:t>bij</a:t>
                </a:r>
                <a:r>
                  <a:rPr dirty="0"/>
                  <a:t> </a:t>
                </a:r>
                <a:r>
                  <a:rPr dirty="0" err="1"/>
                  <a:t>rechte</a:t>
                </a:r>
                <a:r>
                  <a:rPr dirty="0"/>
                  <a:t> </a:t>
                </a:r>
                <a:r>
                  <a:rPr dirty="0" err="1"/>
                  <a:t>baan</a:t>
                </a:r>
                <a:r>
                  <a:rPr dirty="0"/>
                  <a:t> in </a:t>
                </a:r>
                <a:r>
                  <a:rPr dirty="0" err="1"/>
                  <a:t>één</a:t>
                </a:r>
                <a:r>
                  <a:rPr dirty="0"/>
                  <a:t> zin) — 2:Fout (</a:t>
                </a:r>
                <a:r>
                  <a:rPr dirty="0" err="1"/>
                  <a:t>bolcoördinaten</a:t>
                </a:r>
                <a:r>
                  <a:rPr dirty="0"/>
                  <a:t>) — 3:Fout — 4:Juist — 5:Fout</a:t>
                </a:r>
              </a:p>
            </p:txBody>
          </p:sp>
        </mc:Choice>
        <mc:Fallback xmlns="">
          <p:sp>
            <p:nvSpPr>
              <p:cNvPr id="3" name="Content Placeholder 2">
                <a:extLst>
                  <a:ext uri="{FF2B5EF4-FFF2-40B4-BE49-F238E27FC236}">
                    <a16:creationId xmlns:a16="http://schemas.microsoft.com/office/drawing/2014/main" id="{DDEA44FD-90A0-4029-C2A4-9B406FD5ECDD}"/>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2926378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Snelheid</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t>Beweging karakteriseren via </a:t>
                </a:r>
                <a:r>
                  <a:rPr b="1"/>
                  <a:t>snelheid</a:t>
                </a:r>
                <a:r>
                  <a:t>.</a:t>
                </a:r>
                <a:br/>
                <a:endParaRPr/>
              </a:p>
              <a:p>
                <a:pPr lvl="0"/>
                <a:r>
                  <a:rPr b="1"/>
                  <a:t>Vectorieel</a:t>
                </a:r>
                <a:r>
                  <a:t>: richting, zin, grootte.</a:t>
                </a:r>
                <a:br/>
                <a:endParaRPr/>
              </a:p>
              <a:p>
                <a:pPr lvl="0"/>
                <a:r>
                  <a:t>Twee niveaus:</a:t>
                </a:r>
              </a:p>
              <a:p>
                <a:pPr lvl="1"/>
                <a:r>
                  <a:rPr b="1"/>
                  <a:t>Gemiddeld</a:t>
                </a:r>
                <a:r>
                  <a:t> over een eindig interval </a:t>
                </a:r>
                <a14:m>
                  <m:oMath xmlns:m="http://schemas.openxmlformats.org/officeDocument/2006/math">
                    <m:r>
                      <a:rPr>
                        <a:latin typeface="Cambria Math" panose="02040503050406030204" pitchFamily="18" charset="0"/>
                      </a:rPr>
                      <m:t>𝛥</m:t>
                    </m:r>
                    <m:r>
                      <a:rPr>
                        <a:latin typeface="Cambria Math" panose="02040503050406030204" pitchFamily="18" charset="0"/>
                      </a:rPr>
                      <m:t>𝑡</m:t>
                    </m:r>
                  </m:oMath>
                </a14:m>
                <a:r>
                  <a:t>.</a:t>
                </a:r>
                <a:br/>
                <a:endParaRPr/>
              </a:p>
              <a:p>
                <a:pPr lvl="1"/>
                <a:r>
                  <a:rPr b="1"/>
                  <a:t>Ogenblikkelijk</a:t>
                </a:r>
                <a:r>
                  <a:t> als limiet voor </a:t>
                </a:r>
                <a14:m>
                  <m:oMath xmlns:m="http://schemas.openxmlformats.org/officeDocument/2006/math">
                    <m:r>
                      <a:rPr>
                        <a:latin typeface="Cambria Math" panose="02040503050406030204" pitchFamily="18" charset="0"/>
                      </a:rPr>
                      <m:t>𝛥</m:t>
                    </m:r>
                    <m:r>
                      <a:rPr>
                        <a:latin typeface="Cambria Math" panose="02040503050406030204" pitchFamily="18" charset="0"/>
                      </a:rPr>
                      <m:t>𝑡</m:t>
                    </m:r>
                    <m:r>
                      <a:rPr>
                        <a:latin typeface="Cambria Math" panose="02040503050406030204" pitchFamily="18" charset="0"/>
                      </a:rPr>
                      <m:t>→0</m:t>
                    </m:r>
                  </m:oMath>
                </a14:m>
                <a: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Snelheid</a:t>
            </a:r>
            <a:r>
              <a:rPr dirty="0"/>
              <a:t> — </a:t>
            </a:r>
            <a:r>
              <a:rPr dirty="0" err="1"/>
              <a:t>definities</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nl-BE" b="1" dirty="0"/>
                  <a:t>Gemiddelde </a:t>
                </a:r>
                <a:r>
                  <a:rPr lang="nl-BE" b="1" dirty="0" err="1"/>
                  <a:t>snelheid</a:t>
                </a:r>
                <a:r>
                  <a:rPr lang="nl-BE" b="1" dirty="0"/>
                  <a:t> (vector)</a:t>
                </a:r>
                <a:r>
                  <a:rPr lang="nl-BE" dirty="0"/>
                  <a:t>:</a:t>
                </a:r>
              </a:p>
              <a:p>
                <a:pPr marL="0" lvl="0" indent="0">
                  <a:buNone/>
                </a:pPr>
                <a14:m>
                  <m:oMathPara xmlns:m="http://schemas.openxmlformats.org/officeDocument/2006/math">
                    <m:oMathParaPr>
                      <m:jc m:val="center"/>
                    </m:oMathParaPr>
                    <m:oMath>
                      <m:sSub>
                        <m:sSubPr>
                          <m:ctrlPr>
                            <a:rPr lang="ar-AE" i="1">
                              <a:latin typeface="Cambria Math" panose="02040503050406030204" pitchFamily="18" charset="0"/>
                            </a:rPr>
                          </m:ctrlPr>
                        </m:sSubPr>
                        <m:e>
                          <m:acc>
                            <m:accPr>
                              <m:chr m:val="⃗"/>
                              <m:ctrlPr>
                                <a:rPr lang="ar-AE">
                                  <a:latin typeface="Cambria Math" panose="02040503050406030204" pitchFamily="18" charset="0"/>
                                </a:rPr>
                              </m:ctrlPr>
                            </m:accPr>
                            <m:e>
                              <m:r>
                                <a:rPr lang="ar-AE">
                                  <a:latin typeface="Cambria Math" panose="02040503050406030204" pitchFamily="18" charset="0"/>
                                </a:rPr>
                                <m:t>𝑣</m:t>
                              </m:r>
                            </m:e>
                          </m:acc>
                        </m:e>
                        <m:sub>
                          <m:r>
                            <m:rPr>
                              <m:nor/>
                            </m:rPr>
                            <a:rPr lang="nl-BE" i="0"/>
                            <m:t>gem</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num>
                        <m:den>
                          <m:r>
                            <a:rPr lang="ar-AE">
                              <a:latin typeface="Cambria Math" panose="02040503050406030204" pitchFamily="18" charset="0"/>
                            </a:rPr>
                            <m:t>𝛥</m:t>
                          </m:r>
                          <m:r>
                            <a:rPr lang="ar-AE">
                              <a:latin typeface="Cambria Math" panose="02040503050406030204" pitchFamily="18" charset="0"/>
                            </a:rPr>
                            <m:t>𝑡</m:t>
                          </m:r>
                        </m:den>
                      </m:f>
                    </m:oMath>
                  </m:oMathPara>
                </a14:m>
                <a:endParaRPr lang="ar-AE" dirty="0"/>
              </a:p>
              <a:p>
                <a:pPr lvl="0"/>
                <a:r>
                  <a:rPr lang="nl-BE" b="1" dirty="0" err="1"/>
                  <a:t>Ogenblikkelijke</a:t>
                </a:r>
                <a:r>
                  <a:rPr lang="nl-BE" b="1" dirty="0"/>
                  <a:t> </a:t>
                </a:r>
                <a:r>
                  <a:rPr lang="nl-BE" b="1" dirty="0" err="1"/>
                  <a:t>snelheid</a:t>
                </a:r>
                <a:r>
                  <a:rPr lang="nl-BE" b="1" dirty="0"/>
                  <a:t> (vector)</a:t>
                </a:r>
                <a:r>
                  <a:rPr lang="nl-BE" dirty="0"/>
                  <a:t>:</a:t>
                </a:r>
              </a:p>
              <a:p>
                <a:pPr marL="0" lvl="0" indent="0">
                  <a:buNone/>
                </a:pPr>
                <a14:m>
                  <m:oMathPara xmlns:m="http://schemas.openxmlformats.org/officeDocument/2006/math">
                    <m:oMathParaPr>
                      <m:jc m:val="center"/>
                    </m:oMathParaPr>
                    <m:oMath>
                      <m:acc>
                        <m:accPr>
                          <m:chr m:val="⃗"/>
                          <m:ctrlPr>
                            <a:rPr lang="ar-AE">
                              <a:latin typeface="Cambria Math" panose="02040503050406030204" pitchFamily="18" charset="0"/>
                            </a:rPr>
                          </m:ctrlPr>
                        </m:accPr>
                        <m:e>
                          <m:r>
                            <a:rPr lang="ar-AE">
                              <a:latin typeface="Cambria Math" panose="02040503050406030204" pitchFamily="18" charset="0"/>
                            </a:rPr>
                            <m:t>𝑣</m:t>
                          </m:r>
                        </m:e>
                      </m:acc>
                      <m:r>
                        <a:rPr lang="ar-AE">
                          <a:latin typeface="Cambria Math" panose="02040503050406030204" pitchFamily="18" charset="0"/>
                        </a:rPr>
                        <m:t>=</m:t>
                      </m:r>
                      <m:limLow>
                        <m:limLowPr>
                          <m:ctrlPr>
                            <a:rPr lang="nl-BE">
                              <a:latin typeface="Cambria Math" panose="02040503050406030204" pitchFamily="18" charset="0"/>
                            </a:rPr>
                          </m:ctrlPr>
                        </m:limLowPr>
                        <m:e>
                          <m:r>
                            <m:rPr>
                              <m:sty m:val="p"/>
                            </m:rPr>
                            <a:rPr lang="nl-BE">
                              <a:latin typeface="Cambria Math" panose="02040503050406030204" pitchFamily="18" charset="0"/>
                            </a:rPr>
                            <m:t>lim</m:t>
                          </m:r>
                        </m:e>
                        <m:lim>
                          <m:r>
                            <a:rPr lang="ar-AE">
                              <a:latin typeface="Cambria Math" panose="02040503050406030204" pitchFamily="18" charset="0"/>
                            </a:rPr>
                            <m:t>𝛥</m:t>
                          </m:r>
                          <m:r>
                            <a:rPr lang="ar-AE">
                              <a:latin typeface="Cambria Math" panose="02040503050406030204" pitchFamily="18" charset="0"/>
                            </a:rPr>
                            <m:t>𝑡</m:t>
                          </m:r>
                          <m:r>
                            <a:rPr lang="ar-AE">
                              <a:latin typeface="Cambria Math" panose="02040503050406030204" pitchFamily="18" charset="0"/>
                            </a:rPr>
                            <m:t>→0</m:t>
                          </m:r>
                        </m:lim>
                      </m:limLow>
                      <m:f>
                        <m:fPr>
                          <m:ctrlPr>
                            <a:rPr lang="ar-AE">
                              <a:latin typeface="Cambria Math" panose="02040503050406030204" pitchFamily="18" charset="0"/>
                            </a:rPr>
                          </m:ctrlPr>
                        </m:fPr>
                        <m:num>
                          <m:r>
                            <a:rPr lang="ar-AE">
                              <a:latin typeface="Cambria Math" panose="02040503050406030204" pitchFamily="18" charset="0"/>
                            </a:rPr>
                            <m:t>𝛥</m:t>
                          </m:r>
                          <m:acc>
                            <m:accPr>
                              <m:chr m:val="⃗"/>
                              <m:ctrlPr>
                                <a:rPr lang="ar-AE">
                                  <a:latin typeface="Cambria Math" panose="02040503050406030204" pitchFamily="18" charset="0"/>
                                </a:rPr>
                              </m:ctrlPr>
                            </m:accPr>
                            <m:e>
                              <m:r>
                                <a:rPr lang="ar-AE">
                                  <a:latin typeface="Cambria Math" panose="02040503050406030204" pitchFamily="18" charset="0"/>
                                </a:rPr>
                                <m:t>𝑟</m:t>
                              </m:r>
                            </m:e>
                          </m:acc>
                        </m:num>
                        <m:den>
                          <m:r>
                            <a:rPr lang="ar-AE">
                              <a:latin typeface="Cambria Math" panose="02040503050406030204" pitchFamily="18" charset="0"/>
                            </a:rPr>
                            <m:t>𝛥</m:t>
                          </m:r>
                          <m:r>
                            <a:rPr lang="ar-AE">
                              <a:latin typeface="Cambria Math" panose="02040503050406030204" pitchFamily="18" charset="0"/>
                            </a:rPr>
                            <m:t>𝑡</m:t>
                          </m:r>
                        </m:den>
                      </m:f>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𝑑</m:t>
                          </m:r>
                          <m:acc>
                            <m:accPr>
                              <m:chr m:val="⃗"/>
                              <m:ctrlPr>
                                <a:rPr lang="ar-AE">
                                  <a:latin typeface="Cambria Math" panose="02040503050406030204" pitchFamily="18" charset="0"/>
                                </a:rPr>
                              </m:ctrlPr>
                            </m:accPr>
                            <m:e>
                              <m:r>
                                <a:rPr lang="ar-AE">
                                  <a:latin typeface="Cambria Math" panose="02040503050406030204" pitchFamily="18" charset="0"/>
                                </a:rPr>
                                <m:t>𝑟</m:t>
                              </m:r>
                            </m:e>
                          </m:acc>
                        </m:num>
                        <m:den>
                          <m:r>
                            <a:rPr lang="ar-AE">
                              <a:latin typeface="Cambria Math" panose="02040503050406030204" pitchFamily="18" charset="0"/>
                            </a:rPr>
                            <m:t>𝑑𝑡</m:t>
                          </m:r>
                        </m:den>
                      </m:f>
                    </m:oMath>
                  </m:oMathPara>
                </a14:m>
                <a:endParaRPr lang="ar-AE" dirty="0"/>
              </a:p>
              <a:p>
                <a:pPr lvl="0"/>
                <a:r>
                  <a:rPr lang="nl-BE" b="1" dirty="0"/>
                  <a:t>Eenheid</a:t>
                </a:r>
                <a:r>
                  <a:rPr lang="nl-BE" dirty="0"/>
                  <a:t>: </a:t>
                </a:r>
                <a14:m>
                  <m:oMath xmlns:m="http://schemas.openxmlformats.org/officeDocument/2006/math">
                    <m:r>
                      <a:rPr lang="nl-BE">
                        <a:latin typeface="Cambria Math" panose="02040503050406030204" pitchFamily="18" charset="0"/>
                      </a:rPr>
                      <m:t> </m:t>
                    </m:r>
                    <m:r>
                      <m:rPr>
                        <m:sty m:val="p"/>
                      </m:rPr>
                      <a:rPr lang="nl-BE">
                        <a:latin typeface="Cambria Math" panose="02040503050406030204" pitchFamily="18" charset="0"/>
                      </a:rPr>
                      <m:t>m</m:t>
                    </m:r>
                    <m:r>
                      <a:rPr lang="nl-BE">
                        <a:latin typeface="Cambria Math" panose="02040503050406030204" pitchFamily="18" charset="0"/>
                      </a:rPr>
                      <m:t>/</m:t>
                    </m:r>
                    <m:r>
                      <m:rPr>
                        <m:sty m:val="p"/>
                      </m:rPr>
                      <a:rPr lang="nl-BE">
                        <a:latin typeface="Cambria Math" panose="02040503050406030204" pitchFamily="18" charset="0"/>
                      </a:rPr>
                      <m:t>s</m:t>
                    </m:r>
                  </m:oMath>
                </a14:m>
                <a:r>
                  <a:rPr lang="nl-BE" dirty="0"/>
                  <a:t> of </a:t>
                </a:r>
                <a14:m>
                  <m:oMath xmlns:m="http://schemas.openxmlformats.org/officeDocument/2006/math">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oMath>
                </a14:m>
                <a:br>
                  <a:rPr lang="ar-AE" dirty="0"/>
                </a:br>
                <a:endParaRPr lang="ar-AE" dirty="0"/>
              </a:p>
              <a:p>
                <a:pPr lvl="0"/>
                <a:r>
                  <a:rPr lang="nl-BE" dirty="0" err="1"/>
                  <a:t>Beginpunt</a:t>
                </a:r>
                <a:r>
                  <a:rPr lang="nl-BE" dirty="0"/>
                  <a:t> van </a:t>
                </a:r>
                <a14:m>
                  <m:oMath xmlns:m="http://schemas.openxmlformats.org/officeDocument/2006/math">
                    <m:acc>
                      <m:accPr>
                        <m:chr m:val="⃗"/>
                        <m:ctrlPr>
                          <a:rPr lang="ar-AE">
                            <a:latin typeface="Cambria Math" panose="02040503050406030204" pitchFamily="18" charset="0"/>
                          </a:rPr>
                        </m:ctrlPr>
                      </m:accPr>
                      <m:e>
                        <m:r>
                          <a:rPr lang="ar-AE">
                            <a:latin typeface="Cambria Math" panose="02040503050406030204" pitchFamily="18" charset="0"/>
                          </a:rPr>
                          <m:t>𝑣</m:t>
                        </m:r>
                      </m:e>
                    </m:acc>
                  </m:oMath>
                </a14:m>
                <a:r>
                  <a:rPr lang="ar-AE" dirty="0"/>
                  <a:t>: </a:t>
                </a:r>
                <a:r>
                  <a:rPr lang="nl-BE" dirty="0"/>
                  <a:t>in de </a:t>
                </a:r>
                <a:r>
                  <a:rPr lang="nl-BE" b="1" dirty="0"/>
                  <a:t>puntmassa</a:t>
                </a:r>
                <a:r>
                  <a:rPr lang="nl-BE" dirty="0"/>
                  <a:t>.</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pPr marL="0" lvl="0" indent="0">
                  <a:buNone/>
                </a:pPr>
                <a:r>
                  <a:rPr dirty="0" err="1"/>
                  <a:t>Snelheid</a:t>
                </a:r>
                <a:r>
                  <a:rPr dirty="0"/>
                  <a:t> — 1D </a:t>
                </a:r>
                <a:r>
                  <a:rPr dirty="0" err="1"/>
                  <a:t>langs</a:t>
                </a:r>
                <a:r>
                  <a:rPr dirty="0"/>
                  <a:t> </a:t>
                </a:r>
                <a14:m>
                  <m:oMath xmlns:m="http://schemas.openxmlformats.org/officeDocument/2006/math">
                    <m:r>
                      <a:rPr>
                        <a:latin typeface="Cambria Math" panose="02040503050406030204" pitchFamily="18" charset="0"/>
                      </a:rPr>
                      <m:t>𝑥</m:t>
                    </m:r>
                  </m:oMath>
                </a14:m>
                <a:r>
                  <a:rPr lang="nl-BE" dirty="0"/>
                  <a:t>-as</a:t>
                </a:r>
                <a:endParaRPr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b="1" dirty="0" err="1"/>
                  <a:t>Gemiddeld</a:t>
                </a:r>
                <a:r>
                  <a:rPr dirty="0"/>
                  <a:t>:</a:t>
                </a:r>
              </a:p>
              <a:p>
                <a:pPr marL="0" lvl="0" indent="0">
                  <a:buNone/>
                </a:pPr>
                <a14:m>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r>
                            <a:rPr>
                              <a:latin typeface="Cambria Math" panose="02040503050406030204" pitchFamily="18" charset="0"/>
                            </a:rPr>
                            <m:t>,</m:t>
                          </m:r>
                          <m:r>
                            <m:rPr>
                              <m:nor/>
                            </m:rPr>
                            <a:rPr i="0"/>
                            <m:t>gem</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𝛥</m:t>
                          </m:r>
                          <m:r>
                            <a:rPr>
                              <a:latin typeface="Cambria Math" panose="02040503050406030204" pitchFamily="18" charset="0"/>
                            </a:rPr>
                            <m:t>𝑥</m:t>
                          </m:r>
                        </m:num>
                        <m:den>
                          <m:r>
                            <a:rPr>
                              <a:latin typeface="Cambria Math" panose="02040503050406030204" pitchFamily="18" charset="0"/>
                            </a:rPr>
                            <m:t>𝛥</m:t>
                          </m:r>
                          <m:r>
                            <a:rPr>
                              <a:latin typeface="Cambria Math" panose="02040503050406030204" pitchFamily="18" charset="0"/>
                            </a:rPr>
                            <m:t>𝑡</m:t>
                          </m:r>
                        </m:den>
                      </m:f>
                    </m:oMath>
                  </m:oMathPara>
                </a14:m>
                <a:endParaRPr dirty="0"/>
              </a:p>
              <a:p>
                <a:pPr lvl="0"/>
                <a:r>
                  <a:rPr b="1" dirty="0" err="1"/>
                  <a:t>Ogenblikkelijk</a:t>
                </a:r>
                <a:r>
                  <a:rPr dirty="0"/>
                  <a:t>:</a:t>
                </a:r>
              </a:p>
              <a:p>
                <a:pPr marL="0" lvl="0" indent="0">
                  <a:buNone/>
                </a:pPr>
                <a14:m>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m:t>
                      </m:r>
                      <m:limLow>
                        <m:limLowPr>
                          <m:ctrlPr>
                            <a:rPr>
                              <a:latin typeface="Cambria Math" panose="02040503050406030204" pitchFamily="18" charset="0"/>
                            </a:rPr>
                          </m:ctrlPr>
                        </m:limLowPr>
                        <m:e>
                          <m:r>
                            <m:rPr>
                              <m:sty m:val="p"/>
                            </m:rPr>
                            <a:rPr>
                              <a:latin typeface="Cambria Math" panose="02040503050406030204" pitchFamily="18" charset="0"/>
                            </a:rPr>
                            <m:t>lim</m:t>
                          </m:r>
                        </m:e>
                        <m:lim>
                          <m:r>
                            <a:rPr>
                              <a:latin typeface="Cambria Math" panose="02040503050406030204" pitchFamily="18" charset="0"/>
                            </a:rPr>
                            <m:t>𝛥</m:t>
                          </m:r>
                          <m:r>
                            <a:rPr>
                              <a:latin typeface="Cambria Math" panose="02040503050406030204" pitchFamily="18" charset="0"/>
                            </a:rPr>
                            <m:t>𝑡</m:t>
                          </m:r>
                          <m:r>
                            <a:rPr>
                              <a:latin typeface="Cambria Math" panose="02040503050406030204" pitchFamily="18" charset="0"/>
                            </a:rPr>
                            <m:t>→0</m:t>
                          </m:r>
                        </m:lim>
                      </m:limLow>
                      <m:f>
                        <m:fPr>
                          <m:ctrlPr>
                            <a:rPr>
                              <a:latin typeface="Cambria Math" panose="02040503050406030204" pitchFamily="18" charset="0"/>
                            </a:rPr>
                          </m:ctrlPr>
                        </m:fPr>
                        <m:num>
                          <m:r>
                            <a:rPr>
                              <a:latin typeface="Cambria Math" panose="02040503050406030204" pitchFamily="18" charset="0"/>
                            </a:rPr>
                            <m:t>𝛥</m:t>
                          </m:r>
                          <m:r>
                            <a:rPr>
                              <a:latin typeface="Cambria Math" panose="02040503050406030204" pitchFamily="18" charset="0"/>
                            </a:rPr>
                            <m:t>𝑥</m:t>
                          </m:r>
                        </m:num>
                        <m:den>
                          <m:r>
                            <a:rPr>
                              <a:latin typeface="Cambria Math" panose="02040503050406030204" pitchFamily="18" charset="0"/>
                            </a:rPr>
                            <m:t>𝛥</m:t>
                          </m:r>
                          <m:r>
                            <a:rPr>
                              <a:latin typeface="Cambria Math" panose="02040503050406030204" pitchFamily="18" charset="0"/>
                            </a:rPr>
                            <m:t>𝑡</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𝑑𝑥</m:t>
                          </m:r>
                        </m:num>
                        <m:den>
                          <m:r>
                            <a:rPr>
                              <a:latin typeface="Cambria Math" panose="02040503050406030204" pitchFamily="18" charset="0"/>
                            </a:rPr>
                            <m:t>𝑑𝑡</m:t>
                          </m:r>
                        </m:den>
                      </m:f>
                    </m:oMath>
                  </m:oMathPara>
                </a14:m>
                <a:endParaRPr dirty="0"/>
              </a:p>
              <a:p>
                <a:pPr lvl="0"/>
                <a:r>
                  <a:rPr b="1" dirty="0"/>
                  <a:t>Teken</a:t>
                </a:r>
                <a:r>
                  <a:rPr dirty="0"/>
                  <a:t>:</a:t>
                </a:r>
              </a:p>
              <a:p>
                <a:pPr lvl="1"/>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&gt;0</m:t>
                    </m:r>
                  </m:oMath>
                </a14:m>
                <a:r>
                  <a:rPr dirty="0"/>
                  <a:t>: </a:t>
                </a:r>
                <a:r>
                  <a:rPr dirty="0" err="1"/>
                  <a:t>beweging</a:t>
                </a:r>
                <a:r>
                  <a:rPr dirty="0"/>
                  <a:t> in </a:t>
                </a:r>
                <a:r>
                  <a:rPr b="1" dirty="0" err="1"/>
                  <a:t>positieve</a:t>
                </a:r>
                <a:r>
                  <a:rPr dirty="0"/>
                  <a:t> </a:t>
                </a:r>
                <a14:m>
                  <m:oMath xmlns:m="http://schemas.openxmlformats.org/officeDocument/2006/math">
                    <m:r>
                      <a:rPr>
                        <a:latin typeface="Cambria Math" panose="02040503050406030204" pitchFamily="18" charset="0"/>
                      </a:rPr>
                      <m:t>𝑥</m:t>
                    </m:r>
                  </m:oMath>
                </a14:m>
                <a:r>
                  <a:rPr dirty="0"/>
                  <a:t>-zin.</a:t>
                </a:r>
                <a:br>
                  <a:rPr dirty="0"/>
                </a:br>
                <a:endParaRPr dirty="0"/>
              </a:p>
              <a:p>
                <a:pPr lvl="1"/>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&lt;0</m:t>
                    </m:r>
                  </m:oMath>
                </a14:m>
                <a:r>
                  <a:rPr dirty="0"/>
                  <a:t>: </a:t>
                </a:r>
                <a:r>
                  <a:rPr b="1" dirty="0" err="1"/>
                  <a:t>tegen</a:t>
                </a:r>
                <a:r>
                  <a:rPr dirty="0"/>
                  <a:t> de </a:t>
                </a:r>
                <a:r>
                  <a:rPr dirty="0" err="1"/>
                  <a:t>positieve</a:t>
                </a:r>
                <a:r>
                  <a:rPr dirty="0"/>
                  <a:t> </a:t>
                </a:r>
                <a14:m>
                  <m:oMath xmlns:m="http://schemas.openxmlformats.org/officeDocument/2006/math">
                    <m:r>
                      <a:rPr>
                        <a:latin typeface="Cambria Math" panose="02040503050406030204" pitchFamily="18" charset="0"/>
                      </a:rPr>
                      <m:t>𝑥</m:t>
                    </m:r>
                  </m:oMath>
                </a14:m>
                <a:r>
                  <a:rPr dirty="0"/>
                  <a:t>-zin.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nl-BE">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pPr marL="0" lvl="0" indent="0">
                  <a:buNone/>
                </a:pPr>
                <a:r>
                  <a:rPr dirty="0"/>
                  <a:t> </a:t>
                </a:r>
                <a:r>
                  <a:rPr dirty="0" err="1"/>
                  <a:t>Snelheid</a:t>
                </a:r>
                <a:r>
                  <a:rPr dirty="0"/>
                  <a:t> —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-diagram</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8791" y="1343818"/>
                <a:ext cx="11609798" cy="5272739"/>
              </a:xfrm>
            </p:spPr>
            <p:txBody>
              <a:bodyPr>
                <a:normAutofit fontScale="85000" lnSpcReduction="20000"/>
              </a:bodyPr>
              <a:lstStyle/>
              <a:p>
                <a:pPr lvl="0"/>
                <a:r>
                  <a:rPr b="1" dirty="0" err="1"/>
                  <a:t>Gemiddelde</a:t>
                </a:r>
                <a:r>
                  <a:rPr b="1" dirty="0"/>
                  <a:t> </a:t>
                </a:r>
                <a:r>
                  <a:rPr b="1" dirty="0" err="1"/>
                  <a:t>snelheid</a:t>
                </a:r>
                <a:r>
                  <a:rPr dirty="0"/>
                  <a:t> </a:t>
                </a:r>
                <a:r>
                  <a:rPr dirty="0" err="1"/>
                  <a:t>tussen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1</m:t>
                        </m:r>
                      </m:sub>
                    </m:sSub>
                  </m:oMath>
                </a14:m>
                <a:r>
                  <a:rPr dirty="0"/>
                  <a:t> </a:t>
                </a:r>
                <a:r>
                  <a:rPr dirty="0" err="1"/>
                  <a:t>en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2</m:t>
                        </m:r>
                      </m:sub>
                    </m:sSub>
                  </m:oMath>
                </a14:m>
                <a:r>
                  <a:rPr dirty="0"/>
                  <a:t> = </a:t>
                </a:r>
                <a:r>
                  <a:rPr b="1" dirty="0" err="1"/>
                  <a:t>helling</a:t>
                </a:r>
                <a:r>
                  <a:rPr dirty="0"/>
                  <a:t> van de </a:t>
                </a:r>
                <a:r>
                  <a:rPr dirty="0" err="1"/>
                  <a:t>koorde</a:t>
                </a:r>
                <a:r>
                  <a:rPr dirty="0"/>
                  <a:t>:</a:t>
                </a:r>
                <a:br>
                  <a:rPr dirty="0"/>
                </a:br>
                <a:endParaRPr dirty="0"/>
              </a:p>
              <a:p>
                <a:pPr marL="0" lvl="0" indent="0">
                  <a:buNone/>
                </a:pPr>
                <a14:m>
                  <m:oMathPara xmlns:m="http://schemas.openxmlformats.org/officeDocument/2006/math">
                    <m:oMathParaPr>
                      <m:jc m:val="center"/>
                    </m:oMathParaPr>
                    <m:o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r>
                            <a:rPr>
                              <a:latin typeface="Cambria Math" panose="02040503050406030204" pitchFamily="18" charset="0"/>
                            </a:rPr>
                            <m:t>,</m:t>
                          </m:r>
                          <m:r>
                            <m:rPr>
                              <m:nor/>
                            </m:rPr>
                            <a:rPr i="0"/>
                            <m:t>gem</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𝛥</m:t>
                          </m:r>
                          <m:r>
                            <a:rPr>
                              <a:latin typeface="Cambria Math" panose="02040503050406030204" pitchFamily="18" charset="0"/>
                            </a:rPr>
                            <m:t>𝑥</m:t>
                          </m:r>
                        </m:num>
                        <m:den>
                          <m:r>
                            <a:rPr>
                              <a:latin typeface="Cambria Math" panose="02040503050406030204" pitchFamily="18" charset="0"/>
                            </a:rPr>
                            <m:t>𝛥</m:t>
                          </m:r>
                          <m:r>
                            <a:rPr>
                              <a:latin typeface="Cambria Math" panose="02040503050406030204" pitchFamily="18" charset="0"/>
                            </a:rPr>
                            <m:t>𝑡</m:t>
                          </m:r>
                        </m:den>
                      </m:f>
                    </m:oMath>
                  </m:oMathPara>
                </a14:m>
                <a:endParaRPr dirty="0"/>
              </a:p>
              <a:p>
                <a:pPr lvl="0"/>
                <a:r>
                  <a:rPr b="1" dirty="0" err="1"/>
                  <a:t>Ogenblikkelijke</a:t>
                </a:r>
                <a:r>
                  <a:rPr b="1" dirty="0"/>
                  <a:t> </a:t>
                </a:r>
                <a:r>
                  <a:rPr b="1" dirty="0" err="1"/>
                  <a:t>snelheid</a:t>
                </a:r>
                <a:r>
                  <a:rPr dirty="0"/>
                  <a:t> op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1</m:t>
                        </m:r>
                      </m:sub>
                    </m:sSub>
                  </m:oMath>
                </a14:m>
                <a:r>
                  <a:rPr dirty="0"/>
                  <a:t> = </a:t>
                </a:r>
                <a:r>
                  <a:rPr b="1" dirty="0" err="1"/>
                  <a:t>helling</a:t>
                </a:r>
                <a:r>
                  <a:rPr b="1" dirty="0"/>
                  <a:t> </a:t>
                </a:r>
                <a:r>
                  <a:rPr b="1" dirty="0" err="1"/>
                  <a:t>raaklijn</a:t>
                </a:r>
                <a:r>
                  <a:rPr dirty="0"/>
                  <a:t> </a:t>
                </a:r>
                <a:r>
                  <a:rPr dirty="0" err="1"/>
                  <a:t>aan</a:t>
                </a:r>
                <a:r>
                  <a:rPr dirty="0"/>
                  <a:t>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a:t>
                </a:r>
                <a:r>
                  <a:rPr lang="nl-BE" dirty="0"/>
                  <a:t>in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1</m:t>
                        </m:r>
                      </m:sub>
                    </m:sSub>
                  </m:oMath>
                </a14:m>
                <a:r>
                  <a:rPr dirty="0"/>
                  <a:t>.</a:t>
                </a:r>
                <a:br>
                  <a:rPr dirty="0"/>
                </a:br>
                <a:endParaRPr dirty="0"/>
              </a:p>
              <a:p>
                <a:pPr lvl="0"/>
                <a:r>
                  <a:rPr b="1" dirty="0" err="1"/>
                  <a:t>Naarmate</a:t>
                </a:r>
                <a:r>
                  <a:rPr b="1" dirty="0"/>
                  <a:t> </a:t>
                </a:r>
                <a14:m>
                  <m:oMath xmlns:m="http://schemas.openxmlformats.org/officeDocument/2006/math">
                    <m:r>
                      <a:rPr>
                        <a:latin typeface="Cambria Math" panose="02040503050406030204" pitchFamily="18" charset="0"/>
                      </a:rPr>
                      <m:t>𝛥</m:t>
                    </m:r>
                    <m:r>
                      <a:rPr>
                        <a:latin typeface="Cambria Math" panose="02040503050406030204" pitchFamily="18" charset="0"/>
                      </a:rPr>
                      <m:t>𝑡</m:t>
                    </m:r>
                  </m:oMath>
                </a14:m>
                <a:r>
                  <a:rPr b="1" dirty="0"/>
                  <a:t> </a:t>
                </a:r>
                <a:r>
                  <a:rPr b="1" dirty="0" err="1"/>
                  <a:t>kleiner</a:t>
                </a:r>
                <a:r>
                  <a:rPr b="1" dirty="0"/>
                  <a:t> </a:t>
                </a:r>
                <a:r>
                  <a:rPr b="1" dirty="0" err="1"/>
                  <a:t>wordt</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r>
                          <a:rPr>
                            <a:latin typeface="Cambria Math" panose="02040503050406030204" pitchFamily="18" charset="0"/>
                          </a:rPr>
                          <m:t>,</m:t>
                        </m:r>
                        <m:r>
                          <m:rPr>
                            <m:nor/>
                          </m:rPr>
                          <a:rPr i="0"/>
                          <m:t>gem</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oMath>
                </a14:m>
                <a:r>
                  <a:rPr dirty="0"/>
                  <a:t> </a:t>
                </a:r>
                <a:br>
                  <a:rPr lang="nl-BE" dirty="0"/>
                </a:br>
                <a:r>
                  <a:rPr dirty="0"/>
                  <a:t>(</a:t>
                </a:r>
                <a:r>
                  <a:rPr dirty="0" err="1"/>
                  <a:t>raaklijnbenadering</a:t>
                </a:r>
                <a:r>
                  <a:rPr dirty="0"/>
                  <a:t>).</a:t>
                </a:r>
                <a:br>
                  <a:rPr dirty="0"/>
                </a:br>
                <a:endParaRPr dirty="0"/>
              </a:p>
              <a:p>
                <a:pPr lvl="0"/>
                <a:r>
                  <a:rPr b="1" dirty="0" err="1"/>
                  <a:t>Interpretatie</a:t>
                </a:r>
                <a:r>
                  <a:rPr dirty="0"/>
                  <a:t>:</a:t>
                </a:r>
              </a:p>
              <a:p>
                <a:pPr lvl="1"/>
                <a:r>
                  <a:rPr dirty="0" err="1"/>
                  <a:t>Grotere</a:t>
                </a:r>
                <a:r>
                  <a:rPr dirty="0"/>
                  <a:t> </a:t>
                </a:r>
                <a:r>
                  <a:rPr dirty="0" err="1"/>
                  <a:t>helling</a:t>
                </a:r>
                <a:r>
                  <a:rPr dirty="0"/>
                  <a:t> </a:t>
                </a:r>
                <a14:m>
                  <m:oMath xmlns:m="http://schemas.openxmlformats.org/officeDocument/2006/math">
                    <m:r>
                      <a:rPr>
                        <a:latin typeface="Cambria Math" panose="02040503050406030204" pitchFamily="18" charset="0"/>
                      </a:rPr>
                      <m:t>⇒</m:t>
                    </m:r>
                  </m:oMath>
                </a14:m>
                <a:r>
                  <a:rPr dirty="0"/>
                  <a:t> </a:t>
                </a:r>
                <a:r>
                  <a:rPr dirty="0" err="1"/>
                  <a:t>grotere</a:t>
                </a:r>
                <a:r>
                  <a:rPr dirty="0"/>
                  <a:t> </a:t>
                </a:r>
                <a14:m>
                  <m:oMath xmlns:m="http://schemas.openxmlformats.org/officeDocument/2006/math">
                    <m:d>
                      <m:dPr>
                        <m:begChr m:val="|"/>
                        <m:endChr m:val="|"/>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e>
                    </m:d>
                  </m:oMath>
                </a14:m>
                <a:r>
                  <a:rPr dirty="0"/>
                  <a:t>.</a:t>
                </a:r>
                <a:br>
                  <a:rPr dirty="0"/>
                </a:br>
                <a:endParaRPr dirty="0"/>
              </a:p>
              <a:p>
                <a:pPr lvl="1"/>
                <a:r>
                  <a:rPr dirty="0" err="1"/>
                  <a:t>Negatieve</a:t>
                </a:r>
                <a:r>
                  <a:rPr dirty="0"/>
                  <a:t> </a:t>
                </a:r>
                <a:r>
                  <a:rPr dirty="0" err="1"/>
                  <a:t>helling</a:t>
                </a:r>
                <a:r>
                  <a:rPr dirty="0"/>
                  <a:t> </a:t>
                </a:r>
                <a14:m>
                  <m:oMath xmlns:m="http://schemas.openxmlformats.org/officeDocument/2006/math">
                    <m:r>
                      <a:rPr>
                        <a:latin typeface="Cambria Math" panose="02040503050406030204" pitchFamily="18" charset="0"/>
                      </a:rPr>
                      <m:t>⇒</m:t>
                    </m:r>
                  </m:oMath>
                </a14:m>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&lt;0</m:t>
                    </m:r>
                  </m:oMath>
                </a14:m>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8791" y="1343818"/>
                <a:ext cx="11609798" cy="5272739"/>
              </a:xfrm>
              <a:blipFill>
                <a:blip r:embed="rId3"/>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51FEE3C5-24B2-86B0-AC78-17044A30A84C}"/>
              </a:ext>
            </a:extLst>
          </p:cNvPr>
          <p:cNvPicPr>
            <a:picLocks noChangeAspect="1"/>
          </p:cNvPicPr>
          <p:nvPr/>
        </p:nvPicPr>
        <p:blipFill>
          <a:blip r:embed="rId4"/>
          <a:stretch>
            <a:fillRect/>
          </a:stretch>
        </p:blipFill>
        <p:spPr>
          <a:xfrm>
            <a:off x="9558528" y="1907178"/>
            <a:ext cx="2444681" cy="471207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DF4B60-3187-82D3-546D-02CFBE2C0406}"/>
              </a:ext>
            </a:extLst>
          </p:cNvPr>
          <p:cNvSpPr>
            <a:spLocks noGrp="1"/>
          </p:cNvSpPr>
          <p:nvPr>
            <p:ph type="title"/>
          </p:nvPr>
        </p:nvSpPr>
        <p:spPr/>
        <p:txBody>
          <a:bodyPr/>
          <a:lstStyle/>
          <a:p>
            <a:r>
              <a:rPr lang="nl-BE" dirty="0"/>
              <a:t>Einde 25/9/26</a:t>
            </a:r>
          </a:p>
        </p:txBody>
      </p:sp>
      <p:sp>
        <p:nvSpPr>
          <p:cNvPr id="3" name="Tijdelijke aanduiding voor inhoud 2">
            <a:extLst>
              <a:ext uri="{FF2B5EF4-FFF2-40B4-BE49-F238E27FC236}">
                <a16:creationId xmlns:a16="http://schemas.microsoft.com/office/drawing/2014/main" id="{5D4C10FA-00E9-4AE2-E63D-8209ABF5C527}"/>
              </a:ext>
            </a:extLst>
          </p:cNvPr>
          <p:cNvSpPr>
            <a:spLocks noGrp="1"/>
          </p:cNvSpPr>
          <p:nvPr>
            <p:ph idx="1"/>
          </p:nvPr>
        </p:nvSpPr>
        <p:spPr/>
        <p:txBody>
          <a:bodyPr/>
          <a:lstStyle/>
          <a:p>
            <a:endParaRPr lang="nl-BE"/>
          </a:p>
        </p:txBody>
      </p:sp>
    </p:spTree>
    <p:extLst>
      <p:ext uri="{BB962C8B-B14F-4D97-AF65-F5344CB8AC3E}">
        <p14:creationId xmlns:p14="http://schemas.microsoft.com/office/powerpoint/2010/main" val="21449680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Notatie verduidelijkt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𝑣</m:t>
                        </m:r>
                      </m:e>
                    </m:acc>
                  </m:oMath>
                </a14:m>
                <a:r>
                  <a:rPr dirty="0"/>
                  <a:t>: </a:t>
                </a:r>
                <a:r>
                  <a:rPr b="1" dirty="0" err="1"/>
                  <a:t>snelheidsvector</a:t>
                </a:r>
                <a:r>
                  <a:rPr dirty="0"/>
                  <a:t> (</a:t>
                </a:r>
                <a:r>
                  <a:rPr dirty="0" err="1"/>
                  <a:t>richting</a:t>
                </a:r>
                <a:r>
                  <a:rPr dirty="0"/>
                  <a:t>, zin, </a:t>
                </a:r>
                <a:r>
                  <a:rPr dirty="0" err="1"/>
                  <a:t>grootte</a:t>
                </a:r>
                <a:r>
                  <a:rPr lang="nl-BE" dirty="0"/>
                  <a:t>, </a:t>
                </a:r>
                <a:r>
                  <a:rPr lang="nl-BE" dirty="0" err="1"/>
                  <a:t>aangrijpingspt</a:t>
                </a:r>
                <a:r>
                  <a:rPr lang="nl-BE" dirty="0"/>
                  <a:t>.</a:t>
                </a:r>
                <a:r>
                  <a:rPr dirty="0"/>
                  <a:t>).</a:t>
                </a:r>
                <a:br>
                  <a:rPr dirty="0"/>
                </a:br>
                <a:endParaRPr dirty="0"/>
              </a:p>
              <a:p>
                <a:pPr lvl="0"/>
                <a14:m>
                  <m:oMath xmlns:m="http://schemas.openxmlformats.org/officeDocument/2006/math">
                    <m:r>
                      <a:rPr>
                        <a:latin typeface="Cambria Math" panose="02040503050406030204" pitchFamily="18" charset="0"/>
                      </a:rPr>
                      <m:t>𝑣</m:t>
                    </m:r>
                  </m:oMath>
                </a14:m>
                <a:r>
                  <a:rPr dirty="0"/>
                  <a:t>: </a:t>
                </a:r>
                <a:r>
                  <a:rPr b="1" dirty="0" err="1"/>
                  <a:t>grootte</a:t>
                </a:r>
                <a:r>
                  <a:rPr dirty="0"/>
                  <a:t> van de </a:t>
                </a:r>
                <a:r>
                  <a:rPr dirty="0" err="1"/>
                  <a:t>snelheidsvector</a:t>
                </a:r>
                <a:r>
                  <a:rPr dirty="0"/>
                  <a:t> (</a:t>
                </a:r>
                <a14:m>
                  <m:oMath xmlns:m="http://schemas.openxmlformats.org/officeDocument/2006/math">
                    <m:r>
                      <a:rPr>
                        <a:latin typeface="Cambria Math" panose="02040503050406030204" pitchFamily="18" charset="0"/>
                      </a:rPr>
                      <m:t>𝑣</m:t>
                    </m:r>
                    <m:r>
                      <a:rPr>
                        <a:latin typeface="Cambria Math" panose="02040503050406030204" pitchFamily="18" charset="0"/>
                      </a:rPr>
                      <m:t>=</m:t>
                    </m:r>
                    <m:d>
                      <m:dPr>
                        <m:begChr m:val="|"/>
                        <m:endChr m:val="|"/>
                        <m:ctrlPr>
                          <a:rPr i="1">
                            <a:latin typeface="Cambria Math" panose="02040503050406030204" pitchFamily="18" charset="0"/>
                          </a:rPr>
                        </m:ctrlPr>
                      </m:dPr>
                      <m:e>
                        <m:acc>
                          <m:accPr>
                            <m:chr m:val="⃗"/>
                            <m:ctrlPr>
                              <a:rPr>
                                <a:latin typeface="Cambria Math" panose="02040503050406030204" pitchFamily="18" charset="0"/>
                              </a:rPr>
                            </m:ctrlPr>
                          </m:accPr>
                          <m:e>
                            <m:r>
                              <a:rPr>
                                <a:latin typeface="Cambria Math" panose="02040503050406030204" pitchFamily="18" charset="0"/>
                              </a:rPr>
                              <m:t>𝑣</m:t>
                            </m:r>
                          </m:e>
                        </m:acc>
                      </m:e>
                    </m:d>
                  </m:oMath>
                </a14:m>
                <a:r>
                  <a:rPr dirty="0"/>
                  <a:t>, </a:t>
                </a:r>
                <a:r>
                  <a:rPr dirty="0" err="1"/>
                  <a:t>altijd</a:t>
                </a:r>
                <a:r>
                  <a:rPr dirty="0"/>
                  <a:t> </a:t>
                </a:r>
                <a:r>
                  <a:rPr dirty="0" err="1"/>
                  <a:t>positief</a:t>
                </a:r>
                <a:r>
                  <a:rPr dirty="0"/>
                  <a:t>).</a:t>
                </a:r>
                <a:br>
                  <a:rPr dirty="0"/>
                </a:br>
                <a:endParaRPr dirty="0"/>
              </a:p>
              <a:p>
                <a:pPr lvl="0"/>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oMath>
                </a14:m>
                <a:r>
                  <a:rPr dirty="0"/>
                  <a:t>: </a:t>
                </a:r>
                <a14:m>
                  <m:oMath xmlns:m="http://schemas.openxmlformats.org/officeDocument/2006/math">
                    <m:r>
                      <a:rPr>
                        <a:latin typeface="Cambria Math" panose="02040503050406030204" pitchFamily="18" charset="0"/>
                      </a:rPr>
                      <m:t>𝑥</m:t>
                    </m:r>
                  </m:oMath>
                </a14:m>
                <a:r>
                  <a:rPr b="1" dirty="0"/>
                  <a:t>-component</a:t>
                </a:r>
                <a:r>
                  <a:rPr dirty="0"/>
                  <a:t> (</a:t>
                </a:r>
                <a:r>
                  <a:rPr dirty="0" err="1"/>
                  <a:t>kan</a:t>
                </a:r>
                <a:r>
                  <a:rPr dirty="0"/>
                  <a:t> </a:t>
                </a:r>
                <a:r>
                  <a:rPr dirty="0" err="1"/>
                  <a:t>positief</a:t>
                </a:r>
                <a:r>
                  <a:rPr dirty="0"/>
                  <a:t> of </a:t>
                </a:r>
                <a:r>
                  <a:rPr dirty="0" err="1"/>
                  <a:t>negatief</a:t>
                </a:r>
                <a:r>
                  <a:rPr dirty="0"/>
                  <a:t>).</a:t>
                </a:r>
                <a:br>
                  <a:rPr dirty="0"/>
                </a:br>
                <a:endParaRP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Praktische eenheden — km/h ↔ 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lang="nl-BE" b="1" dirty="0"/>
                  <a:t>Van m/s </a:t>
                </a:r>
                <a:r>
                  <a:rPr lang="nl-BE" b="1" dirty="0" err="1"/>
                  <a:t>naar</a:t>
                </a:r>
                <a:r>
                  <a:rPr lang="nl-BE" b="1" dirty="0"/>
                  <a:t> km/h</a:t>
                </a:r>
                <a:r>
                  <a:rPr lang="nl-BE" dirty="0"/>
                  <a:t>:</a:t>
                </a:r>
              </a:p>
              <a:p>
                <a:pPr marL="0" lvl="0" indent="0">
                  <a:buNone/>
                </a:pPr>
                <a14:m>
                  <m:oMathPara xmlns:m="http://schemas.openxmlformats.org/officeDocument/2006/math">
                    <m:oMathParaPr>
                      <m:jc m:val="center"/>
                    </m:oMathParaPr>
                    <m:oMath>
                      <m:r>
                        <a:rPr lang="nl-BE">
                          <a:latin typeface="Cambria Math" panose="02040503050406030204" pitchFamily="18" charset="0"/>
                        </a:rPr>
                        <m:t>1</m:t>
                      </m:r>
                      <m:r>
                        <a:rPr lang="nl-BE" b="0" i="0" smtClean="0">
                          <a:latin typeface="Cambria Math" panose="02040503050406030204" pitchFamily="18" charset="0"/>
                        </a:rPr>
                        <m:t>,000</m:t>
                      </m:r>
                      <m:r>
                        <a:rPr lang="nl-BE">
                          <a:latin typeface="Cambria Math" panose="02040503050406030204" pitchFamily="18" charset="0"/>
                        </a:rPr>
                        <m:t> </m:t>
                      </m:r>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r>
                        <a:rPr lang="ar-AE">
                          <a:latin typeface="Cambria Math" panose="02040503050406030204" pitchFamily="18" charset="0"/>
                        </a:rPr>
                        <m:t>=3,600 </m:t>
                      </m:r>
                      <m:r>
                        <m:rPr>
                          <m:sty m:val="p"/>
                        </m:rPr>
                        <a:rPr lang="nl-BE">
                          <a:latin typeface="Cambria Math" panose="02040503050406030204" pitchFamily="18" charset="0"/>
                        </a:rPr>
                        <m:t>km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h</m:t>
                          </m:r>
                        </m:e>
                        <m:sup>
                          <m:r>
                            <a:rPr lang="ar-AE">
                              <a:latin typeface="Cambria Math" panose="02040503050406030204" pitchFamily="18" charset="0"/>
                            </a:rPr>
                            <m:t>−1</m:t>
                          </m:r>
                        </m:sup>
                      </m:sSup>
                    </m:oMath>
                  </m:oMathPara>
                </a14:m>
                <a:endParaRPr lang="ar-AE" dirty="0"/>
              </a:p>
              <a:p>
                <a:pPr lvl="0"/>
                <a:r>
                  <a:rPr lang="nl-BE" b="1" dirty="0"/>
                  <a:t>Van km/h </a:t>
                </a:r>
                <a:r>
                  <a:rPr lang="nl-BE" b="1" dirty="0" err="1"/>
                  <a:t>naar</a:t>
                </a:r>
                <a:r>
                  <a:rPr lang="nl-BE" b="1" dirty="0"/>
                  <a:t> m/s</a:t>
                </a:r>
                <a:r>
                  <a:rPr lang="nl-BE" dirty="0"/>
                  <a:t>:</a:t>
                </a:r>
              </a:p>
              <a:p>
                <a:pPr marL="0" lvl="0" indent="0">
                  <a:buNone/>
                </a:pPr>
                <a14:m>
                  <m:oMath xmlns:m="http://schemas.openxmlformats.org/officeDocument/2006/math">
                    <m:r>
                      <a:rPr lang="nl-BE">
                        <a:latin typeface="Cambria Math" panose="02040503050406030204" pitchFamily="18" charset="0"/>
                      </a:rPr>
                      <m:t>1</m:t>
                    </m:r>
                    <m:r>
                      <a:rPr lang="nl-BE" b="0" i="0" smtClean="0">
                        <a:latin typeface="Cambria Math" panose="02040503050406030204" pitchFamily="18" charset="0"/>
                      </a:rPr>
                      <m:t>,000</m:t>
                    </m:r>
                    <m:r>
                      <a:rPr lang="nl-BE">
                        <a:latin typeface="Cambria Math" panose="02040503050406030204" pitchFamily="18" charset="0"/>
                      </a:rPr>
                      <m:t> </m:t>
                    </m:r>
                    <m:r>
                      <m:rPr>
                        <m:sty m:val="p"/>
                      </m:rPr>
                      <a:rPr lang="nl-BE">
                        <a:latin typeface="Cambria Math" panose="02040503050406030204" pitchFamily="18" charset="0"/>
                      </a:rPr>
                      <m:t>km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h</m:t>
                        </m:r>
                      </m:e>
                      <m:sup>
                        <m:r>
                          <a:rPr lang="ar-AE">
                            <a:latin typeface="Cambria Math" panose="02040503050406030204" pitchFamily="18" charset="0"/>
                          </a:rPr>
                          <m:t>−1</m:t>
                        </m:r>
                      </m:sup>
                    </m:sSup>
                    <m:r>
                      <a:rPr lang="ar-AE">
                        <a:latin typeface="Cambria Math" panose="02040503050406030204" pitchFamily="18" charset="0"/>
                      </a:rPr>
                      <m:t>≈0,2778 </m:t>
                    </m:r>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oMath>
                </a14:m>
                <a:r>
                  <a:rPr lang="nl-BE" dirty="0"/>
                  <a:t>         /3,6000</a:t>
                </a:r>
                <a:endParaRPr lang="ar-AE" dirty="0"/>
              </a:p>
              <a:p>
                <a:pPr lvl="0"/>
                <a:r>
                  <a:rPr lang="nl-BE" dirty="0"/>
                  <a:t>Reden: </a:t>
                </a:r>
                <a14:m>
                  <m:oMath xmlns:m="http://schemas.openxmlformats.org/officeDocument/2006/math">
                    <m:r>
                      <a:rPr lang="nl-BE">
                        <a:latin typeface="Cambria Math" panose="02040503050406030204" pitchFamily="18" charset="0"/>
                      </a:rPr>
                      <m:t>1</m:t>
                    </m:r>
                    <m:r>
                      <a:rPr lang="nl-BE" b="0" i="0" smtClean="0">
                        <a:latin typeface="Cambria Math" panose="02040503050406030204" pitchFamily="18" charset="0"/>
                      </a:rPr>
                      <m:t>,000</m:t>
                    </m:r>
                    <m:r>
                      <a:rPr lang="nl-BE">
                        <a:latin typeface="Cambria Math" panose="02040503050406030204" pitchFamily="18" charset="0"/>
                      </a:rPr>
                      <m:t> </m:t>
                    </m:r>
                    <m:r>
                      <m:rPr>
                        <m:sty m:val="p"/>
                      </m:rPr>
                      <a:rPr lang="nl-BE">
                        <a:latin typeface="Cambria Math" panose="02040503050406030204" pitchFamily="18" charset="0"/>
                      </a:rPr>
                      <m:t>km</m:t>
                    </m:r>
                    <m:r>
                      <a:rPr lang="nl-BE">
                        <a:latin typeface="Cambria Math" panose="02040503050406030204" pitchFamily="18" charset="0"/>
                      </a:rPr>
                      <m:t>=1000 </m:t>
                    </m:r>
                    <m:r>
                      <m:rPr>
                        <m:sty m:val="p"/>
                      </m:rPr>
                      <a:rPr lang="nl-BE">
                        <a:latin typeface="Cambria Math" panose="02040503050406030204" pitchFamily="18" charset="0"/>
                      </a:rPr>
                      <m:t>m</m:t>
                    </m:r>
                  </m:oMath>
                </a14:m>
                <a:r>
                  <a:rPr lang="nl-BE" dirty="0"/>
                  <a:t> </a:t>
                </a:r>
                <a:r>
                  <a:rPr lang="nl-BE" dirty="0" err="1"/>
                  <a:t>en</a:t>
                </a:r>
                <a:r>
                  <a:rPr lang="nl-BE" dirty="0"/>
                  <a:t> </a:t>
                </a:r>
                <a14:m>
                  <m:oMath xmlns:m="http://schemas.openxmlformats.org/officeDocument/2006/math">
                    <m:r>
                      <a:rPr lang="nl-BE">
                        <a:latin typeface="Cambria Math" panose="02040503050406030204" pitchFamily="18" charset="0"/>
                      </a:rPr>
                      <m:t>1</m:t>
                    </m:r>
                    <m:r>
                      <a:rPr lang="nl-BE" b="0" i="0" smtClean="0">
                        <a:latin typeface="Cambria Math" panose="02040503050406030204" pitchFamily="18" charset="0"/>
                      </a:rPr>
                      <m:t>,000</m:t>
                    </m:r>
                    <m:r>
                      <a:rPr lang="nl-BE">
                        <a:latin typeface="Cambria Math" panose="02040503050406030204" pitchFamily="18" charset="0"/>
                      </a:rPr>
                      <m:t> </m:t>
                    </m:r>
                    <m:r>
                      <m:rPr>
                        <m:sty m:val="p"/>
                      </m:rPr>
                      <a:rPr lang="nl-BE">
                        <a:latin typeface="Cambria Math" panose="02040503050406030204" pitchFamily="18" charset="0"/>
                      </a:rPr>
                      <m:t>h</m:t>
                    </m:r>
                    <m:r>
                      <a:rPr lang="nl-BE">
                        <a:latin typeface="Cambria Math" panose="02040503050406030204" pitchFamily="18" charset="0"/>
                      </a:rPr>
                      <m:t>=3600 </m:t>
                    </m:r>
                    <m:r>
                      <m:rPr>
                        <m:sty m:val="p"/>
                      </m:rPr>
                      <a:rPr lang="nl-BE">
                        <a:latin typeface="Cambria Math" panose="02040503050406030204" pitchFamily="18" charset="0"/>
                      </a:rPr>
                      <m:t>s</m:t>
                    </m:r>
                  </m:oMath>
                </a14:m>
                <a:r>
                  <a:rPr lang="nl-BE" dirty="0"/>
                  <a:t>.</a:t>
                </a:r>
                <a:endParaRP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02" y="18255"/>
            <a:ext cx="11943761" cy="1325563"/>
          </a:xfrm>
        </p:spPr>
        <p:txBody>
          <a:bodyPr>
            <a:normAutofit fontScale="90000"/>
          </a:bodyPr>
          <a:lstStyle/>
          <a:p>
            <a:pPr marL="0" lvl="0" indent="0">
              <a:buNone/>
            </a:pPr>
            <a:r>
              <a:rPr dirty="0" err="1"/>
              <a:t>Voorbeeld</a:t>
            </a:r>
            <a:r>
              <a:rPr lang="nl-BE" dirty="0"/>
              <a:t>oefening</a:t>
            </a:r>
            <a:r>
              <a:rPr dirty="0"/>
              <a:t> — </a:t>
            </a:r>
            <a:r>
              <a:rPr dirty="0" err="1"/>
              <a:t>Fietser</a:t>
            </a:r>
            <a:r>
              <a:rPr dirty="0"/>
              <a:t> op </a:t>
            </a:r>
            <a:r>
              <a:rPr dirty="0" err="1"/>
              <a:t>rechte</a:t>
            </a:r>
            <a:r>
              <a:rPr dirty="0"/>
              <a:t> </a:t>
            </a:r>
            <a:r>
              <a:rPr dirty="0" err="1"/>
              <a:t>baan</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pPr lvl="0"/>
                <a:r>
                  <a:rPr lang="nl-BE" dirty="0"/>
                  <a:t>Situatie: </a:t>
                </a:r>
                <a:r>
                  <a:rPr lang="nl-BE" dirty="0" err="1"/>
                  <a:t>beweging</a:t>
                </a:r>
                <a:r>
                  <a:rPr lang="nl-BE" dirty="0"/>
                  <a:t> steeds in </a:t>
                </a:r>
                <a:r>
                  <a:rPr lang="nl-BE" b="1" dirty="0" err="1"/>
                  <a:t>dezelfde</a:t>
                </a:r>
                <a:r>
                  <a:rPr lang="nl-BE" b="1" dirty="0"/>
                  <a:t> </a:t>
                </a:r>
                <a:r>
                  <a:rPr lang="nl-BE" b="1" dirty="0" err="1"/>
                  <a:t>richting</a:t>
                </a:r>
                <a:r>
                  <a:rPr lang="nl-BE" b="1" dirty="0"/>
                  <a:t> </a:t>
                </a:r>
                <a:r>
                  <a:rPr lang="nl-BE" b="1" dirty="0" err="1"/>
                  <a:t>en</a:t>
                </a:r>
                <a:r>
                  <a:rPr lang="nl-BE" b="1" dirty="0"/>
                  <a:t> zin</a:t>
                </a:r>
                <a:r>
                  <a:rPr lang="nl-BE" dirty="0"/>
                  <a:t>.</a:t>
                </a:r>
                <a:br>
                  <a:rPr lang="nl-BE" dirty="0"/>
                </a:br>
                <a:endParaRPr lang="nl-BE" dirty="0"/>
              </a:p>
              <a:p>
                <a:pPr lvl="1"/>
                <a:r>
                  <a:rPr lang="nl-BE" dirty="0"/>
                  <a:t>Fase 1: </a:t>
                </a:r>
                <a14:m>
                  <m:oMath xmlns:m="http://schemas.openxmlformats.org/officeDocument/2006/math">
                    <m:r>
                      <a:rPr lang="nl-BE">
                        <a:latin typeface="Cambria Math" panose="02040503050406030204" pitchFamily="18" charset="0"/>
                      </a:rPr>
                      <m:t>10 </m:t>
                    </m:r>
                    <m:r>
                      <m:rPr>
                        <m:sty m:val="p"/>
                      </m:rPr>
                      <a:rPr lang="nl-BE">
                        <a:latin typeface="Cambria Math" panose="02040503050406030204" pitchFamily="18" charset="0"/>
                      </a:rPr>
                      <m:t>s</m:t>
                    </m:r>
                  </m:oMath>
                </a14:m>
                <a:r>
                  <a:rPr lang="nl-BE" dirty="0"/>
                  <a:t> met </a:t>
                </a:r>
                <a14:m>
                  <m:oMath xmlns:m="http://schemas.openxmlformats.org/officeDocument/2006/math">
                    <m:r>
                      <a:rPr lang="nl-BE">
                        <a:latin typeface="Cambria Math" panose="02040503050406030204" pitchFamily="18" charset="0"/>
                      </a:rPr>
                      <m:t>5,0 </m:t>
                    </m:r>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oMath>
                </a14:m>
                <a:r>
                  <a:rPr lang="ar-AE" dirty="0"/>
                  <a:t>.</a:t>
                </a:r>
                <a:br>
                  <a:rPr lang="ar-AE" dirty="0"/>
                </a:br>
                <a:endParaRPr lang="ar-AE" dirty="0"/>
              </a:p>
              <a:p>
                <a:pPr lvl="1"/>
                <a:r>
                  <a:rPr lang="nl-BE" dirty="0"/>
                  <a:t>Fase 2: </a:t>
                </a:r>
                <a14:m>
                  <m:oMath xmlns:m="http://schemas.openxmlformats.org/officeDocument/2006/math">
                    <m:r>
                      <a:rPr lang="nl-BE">
                        <a:latin typeface="Cambria Math" panose="02040503050406030204" pitchFamily="18" charset="0"/>
                      </a:rPr>
                      <m:t>15 </m:t>
                    </m:r>
                    <m:r>
                      <m:rPr>
                        <m:sty m:val="p"/>
                      </m:rPr>
                      <a:rPr lang="nl-BE">
                        <a:latin typeface="Cambria Math" panose="02040503050406030204" pitchFamily="18" charset="0"/>
                      </a:rPr>
                      <m:t>s</m:t>
                    </m:r>
                  </m:oMath>
                </a14:m>
                <a:r>
                  <a:rPr lang="nl-BE" dirty="0"/>
                  <a:t> met </a:t>
                </a:r>
                <a14:m>
                  <m:oMath xmlns:m="http://schemas.openxmlformats.org/officeDocument/2006/math">
                    <m:r>
                      <a:rPr lang="nl-BE">
                        <a:latin typeface="Cambria Math" panose="02040503050406030204" pitchFamily="18" charset="0"/>
                      </a:rPr>
                      <m:t>12 </m:t>
                    </m:r>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oMath>
                </a14:m>
                <a:r>
                  <a:rPr lang="ar-AE" dirty="0"/>
                  <a:t>.</a:t>
                </a:r>
              </a:p>
              <a:p>
                <a:pPr lvl="0"/>
                <a:r>
                  <a:rPr lang="nl-BE" dirty="0" err="1"/>
                  <a:t>Afstanden</a:t>
                </a:r>
                <a:r>
                  <a:rPr lang="nl-BE" dirty="0"/>
                  <a:t>:</a:t>
                </a:r>
              </a:p>
              <a:p>
                <a:pPr marL="0" lvl="0" indent="0">
                  <a:buNone/>
                </a:pPr>
                <a14:m>
                  <m:oMathPara xmlns:m="http://schemas.openxmlformats.org/officeDocument/2006/math">
                    <m:oMathParaPr>
                      <m:jc m:val="center"/>
                    </m:oMathParaPr>
                    <m:oMath>
                      <m:r>
                        <a:rPr lang="nl-BE">
                          <a:latin typeface="Cambria Math" panose="02040503050406030204" pitchFamily="18" charset="0"/>
                        </a:rPr>
                        <m:t>𝛥</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=5,0⋅10=50 </m:t>
                      </m:r>
                      <m:r>
                        <m:rPr>
                          <m:sty m:val="p"/>
                        </m:rPr>
                        <a:rPr lang="nl-BE">
                          <a:latin typeface="Cambria Math" panose="02040503050406030204" pitchFamily="18" charset="0"/>
                        </a:rPr>
                        <m:t>m</m:t>
                      </m:r>
                      <m:r>
                        <a:rPr lang="nl-BE">
                          <a:latin typeface="Cambria Math" panose="02040503050406030204" pitchFamily="18" charset="0"/>
                        </a:rPr>
                        <m:t>,  </m:t>
                      </m:r>
                      <m:r>
                        <a:rPr lang="nl-BE">
                          <a:latin typeface="Cambria Math" panose="02040503050406030204" pitchFamily="18" charset="0"/>
                        </a:rPr>
                        <m:t>𝛥</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=12⋅15=180 </m:t>
                      </m:r>
                      <m:r>
                        <m:rPr>
                          <m:sty m:val="p"/>
                        </m:rPr>
                        <a:rPr lang="nl-BE">
                          <a:latin typeface="Cambria Math" panose="02040503050406030204" pitchFamily="18" charset="0"/>
                        </a:rPr>
                        <m:t>m</m:t>
                      </m:r>
                    </m:oMath>
                  </m:oMathPara>
                </a14:m>
                <a:endParaRPr lang="nl-BE" dirty="0"/>
              </a:p>
              <a:p>
                <a:pPr lvl="0"/>
                <a:r>
                  <a:rPr lang="nl-BE" b="1" dirty="0" err="1"/>
                  <a:t>Gemiddelde</a:t>
                </a:r>
                <a:r>
                  <a:rPr lang="nl-BE" b="1" dirty="0"/>
                  <a:t> </a:t>
                </a:r>
                <a:r>
                  <a:rPr lang="nl-BE" b="1" dirty="0" err="1"/>
                  <a:t>snelheid</a:t>
                </a:r>
                <a:r>
                  <a:rPr lang="nl-BE" dirty="0"/>
                  <a:t> over </a:t>
                </a:r>
                <a14:m>
                  <m:oMath xmlns:m="http://schemas.openxmlformats.org/officeDocument/2006/math">
                    <m:r>
                      <a:rPr lang="nl-BE">
                        <a:latin typeface="Cambria Math" panose="02040503050406030204" pitchFamily="18" charset="0"/>
                      </a:rPr>
                      <m:t>25 </m:t>
                    </m:r>
                    <m:r>
                      <m:rPr>
                        <m:sty m:val="p"/>
                      </m:rPr>
                      <a:rPr lang="nl-BE">
                        <a:latin typeface="Cambria Math" panose="02040503050406030204" pitchFamily="18" charset="0"/>
                      </a:rPr>
                      <m:t>s</m:t>
                    </m:r>
                  </m:oMath>
                </a14:m>
                <a:r>
                  <a:rPr lang="nl-BE" dirty="0"/>
                  <a:t>:</a:t>
                </a:r>
                <a:br>
                  <a:rPr lang="nl-BE" dirty="0"/>
                </a:br>
                <a:endParaRPr lang="nl-BE" dirty="0"/>
              </a:p>
              <a:p>
                <a:pPr marL="0" indent="0">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𝑣</m:t>
                          </m:r>
                        </m:e>
                        <m:sub>
                          <m:r>
                            <m:rPr>
                              <m:nor/>
                            </m:rPr>
                            <a:rPr lang="nl-BE" i="0"/>
                            <m:t>gem</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𝛥</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𝛥</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2</m:t>
                              </m:r>
                            </m:sub>
                          </m:sSub>
                        </m:num>
                        <m:den>
                          <m:r>
                            <a:rPr lang="ar-AE">
                              <a:latin typeface="Cambria Math" panose="02040503050406030204" pitchFamily="18" charset="0"/>
                            </a:rPr>
                            <m:t>𝛥</m:t>
                          </m:r>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𝛥</m:t>
                          </m:r>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2</m:t>
                              </m:r>
                            </m:sub>
                          </m:sSub>
                        </m:den>
                      </m:f>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50+180</m:t>
                          </m:r>
                        </m:num>
                        <m:den>
                          <m:r>
                            <a:rPr lang="ar-AE">
                              <a:latin typeface="Cambria Math" panose="02040503050406030204" pitchFamily="18" charset="0"/>
                            </a:rPr>
                            <m:t>10+15</m:t>
                          </m:r>
                        </m:den>
                      </m:f>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230</m:t>
                          </m:r>
                        </m:num>
                        <m:den>
                          <m:r>
                            <a:rPr lang="ar-AE">
                              <a:latin typeface="Cambria Math" panose="02040503050406030204" pitchFamily="18" charset="0"/>
                            </a:rPr>
                            <m:t>25</m:t>
                          </m:r>
                        </m:den>
                      </m:f>
                      <m:r>
                        <a:rPr lang="ar-AE">
                          <a:latin typeface="Cambria Math" panose="02040503050406030204" pitchFamily="18" charset="0"/>
                        </a:rPr>
                        <m:t>=9,2 </m:t>
                      </m:r>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oMath>
                  </m:oMathPara>
                </a14:m>
                <a:endParaRPr lang="ar-AE" dirty="0"/>
              </a:p>
              <a:p>
                <a:pPr lvl="0"/>
                <a:r>
                  <a:rPr lang="nl-BE" b="1" dirty="0" err="1"/>
                  <a:t>Ogenblikkelijke</a:t>
                </a:r>
                <a:r>
                  <a:rPr lang="nl-BE" b="1" dirty="0"/>
                  <a:t> </a:t>
                </a:r>
                <a:r>
                  <a:rPr lang="nl-BE" b="1" dirty="0" err="1"/>
                  <a:t>snelheid</a:t>
                </a:r>
                <a:r>
                  <a:rPr lang="nl-BE" dirty="0"/>
                  <a:t> </a:t>
                </a:r>
                <a:r>
                  <a:rPr lang="nl-BE" dirty="0" err="1"/>
                  <a:t>na</a:t>
                </a:r>
                <a:r>
                  <a:rPr lang="nl-BE" dirty="0"/>
                  <a:t> </a:t>
                </a:r>
                <a14:m>
                  <m:oMath xmlns:m="http://schemas.openxmlformats.org/officeDocument/2006/math">
                    <m:r>
                      <a:rPr lang="nl-BE">
                        <a:latin typeface="Cambria Math" panose="02040503050406030204" pitchFamily="18" charset="0"/>
                      </a:rPr>
                      <m:t>14 </m:t>
                    </m:r>
                    <m:r>
                      <m:rPr>
                        <m:sty m:val="p"/>
                      </m:rPr>
                      <a:rPr lang="nl-BE">
                        <a:latin typeface="Cambria Math" panose="02040503050406030204" pitchFamily="18" charset="0"/>
                      </a:rPr>
                      <m:t>s</m:t>
                    </m:r>
                  </m:oMath>
                </a14:m>
                <a:r>
                  <a:rPr lang="nl-BE" dirty="0"/>
                  <a:t>:</a:t>
                </a:r>
              </a:p>
              <a:p>
                <a:pPr marL="0" lvl="0" indent="0">
                  <a:buNone/>
                </a:pPr>
                <a14:m>
                  <m:oMath xmlns:m="http://schemas.openxmlformats.org/officeDocument/2006/math">
                    <m:r>
                      <a:rPr lang="nl-BE">
                        <a:latin typeface="Cambria Math" panose="02040503050406030204" pitchFamily="18" charset="0"/>
                      </a:rPr>
                      <m:t>𝑣</m:t>
                    </m:r>
                    <m:d>
                      <m:dPr>
                        <m:ctrlPr>
                          <a:rPr lang="ar-AE">
                            <a:latin typeface="Cambria Math" panose="02040503050406030204" pitchFamily="18" charset="0"/>
                          </a:rPr>
                        </m:ctrlPr>
                      </m:dPr>
                      <m:e>
                        <m:r>
                          <a:rPr lang="ar-AE">
                            <a:latin typeface="Cambria Math" panose="02040503050406030204" pitchFamily="18" charset="0"/>
                          </a:rPr>
                          <m:t>14 </m:t>
                        </m:r>
                        <m:r>
                          <m:rPr>
                            <m:sty m:val="p"/>
                          </m:rPr>
                          <a:rPr lang="nl-BE">
                            <a:latin typeface="Cambria Math" panose="02040503050406030204" pitchFamily="18" charset="0"/>
                          </a:rPr>
                          <m:t>s</m:t>
                        </m:r>
                      </m:e>
                    </m:d>
                    <m:r>
                      <a:rPr lang="ar-AE">
                        <a:latin typeface="Cambria Math" panose="02040503050406030204" pitchFamily="18" charset="0"/>
                      </a:rPr>
                      <m:t>=12 </m:t>
                    </m:r>
                    <m:r>
                      <m:rPr>
                        <m:sty m:val="p"/>
                      </m:rPr>
                      <a:rPr lang="nl-BE">
                        <a:latin typeface="Cambria Math" panose="02040503050406030204" pitchFamily="18" charset="0"/>
                      </a:rPr>
                      <m:t>m</m:t>
                    </m:r>
                    <m:r>
                      <a:rPr lang="nl-BE">
                        <a:latin typeface="Cambria Math" panose="02040503050406030204" pitchFamily="18" charset="0"/>
                      </a:rPr>
                      <m:t> </m:t>
                    </m:r>
                    <m:sSup>
                      <m:sSupPr>
                        <m:ctrlPr>
                          <a:rPr lang="nl-BE">
                            <a:latin typeface="Cambria Math" panose="02040503050406030204" pitchFamily="18" charset="0"/>
                          </a:rPr>
                        </m:ctrlPr>
                      </m:sSupPr>
                      <m:e>
                        <m:r>
                          <m:rPr>
                            <m:sty m:val="p"/>
                          </m:rPr>
                          <a:rPr lang="nl-BE">
                            <a:latin typeface="Cambria Math" panose="02040503050406030204" pitchFamily="18" charset="0"/>
                          </a:rPr>
                          <m:t>s</m:t>
                        </m:r>
                      </m:e>
                      <m:sup>
                        <m:r>
                          <a:rPr lang="ar-AE">
                            <a:latin typeface="Cambria Math" panose="02040503050406030204" pitchFamily="18" charset="0"/>
                          </a:rPr>
                          <m:t>−1</m:t>
                        </m:r>
                      </m:sup>
                    </m:sSup>
                  </m:oMath>
                </a14:m>
                <a:r>
                  <a:rPr lang="ar-AE" dirty="0"/>
                  <a:t>(</a:t>
                </a:r>
                <a:r>
                  <a:rPr lang="nl-BE" dirty="0"/>
                  <a:t>    je zit in fase 2).</a:t>
                </a:r>
                <a:endParaRPr lang="nl-N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692" y="93669"/>
            <a:ext cx="11758615" cy="1325563"/>
          </a:xfrm>
        </p:spPr>
        <p:txBody>
          <a:bodyPr>
            <a:normAutofit fontScale="90000"/>
          </a:bodyPr>
          <a:lstStyle/>
          <a:p>
            <a:pPr lvl="0"/>
            <a:r>
              <a:rPr lang="nl-NL" dirty="0"/>
              <a:t>Voorbeeldoefening — Fietser op rechte baan: </a:t>
            </a:r>
            <a:r>
              <a:rPr dirty="0" err="1"/>
              <a:t>Grafische</a:t>
            </a:r>
            <a:r>
              <a:rPr dirty="0"/>
              <a:t> </a:t>
            </a:r>
            <a:r>
              <a:rPr dirty="0" err="1"/>
              <a:t>interpretatie</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5988" y="1720890"/>
                <a:ext cx="12011125" cy="5272739"/>
              </a:xfrm>
            </p:spPr>
            <p:txBody>
              <a:bodyPr/>
              <a:lstStyle/>
              <a:p>
                <a:pPr lvl="0"/>
                <a:r>
                  <a:rPr dirty="0"/>
                  <a:t>In </a:t>
                </a:r>
                <a:r>
                  <a:rPr dirty="0" err="1"/>
                  <a:t>een</a:t>
                </a:r>
                <a:r>
                  <a:rPr dirty="0"/>
                  <a:t> </a:t>
                </a:r>
                <a14:m>
                  <m:oMath xmlns:m="http://schemas.openxmlformats.org/officeDocument/2006/math">
                    <m:r>
                      <a:rPr>
                        <a:latin typeface="Cambria Math" panose="02040503050406030204" pitchFamily="18" charset="0"/>
                      </a:rPr>
                      <m:t>𝑣</m:t>
                    </m:r>
                    <m:d>
                      <m:dPr>
                        <m:ctrlPr>
                          <a:rPr>
                            <a:latin typeface="Cambria Math" panose="02040503050406030204" pitchFamily="18" charset="0"/>
                          </a:rPr>
                        </m:ctrlPr>
                      </m:dPr>
                      <m:e>
                        <m:r>
                          <a:rPr>
                            <a:latin typeface="Cambria Math" panose="02040503050406030204" pitchFamily="18" charset="0"/>
                          </a:rPr>
                          <m:t>𝑡</m:t>
                        </m:r>
                      </m:e>
                    </m:d>
                  </m:oMath>
                </a14:m>
                <a:r>
                  <a:rPr dirty="0"/>
                  <a:t>-diagram: twee </a:t>
                </a:r>
                <a:r>
                  <a:rPr b="1" dirty="0" err="1"/>
                  <a:t>horizontale</a:t>
                </a:r>
                <a:r>
                  <a:rPr dirty="0"/>
                  <a:t> </a:t>
                </a:r>
                <a:r>
                  <a:rPr dirty="0" err="1"/>
                  <a:t>stukken</a:t>
                </a:r>
                <a:r>
                  <a:rPr dirty="0"/>
                  <a:t> (</a:t>
                </a:r>
                <a14:m>
                  <m:oMath xmlns:m="http://schemas.openxmlformats.org/officeDocument/2006/math">
                    <m:r>
                      <a:rPr>
                        <a:latin typeface="Cambria Math" panose="02040503050406030204" pitchFamily="18" charset="0"/>
                      </a:rPr>
                      <m:t>𝑣</m:t>
                    </m:r>
                  </m:oMath>
                </a14:m>
                <a:r>
                  <a:rPr dirty="0"/>
                  <a:t> constant per </a:t>
                </a:r>
                <a:r>
                  <a:rPr dirty="0" err="1"/>
                  <a:t>fase</a:t>
                </a:r>
                <a:r>
                  <a:rPr dirty="0"/>
                  <a:t>).</a:t>
                </a:r>
                <a:br>
                  <a:rPr dirty="0"/>
                </a:br>
                <a:endParaRPr dirty="0"/>
              </a:p>
              <a:p>
                <a:pPr lvl="0"/>
                <a:r>
                  <a:rPr dirty="0"/>
                  <a:t>In </a:t>
                </a:r>
                <a:r>
                  <a:rPr dirty="0" err="1"/>
                  <a:t>een</a:t>
                </a:r>
                <a:r>
                  <a:rPr dirty="0"/>
                  <a:t>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-diagram: </a:t>
                </a:r>
                <a:r>
                  <a:rPr dirty="0" err="1"/>
                  <a:t>stukgewijs</a:t>
                </a:r>
                <a:r>
                  <a:rPr dirty="0"/>
                  <a:t> </a:t>
                </a:r>
                <a:r>
                  <a:rPr b="1" dirty="0" err="1"/>
                  <a:t>lineaire</a:t>
                </a:r>
                <a:r>
                  <a:rPr dirty="0"/>
                  <a:t> </a:t>
                </a:r>
                <a:r>
                  <a:rPr dirty="0" err="1"/>
                  <a:t>stukken</a:t>
                </a:r>
                <a:r>
                  <a:rPr dirty="0"/>
                  <a:t> met </a:t>
                </a:r>
                <a:r>
                  <a:rPr b="1" dirty="0" err="1"/>
                  <a:t>verschillende</a:t>
                </a:r>
                <a:r>
                  <a:rPr b="1" dirty="0"/>
                  <a:t> </a:t>
                </a:r>
                <a:r>
                  <a:rPr b="1" dirty="0" err="1"/>
                  <a:t>helling</a:t>
                </a:r>
                <a:r>
                  <a:rPr dirty="0"/>
                  <a:t>.</a:t>
                </a:r>
                <a:br>
                  <a:rPr dirty="0"/>
                </a:br>
                <a:endParaRPr dirty="0"/>
              </a:p>
              <a:p>
                <a:pPr lvl="0"/>
                <a:r>
                  <a:rPr dirty="0"/>
                  <a:t>De </a:t>
                </a:r>
                <a:r>
                  <a:rPr dirty="0" err="1"/>
                  <a:t>helling</a:t>
                </a:r>
                <a:r>
                  <a:rPr dirty="0"/>
                  <a:t> is in </a:t>
                </a:r>
                <a:r>
                  <a:rPr dirty="0" err="1"/>
                  <a:t>fase</a:t>
                </a:r>
                <a:r>
                  <a:rPr dirty="0"/>
                  <a:t> 2 </a:t>
                </a:r>
                <a:r>
                  <a:rPr b="1" dirty="0" err="1"/>
                  <a:t>steiler</a:t>
                </a:r>
                <a:r>
                  <a:rPr dirty="0"/>
                  <a:t> </a:t>
                </a:r>
                <a14:m>
                  <m:oMath xmlns:m="http://schemas.openxmlformats.org/officeDocument/2006/math">
                    <m:r>
                      <a:rPr>
                        <a:latin typeface="Cambria Math" panose="02040503050406030204" pitchFamily="18" charset="0"/>
                      </a:rPr>
                      <m:t>⇒</m:t>
                    </m:r>
                  </m:oMath>
                </a14:m>
                <a:r>
                  <a:rPr dirty="0"/>
                  <a:t> </a:t>
                </a:r>
                <a:r>
                  <a:rPr dirty="0" err="1"/>
                  <a:t>grotere</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oMath>
                </a14:m>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5988" y="1720890"/>
                <a:ext cx="12011125" cy="5272739"/>
              </a:xfrm>
              <a:blipFill>
                <a:blip r:embed="rId3"/>
                <a:stretch>
                  <a:fillRect/>
                </a:stretch>
              </a:blipFill>
            </p:spPr>
            <p:txBody>
              <a:bodyPr/>
              <a:lstStyle/>
              <a:p>
                <a:r>
                  <a:rPr lang="nl-BE">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Check jezelf (juist/fout)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457200" lvl="0" indent="-457200">
                  <a:buAutoNum type="arabicPeriod"/>
                </a:pP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𝑑𝑥</m:t>
                        </m:r>
                      </m:num>
                      <m:den>
                        <m:r>
                          <a:rPr>
                            <a:latin typeface="Cambria Math" panose="02040503050406030204" pitchFamily="18" charset="0"/>
                          </a:rPr>
                          <m:t>𝑑𝑡</m:t>
                        </m:r>
                      </m:den>
                    </m:f>
                  </m:oMath>
                </a14:m>
                <a:r>
                  <a:rPr dirty="0"/>
                  <a:t> is de </a:t>
                </a:r>
                <a:r>
                  <a:rPr dirty="0" err="1"/>
                  <a:t>ogenblikkelijke</a:t>
                </a:r>
                <a:r>
                  <a:rPr dirty="0"/>
                  <a:t> </a:t>
                </a:r>
                <a14:m>
                  <m:oMath xmlns:m="http://schemas.openxmlformats.org/officeDocument/2006/math">
                    <m:r>
                      <a:rPr>
                        <a:latin typeface="Cambria Math" panose="02040503050406030204" pitchFamily="18" charset="0"/>
                      </a:rPr>
                      <m:t>𝑥</m:t>
                    </m:r>
                  </m:oMath>
                </a14:m>
                <a:r>
                  <a:rPr dirty="0"/>
                  <a:t>-component van de </a:t>
                </a:r>
                <a:r>
                  <a:rPr dirty="0" err="1"/>
                  <a:t>snelheid</a:t>
                </a:r>
                <a:r>
                  <a:rPr dirty="0"/>
                  <a:t>.</a:t>
                </a:r>
                <a:br>
                  <a:rPr dirty="0"/>
                </a:br>
                <a:endParaRPr dirty="0"/>
              </a:p>
              <a:p>
                <a:pPr marL="457200" lvl="0" indent="-457200">
                  <a:buAutoNum type="arabicPeriod"/>
                </a:pPr>
                <a:r>
                  <a:rPr dirty="0"/>
                  <a:t>De </a:t>
                </a:r>
                <a:r>
                  <a:rPr dirty="0" err="1"/>
                  <a:t>grootte</a:t>
                </a:r>
                <a:r>
                  <a:rPr dirty="0"/>
                  <a:t> </a:t>
                </a:r>
                <a14:m>
                  <m:oMath xmlns:m="http://schemas.openxmlformats.org/officeDocument/2006/math">
                    <m:r>
                      <a:rPr>
                        <a:latin typeface="Cambria Math" panose="02040503050406030204" pitchFamily="18" charset="0"/>
                      </a:rPr>
                      <m:t>𝑣</m:t>
                    </m:r>
                  </m:oMath>
                </a14:m>
                <a:r>
                  <a:rPr dirty="0"/>
                  <a:t> </a:t>
                </a:r>
                <a:r>
                  <a:rPr dirty="0" err="1"/>
                  <a:t>kan</a:t>
                </a:r>
                <a:r>
                  <a:rPr dirty="0"/>
                  <a:t> </a:t>
                </a:r>
                <a:r>
                  <a:rPr dirty="0" err="1"/>
                  <a:t>negatief</a:t>
                </a:r>
                <a:r>
                  <a:rPr dirty="0"/>
                  <a:t> </a:t>
                </a:r>
                <a:r>
                  <a:rPr dirty="0" err="1"/>
                  <a:t>zijn</a:t>
                </a:r>
                <a:r>
                  <a:rPr dirty="0"/>
                  <a:t>.</a:t>
                </a:r>
                <a:br>
                  <a:rPr dirty="0"/>
                </a:br>
                <a:endParaRPr dirty="0"/>
              </a:p>
              <a:p>
                <a:pPr marL="457200" lvl="0" indent="-457200">
                  <a:buAutoNum type="arabicPeriod"/>
                </a:pPr>
                <a:r>
                  <a:rPr dirty="0"/>
                  <a:t>De </a:t>
                </a:r>
                <a:r>
                  <a:rPr dirty="0" err="1"/>
                  <a:t>helling</a:t>
                </a:r>
                <a:r>
                  <a:rPr dirty="0"/>
                  <a:t> van de </a:t>
                </a:r>
                <a:r>
                  <a:rPr dirty="0" err="1"/>
                  <a:t>raaklijn</a:t>
                </a:r>
                <a:r>
                  <a:rPr dirty="0"/>
                  <a:t> </a:t>
                </a:r>
                <a:r>
                  <a:rPr dirty="0" err="1"/>
                  <a:t>aan</a:t>
                </a:r>
                <a:r>
                  <a:rPr dirty="0"/>
                  <a:t>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op</a:t>
                </a:r>
                <a:r>
                  <a:rPr lang="nl-BE" dirty="0"/>
                  <a:t> tijdstip</a:t>
                </a:r>
                <a:r>
                  <a:rPr dirty="0"/>
                  <a:t> </a:t>
                </a:r>
                <a14:m>
                  <m:oMath xmlns:m="http://schemas.openxmlformats.org/officeDocument/2006/math">
                    <m:r>
                      <a:rPr>
                        <a:latin typeface="Cambria Math" panose="02040503050406030204" pitchFamily="18" charset="0"/>
                      </a:rPr>
                      <m:t>𝑡</m:t>
                    </m:r>
                  </m:oMath>
                </a14:m>
                <a:r>
                  <a:rPr dirty="0"/>
                  <a:t> is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d>
                      <m:dPr>
                        <m:ctrlPr>
                          <a:rPr>
                            <a:latin typeface="Cambria Math" panose="02040503050406030204" pitchFamily="18" charset="0"/>
                          </a:rPr>
                        </m:ctrlPr>
                      </m:dPr>
                      <m:e>
                        <m:r>
                          <a:rPr>
                            <a:latin typeface="Cambria Math" panose="02040503050406030204" pitchFamily="18" charset="0"/>
                          </a:rPr>
                          <m:t>𝑡</m:t>
                        </m:r>
                      </m:e>
                    </m:d>
                  </m:oMath>
                </a14:m>
                <a:r>
                  <a:rPr dirty="0"/>
                  <a:t>.</a:t>
                </a:r>
                <a:br>
                  <a:rPr dirty="0"/>
                </a:br>
                <a:endParaRPr dirty="0"/>
              </a:p>
              <a:p>
                <a:pPr marL="457200" lvl="0" indent="-457200">
                  <a:buAutoNum type="arabicPeriod"/>
                </a:pPr>
                <a14:m>
                  <m:oMath xmlns:m="http://schemas.openxmlformats.org/officeDocument/2006/math">
                    <m:r>
                      <a:rPr>
                        <a:latin typeface="Cambria Math" panose="02040503050406030204" pitchFamily="18" charset="0"/>
                      </a:rPr>
                      <m:t>9 </m:t>
                    </m:r>
                    <m:r>
                      <m:rPr>
                        <m:sty m:val="p"/>
                      </m:rPr>
                      <a:rPr>
                        <a:latin typeface="Cambria Math" panose="02040503050406030204" pitchFamily="18" charset="0"/>
                      </a:rPr>
                      <m:t>m</m:t>
                    </m:r>
                    <m:r>
                      <a:rPr>
                        <a:latin typeface="Cambria Math" panose="02040503050406030204" pitchFamily="18" charset="0"/>
                      </a:rPr>
                      <m:t> </m:t>
                    </m:r>
                    <m:sSup>
                      <m:sSupPr>
                        <m:ctrlPr>
                          <a:rPr>
                            <a:latin typeface="Cambria Math" panose="02040503050406030204" pitchFamily="18" charset="0"/>
                          </a:rPr>
                        </m:ctrlPr>
                      </m:sSupPr>
                      <m:e>
                        <m:r>
                          <m:rPr>
                            <m:sty m:val="p"/>
                          </m:rPr>
                          <a:rPr>
                            <a:latin typeface="Cambria Math" panose="02040503050406030204" pitchFamily="18" charset="0"/>
                          </a:rPr>
                          <m:t>s</m:t>
                        </m:r>
                      </m:e>
                      <m:sup>
                        <m:r>
                          <a:rPr>
                            <a:latin typeface="Cambria Math" panose="02040503050406030204" pitchFamily="18" charset="0"/>
                          </a:rPr>
                          <m:t>−1</m:t>
                        </m:r>
                      </m:sup>
                    </m:sSup>
                  </m:oMath>
                </a14:m>
                <a:r>
                  <a:rPr dirty="0"/>
                  <a:t> is </a:t>
                </a:r>
                <a:r>
                  <a:rPr dirty="0" err="1"/>
                  <a:t>hetzelfde</a:t>
                </a:r>
                <a:r>
                  <a:rPr dirty="0"/>
                  <a:t> </a:t>
                </a:r>
                <a:r>
                  <a:rPr dirty="0" err="1"/>
                  <a:t>als</a:t>
                </a:r>
                <a:r>
                  <a:rPr dirty="0"/>
                  <a:t> </a:t>
                </a:r>
                <a14:m>
                  <m:oMath xmlns:m="http://schemas.openxmlformats.org/officeDocument/2006/math">
                    <m:r>
                      <a:rPr>
                        <a:latin typeface="Cambria Math" panose="02040503050406030204" pitchFamily="18" charset="0"/>
                      </a:rPr>
                      <m:t>36 </m:t>
                    </m:r>
                    <m:r>
                      <m:rPr>
                        <m:sty m:val="p"/>
                      </m:rPr>
                      <a:rPr>
                        <a:latin typeface="Cambria Math" panose="02040503050406030204" pitchFamily="18" charset="0"/>
                      </a:rPr>
                      <m:t>km</m:t>
                    </m:r>
                    <m:r>
                      <a:rPr>
                        <a:latin typeface="Cambria Math" panose="02040503050406030204" pitchFamily="18" charset="0"/>
                      </a:rPr>
                      <m:t> </m:t>
                    </m:r>
                    <m:sSup>
                      <m:sSupPr>
                        <m:ctrlPr>
                          <a:rPr>
                            <a:latin typeface="Cambria Math" panose="02040503050406030204" pitchFamily="18" charset="0"/>
                          </a:rPr>
                        </m:ctrlPr>
                      </m:sSupPr>
                      <m:e>
                        <m:r>
                          <m:rPr>
                            <m:sty m:val="p"/>
                          </m:rPr>
                          <a:rPr>
                            <a:latin typeface="Cambria Math" panose="02040503050406030204" pitchFamily="18" charset="0"/>
                          </a:rPr>
                          <m:t>h</m:t>
                        </m:r>
                      </m:e>
                      <m:sup>
                        <m:r>
                          <a:rPr>
                            <a:latin typeface="Cambria Math" panose="02040503050406030204" pitchFamily="18" charset="0"/>
                          </a:rPr>
                          <m:t>−1</m:t>
                        </m:r>
                      </m:sup>
                    </m:sSup>
                  </m:oMath>
                </a14:m>
                <a:r>
                  <a:rPr dirty="0"/>
                  <a:t>.</a:t>
                </a:r>
                <a:br>
                  <a:rPr dirty="0"/>
                </a:br>
                <a:endParaRPr dirty="0"/>
              </a:p>
              <a:p>
                <a:pPr marL="457200" lvl="0" indent="-457200">
                  <a:buAutoNum type="arabicPeriod"/>
                </a:pPr>
                <a:r>
                  <a:rPr dirty="0"/>
                  <a:t>Als de </a:t>
                </a:r>
                <a:r>
                  <a:rPr dirty="0" err="1"/>
                  <a:t>helling</a:t>
                </a:r>
                <a:r>
                  <a:rPr dirty="0"/>
                  <a:t> in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a:t>
                </a:r>
                <a:r>
                  <a:rPr dirty="0" err="1"/>
                  <a:t>daalt</a:t>
                </a:r>
                <a:r>
                  <a:rPr dirty="0"/>
                  <a:t>, </a:t>
                </a:r>
                <a:r>
                  <a:rPr dirty="0" err="1"/>
                  <a:t>beweegt</a:t>
                </a:r>
                <a:r>
                  <a:rPr dirty="0"/>
                  <a:t> het </a:t>
                </a:r>
                <a:r>
                  <a:rPr dirty="0" err="1"/>
                  <a:t>voorwerp</a:t>
                </a:r>
                <a:r>
                  <a:rPr dirty="0"/>
                  <a:t> </a:t>
                </a:r>
                <a:r>
                  <a:rPr dirty="0" err="1"/>
                  <a:t>altijd</a:t>
                </a:r>
                <a:r>
                  <a:rPr dirty="0"/>
                  <a:t> </a:t>
                </a:r>
                <a:r>
                  <a:rPr lang="nl-BE" dirty="0"/>
                  <a:t>volledig </a:t>
                </a:r>
                <a:r>
                  <a:rPr dirty="0" err="1"/>
                  <a:t>terug</a:t>
                </a:r>
                <a:r>
                  <a:rPr dirty="0"/>
                  <a:t> </a:t>
                </a:r>
                <a:r>
                  <a:rPr dirty="0" err="1"/>
                  <a:t>naar</a:t>
                </a:r>
                <a:r>
                  <a:rPr dirty="0"/>
                  <a:t> het </a:t>
                </a:r>
                <a:r>
                  <a:rPr dirty="0" err="1"/>
                  <a:t>beginpunt</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0798A-5672-CA1B-0C82-B32B1ADDE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D0971-AF23-7C14-581B-9373178D03FE}"/>
              </a:ext>
            </a:extLst>
          </p:cNvPr>
          <p:cNvSpPr>
            <a:spLocks noGrp="1"/>
          </p:cNvSpPr>
          <p:nvPr>
            <p:ph type="title"/>
          </p:nvPr>
        </p:nvSpPr>
        <p:spPr/>
        <p:txBody>
          <a:bodyPr/>
          <a:lstStyle/>
          <a:p>
            <a:pPr marL="0" lvl="0" indent="0">
              <a:buNone/>
            </a:pPr>
            <a:r>
              <a:t>Check jezelf (juist/fout)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24CF1E-9962-7516-2DC8-DAAB50735811}"/>
                  </a:ext>
                </a:extLst>
              </p:cNvPr>
              <p:cNvSpPr>
                <a:spLocks noGrp="1"/>
              </p:cNvSpPr>
              <p:nvPr>
                <p:ph idx="1"/>
              </p:nvPr>
            </p:nvSpPr>
            <p:spPr/>
            <p:txBody>
              <a:bodyPr>
                <a:normAutofit fontScale="85000" lnSpcReduction="20000"/>
              </a:bodyPr>
              <a:lstStyle/>
              <a:p>
                <a:pPr marL="457200" lvl="0" indent="-457200">
                  <a:buAutoNum type="arabicPeriod"/>
                </a:pP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𝑑𝑥</m:t>
                        </m:r>
                      </m:num>
                      <m:den>
                        <m:r>
                          <a:rPr>
                            <a:latin typeface="Cambria Math" panose="02040503050406030204" pitchFamily="18" charset="0"/>
                          </a:rPr>
                          <m:t>𝑑𝑡</m:t>
                        </m:r>
                      </m:den>
                    </m:f>
                  </m:oMath>
                </a14:m>
                <a:r>
                  <a:rPr dirty="0"/>
                  <a:t> is de </a:t>
                </a:r>
                <a:r>
                  <a:rPr dirty="0" err="1"/>
                  <a:t>ogenblikkelijke</a:t>
                </a:r>
                <a:r>
                  <a:rPr dirty="0"/>
                  <a:t> </a:t>
                </a:r>
                <a14:m>
                  <m:oMath xmlns:m="http://schemas.openxmlformats.org/officeDocument/2006/math">
                    <m:r>
                      <a:rPr>
                        <a:latin typeface="Cambria Math" panose="02040503050406030204" pitchFamily="18" charset="0"/>
                      </a:rPr>
                      <m:t>𝑥</m:t>
                    </m:r>
                  </m:oMath>
                </a14:m>
                <a:r>
                  <a:rPr dirty="0"/>
                  <a:t>-component van de </a:t>
                </a:r>
                <a:r>
                  <a:rPr dirty="0" err="1"/>
                  <a:t>snelheid</a:t>
                </a:r>
                <a:r>
                  <a:rPr dirty="0"/>
                  <a:t>.</a:t>
                </a:r>
                <a:br>
                  <a:rPr dirty="0"/>
                </a:br>
                <a:endParaRPr dirty="0"/>
              </a:p>
              <a:p>
                <a:pPr marL="457200" lvl="0" indent="-457200">
                  <a:buAutoNum type="arabicPeriod"/>
                </a:pPr>
                <a:r>
                  <a:rPr dirty="0"/>
                  <a:t>De </a:t>
                </a:r>
                <a:r>
                  <a:rPr dirty="0" err="1"/>
                  <a:t>grootte</a:t>
                </a:r>
                <a:r>
                  <a:rPr dirty="0"/>
                  <a:t> </a:t>
                </a:r>
                <a14:m>
                  <m:oMath xmlns:m="http://schemas.openxmlformats.org/officeDocument/2006/math">
                    <m:r>
                      <a:rPr>
                        <a:latin typeface="Cambria Math" panose="02040503050406030204" pitchFamily="18" charset="0"/>
                      </a:rPr>
                      <m:t>𝑣</m:t>
                    </m:r>
                  </m:oMath>
                </a14:m>
                <a:r>
                  <a:rPr dirty="0"/>
                  <a:t> </a:t>
                </a:r>
                <a:r>
                  <a:rPr dirty="0" err="1"/>
                  <a:t>kan</a:t>
                </a:r>
                <a:r>
                  <a:rPr dirty="0"/>
                  <a:t> </a:t>
                </a:r>
                <a:r>
                  <a:rPr dirty="0" err="1"/>
                  <a:t>negatief</a:t>
                </a:r>
                <a:r>
                  <a:rPr dirty="0"/>
                  <a:t> </a:t>
                </a:r>
                <a:r>
                  <a:rPr dirty="0" err="1"/>
                  <a:t>zijn</a:t>
                </a:r>
                <a:r>
                  <a:rPr dirty="0"/>
                  <a:t>.</a:t>
                </a:r>
                <a:br>
                  <a:rPr dirty="0"/>
                </a:br>
                <a:endParaRPr dirty="0"/>
              </a:p>
              <a:p>
                <a:pPr marL="457200" lvl="0" indent="-457200">
                  <a:buAutoNum type="arabicPeriod"/>
                </a:pPr>
                <a:r>
                  <a:rPr dirty="0"/>
                  <a:t>De </a:t>
                </a:r>
                <a:r>
                  <a:rPr dirty="0" err="1"/>
                  <a:t>helling</a:t>
                </a:r>
                <a:r>
                  <a:rPr dirty="0"/>
                  <a:t> van de </a:t>
                </a:r>
                <a:r>
                  <a:rPr dirty="0" err="1"/>
                  <a:t>raaklijn</a:t>
                </a:r>
                <a:r>
                  <a:rPr dirty="0"/>
                  <a:t> </a:t>
                </a:r>
                <a:r>
                  <a:rPr dirty="0" err="1"/>
                  <a:t>aan</a:t>
                </a:r>
                <a:r>
                  <a:rPr dirty="0"/>
                  <a:t>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op</a:t>
                </a:r>
                <a:r>
                  <a:rPr lang="nl-BE" dirty="0"/>
                  <a:t> tijdstip</a:t>
                </a:r>
                <a:r>
                  <a:rPr dirty="0"/>
                  <a:t> </a:t>
                </a:r>
                <a14:m>
                  <m:oMath xmlns:m="http://schemas.openxmlformats.org/officeDocument/2006/math">
                    <m:r>
                      <a:rPr>
                        <a:latin typeface="Cambria Math" panose="02040503050406030204" pitchFamily="18" charset="0"/>
                      </a:rPr>
                      <m:t>𝑡</m:t>
                    </m:r>
                  </m:oMath>
                </a14:m>
                <a:r>
                  <a:rPr dirty="0"/>
                  <a:t> is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d>
                      <m:dPr>
                        <m:ctrlPr>
                          <a:rPr>
                            <a:latin typeface="Cambria Math" panose="02040503050406030204" pitchFamily="18" charset="0"/>
                          </a:rPr>
                        </m:ctrlPr>
                      </m:dPr>
                      <m:e>
                        <m:r>
                          <a:rPr>
                            <a:latin typeface="Cambria Math" panose="02040503050406030204" pitchFamily="18" charset="0"/>
                          </a:rPr>
                          <m:t>𝑡</m:t>
                        </m:r>
                      </m:e>
                    </m:d>
                  </m:oMath>
                </a14:m>
                <a:r>
                  <a:rPr dirty="0"/>
                  <a:t>.</a:t>
                </a:r>
                <a:br>
                  <a:rPr dirty="0"/>
                </a:br>
                <a:endParaRPr dirty="0"/>
              </a:p>
              <a:p>
                <a:pPr marL="457200" lvl="0" indent="-457200">
                  <a:buAutoNum type="arabicPeriod"/>
                </a:pPr>
                <a14:m>
                  <m:oMath xmlns:m="http://schemas.openxmlformats.org/officeDocument/2006/math">
                    <m:r>
                      <a:rPr>
                        <a:latin typeface="Cambria Math" panose="02040503050406030204" pitchFamily="18" charset="0"/>
                      </a:rPr>
                      <m:t>9 </m:t>
                    </m:r>
                    <m:r>
                      <m:rPr>
                        <m:sty m:val="p"/>
                      </m:rPr>
                      <a:rPr>
                        <a:latin typeface="Cambria Math" panose="02040503050406030204" pitchFamily="18" charset="0"/>
                      </a:rPr>
                      <m:t>m</m:t>
                    </m:r>
                    <m:r>
                      <a:rPr>
                        <a:latin typeface="Cambria Math" panose="02040503050406030204" pitchFamily="18" charset="0"/>
                      </a:rPr>
                      <m:t> </m:t>
                    </m:r>
                    <m:sSup>
                      <m:sSupPr>
                        <m:ctrlPr>
                          <a:rPr>
                            <a:latin typeface="Cambria Math" panose="02040503050406030204" pitchFamily="18" charset="0"/>
                          </a:rPr>
                        </m:ctrlPr>
                      </m:sSupPr>
                      <m:e>
                        <m:r>
                          <m:rPr>
                            <m:sty m:val="p"/>
                          </m:rPr>
                          <a:rPr>
                            <a:latin typeface="Cambria Math" panose="02040503050406030204" pitchFamily="18" charset="0"/>
                          </a:rPr>
                          <m:t>s</m:t>
                        </m:r>
                      </m:e>
                      <m:sup>
                        <m:r>
                          <a:rPr>
                            <a:latin typeface="Cambria Math" panose="02040503050406030204" pitchFamily="18" charset="0"/>
                          </a:rPr>
                          <m:t>−1</m:t>
                        </m:r>
                      </m:sup>
                    </m:sSup>
                  </m:oMath>
                </a14:m>
                <a:r>
                  <a:rPr dirty="0"/>
                  <a:t> is </a:t>
                </a:r>
                <a:r>
                  <a:rPr dirty="0" err="1"/>
                  <a:t>hetzelfde</a:t>
                </a:r>
                <a:r>
                  <a:rPr dirty="0"/>
                  <a:t> </a:t>
                </a:r>
                <a:r>
                  <a:rPr dirty="0" err="1"/>
                  <a:t>als</a:t>
                </a:r>
                <a:r>
                  <a:rPr dirty="0"/>
                  <a:t> </a:t>
                </a:r>
                <a14:m>
                  <m:oMath xmlns:m="http://schemas.openxmlformats.org/officeDocument/2006/math">
                    <m:r>
                      <a:rPr>
                        <a:latin typeface="Cambria Math" panose="02040503050406030204" pitchFamily="18" charset="0"/>
                      </a:rPr>
                      <m:t>36 </m:t>
                    </m:r>
                    <m:r>
                      <m:rPr>
                        <m:sty m:val="p"/>
                      </m:rPr>
                      <a:rPr>
                        <a:latin typeface="Cambria Math" panose="02040503050406030204" pitchFamily="18" charset="0"/>
                      </a:rPr>
                      <m:t>km</m:t>
                    </m:r>
                    <m:r>
                      <a:rPr>
                        <a:latin typeface="Cambria Math" panose="02040503050406030204" pitchFamily="18" charset="0"/>
                      </a:rPr>
                      <m:t> </m:t>
                    </m:r>
                    <m:sSup>
                      <m:sSupPr>
                        <m:ctrlPr>
                          <a:rPr>
                            <a:latin typeface="Cambria Math" panose="02040503050406030204" pitchFamily="18" charset="0"/>
                          </a:rPr>
                        </m:ctrlPr>
                      </m:sSupPr>
                      <m:e>
                        <m:r>
                          <m:rPr>
                            <m:sty m:val="p"/>
                          </m:rPr>
                          <a:rPr>
                            <a:latin typeface="Cambria Math" panose="02040503050406030204" pitchFamily="18" charset="0"/>
                          </a:rPr>
                          <m:t>h</m:t>
                        </m:r>
                      </m:e>
                      <m:sup>
                        <m:r>
                          <a:rPr>
                            <a:latin typeface="Cambria Math" panose="02040503050406030204" pitchFamily="18" charset="0"/>
                          </a:rPr>
                          <m:t>−1</m:t>
                        </m:r>
                      </m:sup>
                    </m:sSup>
                  </m:oMath>
                </a14:m>
                <a:r>
                  <a:rPr dirty="0"/>
                  <a:t>.</a:t>
                </a:r>
                <a:br>
                  <a:rPr dirty="0"/>
                </a:br>
                <a:endParaRPr dirty="0"/>
              </a:p>
              <a:p>
                <a:pPr marL="457200" lvl="0" indent="-457200">
                  <a:buAutoNum type="arabicPeriod"/>
                </a:pPr>
                <a:r>
                  <a:rPr dirty="0"/>
                  <a:t>Als de </a:t>
                </a:r>
                <a:r>
                  <a:rPr dirty="0" err="1"/>
                  <a:t>helling</a:t>
                </a:r>
                <a:r>
                  <a:rPr dirty="0"/>
                  <a:t> in </a:t>
                </a:r>
                <a14:m>
                  <m:oMath xmlns:m="http://schemas.openxmlformats.org/officeDocument/2006/math">
                    <m:r>
                      <a:rPr>
                        <a:latin typeface="Cambria Math" panose="02040503050406030204" pitchFamily="18" charset="0"/>
                      </a:rPr>
                      <m:t>𝑥</m:t>
                    </m:r>
                    <m:d>
                      <m:dPr>
                        <m:ctrlPr>
                          <a:rPr>
                            <a:latin typeface="Cambria Math" panose="02040503050406030204" pitchFamily="18" charset="0"/>
                          </a:rPr>
                        </m:ctrlPr>
                      </m:dPr>
                      <m:e>
                        <m:r>
                          <a:rPr>
                            <a:latin typeface="Cambria Math" panose="02040503050406030204" pitchFamily="18" charset="0"/>
                          </a:rPr>
                          <m:t>𝑡</m:t>
                        </m:r>
                      </m:e>
                    </m:d>
                  </m:oMath>
                </a14:m>
                <a:r>
                  <a:rPr dirty="0"/>
                  <a:t> </a:t>
                </a:r>
                <a:r>
                  <a:rPr dirty="0" err="1"/>
                  <a:t>daalt</a:t>
                </a:r>
                <a:r>
                  <a:rPr dirty="0"/>
                  <a:t>, </a:t>
                </a:r>
                <a:r>
                  <a:rPr dirty="0" err="1"/>
                  <a:t>beweegt</a:t>
                </a:r>
                <a:r>
                  <a:rPr dirty="0"/>
                  <a:t> het </a:t>
                </a:r>
                <a:r>
                  <a:rPr dirty="0" err="1"/>
                  <a:t>voorwerp</a:t>
                </a:r>
                <a:r>
                  <a:rPr dirty="0"/>
                  <a:t> </a:t>
                </a:r>
                <a:r>
                  <a:rPr dirty="0" err="1"/>
                  <a:t>altijd</a:t>
                </a:r>
                <a:r>
                  <a:rPr dirty="0"/>
                  <a:t> </a:t>
                </a:r>
                <a:r>
                  <a:rPr lang="nl-BE" dirty="0"/>
                  <a:t>volledig </a:t>
                </a:r>
                <a:r>
                  <a:rPr dirty="0" err="1"/>
                  <a:t>terug</a:t>
                </a:r>
                <a:r>
                  <a:rPr dirty="0"/>
                  <a:t> </a:t>
                </a:r>
                <a:r>
                  <a:rPr dirty="0" err="1"/>
                  <a:t>naar</a:t>
                </a:r>
                <a:r>
                  <a:rPr dirty="0"/>
                  <a:t> het </a:t>
                </a:r>
                <a:r>
                  <a:rPr dirty="0" err="1"/>
                  <a:t>beginpunt</a:t>
                </a:r>
                <a:r>
                  <a:rPr dirty="0"/>
                  <a:t>.</a:t>
                </a:r>
              </a:p>
              <a:p>
                <a:pPr marL="0" lvl="0" indent="0">
                  <a:buNone/>
                </a:pPr>
                <a:r>
                  <a:rPr b="1" dirty="0" err="1"/>
                  <a:t>Antwoorden</a:t>
                </a:r>
                <a:r>
                  <a:rPr b="1" dirty="0"/>
                  <a:t>:</a:t>
                </a:r>
                <a:r>
                  <a:rPr dirty="0"/>
                  <a:t> 1:Juist — 2:Fout (</a:t>
                </a:r>
                <a:r>
                  <a:rPr dirty="0" err="1"/>
                  <a:t>altijd</a:t>
                </a:r>
                <a:r>
                  <a:rPr dirty="0"/>
                  <a:t> </a:t>
                </a:r>
                <a14:m>
                  <m:oMath xmlns:m="http://schemas.openxmlformats.org/officeDocument/2006/math">
                    <m:r>
                      <a:rPr>
                        <a:latin typeface="Cambria Math" panose="02040503050406030204" pitchFamily="18" charset="0"/>
                      </a:rPr>
                      <m:t>≥0</m:t>
                    </m:r>
                  </m:oMath>
                </a14:m>
                <a:r>
                  <a:rPr dirty="0"/>
                  <a:t>) — 3:Juist — 4:</a:t>
                </a:r>
                <a:r>
                  <a:rPr lang="nl-BE" dirty="0"/>
                  <a:t>Fout</a:t>
                </a:r>
                <a:r>
                  <a:rPr dirty="0"/>
                  <a:t> (correct is </a:t>
                </a:r>
                <a14:m>
                  <m:oMath xmlns:m="http://schemas.openxmlformats.org/officeDocument/2006/math">
                    <m:r>
                      <a:rPr>
                        <a:latin typeface="Cambria Math" panose="02040503050406030204" pitchFamily="18" charset="0"/>
                      </a:rPr>
                      <m:t>9⋅3,6=32 </m:t>
                    </m:r>
                    <m:r>
                      <m:rPr>
                        <m:sty m:val="p"/>
                      </m:rPr>
                      <a:rPr>
                        <a:latin typeface="Cambria Math" panose="02040503050406030204" pitchFamily="18" charset="0"/>
                      </a:rPr>
                      <m:t>km</m:t>
                    </m:r>
                    <m:r>
                      <a:rPr>
                        <a:latin typeface="Cambria Math" panose="02040503050406030204" pitchFamily="18" charset="0"/>
                      </a:rPr>
                      <m:t> </m:t>
                    </m:r>
                    <m:sSup>
                      <m:sSupPr>
                        <m:ctrlPr>
                          <a:rPr>
                            <a:latin typeface="Cambria Math" panose="02040503050406030204" pitchFamily="18" charset="0"/>
                          </a:rPr>
                        </m:ctrlPr>
                      </m:sSupPr>
                      <m:e>
                        <m:r>
                          <m:rPr>
                            <m:sty m:val="p"/>
                          </m:rPr>
                          <a:rPr>
                            <a:latin typeface="Cambria Math" panose="02040503050406030204" pitchFamily="18" charset="0"/>
                          </a:rPr>
                          <m:t>h</m:t>
                        </m:r>
                      </m:e>
                      <m:sup>
                        <m:r>
                          <a:rPr>
                            <a:latin typeface="Cambria Math" panose="02040503050406030204" pitchFamily="18" charset="0"/>
                          </a:rPr>
                          <m:t>−1</m:t>
                        </m:r>
                      </m:sup>
                    </m:sSup>
                  </m:oMath>
                </a14:m>
                <a:r>
                  <a:rPr dirty="0"/>
                  <a:t>; </a:t>
                </a:r>
                <a:r>
                  <a:rPr dirty="0" err="1"/>
                  <a:t>voor</a:t>
                </a:r>
                <a:r>
                  <a:rPr dirty="0"/>
                  <a:t> </a:t>
                </a:r>
                <a14:m>
                  <m:oMath xmlns:m="http://schemas.openxmlformats.org/officeDocument/2006/math">
                    <m:r>
                      <a:rPr>
                        <a:latin typeface="Cambria Math" panose="02040503050406030204" pitchFamily="18" charset="0"/>
                      </a:rPr>
                      <m:t>36</m:t>
                    </m:r>
                  </m:oMath>
                </a14:m>
                <a:r>
                  <a:rPr dirty="0"/>
                  <a:t> </a:t>
                </a:r>
                <a:r>
                  <a:rPr dirty="0" err="1"/>
                  <a:t>heb</a:t>
                </a:r>
                <a:r>
                  <a:rPr dirty="0"/>
                  <a:t> je </a:t>
                </a:r>
                <a14:m>
                  <m:oMath xmlns:m="http://schemas.openxmlformats.org/officeDocument/2006/math">
                    <m:r>
                      <a:rPr>
                        <a:latin typeface="Cambria Math" panose="02040503050406030204" pitchFamily="18" charset="0"/>
                      </a:rPr>
                      <m:t>10 </m:t>
                    </m:r>
                    <m:r>
                      <m:rPr>
                        <m:sty m:val="p"/>
                      </m:rPr>
                      <a:rPr>
                        <a:latin typeface="Cambria Math" panose="02040503050406030204" pitchFamily="18" charset="0"/>
                      </a:rPr>
                      <m:t>m</m:t>
                    </m:r>
                    <m:r>
                      <a:rPr>
                        <a:latin typeface="Cambria Math" panose="02040503050406030204" pitchFamily="18" charset="0"/>
                      </a:rPr>
                      <m:t> </m:t>
                    </m:r>
                    <m:sSup>
                      <m:sSupPr>
                        <m:ctrlPr>
                          <a:rPr>
                            <a:latin typeface="Cambria Math" panose="02040503050406030204" pitchFamily="18" charset="0"/>
                          </a:rPr>
                        </m:ctrlPr>
                      </m:sSupPr>
                      <m:e>
                        <m:r>
                          <m:rPr>
                            <m:sty m:val="p"/>
                          </m:rPr>
                          <a:rPr>
                            <a:latin typeface="Cambria Math" panose="02040503050406030204" pitchFamily="18" charset="0"/>
                          </a:rPr>
                          <m:t>s</m:t>
                        </m:r>
                      </m:e>
                      <m:sup>
                        <m:r>
                          <a:rPr>
                            <a:latin typeface="Cambria Math" panose="02040503050406030204" pitchFamily="18" charset="0"/>
                          </a:rPr>
                          <m:t>−1</m:t>
                        </m:r>
                      </m:sup>
                    </m:sSup>
                  </m:oMath>
                </a14:m>
                <a:r>
                  <a:rPr dirty="0"/>
                  <a:t> </a:t>
                </a:r>
                <a:r>
                  <a:rPr dirty="0" err="1"/>
                  <a:t>nodig</a:t>
                </a:r>
                <a:r>
                  <a:rPr dirty="0"/>
                  <a:t>) — 5:Fout (</a:t>
                </a:r>
                <a:r>
                  <a:rPr dirty="0" err="1"/>
                  <a:t>negatieve</a:t>
                </a:r>
                <a:r>
                  <a:rPr dirty="0"/>
                  <a:t> </a:t>
                </a:r>
                <a:r>
                  <a:rPr dirty="0" err="1"/>
                  <a:t>helling</a:t>
                </a:r>
                <a:r>
                  <a:rPr dirty="0"/>
                  <a:t> = </a:t>
                </a:r>
                <a:r>
                  <a:rPr dirty="0" err="1"/>
                  <a:t>tegengestelde</a:t>
                </a:r>
                <a:r>
                  <a:rPr dirty="0"/>
                  <a:t> zin; </a:t>
                </a:r>
                <a:r>
                  <a:rPr dirty="0" err="1"/>
                  <a:t>hoeft</a:t>
                </a:r>
                <a:r>
                  <a:rPr dirty="0"/>
                  <a:t> </a:t>
                </a:r>
                <a:r>
                  <a:rPr dirty="0" err="1"/>
                  <a:t>niet</a:t>
                </a:r>
                <a:r>
                  <a:rPr dirty="0"/>
                  <a:t> “</a:t>
                </a:r>
                <a:r>
                  <a:rPr dirty="0" err="1"/>
                  <a:t>terug</a:t>
                </a:r>
                <a:r>
                  <a:rPr dirty="0"/>
                  <a:t> </a:t>
                </a:r>
                <a:r>
                  <a:rPr dirty="0" err="1"/>
                  <a:t>naar</a:t>
                </a:r>
                <a:r>
                  <a:rPr dirty="0"/>
                  <a:t> start” </a:t>
                </a:r>
                <a:r>
                  <a:rPr dirty="0" err="1"/>
                  <a:t>te</a:t>
                </a:r>
                <a:r>
                  <a:rPr dirty="0"/>
                  <a:t> </a:t>
                </a:r>
                <a:r>
                  <a:rPr dirty="0" err="1"/>
                  <a:t>betekenen</a:t>
                </a:r>
                <a:r>
                  <a:rPr dirty="0"/>
                  <a:t>).</a:t>
                </a:r>
              </a:p>
            </p:txBody>
          </p:sp>
        </mc:Choice>
        <mc:Fallback xmlns="">
          <p:sp>
            <p:nvSpPr>
              <p:cNvPr id="3" name="Content Placeholder 2">
                <a:extLst>
                  <a:ext uri="{FF2B5EF4-FFF2-40B4-BE49-F238E27FC236}">
                    <a16:creationId xmlns:a16="http://schemas.microsoft.com/office/drawing/2014/main" id="{8C24CF1E-9962-7516-2DC8-DAAB50735811}"/>
                  </a:ext>
                </a:extLst>
              </p:cNvPr>
              <p:cNvSpPr>
                <a:spLocks noGrp="1" noRot="1" noChangeAspect="1" noMove="1" noResize="1" noEditPoints="1" noAdjustHandles="1" noChangeArrowheads="1" noChangeShapeType="1" noTextEdit="1"/>
              </p:cNvSpPr>
              <p:nvPr>
                <p:ph idx="1"/>
              </p:nvPr>
            </p:nvSpPr>
            <p:spPr>
              <a:blipFill>
                <a:blip r:embed="rId2"/>
                <a:stretch>
                  <a:fillRect t="-694"/>
                </a:stretch>
              </a:blipFill>
            </p:spPr>
            <p:txBody>
              <a:bodyPr/>
              <a:lstStyle/>
              <a:p>
                <a:r>
                  <a:rPr lang="nl-BE">
                    <a:noFill/>
                  </a:rPr>
                  <a:t> </a:t>
                </a:r>
              </a:p>
            </p:txBody>
          </p:sp>
        </mc:Fallback>
      </mc:AlternateContent>
    </p:spTree>
    <p:extLst>
      <p:ext uri="{BB962C8B-B14F-4D97-AF65-F5344CB8AC3E}">
        <p14:creationId xmlns:p14="http://schemas.microsoft.com/office/powerpoint/2010/main" val="25531983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2D-snelheid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pPr lvl="0"/>
                <a:r>
                  <a:rPr dirty="0" err="1"/>
                  <a:t>Puntmassa</a:t>
                </a:r>
                <a:r>
                  <a:rPr dirty="0"/>
                  <a:t> </a:t>
                </a:r>
                <a:r>
                  <a:rPr dirty="0" err="1"/>
                  <a:t>beweegt</a:t>
                </a:r>
                <a:r>
                  <a:rPr dirty="0"/>
                  <a:t> in </a:t>
                </a:r>
                <a14:m>
                  <m:oMath xmlns:m="http://schemas.openxmlformats.org/officeDocument/2006/math">
                    <m:r>
                      <a:rPr>
                        <a:latin typeface="Cambria Math" panose="02040503050406030204" pitchFamily="18" charset="0"/>
                      </a:rPr>
                      <m:t>𝑥</m:t>
                    </m:r>
                  </m:oMath>
                </a14:m>
                <a:r>
                  <a:rPr dirty="0"/>
                  <a:t>–</a:t>
                </a:r>
                <a14:m>
                  <m:oMath xmlns:m="http://schemas.openxmlformats.org/officeDocument/2006/math">
                    <m:r>
                      <a:rPr>
                        <a:latin typeface="Cambria Math" panose="02040503050406030204" pitchFamily="18" charset="0"/>
                      </a:rPr>
                      <m:t>𝑦</m:t>
                    </m:r>
                  </m:oMath>
                </a14:m>
                <a:r>
                  <a:rPr dirty="0"/>
                  <a:t>-</a:t>
                </a:r>
                <a:r>
                  <a:rPr dirty="0" err="1"/>
                  <a:t>vlak</a:t>
                </a:r>
                <a:r>
                  <a:rPr dirty="0"/>
                  <a:t> met </a:t>
                </a:r>
                <a:r>
                  <a:rPr dirty="0" err="1"/>
                  <a:t>baan</a:t>
                </a:r>
                <a:r>
                  <a:rPr dirty="0"/>
                  <a:t>.</a:t>
                </a:r>
                <a:br>
                  <a:rPr dirty="0"/>
                </a:br>
                <a:endParaRPr dirty="0"/>
              </a:p>
              <a:p>
                <a:pPr lvl="0"/>
                <a:r>
                  <a:rPr b="1" dirty="0" err="1"/>
                  <a:t>Definitie</a:t>
                </a:r>
                <a:r>
                  <a:rPr dirty="0"/>
                  <a:t>:</a:t>
                </a:r>
              </a:p>
              <a:p>
                <a:pPr marL="0" lvl="0" indent="0">
                  <a:buNone/>
                </a:pPr>
                <a14:m>
                  <m:oMathPara xmlns:m="http://schemas.openxmlformats.org/officeDocument/2006/math">
                    <m:oMathParaPr>
                      <m:jc m:val="center"/>
                    </m:oMathParaPr>
                    <m:oMath>
                      <m:acc>
                        <m:accPr>
                          <m:chr m:val="⃗"/>
                          <m:ctrlPr>
                            <a:rPr>
                              <a:latin typeface="Cambria Math" panose="02040503050406030204" pitchFamily="18" charset="0"/>
                            </a:rPr>
                          </m:ctrlPr>
                        </m:accPr>
                        <m:e>
                          <m:r>
                            <a:rPr>
                              <a:latin typeface="Cambria Math" panose="02040503050406030204" pitchFamily="18" charset="0"/>
                            </a:rPr>
                            <m:t>𝑣</m:t>
                          </m:r>
                        </m:e>
                      </m:acc>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m:t>
                          </m:r>
                          <m:acc>
                            <m:accPr>
                              <m:chr m:val="⃗"/>
                              <m:ctrlPr>
                                <a:rPr>
                                  <a:latin typeface="Cambria Math" panose="02040503050406030204" pitchFamily="18" charset="0"/>
                                </a:rPr>
                              </m:ctrlPr>
                            </m:accPr>
                            <m:e>
                              <m:r>
                                <a:rPr>
                                  <a:latin typeface="Cambria Math" panose="02040503050406030204" pitchFamily="18" charset="0"/>
                                </a:rPr>
                                <m:t>𝑟</m:t>
                              </m:r>
                            </m:e>
                          </m:acc>
                        </m:num>
                        <m:den>
                          <m:r>
                            <a:rPr>
                              <a:latin typeface="Cambria Math" panose="02040503050406030204" pitchFamily="18" charset="0"/>
                            </a:rPr>
                            <m:t>𝑑𝑡</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𝑑𝑥</m:t>
                          </m:r>
                        </m:num>
                        <m:den>
                          <m:r>
                            <a:rPr>
                              <a:latin typeface="Cambria Math" panose="02040503050406030204" pitchFamily="18" charset="0"/>
                            </a:rPr>
                            <m:t>𝑑𝑡</m:t>
                          </m:r>
                        </m:den>
                      </m:f>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𝑑𝑡</m:t>
                          </m:r>
                        </m:den>
                      </m:f>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𝑦</m:t>
                          </m:r>
                        </m:sub>
                      </m:sSub>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oMath>
                  </m:oMathPara>
                </a14:m>
                <a:endParaRPr dirty="0"/>
              </a:p>
              <a:p>
                <a:pPr lvl="0"/>
                <a:r>
                  <a:rPr b="1" dirty="0" err="1"/>
                  <a:t>Tangentie-eigenschap</a:t>
                </a:r>
                <a:r>
                  <a:rPr dirty="0"/>
                  <a:t>: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𝑣</m:t>
                        </m:r>
                      </m:e>
                    </m:acc>
                  </m:oMath>
                </a14:m>
                <a:r>
                  <a:rPr dirty="0"/>
                  <a:t> </a:t>
                </a:r>
                <a:r>
                  <a:rPr b="1" dirty="0" err="1"/>
                  <a:t>raakt</a:t>
                </a:r>
                <a:r>
                  <a:rPr dirty="0"/>
                  <a:t> de </a:t>
                </a:r>
                <a:r>
                  <a:rPr dirty="0" err="1"/>
                  <a:t>baan</a:t>
                </a:r>
                <a:r>
                  <a:rPr dirty="0"/>
                  <a:t> (</a:t>
                </a:r>
                <a:r>
                  <a:rPr dirty="0" err="1"/>
                  <a:t>zelfde</a:t>
                </a:r>
                <a:r>
                  <a:rPr dirty="0"/>
                  <a:t> </a:t>
                </a:r>
                <a:r>
                  <a:rPr dirty="0" err="1"/>
                  <a:t>richting</a:t>
                </a:r>
                <a:r>
                  <a:rPr dirty="0"/>
                  <a:t> &amp; zin </a:t>
                </a:r>
                <a:r>
                  <a:rPr dirty="0" err="1"/>
                  <a:t>als</a:t>
                </a:r>
                <a:r>
                  <a:rPr dirty="0"/>
                  <a:t> </a:t>
                </a:r>
                <a14:m>
                  <m:oMath xmlns:m="http://schemas.openxmlformats.org/officeDocument/2006/math">
                    <m:r>
                      <a:rPr>
                        <a:latin typeface="Cambria Math" panose="02040503050406030204" pitchFamily="18" charset="0"/>
                      </a:rPr>
                      <m:t>𝑑</m:t>
                    </m:r>
                    <m:acc>
                      <m:accPr>
                        <m:chr m:val="⃗"/>
                        <m:ctrlPr>
                          <a:rPr>
                            <a:latin typeface="Cambria Math" panose="02040503050406030204" pitchFamily="18" charset="0"/>
                          </a:rPr>
                        </m:ctrlPr>
                      </m:accPr>
                      <m:e>
                        <m:r>
                          <a:rPr>
                            <a:latin typeface="Cambria Math" panose="02040503050406030204" pitchFamily="18" charset="0"/>
                          </a:rPr>
                          <m:t>𝑟</m:t>
                        </m:r>
                      </m:e>
                    </m:acc>
                  </m:oMath>
                </a14:m>
                <a:r>
                  <a:rPr dirty="0"/>
                  <a:t>).</a:t>
                </a:r>
                <a:br>
                  <a:rPr dirty="0"/>
                </a:br>
                <a:endParaRPr dirty="0"/>
              </a:p>
              <a:p>
                <a:pPr lvl="0"/>
                <a:r>
                  <a:rPr b="1" dirty="0" err="1"/>
                  <a:t>Grootte</a:t>
                </a:r>
                <a:r>
                  <a:rPr dirty="0"/>
                  <a:t>:</a:t>
                </a:r>
              </a:p>
              <a:p>
                <a:pPr marL="0" lvl="0" indent="0">
                  <a:buNone/>
                </a:pPr>
                <a14:m>
                  <m:oMathPara xmlns:m="http://schemas.openxmlformats.org/officeDocument/2006/math">
                    <m:oMathParaPr>
                      <m:jc m:val="center"/>
                    </m:oMathParaPr>
                    <m:oMath>
                      <m:r>
                        <a:rPr>
                          <a:latin typeface="Cambria Math" panose="02040503050406030204" pitchFamily="18" charset="0"/>
                        </a:rPr>
                        <m:t>𝑣</m:t>
                      </m:r>
                      <m:r>
                        <a:rPr>
                          <a:latin typeface="Cambria Math" panose="02040503050406030204" pitchFamily="18" charset="0"/>
                        </a:rPr>
                        <m:t>=</m:t>
                      </m:r>
                      <m:rad>
                        <m:radPr>
                          <m:degHide m:val="on"/>
                          <m:ctrlPr>
                            <a:rPr i="1">
                              <a:latin typeface="Cambria Math" panose="02040503050406030204" pitchFamily="18" charset="0"/>
                            </a:rPr>
                          </m:ctrlPr>
                        </m:radPr>
                        <m:deg/>
                        <m:e>
                          <m:sSubSup>
                            <m:sSubSupPr>
                              <m:ctrlPr>
                                <a:rPr>
                                  <a:latin typeface="Cambria Math" panose="02040503050406030204" pitchFamily="18" charset="0"/>
                                </a:rPr>
                              </m:ctrlPr>
                            </m:sSubSupPr>
                            <m:e>
                              <m:r>
                                <a:rPr>
                                  <a:latin typeface="Cambria Math" panose="02040503050406030204" pitchFamily="18" charset="0"/>
                                </a:rPr>
                                <m:t>𝑣</m:t>
                              </m:r>
                            </m:e>
                            <m:sub>
                              <m:r>
                                <a:rPr>
                                  <a:latin typeface="Cambria Math" panose="02040503050406030204" pitchFamily="18" charset="0"/>
                                </a:rPr>
                                <m:t>𝑥</m:t>
                              </m:r>
                            </m:sub>
                            <m:sup>
                              <m:r>
                                <a:rPr>
                                  <a:latin typeface="Cambria Math" panose="02040503050406030204" pitchFamily="18" charset="0"/>
                                </a:rPr>
                                <m:t>2</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𝑣</m:t>
                              </m:r>
                            </m:e>
                            <m:sub>
                              <m:r>
                                <a:rPr>
                                  <a:latin typeface="Cambria Math" panose="02040503050406030204" pitchFamily="18" charset="0"/>
                                </a:rPr>
                                <m:t>𝑦</m:t>
                              </m:r>
                            </m:sub>
                            <m:sup>
                              <m:r>
                                <a:rPr>
                                  <a:latin typeface="Cambria Math" panose="02040503050406030204" pitchFamily="18" charset="0"/>
                                </a:rPr>
                                <m:t>2</m:t>
                              </m:r>
                            </m:sup>
                          </m:sSubSup>
                        </m:e>
                      </m:rad>
                    </m:oMath>
                  </m:oMathPara>
                </a14:m>
                <a:endParaRPr dirty="0"/>
              </a:p>
              <a:p>
                <a:pPr lvl="0"/>
                <a:r>
                  <a:rPr dirty="0"/>
                  <a:t>(</a:t>
                </a:r>
                <a:r>
                  <a:rPr dirty="0" err="1"/>
                  <a:t>Uitbreiding</a:t>
                </a:r>
                <a:r>
                  <a:rPr dirty="0"/>
                  <a:t> 3D):</a:t>
                </a:r>
              </a:p>
              <a:p>
                <a:pPr marL="0" lvl="0" indent="0">
                  <a:buNone/>
                </a:pPr>
                <a14:m>
                  <m:oMathPara xmlns:m="http://schemas.openxmlformats.org/officeDocument/2006/math">
                    <m:oMathParaPr>
                      <m:jc m:val="center"/>
                    </m:oMathParaPr>
                    <m:oMath>
                      <m:acc>
                        <m:accPr>
                          <m:chr m:val="⃗"/>
                          <m:ctrlPr>
                            <a:rPr>
                              <a:latin typeface="Cambria Math" panose="02040503050406030204" pitchFamily="18" charset="0"/>
                            </a:rPr>
                          </m:ctrlPr>
                        </m:accPr>
                        <m:e>
                          <m:r>
                            <a:rPr>
                              <a:latin typeface="Cambria Math" panose="02040503050406030204" pitchFamily="18" charset="0"/>
                            </a:rPr>
                            <m:t>𝑣</m:t>
                          </m:r>
                        </m:e>
                      </m:acc>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𝑦</m:t>
                          </m:r>
                        </m:sub>
                      </m:sSub>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𝑧</m:t>
                          </m:r>
                        </m:sub>
                      </m:sSub>
                      <m:r>
                        <a:rPr>
                          <a:latin typeface="Cambria Math" panose="02040503050406030204" pitchFamily="18" charset="0"/>
                        </a:rPr>
                        <m:t> </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𝑧</m:t>
                          </m:r>
                        </m:sub>
                      </m:sSub>
                      <m:r>
                        <a:rPr>
                          <a:latin typeface="Cambria Math" panose="02040503050406030204" pitchFamily="18" charset="0"/>
                        </a:rPr>
                        <m:t>, </m:t>
                      </m:r>
                      <m:r>
                        <a:rPr>
                          <a:latin typeface="Cambria Math" panose="02040503050406030204" pitchFamily="18" charset="0"/>
                        </a:rPr>
                        <m:t>𝑣</m:t>
                      </m:r>
                      <m:r>
                        <a:rPr>
                          <a:latin typeface="Cambria Math" panose="02040503050406030204" pitchFamily="18" charset="0"/>
                        </a:rPr>
                        <m:t>=</m:t>
                      </m:r>
                      <m:rad>
                        <m:radPr>
                          <m:degHide m:val="on"/>
                          <m:ctrlPr>
                            <a:rPr i="1">
                              <a:latin typeface="Cambria Math" panose="02040503050406030204" pitchFamily="18" charset="0"/>
                            </a:rPr>
                          </m:ctrlPr>
                        </m:radPr>
                        <m:deg/>
                        <m:e>
                          <m:sSubSup>
                            <m:sSubSupPr>
                              <m:ctrlPr>
                                <a:rPr>
                                  <a:latin typeface="Cambria Math" panose="02040503050406030204" pitchFamily="18" charset="0"/>
                                </a:rPr>
                              </m:ctrlPr>
                            </m:sSubSupPr>
                            <m:e>
                              <m:r>
                                <a:rPr>
                                  <a:latin typeface="Cambria Math" panose="02040503050406030204" pitchFamily="18" charset="0"/>
                                </a:rPr>
                                <m:t>𝑣</m:t>
                              </m:r>
                            </m:e>
                            <m:sub>
                              <m:r>
                                <a:rPr>
                                  <a:latin typeface="Cambria Math" panose="02040503050406030204" pitchFamily="18" charset="0"/>
                                </a:rPr>
                                <m:t>𝑥</m:t>
                              </m:r>
                            </m:sub>
                            <m:sup>
                              <m:r>
                                <a:rPr>
                                  <a:latin typeface="Cambria Math" panose="02040503050406030204" pitchFamily="18" charset="0"/>
                                </a:rPr>
                                <m:t>2</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𝑣</m:t>
                              </m:r>
                            </m:e>
                            <m:sub>
                              <m:r>
                                <a:rPr>
                                  <a:latin typeface="Cambria Math" panose="02040503050406030204" pitchFamily="18" charset="0"/>
                                </a:rPr>
                                <m:t>𝑦</m:t>
                              </m:r>
                            </m:sub>
                            <m:sup>
                              <m:r>
                                <a:rPr>
                                  <a:latin typeface="Cambria Math" panose="02040503050406030204" pitchFamily="18" charset="0"/>
                                </a:rPr>
                                <m:t>2</m:t>
                              </m:r>
                            </m:sup>
                          </m:sSubSup>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𝑣</m:t>
                              </m:r>
                            </m:e>
                            <m:sub>
                              <m:r>
                                <a:rPr>
                                  <a:latin typeface="Cambria Math" panose="02040503050406030204" pitchFamily="18" charset="0"/>
                                </a:rPr>
                                <m:t>𝑧</m:t>
                              </m:r>
                            </m:sub>
                            <m:sup>
                              <m:r>
                                <a:rPr>
                                  <a:latin typeface="Cambria Math" panose="02040503050406030204" pitchFamily="18" charset="0"/>
                                </a:rPr>
                                <m:t>2</m:t>
                              </m:r>
                            </m:sup>
                          </m:sSubSup>
                        </m:e>
                      </m:rad>
                    </m:oMath>
                  </m:oMathPara>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nl-BE">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733" y="-176817"/>
            <a:ext cx="10515600" cy="1325563"/>
          </a:xfrm>
        </p:spPr>
        <p:txBody>
          <a:bodyPr>
            <a:noAutofit/>
          </a:bodyPr>
          <a:lstStyle/>
          <a:p>
            <a:pPr marL="0" lvl="0" indent="0">
              <a:buNone/>
            </a:pPr>
            <a:r>
              <a:rPr sz="3200" dirty="0" err="1"/>
              <a:t>Voorbeeld</a:t>
            </a:r>
            <a:r>
              <a:rPr lang="nl-BE" sz="3200" dirty="0"/>
              <a:t>oefening</a:t>
            </a:r>
            <a:r>
              <a:rPr sz="3200" dirty="0"/>
              <a:t> — Vlinder in 2D</a:t>
            </a:r>
            <a:br>
              <a:rPr lang="nl-BE" sz="3200" dirty="0"/>
            </a:br>
            <a:r>
              <a:rPr lang="nl-BE" sz="3200" dirty="0"/>
              <a:t>(even herhalen voor december examen)</a:t>
            </a:r>
            <a:r>
              <a:rPr sz="3200" dirty="0"/>
              <a:t> </a:t>
            </a:r>
          </a:p>
        </p:txBody>
      </p:sp>
      <p:pic>
        <p:nvPicPr>
          <p:cNvPr id="9" name="Afbeelding 8">
            <a:extLst>
              <a:ext uri="{FF2B5EF4-FFF2-40B4-BE49-F238E27FC236}">
                <a16:creationId xmlns:a16="http://schemas.microsoft.com/office/drawing/2014/main" id="{5BF87D9F-B68A-33E1-6950-F65444365481}"/>
              </a:ext>
            </a:extLst>
          </p:cNvPr>
          <p:cNvPicPr>
            <a:picLocks noChangeAspect="1"/>
          </p:cNvPicPr>
          <p:nvPr/>
        </p:nvPicPr>
        <p:blipFill>
          <a:blip r:embed="rId2"/>
          <a:stretch>
            <a:fillRect/>
          </a:stretch>
        </p:blipFill>
        <p:spPr>
          <a:xfrm>
            <a:off x="1247775" y="900303"/>
            <a:ext cx="9696450" cy="58864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Constante </a:t>
            </a:r>
            <a:r>
              <a:rPr dirty="0" err="1"/>
              <a:t>snelheid</a:t>
            </a:r>
            <a:r>
              <a:rPr dirty="0"/>
              <a:t> </a:t>
            </a:r>
            <a:r>
              <a:rPr dirty="0" err="1"/>
              <a:t>langs</a:t>
            </a:r>
            <a:r>
              <a:rPr dirty="0"/>
              <a:t> de x-as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t>Een voorwerp beweegt met </a:t>
                </a:r>
                <a:r>
                  <a:rPr b="1"/>
                  <a:t>constante snelheid</a:t>
                </a:r>
                <a:r>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oMath>
                </a14:m>
                <a:r>
                  <a:t>.</a:t>
                </a:r>
              </a:p>
              <a:p>
                <a:pPr lvl="0"/>
                <a:r>
                  <a:t>In het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d>
                      <m:dPr>
                        <m:ctrlPr>
                          <a:rPr>
                            <a:latin typeface="Cambria Math" panose="02040503050406030204" pitchFamily="18" charset="0"/>
                          </a:rPr>
                        </m:ctrlPr>
                      </m:dPr>
                      <m:e>
                        <m:r>
                          <a:rPr>
                            <a:latin typeface="Cambria Math" panose="02040503050406030204" pitchFamily="18" charset="0"/>
                          </a:rPr>
                          <m:t>𝑡</m:t>
                        </m:r>
                      </m:e>
                    </m:d>
                  </m:oMath>
                </a14:m>
                <a:r>
                  <a:rPr b="1"/>
                  <a:t>-diagram</a:t>
                </a:r>
                <a:r>
                  <a:t> zie je een </a:t>
                </a:r>
                <a:r>
                  <a:rPr b="1"/>
                  <a:t>rechte lijn</a:t>
                </a:r>
                <a:r>
                  <a:t> evenwijdig met de tijdas.</a:t>
                </a:r>
              </a:p>
              <a:p>
                <a:pPr lvl="0"/>
                <a:r>
                  <a:t>De snelheid verandert </a:t>
                </a:r>
                <a:r>
                  <a:rPr b="1"/>
                  <a:t>niet</a:t>
                </a:r>
                <a:r>
                  <a:t> in de tijd.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2CC19D3B-45CD-F407-7E39-E7A59A9968A2}"/>
              </a:ext>
            </a:extLst>
          </p:cNvPr>
          <p:cNvPicPr>
            <a:picLocks noChangeAspect="1"/>
          </p:cNvPicPr>
          <p:nvPr/>
        </p:nvPicPr>
        <p:blipFill>
          <a:blip r:embed="rId3"/>
          <a:stretch>
            <a:fillRect/>
          </a:stretch>
        </p:blipFill>
        <p:spPr>
          <a:xfrm>
            <a:off x="4755834" y="3792435"/>
            <a:ext cx="2485262" cy="251142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spcBef>
                    <a:spcPts val="3000"/>
                  </a:spcBef>
                  <a:buNone/>
                </a:pPr>
                <a:r>
                  <a:rPr b="1"/>
                  <a:t>Wat betekent de grafiek?</a:t>
                </a:r>
              </a:p>
              <a:p>
                <a:pPr lvl="0"/>
                <a:r>
                  <a:t>De </a:t>
                </a:r>
                <a:r>
                  <a:rPr b="1"/>
                  <a:t>oppervlakte onder de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d>
                      <m:dPr>
                        <m:ctrlPr>
                          <a:rPr>
                            <a:latin typeface="Cambria Math" panose="02040503050406030204" pitchFamily="18" charset="0"/>
                          </a:rPr>
                        </m:ctrlPr>
                      </m:dPr>
                      <m:e>
                        <m:r>
                          <a:rPr>
                            <a:latin typeface="Cambria Math" panose="02040503050406030204" pitchFamily="18" charset="0"/>
                          </a:rPr>
                          <m:t>𝑡</m:t>
                        </m:r>
                      </m:e>
                    </m:d>
                  </m:oMath>
                </a14:m>
                <a:r>
                  <a:rPr b="1"/>
                  <a:t>-grafiek</a:t>
                </a:r>
                <a:r>
                  <a:t> tussen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𝑡</m:t>
                        </m:r>
                      </m:e>
                      <m:sub>
                        <m:r>
                          <a:rPr>
                            <a:latin typeface="Cambria Math" panose="02040503050406030204" pitchFamily="18" charset="0"/>
                          </a:rPr>
                          <m:t>0</m:t>
                        </m:r>
                      </m:sub>
                    </m:sSub>
                  </m:oMath>
                </a14:m>
                <a:r>
                  <a:t> en </a:t>
                </a:r>
                <a14:m>
                  <m:oMath xmlns:m="http://schemas.openxmlformats.org/officeDocument/2006/math">
                    <m:r>
                      <a:rPr>
                        <a:latin typeface="Cambria Math" panose="02040503050406030204" pitchFamily="18" charset="0"/>
                      </a:rPr>
                      <m:t>𝑡</m:t>
                    </m:r>
                  </m:oMath>
                </a14:m>
                <a:r>
                  <a:t> stelt de </a:t>
                </a:r>
                <a:r>
                  <a:rPr b="1"/>
                  <a:t>verplaatsing</a:t>
                </a:r>
                <a:r>
                  <a:t> </a:t>
                </a:r>
                <a14:m>
                  <m:oMath xmlns:m="http://schemas.openxmlformats.org/officeDocument/2006/math">
                    <m:r>
                      <a:rPr>
                        <a:latin typeface="Cambria Math" panose="02040503050406030204" pitchFamily="18" charset="0"/>
                      </a:rPr>
                      <m:t>𝛥</m:t>
                    </m:r>
                    <m:r>
                      <a:rPr>
                        <a:latin typeface="Cambria Math" panose="02040503050406030204" pitchFamily="18" charset="0"/>
                      </a:rPr>
                      <m:t>𝑥</m:t>
                    </m:r>
                  </m:oMath>
                </a14:m>
                <a:r>
                  <a:t> voor.</a:t>
                </a:r>
              </a:p>
              <a:p>
                <a:pPr lvl="0"/>
                <a:r>
                  <a:t>Dit is een </a:t>
                </a:r>
                <a:r>
                  <a:rPr b="1"/>
                  <a:t>rechthoek</a:t>
                </a:r>
                <a:r>
                  <a:t> met hoogte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𝑥</m:t>
                        </m:r>
                      </m:sub>
                    </m:sSub>
                  </m:oMath>
                </a14:m>
                <a:r>
                  <a:t> en breedte </a:t>
                </a:r>
                <a14:m>
                  <m:oMath xmlns:m="http://schemas.openxmlformats.org/officeDocument/2006/math">
                    <m:r>
                      <a:rPr>
                        <a:latin typeface="Cambria Math" panose="02040503050406030204" pitchFamily="18" charset="0"/>
                      </a:rPr>
                      <m:t>𝛥</m:t>
                    </m:r>
                    <m:r>
                      <a:rPr>
                        <a:latin typeface="Cambria Math" panose="02040503050406030204" pitchFamily="18" charset="0"/>
                      </a:rPr>
                      <m:t>𝑡</m:t>
                    </m:r>
                  </m:oMath>
                </a14:m>
                <a:r>
                  <a:t>.</a:t>
                </a:r>
              </a:p>
              <a:p>
                <a:pPr marL="1270000" lvl="0" indent="0">
                  <a:buNone/>
                </a:pPr>
                <a:r>
                  <a:rPr sz="2000"/>
                  <a:t>Denk aan: oppervlakte = lengte × breedte</a:t>
                </a:r>
                <a:br/>
                <a:r>
                  <a:rPr sz="2000"/>
                  <a:t>→ verplaatsing = snelheid × tijd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
        <p:nvSpPr>
          <p:cNvPr id="2" name="Title 1">
            <a:extLst>
              <a:ext uri="{FF2B5EF4-FFF2-40B4-BE49-F238E27FC236}">
                <a16:creationId xmlns:a16="http://schemas.microsoft.com/office/drawing/2014/main" id="{8B31D656-63A3-85A2-FD79-890633446735}"/>
              </a:ext>
            </a:extLst>
          </p:cNvPr>
          <p:cNvSpPr>
            <a:spLocks noGrp="1"/>
          </p:cNvSpPr>
          <p:nvPr>
            <p:ph type="title"/>
          </p:nvPr>
        </p:nvSpPr>
        <p:spPr>
          <a:xfrm>
            <a:off x="745733" y="18255"/>
            <a:ext cx="10515600" cy="1325563"/>
          </a:xfrm>
        </p:spPr>
        <p:txBody>
          <a:bodyPr/>
          <a:lstStyle/>
          <a:p>
            <a:pPr marL="0" lvl="0" indent="0">
              <a:buNone/>
            </a:pPr>
            <a:r>
              <a:rPr dirty="0"/>
              <a:t>Constante </a:t>
            </a:r>
            <a:r>
              <a:rPr dirty="0" err="1"/>
              <a:t>snelheid</a:t>
            </a:r>
            <a:r>
              <a:rPr dirty="0"/>
              <a:t> </a:t>
            </a:r>
            <a:r>
              <a:rPr dirty="0" err="1"/>
              <a:t>langs</a:t>
            </a:r>
            <a:r>
              <a:rPr dirty="0"/>
              <a:t> de x-as</a:t>
            </a:r>
          </a:p>
        </p:txBody>
      </p:sp>
      <p:pic>
        <p:nvPicPr>
          <p:cNvPr id="4" name="Afbeelding 3">
            <a:extLst>
              <a:ext uri="{FF2B5EF4-FFF2-40B4-BE49-F238E27FC236}">
                <a16:creationId xmlns:a16="http://schemas.microsoft.com/office/drawing/2014/main" id="{045A6CC5-4ABB-26D7-D725-B1235A1D7B09}"/>
              </a:ext>
            </a:extLst>
          </p:cNvPr>
          <p:cNvPicPr>
            <a:picLocks noChangeAspect="1"/>
          </p:cNvPicPr>
          <p:nvPr/>
        </p:nvPicPr>
        <p:blipFill>
          <a:blip r:embed="rId3"/>
          <a:stretch>
            <a:fillRect/>
          </a:stretch>
        </p:blipFill>
        <p:spPr>
          <a:xfrm>
            <a:off x="7241096" y="3792435"/>
            <a:ext cx="2805112" cy="28346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lvl="0" indent="0">
                  <a:spcBef>
                    <a:spcPts val="3000"/>
                  </a:spcBef>
                  <a:buNone/>
                </a:pPr>
                <a:r>
                  <a:rPr lang="nl-BE" b="1" dirty="0"/>
                  <a:t>Formules </a:t>
                </a:r>
                <a:r>
                  <a:rPr lang="nl-BE" b="1" dirty="0" err="1"/>
                  <a:t>bij</a:t>
                </a:r>
                <a:r>
                  <a:rPr lang="nl-BE" b="1" dirty="0"/>
                  <a:t> </a:t>
                </a:r>
                <a:r>
                  <a:rPr lang="nl-BE" b="1" dirty="0" err="1"/>
                  <a:t>constante</a:t>
                </a:r>
                <a:r>
                  <a:rPr lang="nl-BE" b="1" dirty="0"/>
                  <a:t> </a:t>
                </a:r>
                <a:r>
                  <a:rPr lang="nl-BE" b="1" dirty="0" err="1"/>
                  <a:t>snelheid</a:t>
                </a:r>
                <a:endParaRPr lang="nl-BE" b="1" dirty="0"/>
              </a:p>
              <a:p>
                <a:pPr lvl="0"/>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𝑥</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𝛥</m:t>
                        </m:r>
                        <m:r>
                          <a:rPr lang="ar-AE">
                            <a:latin typeface="Cambria Math" panose="02040503050406030204" pitchFamily="18" charset="0"/>
                          </a:rPr>
                          <m:t>𝑥</m:t>
                        </m:r>
                      </m:num>
                      <m:den>
                        <m:r>
                          <a:rPr lang="ar-AE">
                            <a:latin typeface="Cambria Math" panose="02040503050406030204" pitchFamily="18" charset="0"/>
                          </a:rPr>
                          <m:t>𝛥</m:t>
                        </m:r>
                        <m:r>
                          <a:rPr lang="ar-AE">
                            <a:latin typeface="Cambria Math" panose="02040503050406030204" pitchFamily="18" charset="0"/>
                          </a:rPr>
                          <m:t>𝑡</m:t>
                        </m:r>
                      </m:den>
                    </m:f>
                  </m:oMath>
                </a14:m>
                <a:endParaRPr lang="ar-AE" b="1" dirty="0"/>
              </a:p>
              <a:p>
                <a:pPr marL="0" lvl="0" indent="0">
                  <a:buNone/>
                </a:pPr>
                <a:br>
                  <a:rPr lang="ar-AE" dirty="0"/>
                </a:br>
                <a:endParaRPr lang="ar-AE" dirty="0"/>
              </a:p>
              <a:p>
                <a:pPr lvl="0"/>
                <a14:m>
                  <m:oMath xmlns:m="http://schemas.openxmlformats.org/officeDocument/2006/math">
                    <m:r>
                      <a:rPr lang="ar-AE">
                        <a:latin typeface="Cambria Math" panose="02040503050406030204" pitchFamily="18" charset="0"/>
                      </a:rPr>
                      <m:t>𝛥</m:t>
                    </m:r>
                    <m:r>
                      <a:rPr lang="ar-AE">
                        <a:latin typeface="Cambria Math" panose="02040503050406030204" pitchFamily="18" charset="0"/>
                      </a:rPr>
                      <m:t>𝑥</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𝑥</m:t>
                        </m:r>
                      </m:sub>
                    </m:sSub>
                    <m:r>
                      <a:rPr lang="ar-AE">
                        <a:latin typeface="Cambria Math" panose="02040503050406030204" pitchFamily="18" charset="0"/>
                      </a:rPr>
                      <m:t>⋅</m:t>
                    </m:r>
                    <m:r>
                      <a:rPr lang="ar-AE">
                        <a:latin typeface="Cambria Math" panose="02040503050406030204" pitchFamily="18" charset="0"/>
                      </a:rPr>
                      <m:t>𝛥</m:t>
                    </m:r>
                    <m:r>
                      <a:rPr lang="ar-AE">
                        <a:latin typeface="Cambria Math" panose="02040503050406030204" pitchFamily="18" charset="0"/>
                      </a:rPr>
                      <m:t>𝑡</m:t>
                    </m:r>
                  </m:oMath>
                </a14:m>
                <a:endParaRPr lang="ar-AE" dirty="0">
                  <a:latin typeface="Cambria Math" panose="02040503050406030204" pitchFamily="18" charset="0"/>
                </a:endParaRPr>
              </a:p>
              <a:p>
                <a:pPr lvl="0"/>
                <a14:m>
                  <m:oMath xmlns:m="http://schemas.openxmlformats.org/officeDocument/2006/math">
                    <m:r>
                      <a:rPr lang="ar-AE">
                        <a:latin typeface="Cambria Math" panose="02040503050406030204" pitchFamily="18" charset="0"/>
                      </a:rPr>
                      <m:t>𝑥</m:t>
                    </m:r>
                    <m:r>
                      <a:rPr lang="nl-BE" b="0" i="0" smtClean="0">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𝑥</m:t>
                        </m:r>
                      </m:sub>
                    </m:sSub>
                    <m:r>
                      <a:rPr lang="ar-AE">
                        <a:latin typeface="Cambria Math" panose="02040503050406030204" pitchFamily="18" charset="0"/>
                      </a:rPr>
                      <m:t>⋅</m:t>
                    </m:r>
                    <m:r>
                      <a:rPr lang="ar-AE">
                        <a:latin typeface="Cambria Math" panose="02040503050406030204" pitchFamily="18" charset="0"/>
                      </a:rPr>
                      <m:t>𝛥</m:t>
                    </m:r>
                    <m:r>
                      <a:rPr lang="ar-AE">
                        <a:latin typeface="Cambria Math" panose="02040503050406030204" pitchFamily="18" charset="0"/>
                      </a:rPr>
                      <m:t>𝑡</m:t>
                    </m:r>
                  </m:oMath>
                </a14:m>
                <a:endParaRPr lang="nl-BE" dirty="0">
                  <a:latin typeface="Cambria Math" panose="02040503050406030204" pitchFamily="18" charset="0"/>
                </a:endParaRPr>
              </a:p>
              <a:p>
                <a:pPr lvl="0"/>
                <a14:m>
                  <m:oMath xmlns:m="http://schemas.openxmlformats.org/officeDocument/2006/math">
                    <m:r>
                      <a:rPr lang="ar-AE">
                        <a:latin typeface="Cambria Math" panose="02040503050406030204" pitchFamily="18" charset="0"/>
                      </a:rPr>
                      <m:t>𝑥</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𝑥</m:t>
                        </m:r>
                      </m:sub>
                    </m:sSub>
                    <m:r>
                      <a:rPr lang="ar-AE">
                        <a:latin typeface="Cambria Math" panose="02040503050406030204" pitchFamily="18" charset="0"/>
                      </a:rPr>
                      <m:t>⋅</m:t>
                    </m:r>
                    <m:r>
                      <a:rPr lang="ar-AE">
                        <a:latin typeface="Cambria Math" panose="02040503050406030204" pitchFamily="18" charset="0"/>
                      </a:rPr>
                      <m:t>𝛥</m:t>
                    </m:r>
                    <m:r>
                      <a:rPr lang="ar-AE">
                        <a:latin typeface="Cambria Math" panose="02040503050406030204" pitchFamily="18" charset="0"/>
                      </a:rPr>
                      <m:t>𝑡</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𝑥</m:t>
                        </m:r>
                      </m:sub>
                    </m:sSub>
                    <m:d>
                      <m:dPr>
                        <m:ctrlPr>
                          <a:rPr lang="ar-AE">
                            <a:latin typeface="Cambria Math" panose="02040503050406030204" pitchFamily="18" charset="0"/>
                          </a:rPr>
                        </m:ctrlPr>
                      </m:dPr>
                      <m:e>
                        <m:r>
                          <a:rPr lang="ar-AE">
                            <a:latin typeface="Cambria Math" panose="02040503050406030204" pitchFamily="18" charset="0"/>
                          </a:rPr>
                          <m:t>𝑡</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0</m:t>
                            </m:r>
                          </m:sub>
                        </m:sSub>
                      </m:e>
                    </m:d>
                  </m:oMath>
                </a14:m>
                <a:endParaRPr lang="ar-AE" dirty="0"/>
              </a:p>
              <a:p>
                <a:pPr marL="1270000" lvl="0" indent="0">
                  <a:buNone/>
                </a:pPr>
                <a:r>
                  <a:rPr lang="nl-BE" sz="2000" dirty="0"/>
                  <a:t>Je </a:t>
                </a:r>
                <a:r>
                  <a:rPr lang="nl-BE" sz="2000" dirty="0" err="1"/>
                  <a:t>hebt</a:t>
                </a:r>
                <a:r>
                  <a:rPr lang="nl-BE" sz="2000" dirty="0"/>
                  <a:t>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0</m:t>
                        </m:r>
                      </m:sub>
                    </m:sSub>
                  </m:oMath>
                </a14:m>
                <a:r>
                  <a:rPr lang="ar-AE" sz="2000" b="1" dirty="0"/>
                  <a:t> </a:t>
                </a:r>
                <a:r>
                  <a:rPr lang="nl-BE" sz="2000" b="1" dirty="0" err="1"/>
                  <a:t>nodig</a:t>
                </a:r>
                <a:r>
                  <a:rPr lang="nl-BE" sz="2000" dirty="0"/>
                  <a:t> om de </a:t>
                </a:r>
                <a:r>
                  <a:rPr lang="nl-BE" sz="2000" b="1" dirty="0" err="1"/>
                  <a:t>plaats</a:t>
                </a:r>
                <a:r>
                  <a:rPr lang="nl-BE" sz="2000" dirty="0"/>
                  <a:t> </a:t>
                </a:r>
                <a:r>
                  <a:rPr lang="nl-BE" sz="2000" dirty="0" err="1"/>
                  <a:t>te</a:t>
                </a:r>
                <a:r>
                  <a:rPr lang="nl-BE" sz="2000" dirty="0"/>
                  <a:t> </a:t>
                </a:r>
                <a:r>
                  <a:rPr lang="nl-BE" sz="2000" dirty="0" err="1"/>
                  <a:t>berekenen</a:t>
                </a:r>
                <a:r>
                  <a:rPr lang="nl-BE" sz="2000" dirty="0"/>
                  <a:t>.</a:t>
                </a:r>
                <a:br>
                  <a:rPr lang="nl-BE" dirty="0"/>
                </a:br>
                <a:r>
                  <a:rPr lang="nl-BE" sz="2000" dirty="0"/>
                  <a:t>De </a:t>
                </a:r>
                <a:r>
                  <a:rPr lang="nl-BE" sz="2000" dirty="0" err="1"/>
                  <a:t>grafiek</a:t>
                </a:r>
                <a:r>
                  <a:rPr lang="nl-BE" sz="2000" dirty="0"/>
                  <a:t> </a:t>
                </a:r>
                <a:r>
                  <a:rPr lang="nl-BE" sz="2000" dirty="0" err="1"/>
                  <a:t>toont</a:t>
                </a:r>
                <a:r>
                  <a:rPr lang="nl-BE" sz="2000" dirty="0"/>
                  <a:t> </a:t>
                </a:r>
                <a:r>
                  <a:rPr lang="nl-BE" sz="2000" dirty="0" err="1"/>
                  <a:t>enkel</a:t>
                </a:r>
                <a:r>
                  <a:rPr lang="nl-BE" sz="2000" dirty="0"/>
                  <a:t> de </a:t>
                </a:r>
                <a:r>
                  <a:rPr lang="nl-BE" sz="2000" b="1" dirty="0" err="1"/>
                  <a:t>verplaatsing</a:t>
                </a:r>
                <a:r>
                  <a:rPr lang="nl-BE" sz="2000" dirty="0"/>
                  <a:t>, </a:t>
                </a:r>
                <a:r>
                  <a:rPr lang="nl-BE" sz="2000" dirty="0" err="1"/>
                  <a:t>niet</a:t>
                </a:r>
                <a:r>
                  <a:rPr lang="nl-BE" sz="2000" dirty="0"/>
                  <a:t> de absolute </a:t>
                </a:r>
                <a:r>
                  <a:rPr lang="nl-BE" sz="2000" dirty="0" err="1"/>
                  <a:t>positie</a:t>
                </a:r>
                <a:r>
                  <a:rPr lang="nl-BE" sz="2000" dirty="0"/>
                  <a:t>.</a:t>
                </a:r>
                <a:endParaRPr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2" name="Afbeelding 1">
            <a:extLst>
              <a:ext uri="{FF2B5EF4-FFF2-40B4-BE49-F238E27FC236}">
                <a16:creationId xmlns:a16="http://schemas.microsoft.com/office/drawing/2014/main" id="{47C93936-1F53-2816-F90B-07FFA7887F33}"/>
              </a:ext>
            </a:extLst>
          </p:cNvPr>
          <p:cNvPicPr>
            <a:picLocks noChangeAspect="1"/>
          </p:cNvPicPr>
          <p:nvPr/>
        </p:nvPicPr>
        <p:blipFill>
          <a:blip r:embed="rId3"/>
          <a:stretch>
            <a:fillRect/>
          </a:stretch>
        </p:blipFill>
        <p:spPr>
          <a:xfrm>
            <a:off x="7693152" y="1916643"/>
            <a:ext cx="3560064" cy="3597539"/>
          </a:xfrm>
          <a:prstGeom prst="rect">
            <a:avLst/>
          </a:prstGeom>
        </p:spPr>
      </p:pic>
      <p:sp>
        <p:nvSpPr>
          <p:cNvPr id="4" name="Title 1">
            <a:extLst>
              <a:ext uri="{FF2B5EF4-FFF2-40B4-BE49-F238E27FC236}">
                <a16:creationId xmlns:a16="http://schemas.microsoft.com/office/drawing/2014/main" id="{122092CA-1F9C-CD69-FB79-8698B0B31ADB}"/>
              </a:ext>
            </a:extLst>
          </p:cNvPr>
          <p:cNvSpPr>
            <a:spLocks noGrp="1"/>
          </p:cNvSpPr>
          <p:nvPr>
            <p:ph type="title"/>
          </p:nvPr>
        </p:nvSpPr>
        <p:spPr>
          <a:xfrm>
            <a:off x="745733" y="18255"/>
            <a:ext cx="10515600" cy="1325563"/>
          </a:xfrm>
        </p:spPr>
        <p:txBody>
          <a:bodyPr/>
          <a:lstStyle/>
          <a:p>
            <a:pPr marL="0" lvl="0" indent="0">
              <a:buNone/>
            </a:pPr>
            <a:r>
              <a:rPr dirty="0"/>
              <a:t>Constante </a:t>
            </a:r>
            <a:r>
              <a:rPr dirty="0" err="1"/>
              <a:t>snelheid</a:t>
            </a:r>
            <a:r>
              <a:rPr dirty="0"/>
              <a:t> </a:t>
            </a:r>
            <a:r>
              <a:rPr dirty="0" err="1"/>
              <a:t>langs</a:t>
            </a:r>
            <a:r>
              <a:rPr dirty="0"/>
              <a:t> de x-as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704" y="18255"/>
            <a:ext cx="11928296" cy="1325563"/>
          </a:xfrm>
        </p:spPr>
        <p:txBody>
          <a:bodyPr>
            <a:normAutofit fontScale="90000"/>
          </a:bodyPr>
          <a:lstStyle/>
          <a:p>
            <a:pPr marL="0" lvl="0" indent="0">
              <a:buNone/>
            </a:pPr>
            <a:r>
              <a:rPr i="1" dirty="0" err="1"/>
              <a:t>Verplaatsing</a:t>
            </a:r>
            <a:r>
              <a:rPr i="1" dirty="0"/>
              <a:t> </a:t>
            </a:r>
            <a:r>
              <a:rPr i="1" dirty="0" err="1"/>
              <a:t>en</a:t>
            </a:r>
            <a:r>
              <a:rPr i="1" dirty="0"/>
              <a:t> </a:t>
            </a:r>
            <a:r>
              <a:rPr i="1" dirty="0" err="1"/>
              <a:t>tijd</a:t>
            </a:r>
            <a:r>
              <a:rPr i="1" dirty="0"/>
              <a:t> </a:t>
            </a:r>
            <a:r>
              <a:rPr i="1" dirty="0" err="1"/>
              <a:t>zijn</a:t>
            </a:r>
            <a:r>
              <a:rPr i="1" dirty="0"/>
              <a:t> </a:t>
            </a:r>
            <a:r>
              <a:rPr i="1" dirty="0" err="1"/>
              <a:t>verbonden</a:t>
            </a:r>
            <a:r>
              <a:rPr lang="nl-BE" i="1" dirty="0"/>
              <a:t> (ter info)</a:t>
            </a:r>
            <a:endParaRPr i="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0"/>
                <a:r>
                  <a:rPr i="1" dirty="0"/>
                  <a:t>Je </a:t>
                </a:r>
                <a:r>
                  <a:rPr i="1" dirty="0" err="1"/>
                  <a:t>kan</a:t>
                </a:r>
                <a:r>
                  <a:rPr i="1" dirty="0"/>
                  <a:t> </a:t>
                </a:r>
                <a:r>
                  <a:rPr b="1" i="1" dirty="0" err="1"/>
                  <a:t>geen</a:t>
                </a:r>
                <a:r>
                  <a:rPr b="1" i="1" dirty="0"/>
                  <a:t> </a:t>
                </a:r>
                <a:r>
                  <a:rPr b="1" i="1" dirty="0" err="1"/>
                  <a:t>verplaatsing</a:t>
                </a:r>
                <a:r>
                  <a:rPr i="1" dirty="0"/>
                  <a:t> </a:t>
                </a:r>
                <a:r>
                  <a:rPr i="1" dirty="0" err="1"/>
                  <a:t>hebben</a:t>
                </a:r>
                <a:r>
                  <a:rPr i="1" dirty="0"/>
                  <a:t> </a:t>
                </a:r>
                <a:r>
                  <a:rPr i="1" dirty="0" err="1"/>
                  <a:t>zonder</a:t>
                </a:r>
                <a:r>
                  <a:rPr i="1" dirty="0"/>
                  <a:t> </a:t>
                </a:r>
                <a:r>
                  <a:rPr i="1" dirty="0" err="1"/>
                  <a:t>dat</a:t>
                </a:r>
                <a:r>
                  <a:rPr i="1" dirty="0"/>
                  <a:t> er </a:t>
                </a:r>
                <a:r>
                  <a:rPr b="1" i="1" dirty="0" err="1"/>
                  <a:t>tijd</a:t>
                </a:r>
                <a:r>
                  <a:rPr i="1" dirty="0"/>
                  <a:t> </a:t>
                </a:r>
                <a:r>
                  <a:rPr i="1" dirty="0" err="1"/>
                  <a:t>verstrijkt</a:t>
                </a:r>
                <a:r>
                  <a:rPr i="1" dirty="0"/>
                  <a:t>.</a:t>
                </a:r>
              </a:p>
              <a:p>
                <a:pPr lvl="0"/>
                <a:r>
                  <a:rPr i="1" dirty="0"/>
                  <a:t>In het </a:t>
                </a:r>
                <a:r>
                  <a:rPr b="1" i="1" dirty="0"/>
                  <a:t>SI-</a:t>
                </a:r>
                <a:r>
                  <a:rPr b="1" i="1" dirty="0" err="1"/>
                  <a:t>systeem</a:t>
                </a:r>
                <a:r>
                  <a:rPr i="1" dirty="0"/>
                  <a:t> </a:t>
                </a:r>
                <a:r>
                  <a:rPr i="1" dirty="0" err="1"/>
                  <a:t>zijn</a:t>
                </a:r>
                <a:r>
                  <a:rPr i="1" dirty="0"/>
                  <a:t> </a:t>
                </a:r>
                <a:r>
                  <a:rPr i="1" dirty="0" err="1"/>
                  <a:t>afstand</a:t>
                </a:r>
                <a:r>
                  <a:rPr i="1" dirty="0"/>
                  <a:t> </a:t>
                </a:r>
                <a:r>
                  <a:rPr i="1" dirty="0" err="1"/>
                  <a:t>en</a:t>
                </a:r>
                <a:r>
                  <a:rPr i="1" dirty="0"/>
                  <a:t> </a:t>
                </a:r>
                <a:r>
                  <a:rPr i="1" dirty="0" err="1"/>
                  <a:t>tijd</a:t>
                </a:r>
                <a:r>
                  <a:rPr i="1" dirty="0"/>
                  <a:t> </a:t>
                </a:r>
                <a:r>
                  <a:rPr i="1" dirty="0" err="1"/>
                  <a:t>gekoppeld</a:t>
                </a:r>
                <a:r>
                  <a:rPr i="1" dirty="0"/>
                  <a:t> via de </a:t>
                </a:r>
                <a:r>
                  <a:rPr b="1" i="1" dirty="0" err="1"/>
                  <a:t>lichtsnelheid</a:t>
                </a:r>
                <a:r>
                  <a:rPr i="1" dirty="0"/>
                  <a:t>.</a:t>
                </a:r>
                <a:endParaRPr lang="nl-BE" i="1" dirty="0"/>
              </a:p>
              <a:p>
                <a:pPr marL="0" lvl="0" indent="0">
                  <a:spcBef>
                    <a:spcPts val="3000"/>
                  </a:spcBef>
                  <a:buNone/>
                </a:pPr>
                <a:r>
                  <a:rPr lang="nl-BE" b="1" i="1" dirty="0"/>
                  <a:t>SI-</a:t>
                </a:r>
                <a:r>
                  <a:rPr lang="nl-BE" b="1" i="1" dirty="0" err="1"/>
                  <a:t>definitie</a:t>
                </a:r>
                <a:r>
                  <a:rPr lang="nl-BE" b="1" i="1" dirty="0"/>
                  <a:t> van 1 meter</a:t>
                </a:r>
              </a:p>
              <a:p>
                <a:pPr lvl="0"/>
                <a:r>
                  <a:rPr lang="nl-BE" i="1" dirty="0"/>
                  <a:t>1 meter = </a:t>
                </a:r>
                <a:r>
                  <a:rPr lang="nl-BE" i="1" dirty="0" err="1"/>
                  <a:t>afstand</a:t>
                </a:r>
                <a:r>
                  <a:rPr lang="nl-BE" i="1" dirty="0"/>
                  <a:t> die </a:t>
                </a:r>
                <a:r>
                  <a:rPr lang="nl-BE" i="1" dirty="0" err="1"/>
                  <a:t>licht</a:t>
                </a:r>
                <a:r>
                  <a:rPr lang="nl-BE" i="1" dirty="0"/>
                  <a:t> </a:t>
                </a:r>
                <a:r>
                  <a:rPr lang="nl-BE" i="1" dirty="0" err="1"/>
                  <a:t>aflegt</a:t>
                </a:r>
                <a:r>
                  <a:rPr lang="nl-BE" i="1" dirty="0"/>
                  <a:t> in </a:t>
                </a:r>
                <a:r>
                  <a:rPr lang="nl-BE" i="1" dirty="0" err="1"/>
                  <a:t>vacuüm</a:t>
                </a:r>
                <a:r>
                  <a:rPr lang="nl-BE" i="1" dirty="0"/>
                  <a:t> in </a:t>
                </a:r>
                <a14:m>
                  <m:oMath xmlns:m="http://schemas.openxmlformats.org/officeDocument/2006/math">
                    <m:f>
                      <m:fPr>
                        <m:ctrlPr>
                          <a:rPr lang="ar-AE" i="1" smtClean="0">
                            <a:latin typeface="Cambria Math" panose="02040503050406030204" pitchFamily="18" charset="0"/>
                          </a:rPr>
                        </m:ctrlPr>
                      </m:fPr>
                      <m:num>
                        <m:r>
                          <a:rPr lang="ar-AE" i="1" smtClean="0">
                            <a:latin typeface="Cambria Math" panose="02040503050406030204" pitchFamily="18" charset="0"/>
                          </a:rPr>
                          <m:t>1</m:t>
                        </m:r>
                      </m:num>
                      <m:den>
                        <m:r>
                          <a:rPr lang="ar-AE" i="1" smtClean="0">
                            <a:latin typeface="Cambria Math" panose="02040503050406030204" pitchFamily="18" charset="0"/>
                          </a:rPr>
                          <m:t>299 792 458</m:t>
                        </m:r>
                      </m:den>
                    </m:f>
                    <m:r>
                      <a:rPr lang="ar-AE" i="1" smtClean="0">
                        <a:latin typeface="Cambria Math" panose="02040503050406030204" pitchFamily="18" charset="0"/>
                      </a:rPr>
                      <m:t> </m:t>
                    </m:r>
                    <m:r>
                      <m:rPr>
                        <m:nor/>
                      </m:rPr>
                      <a:rPr lang="nl-BE" i="1"/>
                      <m:t>s</m:t>
                    </m:r>
                  </m:oMath>
                </a14:m>
                <a:endParaRPr lang="nl-BE" i="1" dirty="0"/>
              </a:p>
              <a:p>
                <a:pPr lvl="0"/>
                <a:r>
                  <a:rPr lang="nl-BE" i="1" dirty="0"/>
                  <a:t>In </a:t>
                </a:r>
                <a:r>
                  <a:rPr lang="nl-BE" b="1" i="1" dirty="0"/>
                  <a:t>1 </a:t>
                </a:r>
                <a:r>
                  <a:rPr lang="nl-BE" b="1" i="1" dirty="0" err="1"/>
                  <a:t>nanoseconde</a:t>
                </a:r>
                <a:r>
                  <a:rPr lang="nl-BE" i="1" dirty="0"/>
                  <a:t> </a:t>
                </a:r>
                <a:r>
                  <a:rPr lang="nl-BE" i="1" dirty="0" err="1"/>
                  <a:t>verplaatst</a:t>
                </a:r>
                <a:r>
                  <a:rPr lang="nl-BE" i="1" dirty="0"/>
                  <a:t> </a:t>
                </a:r>
                <a:r>
                  <a:rPr lang="nl-BE" i="1" dirty="0" err="1"/>
                  <a:t>licht</a:t>
                </a:r>
                <a:r>
                  <a:rPr lang="nl-BE" i="1" dirty="0"/>
                  <a:t> </a:t>
                </a:r>
                <a:r>
                  <a:rPr lang="nl-BE" i="1" dirty="0" err="1"/>
                  <a:t>zich</a:t>
                </a:r>
                <a:r>
                  <a:rPr lang="nl-BE" i="1" dirty="0"/>
                  <a:t> </a:t>
                </a:r>
                <a:r>
                  <a:rPr lang="nl-BE" i="1" dirty="0" err="1"/>
                  <a:t>ongeveer</a:t>
                </a:r>
                <a:r>
                  <a:rPr lang="nl-BE" i="1" dirty="0"/>
                  <a:t> </a:t>
                </a:r>
                <a:r>
                  <a:rPr lang="nl-BE" b="1" i="1" dirty="0"/>
                  <a:t>30 cm</a:t>
                </a:r>
                <a:r>
                  <a:rPr lang="nl-BE" i="1" dirty="0"/>
                  <a:t>.</a:t>
                </a:r>
              </a:p>
              <a:p>
                <a:pPr marL="1270000" lvl="0" indent="0">
                  <a:buNone/>
                </a:pPr>
                <a:r>
                  <a:rPr lang="nl-BE" sz="2000" i="1" dirty="0" err="1"/>
                  <a:t>Verplaatsing</a:t>
                </a:r>
                <a:r>
                  <a:rPr lang="nl-BE" sz="2000" i="1" dirty="0"/>
                  <a:t> </a:t>
                </a:r>
                <a:r>
                  <a:rPr lang="nl-BE" sz="2000" i="1" dirty="0" err="1"/>
                  <a:t>en</a:t>
                </a:r>
                <a:r>
                  <a:rPr lang="nl-BE" sz="2000" i="1" dirty="0"/>
                  <a:t> </a:t>
                </a:r>
                <a:r>
                  <a:rPr lang="nl-BE" sz="2000" i="1" dirty="0" err="1"/>
                  <a:t>tijd</a:t>
                </a:r>
                <a:r>
                  <a:rPr lang="nl-BE" sz="2000" i="1" dirty="0"/>
                  <a:t> </a:t>
                </a:r>
                <a:r>
                  <a:rPr lang="nl-BE" sz="2000" i="1" dirty="0" err="1"/>
                  <a:t>zijn</a:t>
                </a:r>
                <a:r>
                  <a:rPr lang="nl-BE" sz="2000" i="1" dirty="0"/>
                  <a:t> </a:t>
                </a:r>
                <a:r>
                  <a:rPr lang="nl-BE" sz="2000" i="1" dirty="0" err="1"/>
                  <a:t>fundamenteel</a:t>
                </a:r>
                <a:r>
                  <a:rPr lang="nl-BE" sz="2000" i="1" dirty="0"/>
                  <a:t> </a:t>
                </a:r>
                <a:r>
                  <a:rPr lang="nl-BE" sz="2000" i="1" dirty="0" err="1"/>
                  <a:t>verbonden</a:t>
                </a:r>
                <a:r>
                  <a:rPr lang="nl-BE" sz="2000" i="1" dirty="0"/>
                  <a:t> in de </a:t>
                </a:r>
                <a:r>
                  <a:rPr lang="nl-BE" sz="2000" i="1" dirty="0" err="1"/>
                  <a:t>natuur</a:t>
                </a:r>
                <a:r>
                  <a:rPr lang="nl-BE" sz="2000" i="1" dirty="0"/>
                  <a:t> </a:t>
                </a:r>
                <a:r>
                  <a:rPr lang="nl-BE" sz="2000" i="1" dirty="0" err="1"/>
                  <a:t>én</a:t>
                </a:r>
                <a:r>
                  <a:rPr lang="nl-BE" sz="2000" i="1" dirty="0"/>
                  <a:t> in het SI-</a:t>
                </a:r>
                <a:r>
                  <a:rPr lang="nl-BE" sz="2000" i="1" dirty="0" err="1"/>
                  <a:t>systeem</a:t>
                </a:r>
                <a:r>
                  <a:rPr lang="nl-BE" sz="2000" i="1" dirty="0"/>
                  <a:t>.</a:t>
                </a:r>
              </a:p>
              <a:p>
                <a:pPr lvl="0"/>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431EE-943A-11D8-D946-53BAF352E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8B57E-9B17-992F-E008-B4C2E315FC85}"/>
              </a:ext>
            </a:extLst>
          </p:cNvPr>
          <p:cNvSpPr>
            <a:spLocks noGrp="1"/>
          </p:cNvSpPr>
          <p:nvPr>
            <p:ph type="title"/>
          </p:nvPr>
        </p:nvSpPr>
        <p:spPr/>
        <p:txBody>
          <a:bodyPr/>
          <a:lstStyle/>
          <a:p>
            <a:pPr marL="0" lvl="0" indent="0">
              <a:buNone/>
            </a:pPr>
            <a:r>
              <a:rPr lang="nl-BE" dirty="0"/>
              <a:t>Test jezelf (</a:t>
            </a:r>
            <a:r>
              <a:rPr dirty="0" err="1"/>
              <a:t>Waar</a:t>
            </a:r>
            <a:r>
              <a:rPr lang="nl-BE" dirty="0"/>
              <a:t>/ </a:t>
            </a:r>
            <a:r>
              <a:rPr lang="nl-BE" dirty="0" err="1"/>
              <a:t>niet-waar</a:t>
            </a:r>
            <a:r>
              <a:rPr lang="nl-BE" dirty="0"/>
              <a:t>)</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D788B7-7EB3-9AB4-3B62-EA2EC7655E73}"/>
                  </a:ext>
                </a:extLst>
              </p:cNvPr>
              <p:cNvSpPr>
                <a:spLocks noGrp="1"/>
              </p:cNvSpPr>
              <p:nvPr>
                <p:ph idx="1"/>
              </p:nvPr>
            </p:nvSpPr>
            <p:spPr>
              <a:xfrm>
                <a:off x="318499" y="1343818"/>
                <a:ext cx="11609798" cy="5495927"/>
              </a:xfrm>
            </p:spPr>
            <p:txBody>
              <a:bodyPr>
                <a:normAutofit fontScale="70000" lnSpcReduction="20000"/>
              </a:bodyPr>
              <a:lstStyle/>
              <a:p>
                <a:pPr marL="457200" lvl="0" indent="-457200">
                  <a:spcBef>
                    <a:spcPts val="1200"/>
                  </a:spcBef>
                  <a:buAutoNum type="arabicParenR"/>
                </a:pPr>
                <a:r>
                  <a:rPr sz="3800" dirty="0" err="1"/>
                  <a:t>Plaats</a:t>
                </a:r>
                <a:r>
                  <a:rPr sz="3800" dirty="0"/>
                  <a:t> in </a:t>
                </a:r>
                <a:r>
                  <a:rPr sz="3800" dirty="0" err="1"/>
                  <a:t>ruimte</a:t>
                </a:r>
                <a:r>
                  <a:rPr sz="3800" dirty="0"/>
                  <a:t> </a:t>
                </a:r>
                <a:r>
                  <a:rPr lang="nl-BE" sz="3800" dirty="0"/>
                  <a:t>heeft </a:t>
                </a:r>
                <a:r>
                  <a:rPr sz="3800" b="1" dirty="0" err="1"/>
                  <a:t>drie</a:t>
                </a:r>
                <a:r>
                  <a:rPr sz="3800" b="1" dirty="0"/>
                  <a:t> </a:t>
                </a:r>
                <a:r>
                  <a:rPr sz="3800" b="1" dirty="0" err="1"/>
                  <a:t>coördinaten</a:t>
                </a:r>
                <a:r>
                  <a:rPr sz="3800" dirty="0"/>
                  <a:t>.</a:t>
                </a:r>
                <a:endParaRPr lang="nl-BE" sz="3800" dirty="0"/>
              </a:p>
              <a:p>
                <a:pPr marL="457200" lvl="0" indent="-457200">
                  <a:spcBef>
                    <a:spcPts val="1200"/>
                  </a:spcBef>
                  <a:buAutoNum type="arabicParenR"/>
                </a:pPr>
                <a:r>
                  <a:rPr sz="3800" b="1" dirty="0" err="1"/>
                  <a:t>Tijdsduur</a:t>
                </a:r>
                <a:r>
                  <a:rPr sz="3800" dirty="0"/>
                  <a:t> is </a:t>
                </a:r>
                <a:r>
                  <a:rPr sz="3800" dirty="0" err="1"/>
                  <a:t>altijd</a:t>
                </a:r>
                <a:r>
                  <a:rPr sz="3800" dirty="0"/>
                  <a:t> </a:t>
                </a:r>
                <a:r>
                  <a:rPr sz="3800" b="1" dirty="0" err="1"/>
                  <a:t>positief</a:t>
                </a:r>
                <a:r>
                  <a:rPr sz="3800" dirty="0"/>
                  <a:t>.</a:t>
                </a:r>
                <a:br>
                  <a:rPr sz="3800" dirty="0"/>
                </a:br>
                <a:endParaRPr sz="3800" dirty="0"/>
              </a:p>
              <a:p>
                <a:pPr marL="457200" lvl="0" indent="-457200">
                  <a:spcBef>
                    <a:spcPts val="1200"/>
                  </a:spcBef>
                  <a:buAutoNum type="arabicParenR"/>
                </a:pPr>
                <a:r>
                  <a:rPr sz="3800" dirty="0"/>
                  <a:t>Bij </a:t>
                </a:r>
                <a:r>
                  <a:rPr sz="3800" b="1" dirty="0" err="1"/>
                  <a:t>constante</a:t>
                </a:r>
                <a:r>
                  <a:rPr sz="3800" b="1" dirty="0"/>
                  <a:t> </a:t>
                </a:r>
                <a:r>
                  <a:rPr sz="3800" b="1" dirty="0" err="1"/>
                  <a:t>snelheid</a:t>
                </a:r>
                <a:r>
                  <a:rPr sz="3800" dirty="0"/>
                  <a:t> is </a:t>
                </a:r>
                <a14:m>
                  <m:oMath xmlns:m="http://schemas.openxmlformats.org/officeDocument/2006/math">
                    <m:sSub>
                      <m:sSubPr>
                        <m:ctrlPr>
                          <a:rPr sz="3800">
                            <a:latin typeface="Cambria Math" panose="02040503050406030204" pitchFamily="18" charset="0"/>
                          </a:rPr>
                        </m:ctrlPr>
                      </m:sSubPr>
                      <m:e>
                        <m:r>
                          <a:rPr sz="3800">
                            <a:latin typeface="Cambria Math" panose="02040503050406030204" pitchFamily="18" charset="0"/>
                          </a:rPr>
                          <m:t>𝑣</m:t>
                        </m:r>
                      </m:e>
                      <m:sub>
                        <m:r>
                          <m:rPr>
                            <m:nor/>
                          </m:rPr>
                          <a:rPr sz="3800" i="0"/>
                          <m:t>gem</m:t>
                        </m:r>
                      </m:sub>
                    </m:sSub>
                  </m:oMath>
                </a14:m>
                <a:r>
                  <a:rPr sz="3800" dirty="0"/>
                  <a:t> </a:t>
                </a:r>
                <a:r>
                  <a:rPr sz="3800" b="1" dirty="0" err="1"/>
                  <a:t>niet</a:t>
                </a:r>
                <a:r>
                  <a:rPr sz="3800" b="1" dirty="0"/>
                  <a:t> </a:t>
                </a:r>
                <a:r>
                  <a:rPr sz="3800" b="1" dirty="0" err="1"/>
                  <a:t>gelijk</a:t>
                </a:r>
                <a:r>
                  <a:rPr sz="3800" dirty="0"/>
                  <a:t> </a:t>
                </a:r>
                <a:r>
                  <a:rPr sz="3800" dirty="0" err="1"/>
                  <a:t>aan</a:t>
                </a:r>
                <a:r>
                  <a:rPr sz="3800" dirty="0"/>
                  <a:t> </a:t>
                </a:r>
                <a14:m>
                  <m:oMath xmlns:m="http://schemas.openxmlformats.org/officeDocument/2006/math">
                    <m:r>
                      <a:rPr sz="3800">
                        <a:latin typeface="Cambria Math" panose="02040503050406030204" pitchFamily="18" charset="0"/>
                      </a:rPr>
                      <m:t>𝑣</m:t>
                    </m:r>
                  </m:oMath>
                </a14:m>
                <a:r>
                  <a:rPr sz="3800" dirty="0"/>
                  <a:t> (de </a:t>
                </a:r>
                <a:r>
                  <a:rPr sz="3800" dirty="0" err="1"/>
                  <a:t>grootte</a:t>
                </a:r>
                <a:r>
                  <a:rPr sz="3800" dirty="0"/>
                  <a:t>).</a:t>
                </a:r>
                <a:br>
                  <a:rPr sz="3800" dirty="0"/>
                </a:br>
                <a:endParaRPr sz="3800" dirty="0"/>
              </a:p>
              <a:p>
                <a:pPr marL="457200" lvl="0" indent="-457200">
                  <a:spcBef>
                    <a:spcPts val="1200"/>
                  </a:spcBef>
                  <a:buAutoNum type="arabicParenR"/>
                </a:pPr>
                <a:r>
                  <a:rPr sz="3800" dirty="0" err="1"/>
                  <a:t>Ogenblikkelijke</a:t>
                </a:r>
                <a:r>
                  <a:rPr sz="3800" dirty="0"/>
                  <a:t> </a:t>
                </a:r>
                <a:r>
                  <a:rPr sz="3800" dirty="0" err="1"/>
                  <a:t>snelheid</a:t>
                </a:r>
                <a:r>
                  <a:rPr sz="3800" dirty="0"/>
                  <a:t> is </a:t>
                </a:r>
                <a:r>
                  <a:rPr sz="3800" b="1" dirty="0" err="1"/>
                  <a:t>afgeleide</a:t>
                </a:r>
                <a:r>
                  <a:rPr sz="3800" b="1" dirty="0"/>
                  <a:t> van de </a:t>
                </a:r>
                <a:r>
                  <a:rPr sz="3800" b="1" dirty="0" err="1"/>
                  <a:t>tijd</a:t>
                </a:r>
                <a:r>
                  <a:rPr sz="3800" b="1" dirty="0"/>
                  <a:t> </a:t>
                </a:r>
                <a:r>
                  <a:rPr sz="3800" b="1" dirty="0" err="1"/>
                  <a:t>naar</a:t>
                </a:r>
                <a:r>
                  <a:rPr sz="3800" b="1" dirty="0"/>
                  <a:t> de </a:t>
                </a:r>
                <a:r>
                  <a:rPr sz="3800" b="1" dirty="0" err="1"/>
                  <a:t>plaats</a:t>
                </a:r>
                <a:r>
                  <a:rPr sz="3800" dirty="0"/>
                  <a:t>.</a:t>
                </a:r>
                <a:br>
                  <a:rPr sz="3800" dirty="0"/>
                </a:br>
                <a:endParaRPr sz="3800" dirty="0"/>
              </a:p>
              <a:p>
                <a:pPr marL="457200" lvl="0" indent="-457200">
                  <a:spcBef>
                    <a:spcPts val="1200"/>
                  </a:spcBef>
                  <a:buAutoNum type="arabicParenR"/>
                </a:pPr>
                <a:r>
                  <a:rPr sz="3800" dirty="0" err="1"/>
                  <a:t>Voorwerp</a:t>
                </a:r>
                <a:r>
                  <a:rPr sz="3800" dirty="0"/>
                  <a:t> in </a:t>
                </a:r>
                <a:r>
                  <a:rPr sz="3800" b="1" dirty="0"/>
                  <a:t>rust</a:t>
                </a:r>
                <a:r>
                  <a:rPr sz="3800" dirty="0"/>
                  <a:t> </a:t>
                </a:r>
                <a14:m>
                  <m:oMath xmlns:m="http://schemas.openxmlformats.org/officeDocument/2006/math">
                    <m:r>
                      <a:rPr sz="3800">
                        <a:latin typeface="Cambria Math" panose="02040503050406030204" pitchFamily="18" charset="0"/>
                      </a:rPr>
                      <m:t>⇒</m:t>
                    </m:r>
                    <m:f>
                      <m:fPr>
                        <m:ctrlPr>
                          <a:rPr sz="3800">
                            <a:latin typeface="Cambria Math" panose="02040503050406030204" pitchFamily="18" charset="0"/>
                          </a:rPr>
                        </m:ctrlPr>
                      </m:fPr>
                      <m:num>
                        <m:r>
                          <a:rPr sz="3800">
                            <a:latin typeface="Cambria Math" panose="02040503050406030204" pitchFamily="18" charset="0"/>
                          </a:rPr>
                          <m:t>𝑑</m:t>
                        </m:r>
                        <m:acc>
                          <m:accPr>
                            <m:chr m:val="⃗"/>
                            <m:ctrlPr>
                              <a:rPr sz="3800">
                                <a:latin typeface="Cambria Math" panose="02040503050406030204" pitchFamily="18" charset="0"/>
                              </a:rPr>
                            </m:ctrlPr>
                          </m:accPr>
                          <m:e>
                            <m:r>
                              <a:rPr sz="3800">
                                <a:latin typeface="Cambria Math" panose="02040503050406030204" pitchFamily="18" charset="0"/>
                              </a:rPr>
                              <m:t>𝑟</m:t>
                            </m:r>
                          </m:e>
                        </m:acc>
                      </m:num>
                      <m:den>
                        <m:r>
                          <a:rPr sz="3800">
                            <a:latin typeface="Cambria Math" panose="02040503050406030204" pitchFamily="18" charset="0"/>
                          </a:rPr>
                          <m:t>𝑑𝑡</m:t>
                        </m:r>
                      </m:den>
                    </m:f>
                    <m:r>
                      <a:rPr sz="3800">
                        <a:latin typeface="Cambria Math" panose="02040503050406030204" pitchFamily="18" charset="0"/>
                      </a:rPr>
                      <m:t>=0</m:t>
                    </m:r>
                  </m:oMath>
                </a14:m>
                <a:r>
                  <a:rPr sz="3800" dirty="0"/>
                  <a:t>.</a:t>
                </a:r>
                <a:br>
                  <a:rPr sz="3800" dirty="0"/>
                </a:br>
                <a:endParaRPr sz="3800" dirty="0"/>
              </a:p>
              <a:p>
                <a:pPr marL="457200" lvl="0" indent="-457200">
                  <a:spcBef>
                    <a:spcPts val="1200"/>
                  </a:spcBef>
                  <a:buAutoNum type="arabicParenR"/>
                </a:pPr>
                <a14:m>
                  <m:oMath xmlns:m="http://schemas.openxmlformats.org/officeDocument/2006/math">
                    <m:r>
                      <m:rPr>
                        <m:sty m:val="p"/>
                      </m:rPr>
                      <a:rPr sz="3800">
                        <a:latin typeface="Cambria Math" panose="02040503050406030204" pitchFamily="18" charset="0"/>
                      </a:rPr>
                      <m:t>km</m:t>
                    </m:r>
                  </m:oMath>
                </a14:m>
                <a:r>
                  <a:rPr sz="3800" dirty="0"/>
                  <a:t> is </a:t>
                </a:r>
                <a:r>
                  <a:rPr sz="3800" dirty="0" err="1"/>
                  <a:t>een</a:t>
                </a:r>
                <a:r>
                  <a:rPr sz="3800" dirty="0"/>
                  <a:t> </a:t>
                </a:r>
                <a:r>
                  <a:rPr sz="3800" b="1" dirty="0"/>
                  <a:t>SI-</a:t>
                </a:r>
                <a:r>
                  <a:rPr sz="3800" b="1" dirty="0" err="1"/>
                  <a:t>basiseenheid</a:t>
                </a:r>
                <a:r>
                  <a:rPr sz="3800" dirty="0"/>
                  <a:t>.</a:t>
                </a:r>
                <a:br>
                  <a:rPr sz="3800" dirty="0"/>
                </a:br>
                <a:endParaRPr sz="3800" dirty="0"/>
              </a:p>
              <a:p>
                <a:pPr marL="457200" lvl="0" indent="-457200">
                  <a:spcBef>
                    <a:spcPts val="1200"/>
                  </a:spcBef>
                  <a:buAutoNum type="arabicParenR"/>
                </a:pPr>
                <a:r>
                  <a:rPr sz="3800" dirty="0"/>
                  <a:t>Bij </a:t>
                </a:r>
                <a:r>
                  <a:rPr sz="3800" b="1" dirty="0" err="1"/>
                  <a:t>rechte</a:t>
                </a:r>
                <a:r>
                  <a:rPr sz="3800" b="1" dirty="0"/>
                  <a:t> </a:t>
                </a:r>
                <a:r>
                  <a:rPr sz="3800" b="1" dirty="0" err="1"/>
                  <a:t>baan</a:t>
                </a:r>
                <a:r>
                  <a:rPr sz="3800" dirty="0"/>
                  <a:t> is </a:t>
                </a:r>
                <a14:m>
                  <m:oMath xmlns:m="http://schemas.openxmlformats.org/officeDocument/2006/math">
                    <m:r>
                      <a:rPr sz="3800">
                        <a:latin typeface="Cambria Math" panose="02040503050406030204" pitchFamily="18" charset="0"/>
                      </a:rPr>
                      <m:t>𝛥</m:t>
                    </m:r>
                    <m:r>
                      <a:rPr sz="3800">
                        <a:latin typeface="Cambria Math" panose="02040503050406030204" pitchFamily="18" charset="0"/>
                      </a:rPr>
                      <m:t>𝑥</m:t>
                    </m:r>
                  </m:oMath>
                </a14:m>
                <a:r>
                  <a:rPr sz="3800" dirty="0"/>
                  <a:t> </a:t>
                </a:r>
                <a:r>
                  <a:rPr sz="3800" b="1" dirty="0" err="1"/>
                  <a:t>altijd</a:t>
                </a:r>
                <a:r>
                  <a:rPr sz="3800" dirty="0"/>
                  <a:t> </a:t>
                </a:r>
                <a:r>
                  <a:rPr sz="3800" dirty="0" err="1"/>
                  <a:t>gelijk</a:t>
                </a:r>
                <a:r>
                  <a:rPr sz="3800" dirty="0"/>
                  <a:t> </a:t>
                </a:r>
                <a:r>
                  <a:rPr sz="3800" dirty="0" err="1"/>
                  <a:t>aan</a:t>
                </a:r>
                <a:r>
                  <a:rPr sz="3800" dirty="0"/>
                  <a:t> </a:t>
                </a:r>
                <a14:m>
                  <m:oMath xmlns:m="http://schemas.openxmlformats.org/officeDocument/2006/math">
                    <m:r>
                      <a:rPr sz="3800">
                        <a:latin typeface="Cambria Math" panose="02040503050406030204" pitchFamily="18" charset="0"/>
                      </a:rPr>
                      <m:t>𝛥</m:t>
                    </m:r>
                    <m:r>
                      <a:rPr sz="3800">
                        <a:latin typeface="Cambria Math" panose="02040503050406030204" pitchFamily="18" charset="0"/>
                      </a:rPr>
                      <m:t>𝑠</m:t>
                    </m:r>
                  </m:oMath>
                </a14:m>
                <a:r>
                  <a:rPr sz="3800" dirty="0"/>
                  <a:t>.</a:t>
                </a:r>
                <a:br>
                  <a:rPr sz="3800" dirty="0"/>
                </a:br>
                <a:endParaRPr sz="3800" dirty="0"/>
              </a:p>
              <a:p>
                <a:pPr marL="457200" lvl="0" indent="-457200">
                  <a:spcBef>
                    <a:spcPts val="1200"/>
                  </a:spcBef>
                  <a:buAutoNum type="arabicParenR"/>
                </a:pPr>
                <a14:m>
                  <m:oMath xmlns:m="http://schemas.openxmlformats.org/officeDocument/2006/math">
                    <m:acc>
                      <m:accPr>
                        <m:chr m:val="⃗"/>
                        <m:ctrlPr>
                          <a:rPr sz="3800">
                            <a:latin typeface="Cambria Math" panose="02040503050406030204" pitchFamily="18" charset="0"/>
                          </a:rPr>
                        </m:ctrlPr>
                      </m:accPr>
                      <m:e>
                        <m:r>
                          <a:rPr sz="3800">
                            <a:latin typeface="Cambria Math" panose="02040503050406030204" pitchFamily="18" charset="0"/>
                          </a:rPr>
                          <m:t>𝑣</m:t>
                        </m:r>
                      </m:e>
                    </m:acc>
                  </m:oMath>
                </a14:m>
                <a:r>
                  <a:rPr sz="3800" dirty="0"/>
                  <a:t> </a:t>
                </a:r>
                <a:r>
                  <a:rPr sz="3800" b="1" dirty="0" err="1"/>
                  <a:t>raakt</a:t>
                </a:r>
                <a:r>
                  <a:rPr sz="3800" dirty="0"/>
                  <a:t> </a:t>
                </a:r>
                <a:r>
                  <a:rPr sz="3800" dirty="0" err="1"/>
                  <a:t>altijd</a:t>
                </a:r>
                <a:r>
                  <a:rPr sz="3800" dirty="0"/>
                  <a:t> de </a:t>
                </a:r>
                <a:r>
                  <a:rPr sz="3800" dirty="0" err="1"/>
                  <a:t>baan</a:t>
                </a:r>
                <a:r>
                  <a:rPr sz="3800" dirty="0"/>
                  <a:t>.</a:t>
                </a:r>
              </a:p>
            </p:txBody>
          </p:sp>
        </mc:Choice>
        <mc:Fallback xmlns="">
          <p:sp>
            <p:nvSpPr>
              <p:cNvPr id="3" name="Content Placeholder 2">
                <a:extLst>
                  <a:ext uri="{FF2B5EF4-FFF2-40B4-BE49-F238E27FC236}">
                    <a16:creationId xmlns:a16="http://schemas.microsoft.com/office/drawing/2014/main" id="{DED788B7-7EB3-9AB4-3B62-EA2EC7655E73}"/>
                  </a:ext>
                </a:extLst>
              </p:cNvPr>
              <p:cNvSpPr>
                <a:spLocks noGrp="1" noRot="1" noChangeAspect="1" noMove="1" noResize="1" noEditPoints="1" noAdjustHandles="1" noChangeArrowheads="1" noChangeShapeType="1" noTextEdit="1"/>
              </p:cNvSpPr>
              <p:nvPr>
                <p:ph idx="1"/>
              </p:nvPr>
            </p:nvSpPr>
            <p:spPr>
              <a:xfrm>
                <a:off x="318499" y="1343818"/>
                <a:ext cx="11609798" cy="5495927"/>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1301135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4FD6B-471F-0F77-0939-0E280F627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4789C-25A2-7328-EC49-C05A1C330B68}"/>
              </a:ext>
            </a:extLst>
          </p:cNvPr>
          <p:cNvSpPr>
            <a:spLocks noGrp="1"/>
          </p:cNvSpPr>
          <p:nvPr>
            <p:ph type="title"/>
          </p:nvPr>
        </p:nvSpPr>
        <p:spPr/>
        <p:txBody>
          <a:bodyPr/>
          <a:lstStyle/>
          <a:p>
            <a:pPr marL="0" lvl="0" indent="0">
              <a:buNone/>
            </a:pPr>
            <a:r>
              <a:rPr lang="nl-BE" dirty="0"/>
              <a:t>Test jezelf (</a:t>
            </a:r>
            <a:r>
              <a:rPr dirty="0" err="1"/>
              <a:t>Waar</a:t>
            </a:r>
            <a:r>
              <a:rPr lang="nl-BE" dirty="0"/>
              <a:t>/ </a:t>
            </a:r>
            <a:r>
              <a:rPr lang="nl-BE" dirty="0" err="1"/>
              <a:t>niet-waar</a:t>
            </a:r>
            <a:r>
              <a:rPr lang="nl-BE" dirty="0"/>
              <a:t>)</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6A7418-225B-60D0-5C3E-57076D1A017A}"/>
                  </a:ext>
                </a:extLst>
              </p:cNvPr>
              <p:cNvSpPr>
                <a:spLocks noGrp="1"/>
              </p:cNvSpPr>
              <p:nvPr>
                <p:ph idx="1"/>
              </p:nvPr>
            </p:nvSpPr>
            <p:spPr>
              <a:xfrm>
                <a:off x="318499" y="1343818"/>
                <a:ext cx="11609798" cy="5495927"/>
              </a:xfrm>
            </p:spPr>
            <p:txBody>
              <a:bodyPr>
                <a:normAutofit fontScale="47500" lnSpcReduction="20000"/>
              </a:bodyPr>
              <a:lstStyle/>
              <a:p>
                <a:pPr marL="457200" lvl="0" indent="-457200">
                  <a:spcBef>
                    <a:spcPts val="1200"/>
                  </a:spcBef>
                  <a:buAutoNum type="arabicParenR"/>
                </a:pPr>
                <a:r>
                  <a:rPr sz="3800" dirty="0" err="1"/>
                  <a:t>Plaats</a:t>
                </a:r>
                <a:r>
                  <a:rPr sz="3800" dirty="0"/>
                  <a:t> in </a:t>
                </a:r>
                <a:r>
                  <a:rPr sz="3800" dirty="0" err="1"/>
                  <a:t>ruimte</a:t>
                </a:r>
                <a:r>
                  <a:rPr lang="nl-BE" sz="3800" dirty="0"/>
                  <a:t> heeft</a:t>
                </a:r>
                <a:r>
                  <a:rPr sz="3800" dirty="0"/>
                  <a:t> </a:t>
                </a:r>
                <a:r>
                  <a:rPr sz="3800" b="1" dirty="0" err="1"/>
                  <a:t>drie</a:t>
                </a:r>
                <a:r>
                  <a:rPr sz="3800" b="1" dirty="0"/>
                  <a:t> </a:t>
                </a:r>
                <a:r>
                  <a:rPr sz="3800" b="1" dirty="0" err="1"/>
                  <a:t>coördinaten</a:t>
                </a:r>
                <a:r>
                  <a:rPr sz="3800" dirty="0"/>
                  <a:t>.</a:t>
                </a:r>
                <a:endParaRPr lang="nl-BE" sz="3800" dirty="0"/>
              </a:p>
              <a:p>
                <a:pPr marL="457200" lvl="0" indent="-457200">
                  <a:spcBef>
                    <a:spcPts val="1200"/>
                  </a:spcBef>
                  <a:buAutoNum type="arabicParenR"/>
                </a:pPr>
                <a:r>
                  <a:rPr sz="3800" b="1" dirty="0" err="1"/>
                  <a:t>Tijdsduur</a:t>
                </a:r>
                <a:r>
                  <a:rPr sz="3800" dirty="0"/>
                  <a:t> is </a:t>
                </a:r>
                <a:r>
                  <a:rPr sz="3800" dirty="0" err="1"/>
                  <a:t>altijd</a:t>
                </a:r>
                <a:r>
                  <a:rPr sz="3800" dirty="0"/>
                  <a:t> </a:t>
                </a:r>
                <a:r>
                  <a:rPr sz="3800" b="1" dirty="0" err="1"/>
                  <a:t>positief</a:t>
                </a:r>
                <a:r>
                  <a:rPr sz="3800" dirty="0"/>
                  <a:t>.</a:t>
                </a:r>
                <a:br>
                  <a:rPr sz="3800" dirty="0"/>
                </a:br>
                <a:endParaRPr sz="3800" dirty="0"/>
              </a:p>
              <a:p>
                <a:pPr marL="457200" lvl="0" indent="-457200">
                  <a:spcBef>
                    <a:spcPts val="1200"/>
                  </a:spcBef>
                  <a:buAutoNum type="arabicParenR"/>
                </a:pPr>
                <a:r>
                  <a:rPr sz="3800" dirty="0"/>
                  <a:t>Bij </a:t>
                </a:r>
                <a:r>
                  <a:rPr sz="3800" b="1" dirty="0" err="1"/>
                  <a:t>constante</a:t>
                </a:r>
                <a:r>
                  <a:rPr sz="3800" b="1" dirty="0"/>
                  <a:t> </a:t>
                </a:r>
                <a:r>
                  <a:rPr sz="3800" b="1" dirty="0" err="1"/>
                  <a:t>snelheid</a:t>
                </a:r>
                <a:r>
                  <a:rPr sz="3800" dirty="0"/>
                  <a:t> is </a:t>
                </a:r>
                <a14:m>
                  <m:oMath xmlns:m="http://schemas.openxmlformats.org/officeDocument/2006/math">
                    <m:sSub>
                      <m:sSubPr>
                        <m:ctrlPr>
                          <a:rPr sz="3800">
                            <a:latin typeface="Cambria Math" panose="02040503050406030204" pitchFamily="18" charset="0"/>
                          </a:rPr>
                        </m:ctrlPr>
                      </m:sSubPr>
                      <m:e>
                        <m:r>
                          <a:rPr sz="3800">
                            <a:latin typeface="Cambria Math" panose="02040503050406030204" pitchFamily="18" charset="0"/>
                          </a:rPr>
                          <m:t>𝑣</m:t>
                        </m:r>
                      </m:e>
                      <m:sub>
                        <m:r>
                          <m:rPr>
                            <m:nor/>
                          </m:rPr>
                          <a:rPr sz="3800" i="0"/>
                          <m:t>gem</m:t>
                        </m:r>
                      </m:sub>
                    </m:sSub>
                  </m:oMath>
                </a14:m>
                <a:r>
                  <a:rPr sz="3800" dirty="0"/>
                  <a:t> </a:t>
                </a:r>
                <a:r>
                  <a:rPr sz="3800" b="1" dirty="0" err="1"/>
                  <a:t>niet</a:t>
                </a:r>
                <a:r>
                  <a:rPr sz="3800" b="1" dirty="0"/>
                  <a:t> </a:t>
                </a:r>
                <a:r>
                  <a:rPr sz="3800" b="1" dirty="0" err="1"/>
                  <a:t>gelijk</a:t>
                </a:r>
                <a:r>
                  <a:rPr sz="3800" dirty="0"/>
                  <a:t> </a:t>
                </a:r>
                <a:r>
                  <a:rPr sz="3800" dirty="0" err="1"/>
                  <a:t>aan</a:t>
                </a:r>
                <a:r>
                  <a:rPr sz="3800" dirty="0"/>
                  <a:t> </a:t>
                </a:r>
                <a14:m>
                  <m:oMath xmlns:m="http://schemas.openxmlformats.org/officeDocument/2006/math">
                    <m:r>
                      <a:rPr sz="3800">
                        <a:latin typeface="Cambria Math" panose="02040503050406030204" pitchFamily="18" charset="0"/>
                      </a:rPr>
                      <m:t>𝑣</m:t>
                    </m:r>
                  </m:oMath>
                </a14:m>
                <a:r>
                  <a:rPr sz="3800" dirty="0"/>
                  <a:t> (de </a:t>
                </a:r>
                <a:r>
                  <a:rPr sz="3800" dirty="0" err="1"/>
                  <a:t>grootte</a:t>
                </a:r>
                <a:r>
                  <a:rPr sz="3800" dirty="0"/>
                  <a:t>).</a:t>
                </a:r>
                <a:br>
                  <a:rPr sz="3800" dirty="0"/>
                </a:br>
                <a:endParaRPr sz="3800" dirty="0"/>
              </a:p>
              <a:p>
                <a:pPr marL="457200" lvl="0" indent="-457200">
                  <a:spcBef>
                    <a:spcPts val="1200"/>
                  </a:spcBef>
                  <a:buAutoNum type="arabicParenR"/>
                </a:pPr>
                <a:r>
                  <a:rPr sz="3800" dirty="0" err="1"/>
                  <a:t>Ogenblikkelijke</a:t>
                </a:r>
                <a:r>
                  <a:rPr sz="3800" dirty="0"/>
                  <a:t> </a:t>
                </a:r>
                <a:r>
                  <a:rPr sz="3800" dirty="0" err="1"/>
                  <a:t>snelheid</a:t>
                </a:r>
                <a:r>
                  <a:rPr sz="3800" dirty="0"/>
                  <a:t> is </a:t>
                </a:r>
                <a:r>
                  <a:rPr sz="3800" b="1" dirty="0" err="1"/>
                  <a:t>afgeleide</a:t>
                </a:r>
                <a:r>
                  <a:rPr sz="3800" b="1" dirty="0"/>
                  <a:t> van de </a:t>
                </a:r>
                <a:r>
                  <a:rPr sz="3800" b="1" dirty="0" err="1"/>
                  <a:t>tijd</a:t>
                </a:r>
                <a:r>
                  <a:rPr sz="3800" b="1" dirty="0"/>
                  <a:t> </a:t>
                </a:r>
                <a:r>
                  <a:rPr sz="3800" b="1" dirty="0" err="1"/>
                  <a:t>naar</a:t>
                </a:r>
                <a:r>
                  <a:rPr sz="3800" b="1" dirty="0"/>
                  <a:t> de </a:t>
                </a:r>
                <a:r>
                  <a:rPr sz="3800" b="1" dirty="0" err="1"/>
                  <a:t>plaats</a:t>
                </a:r>
                <a:r>
                  <a:rPr sz="3800" dirty="0"/>
                  <a:t>.</a:t>
                </a:r>
                <a:br>
                  <a:rPr sz="3800" dirty="0"/>
                </a:br>
                <a:endParaRPr sz="3800" dirty="0"/>
              </a:p>
              <a:p>
                <a:pPr marL="457200" lvl="0" indent="-457200">
                  <a:spcBef>
                    <a:spcPts val="1200"/>
                  </a:spcBef>
                  <a:buAutoNum type="arabicParenR"/>
                </a:pPr>
                <a:r>
                  <a:rPr sz="3800" dirty="0" err="1"/>
                  <a:t>Voorwerp</a:t>
                </a:r>
                <a:r>
                  <a:rPr sz="3800" dirty="0"/>
                  <a:t> in </a:t>
                </a:r>
                <a:r>
                  <a:rPr sz="3800" b="1" dirty="0"/>
                  <a:t>rust</a:t>
                </a:r>
                <a:r>
                  <a:rPr sz="3800" dirty="0"/>
                  <a:t> </a:t>
                </a:r>
                <a14:m>
                  <m:oMath xmlns:m="http://schemas.openxmlformats.org/officeDocument/2006/math">
                    <m:r>
                      <a:rPr sz="3800">
                        <a:latin typeface="Cambria Math" panose="02040503050406030204" pitchFamily="18" charset="0"/>
                      </a:rPr>
                      <m:t>⇒</m:t>
                    </m:r>
                    <m:f>
                      <m:fPr>
                        <m:ctrlPr>
                          <a:rPr sz="3800">
                            <a:latin typeface="Cambria Math" panose="02040503050406030204" pitchFamily="18" charset="0"/>
                          </a:rPr>
                        </m:ctrlPr>
                      </m:fPr>
                      <m:num>
                        <m:r>
                          <a:rPr sz="3800">
                            <a:latin typeface="Cambria Math" panose="02040503050406030204" pitchFamily="18" charset="0"/>
                          </a:rPr>
                          <m:t>𝑑</m:t>
                        </m:r>
                        <m:acc>
                          <m:accPr>
                            <m:chr m:val="⃗"/>
                            <m:ctrlPr>
                              <a:rPr sz="3800">
                                <a:latin typeface="Cambria Math" panose="02040503050406030204" pitchFamily="18" charset="0"/>
                              </a:rPr>
                            </m:ctrlPr>
                          </m:accPr>
                          <m:e>
                            <m:r>
                              <a:rPr sz="3800">
                                <a:latin typeface="Cambria Math" panose="02040503050406030204" pitchFamily="18" charset="0"/>
                              </a:rPr>
                              <m:t>𝑟</m:t>
                            </m:r>
                          </m:e>
                        </m:acc>
                      </m:num>
                      <m:den>
                        <m:r>
                          <a:rPr sz="3800">
                            <a:latin typeface="Cambria Math" panose="02040503050406030204" pitchFamily="18" charset="0"/>
                          </a:rPr>
                          <m:t>𝑑𝑡</m:t>
                        </m:r>
                      </m:den>
                    </m:f>
                    <m:r>
                      <a:rPr sz="3800">
                        <a:latin typeface="Cambria Math" panose="02040503050406030204" pitchFamily="18" charset="0"/>
                      </a:rPr>
                      <m:t>=0</m:t>
                    </m:r>
                  </m:oMath>
                </a14:m>
                <a:r>
                  <a:rPr sz="3800" dirty="0"/>
                  <a:t>.</a:t>
                </a:r>
                <a:br>
                  <a:rPr sz="3800" dirty="0"/>
                </a:br>
                <a:endParaRPr sz="3800" dirty="0"/>
              </a:p>
              <a:p>
                <a:pPr marL="457200" lvl="0" indent="-457200">
                  <a:spcBef>
                    <a:spcPts val="1200"/>
                  </a:spcBef>
                  <a:buAutoNum type="arabicParenR"/>
                </a:pPr>
                <a14:m>
                  <m:oMath xmlns:m="http://schemas.openxmlformats.org/officeDocument/2006/math">
                    <m:r>
                      <m:rPr>
                        <m:sty m:val="p"/>
                      </m:rPr>
                      <a:rPr sz="3800">
                        <a:latin typeface="Cambria Math" panose="02040503050406030204" pitchFamily="18" charset="0"/>
                      </a:rPr>
                      <m:t>km</m:t>
                    </m:r>
                  </m:oMath>
                </a14:m>
                <a:r>
                  <a:rPr sz="3800" dirty="0"/>
                  <a:t> is </a:t>
                </a:r>
                <a:r>
                  <a:rPr sz="3800" dirty="0" err="1"/>
                  <a:t>een</a:t>
                </a:r>
                <a:r>
                  <a:rPr sz="3800" dirty="0"/>
                  <a:t> </a:t>
                </a:r>
                <a:r>
                  <a:rPr sz="3800" b="1" dirty="0"/>
                  <a:t>SI-</a:t>
                </a:r>
                <a:r>
                  <a:rPr sz="3800" b="1" dirty="0" err="1"/>
                  <a:t>basiseenheid</a:t>
                </a:r>
                <a:r>
                  <a:rPr sz="3800" dirty="0"/>
                  <a:t>.</a:t>
                </a:r>
                <a:br>
                  <a:rPr sz="3800" dirty="0"/>
                </a:br>
                <a:endParaRPr sz="3800" dirty="0"/>
              </a:p>
              <a:p>
                <a:pPr marL="457200" lvl="0" indent="-457200">
                  <a:spcBef>
                    <a:spcPts val="1200"/>
                  </a:spcBef>
                  <a:buAutoNum type="arabicParenR"/>
                </a:pPr>
                <a:r>
                  <a:rPr sz="3800" dirty="0"/>
                  <a:t>Bij </a:t>
                </a:r>
                <a:r>
                  <a:rPr sz="3800" b="1" dirty="0" err="1"/>
                  <a:t>rechte</a:t>
                </a:r>
                <a:r>
                  <a:rPr sz="3800" b="1" dirty="0"/>
                  <a:t> </a:t>
                </a:r>
                <a:r>
                  <a:rPr sz="3800" b="1" dirty="0" err="1"/>
                  <a:t>baan</a:t>
                </a:r>
                <a:r>
                  <a:rPr sz="3800" dirty="0"/>
                  <a:t> is </a:t>
                </a:r>
                <a14:m>
                  <m:oMath xmlns:m="http://schemas.openxmlformats.org/officeDocument/2006/math">
                    <m:r>
                      <a:rPr sz="3800">
                        <a:latin typeface="Cambria Math" panose="02040503050406030204" pitchFamily="18" charset="0"/>
                      </a:rPr>
                      <m:t>𝛥</m:t>
                    </m:r>
                    <m:r>
                      <a:rPr sz="3800">
                        <a:latin typeface="Cambria Math" panose="02040503050406030204" pitchFamily="18" charset="0"/>
                      </a:rPr>
                      <m:t>𝑥</m:t>
                    </m:r>
                  </m:oMath>
                </a14:m>
                <a:r>
                  <a:rPr sz="3800" dirty="0"/>
                  <a:t> </a:t>
                </a:r>
                <a:r>
                  <a:rPr sz="3800" b="1" dirty="0" err="1"/>
                  <a:t>altijd</a:t>
                </a:r>
                <a:r>
                  <a:rPr sz="3800" dirty="0"/>
                  <a:t> </a:t>
                </a:r>
                <a:r>
                  <a:rPr sz="3800" dirty="0" err="1"/>
                  <a:t>gelijk</a:t>
                </a:r>
                <a:r>
                  <a:rPr sz="3800" dirty="0"/>
                  <a:t> </a:t>
                </a:r>
                <a:r>
                  <a:rPr sz="3800" dirty="0" err="1"/>
                  <a:t>aan</a:t>
                </a:r>
                <a:r>
                  <a:rPr sz="3800" dirty="0"/>
                  <a:t> </a:t>
                </a:r>
                <a14:m>
                  <m:oMath xmlns:m="http://schemas.openxmlformats.org/officeDocument/2006/math">
                    <m:r>
                      <a:rPr sz="3800">
                        <a:latin typeface="Cambria Math" panose="02040503050406030204" pitchFamily="18" charset="0"/>
                      </a:rPr>
                      <m:t>𝛥</m:t>
                    </m:r>
                    <m:r>
                      <a:rPr sz="3800">
                        <a:latin typeface="Cambria Math" panose="02040503050406030204" pitchFamily="18" charset="0"/>
                      </a:rPr>
                      <m:t>𝑠</m:t>
                    </m:r>
                  </m:oMath>
                </a14:m>
                <a:r>
                  <a:rPr sz="3800" dirty="0"/>
                  <a:t>.</a:t>
                </a:r>
                <a:br>
                  <a:rPr sz="3800" dirty="0"/>
                </a:br>
                <a:endParaRPr sz="3800" dirty="0"/>
              </a:p>
              <a:p>
                <a:pPr marL="457200" lvl="0" indent="-457200">
                  <a:spcBef>
                    <a:spcPts val="1200"/>
                  </a:spcBef>
                  <a:buAutoNum type="arabicParenR"/>
                </a:pPr>
                <a14:m>
                  <m:oMath xmlns:m="http://schemas.openxmlformats.org/officeDocument/2006/math">
                    <m:acc>
                      <m:accPr>
                        <m:chr m:val="⃗"/>
                        <m:ctrlPr>
                          <a:rPr sz="3800">
                            <a:latin typeface="Cambria Math" panose="02040503050406030204" pitchFamily="18" charset="0"/>
                          </a:rPr>
                        </m:ctrlPr>
                      </m:accPr>
                      <m:e>
                        <m:r>
                          <a:rPr sz="3800">
                            <a:latin typeface="Cambria Math" panose="02040503050406030204" pitchFamily="18" charset="0"/>
                          </a:rPr>
                          <m:t>𝑣</m:t>
                        </m:r>
                      </m:e>
                    </m:acc>
                  </m:oMath>
                </a14:m>
                <a:r>
                  <a:rPr sz="3800" dirty="0"/>
                  <a:t> </a:t>
                </a:r>
                <a:r>
                  <a:rPr sz="3800" b="1" dirty="0" err="1"/>
                  <a:t>raakt</a:t>
                </a:r>
                <a:r>
                  <a:rPr sz="3800" dirty="0"/>
                  <a:t> </a:t>
                </a:r>
                <a:r>
                  <a:rPr sz="3800" dirty="0" err="1"/>
                  <a:t>altijd</a:t>
                </a:r>
                <a:r>
                  <a:rPr sz="3800" dirty="0"/>
                  <a:t> de </a:t>
                </a:r>
                <a:r>
                  <a:rPr sz="3800" dirty="0" err="1"/>
                  <a:t>baan</a:t>
                </a:r>
                <a:r>
                  <a:rPr sz="3800" dirty="0"/>
                  <a:t>.</a:t>
                </a:r>
              </a:p>
              <a:p>
                <a:pPr marL="0" lvl="0" indent="0">
                  <a:buNone/>
                </a:pPr>
                <a:r>
                  <a:rPr b="1" dirty="0" err="1"/>
                  <a:t>Antwoorden</a:t>
                </a:r>
                <a:r>
                  <a:rPr b="1" dirty="0"/>
                  <a:t> &amp; </a:t>
                </a:r>
                <a:r>
                  <a:rPr b="1" dirty="0" err="1"/>
                  <a:t>duiding</a:t>
                </a:r>
                <a:br>
                  <a:rPr dirty="0"/>
                </a:br>
                <a:r>
                  <a:rPr dirty="0"/>
                  <a:t>1) </a:t>
                </a:r>
                <a:r>
                  <a:rPr b="1" dirty="0" err="1"/>
                  <a:t>Waar</a:t>
                </a:r>
                <a:r>
                  <a:rPr dirty="0"/>
                  <a:t> — 3D: </a:t>
                </a:r>
                <a14:m>
                  <m:oMath xmlns:m="http://schemas.openxmlformats.org/officeDocument/2006/math">
                    <m:d>
                      <m:dPr>
                        <m:ctrlPr>
                          <a:rPr>
                            <a:latin typeface="Cambria Math" panose="02040503050406030204" pitchFamily="18" charset="0"/>
                          </a:rPr>
                        </m:ctrlPr>
                      </m:dPr>
                      <m:e>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𝑧</m:t>
                        </m:r>
                      </m:e>
                    </m:d>
                  </m:oMath>
                </a14:m>
                <a:r>
                  <a:rPr dirty="0"/>
                  <a:t> volstaan.2) </a:t>
                </a:r>
                <a:r>
                  <a:rPr b="1" dirty="0" err="1"/>
                  <a:t>Waar</a:t>
                </a:r>
                <a:r>
                  <a:rPr dirty="0"/>
                  <a:t> — In de </a:t>
                </a:r>
                <a:r>
                  <a:rPr dirty="0" err="1"/>
                  <a:t>klassieke</a:t>
                </a:r>
                <a:r>
                  <a:rPr dirty="0"/>
                  <a:t> </a:t>
                </a:r>
                <a:r>
                  <a:rPr dirty="0" err="1"/>
                  <a:t>mechanica</a:t>
                </a:r>
                <a:r>
                  <a:rPr dirty="0"/>
                  <a:t>: </a:t>
                </a:r>
                <a:r>
                  <a:rPr dirty="0" err="1"/>
                  <a:t>geen</a:t>
                </a:r>
                <a:r>
                  <a:rPr dirty="0"/>
                  <a:t> </a:t>
                </a:r>
                <a:r>
                  <a:rPr dirty="0" err="1"/>
                  <a:t>terugkeer</a:t>
                </a:r>
                <a:r>
                  <a:rPr dirty="0"/>
                  <a:t> in </a:t>
                </a:r>
                <a:r>
                  <a:rPr dirty="0" err="1"/>
                  <a:t>tijd</a:t>
                </a:r>
                <a:r>
                  <a:rPr dirty="0"/>
                  <a:t>.</a:t>
                </a:r>
                <a:r>
                  <a:rPr lang="nl-BE" dirty="0"/>
                  <a:t> </a:t>
                </a:r>
                <a:r>
                  <a:rPr dirty="0"/>
                  <a:t>3) </a:t>
                </a:r>
                <a:r>
                  <a:rPr b="1" dirty="0" err="1"/>
                  <a:t>Niet</a:t>
                </a:r>
                <a:r>
                  <a:rPr b="1" dirty="0"/>
                  <a:t> </a:t>
                </a:r>
                <a:r>
                  <a:rPr b="1" dirty="0" err="1"/>
                  <a:t>waar</a:t>
                </a:r>
                <a:r>
                  <a:rPr dirty="0"/>
                  <a:t> — Bij </a:t>
                </a:r>
                <a:r>
                  <a:rPr dirty="0" err="1"/>
                  <a:t>constante</a:t>
                </a:r>
                <a:r>
                  <a:rPr dirty="0"/>
                  <a:t> </a:t>
                </a:r>
                <a14:m>
                  <m:oMath xmlns:m="http://schemas.openxmlformats.org/officeDocument/2006/math">
                    <m:r>
                      <a:rPr>
                        <a:latin typeface="Cambria Math" panose="02040503050406030204" pitchFamily="18" charset="0"/>
                      </a:rPr>
                      <m:t>𝑣</m:t>
                    </m:r>
                  </m:oMath>
                </a14:m>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𝑣</m:t>
                        </m:r>
                      </m:e>
                      <m:sub>
                        <m:r>
                          <m:rPr>
                            <m:nor/>
                          </m:rPr>
                          <a:rPr i="0"/>
                          <m:t>gem</m:t>
                        </m:r>
                      </m:sub>
                    </m:sSub>
                    <m:r>
                      <a:rPr>
                        <a:latin typeface="Cambria Math" panose="02040503050406030204" pitchFamily="18" charset="0"/>
                      </a:rPr>
                      <m:t>=</m:t>
                    </m:r>
                    <m:r>
                      <a:rPr>
                        <a:latin typeface="Cambria Math" panose="02040503050406030204" pitchFamily="18" charset="0"/>
                      </a:rPr>
                      <m:t>𝑣</m:t>
                    </m:r>
                  </m:oMath>
                </a14:m>
                <a:r>
                  <a:rPr dirty="0"/>
                  <a:t> (</a:t>
                </a:r>
                <a:r>
                  <a:rPr dirty="0" err="1"/>
                  <a:t>zelfde</a:t>
                </a:r>
                <a:r>
                  <a:rPr dirty="0"/>
                  <a:t> </a:t>
                </a:r>
                <a:r>
                  <a:rPr dirty="0" err="1"/>
                  <a:t>grootte</a:t>
                </a:r>
                <a:r>
                  <a:rPr dirty="0"/>
                  <a:t> </a:t>
                </a:r>
                <a:r>
                  <a:rPr dirty="0" err="1"/>
                  <a:t>en</a:t>
                </a:r>
                <a:r>
                  <a:rPr dirty="0"/>
                  <a:t> </a:t>
                </a:r>
                <a:r>
                  <a:rPr dirty="0" err="1"/>
                  <a:t>richting</a:t>
                </a:r>
                <a:r>
                  <a:rPr dirty="0"/>
                  <a:t>).</a:t>
                </a:r>
                <a:r>
                  <a:rPr lang="nl-BE" dirty="0"/>
                  <a:t> </a:t>
                </a:r>
                <a:r>
                  <a:rPr dirty="0"/>
                  <a:t>4) </a:t>
                </a:r>
                <a:r>
                  <a:rPr b="1" dirty="0" err="1"/>
                  <a:t>Niet</a:t>
                </a:r>
                <a:r>
                  <a:rPr b="1" dirty="0"/>
                  <a:t> </a:t>
                </a:r>
                <a:r>
                  <a:rPr b="1" dirty="0" err="1"/>
                  <a:t>waar</a:t>
                </a:r>
                <a:r>
                  <a:rPr dirty="0"/>
                  <a:t> — Het is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𝑣</m:t>
                        </m:r>
                      </m:e>
                    </m:acc>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m:t>
                        </m:r>
                        <m:acc>
                          <m:accPr>
                            <m:chr m:val="⃗"/>
                            <m:ctrlPr>
                              <a:rPr>
                                <a:latin typeface="Cambria Math" panose="02040503050406030204" pitchFamily="18" charset="0"/>
                              </a:rPr>
                            </m:ctrlPr>
                          </m:accPr>
                          <m:e>
                            <m:r>
                              <a:rPr>
                                <a:latin typeface="Cambria Math" panose="02040503050406030204" pitchFamily="18" charset="0"/>
                              </a:rPr>
                              <m:t>𝑟</m:t>
                            </m:r>
                          </m:e>
                        </m:acc>
                      </m:num>
                      <m:den>
                        <m:r>
                          <a:rPr>
                            <a:latin typeface="Cambria Math" panose="02040503050406030204" pitchFamily="18" charset="0"/>
                          </a:rPr>
                          <m:t>𝑑𝑡</m:t>
                        </m:r>
                      </m:den>
                    </m:f>
                  </m:oMath>
                </a14:m>
                <a:r>
                  <a:rPr dirty="0"/>
                  <a:t> (</a:t>
                </a:r>
                <a:r>
                  <a:rPr dirty="0" err="1"/>
                  <a:t>plaats</a:t>
                </a:r>
                <a:r>
                  <a:rPr dirty="0"/>
                  <a:t> </a:t>
                </a:r>
                <a:r>
                  <a:rPr dirty="0" err="1"/>
                  <a:t>naar</a:t>
                </a:r>
                <a:r>
                  <a:rPr dirty="0"/>
                  <a:t> </a:t>
                </a:r>
                <a:r>
                  <a:rPr dirty="0" err="1"/>
                  <a:t>tijd</a:t>
                </a:r>
                <a:r>
                  <a:rPr dirty="0"/>
                  <a:t>, </a:t>
                </a:r>
                <a:r>
                  <a:rPr dirty="0" err="1"/>
                  <a:t>niet</a:t>
                </a:r>
                <a:r>
                  <a:rPr dirty="0"/>
                  <a:t> </a:t>
                </a:r>
                <a:r>
                  <a:rPr dirty="0" err="1"/>
                  <a:t>omgekeerd</a:t>
                </a:r>
                <a:r>
                  <a:rPr dirty="0"/>
                  <a:t>).</a:t>
                </a:r>
                <a:r>
                  <a:rPr lang="nl-BE" dirty="0"/>
                  <a:t> </a:t>
                </a:r>
                <a:r>
                  <a:rPr dirty="0"/>
                  <a:t>5) </a:t>
                </a:r>
                <a:r>
                  <a:rPr b="1" dirty="0" err="1"/>
                  <a:t>Waar</a:t>
                </a:r>
                <a:r>
                  <a:rPr dirty="0"/>
                  <a:t> — In rust </a:t>
                </a:r>
                <a:r>
                  <a:rPr dirty="0" err="1"/>
                  <a:t>verandert</a:t>
                </a:r>
                <a:r>
                  <a:rPr dirty="0"/>
                  <a:t> de </a:t>
                </a:r>
                <a:r>
                  <a:rPr dirty="0" err="1"/>
                  <a:t>plaats</a:t>
                </a:r>
                <a:r>
                  <a:rPr dirty="0"/>
                  <a:t> </a:t>
                </a:r>
                <a:r>
                  <a:rPr dirty="0" err="1"/>
                  <a:t>niet</a:t>
                </a:r>
                <a:r>
                  <a:rPr dirty="0"/>
                  <a:t>: </a:t>
                </a:r>
                <a:r>
                  <a:rPr dirty="0" err="1"/>
                  <a:t>afgeleide</a:t>
                </a:r>
                <a:r>
                  <a:rPr dirty="0"/>
                  <a:t> </a:t>
                </a:r>
                <a:r>
                  <a:rPr dirty="0" err="1"/>
                  <a:t>nul</a:t>
                </a:r>
                <a:r>
                  <a:rPr dirty="0"/>
                  <a:t>.</a:t>
                </a:r>
                <a:r>
                  <a:rPr lang="nl-BE" dirty="0"/>
                  <a:t> </a:t>
                </a:r>
                <a:br>
                  <a:rPr lang="nl-BE" dirty="0"/>
                </a:br>
                <a:r>
                  <a:rPr dirty="0"/>
                  <a:t>6) </a:t>
                </a:r>
                <a:r>
                  <a:rPr b="1" dirty="0" err="1"/>
                  <a:t>Niet</a:t>
                </a:r>
                <a:r>
                  <a:rPr b="1" dirty="0"/>
                  <a:t> </a:t>
                </a:r>
                <a:r>
                  <a:rPr b="1" dirty="0" err="1"/>
                  <a:t>waar</a:t>
                </a:r>
                <a:r>
                  <a:rPr dirty="0"/>
                  <a:t> — </a:t>
                </a:r>
                <a:r>
                  <a:rPr dirty="0" err="1"/>
                  <a:t>Basiseenheid</a:t>
                </a:r>
                <a:r>
                  <a:rPr dirty="0"/>
                  <a:t> is </a:t>
                </a:r>
                <a14:m>
                  <m:oMath xmlns:m="http://schemas.openxmlformats.org/officeDocument/2006/math">
                    <m:r>
                      <m:rPr>
                        <m:sty m:val="p"/>
                      </m:rPr>
                      <a:rPr>
                        <a:latin typeface="Cambria Math" panose="02040503050406030204" pitchFamily="18" charset="0"/>
                      </a:rPr>
                      <m:t>m</m:t>
                    </m:r>
                  </m:oMath>
                </a14:m>
                <a:r>
                  <a:rPr dirty="0"/>
                  <a:t>; </a:t>
                </a:r>
                <a14:m>
                  <m:oMath xmlns:m="http://schemas.openxmlformats.org/officeDocument/2006/math">
                    <m:r>
                      <m:rPr>
                        <m:sty m:val="p"/>
                      </m:rPr>
                      <a:rPr>
                        <a:latin typeface="Cambria Math" panose="02040503050406030204" pitchFamily="18" charset="0"/>
                      </a:rPr>
                      <m:t>km</m:t>
                    </m:r>
                  </m:oMath>
                </a14:m>
                <a:r>
                  <a:rPr dirty="0"/>
                  <a:t> is </a:t>
                </a:r>
                <a:r>
                  <a:rPr dirty="0" err="1"/>
                  <a:t>afgeleide</a:t>
                </a:r>
                <a:r>
                  <a:rPr dirty="0"/>
                  <a:t> </a:t>
                </a:r>
                <a:r>
                  <a:rPr dirty="0" err="1"/>
                  <a:t>eenheid</a:t>
                </a:r>
                <a:r>
                  <a:rPr dirty="0"/>
                  <a:t>.</a:t>
                </a:r>
                <a:r>
                  <a:rPr lang="nl-BE" dirty="0"/>
                  <a:t> </a:t>
                </a:r>
                <a:r>
                  <a:rPr dirty="0"/>
                  <a:t>7) </a:t>
                </a:r>
                <a:r>
                  <a:rPr b="1" dirty="0" err="1"/>
                  <a:t>Niet</a:t>
                </a:r>
                <a:r>
                  <a:rPr b="1" dirty="0"/>
                  <a:t> </a:t>
                </a:r>
                <a:r>
                  <a:rPr b="1" dirty="0" err="1"/>
                  <a:t>waar</a:t>
                </a:r>
                <a:r>
                  <a:rPr dirty="0"/>
                  <a:t> — Alleen </a:t>
                </a:r>
                <a:r>
                  <a:rPr dirty="0" err="1"/>
                  <a:t>gelijk</a:t>
                </a:r>
                <a:r>
                  <a:rPr dirty="0"/>
                  <a:t> </a:t>
                </a:r>
                <a:r>
                  <a:rPr dirty="0" err="1"/>
                  <a:t>bij</a:t>
                </a:r>
                <a:r>
                  <a:rPr dirty="0"/>
                  <a:t> </a:t>
                </a:r>
                <a:r>
                  <a:rPr b="1" dirty="0" err="1"/>
                  <a:t>zelfde</a:t>
                </a:r>
                <a:r>
                  <a:rPr b="1" dirty="0"/>
                  <a:t> zin</a:t>
                </a:r>
                <a:r>
                  <a:rPr dirty="0"/>
                  <a:t>; </a:t>
                </a:r>
                <a:r>
                  <a:rPr dirty="0" err="1"/>
                  <a:t>bij</a:t>
                </a:r>
                <a:r>
                  <a:rPr dirty="0"/>
                  <a:t> </a:t>
                </a:r>
                <a:r>
                  <a:rPr dirty="0" err="1"/>
                  <a:t>heen-en-weer</a:t>
                </a:r>
                <a:r>
                  <a:rPr dirty="0"/>
                  <a:t> is </a:t>
                </a:r>
                <a14:m>
                  <m:oMath xmlns:m="http://schemas.openxmlformats.org/officeDocument/2006/math">
                    <m:r>
                      <a:rPr>
                        <a:latin typeface="Cambria Math" panose="02040503050406030204" pitchFamily="18" charset="0"/>
                      </a:rPr>
                      <m:t>𝛥</m:t>
                    </m:r>
                    <m:r>
                      <a:rPr>
                        <a:latin typeface="Cambria Math" panose="02040503050406030204" pitchFamily="18" charset="0"/>
                      </a:rPr>
                      <m:t>𝑠</m:t>
                    </m:r>
                    <m:r>
                      <a:rPr>
                        <a:latin typeface="Cambria Math" panose="02040503050406030204" pitchFamily="18" charset="0"/>
                      </a:rPr>
                      <m:t>&gt;|</m:t>
                    </m:r>
                    <m:r>
                      <a:rPr>
                        <a:latin typeface="Cambria Math" panose="02040503050406030204" pitchFamily="18" charset="0"/>
                      </a:rPr>
                      <m:t>𝛥</m:t>
                    </m:r>
                    <m:r>
                      <a:rPr>
                        <a:latin typeface="Cambria Math" panose="02040503050406030204" pitchFamily="18" charset="0"/>
                      </a:rPr>
                      <m:t>𝑥</m:t>
                    </m:r>
                    <m:r>
                      <a:rPr>
                        <a:latin typeface="Cambria Math" panose="02040503050406030204" pitchFamily="18" charset="0"/>
                      </a:rPr>
                      <m:t>|</m:t>
                    </m:r>
                  </m:oMath>
                </a14:m>
                <a:r>
                  <a:rPr dirty="0"/>
                  <a:t>.</a:t>
                </a:r>
                <a:r>
                  <a:rPr lang="nl-BE" dirty="0"/>
                  <a:t> </a:t>
                </a:r>
                <a:br>
                  <a:rPr lang="nl-BE" dirty="0"/>
                </a:br>
                <a:r>
                  <a:rPr dirty="0"/>
                  <a:t>8) </a:t>
                </a:r>
                <a:r>
                  <a:rPr b="1" dirty="0" err="1"/>
                  <a:t>Waar</a:t>
                </a:r>
                <a:r>
                  <a:rPr dirty="0"/>
                  <a:t> .</a:t>
                </a:r>
              </a:p>
            </p:txBody>
          </p:sp>
        </mc:Choice>
        <mc:Fallback xmlns="">
          <p:sp>
            <p:nvSpPr>
              <p:cNvPr id="3" name="Content Placeholder 2">
                <a:extLst>
                  <a:ext uri="{FF2B5EF4-FFF2-40B4-BE49-F238E27FC236}">
                    <a16:creationId xmlns:a16="http://schemas.microsoft.com/office/drawing/2014/main" id="{696A7418-225B-60D0-5C3E-57076D1A017A}"/>
                  </a:ext>
                </a:extLst>
              </p:cNvPr>
              <p:cNvSpPr>
                <a:spLocks noGrp="1" noRot="1" noChangeAspect="1" noMove="1" noResize="1" noEditPoints="1" noAdjustHandles="1" noChangeArrowheads="1" noChangeShapeType="1" noTextEdit="1"/>
              </p:cNvSpPr>
              <p:nvPr>
                <p:ph idx="1"/>
              </p:nvPr>
            </p:nvSpPr>
            <p:spPr>
              <a:xfrm>
                <a:off x="318499" y="1343818"/>
                <a:ext cx="11609798" cy="5495927"/>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421563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err="1"/>
              <a:t>Oefening</a:t>
            </a:r>
            <a:r>
              <a:rPr dirty="0"/>
              <a:t> 1 – </a:t>
            </a:r>
            <a:r>
              <a:rPr dirty="0" err="1"/>
              <a:t>Componenten</a:t>
            </a:r>
            <a:r>
              <a:rPr dirty="0"/>
              <a:t> van de </a:t>
            </a:r>
            <a:r>
              <a:rPr dirty="0" err="1"/>
              <a:t>plaatsvector</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buNone/>
                </a:pPr>
                <a:r>
                  <a:rPr b="1" dirty="0" err="1"/>
                  <a:t>Vraag</a:t>
                </a:r>
                <a:r>
                  <a:rPr dirty="0"/>
                  <a:t>:</a:t>
                </a:r>
                <a:br>
                  <a:rPr dirty="0"/>
                </a:br>
                <a:r>
                  <a:rPr dirty="0"/>
                  <a:t>Welke </a:t>
                </a:r>
                <a:r>
                  <a:rPr dirty="0" err="1"/>
                  <a:t>componenten</a:t>
                </a:r>
                <a:r>
                  <a:rPr dirty="0"/>
                  <a:t> van de </a:t>
                </a:r>
                <a:r>
                  <a:rPr dirty="0" err="1"/>
                  <a:t>plaatsvector</a:t>
                </a:r>
                <a:r>
                  <a:rPr dirty="0"/>
                  <a:t> </a:t>
                </a:r>
                <a:r>
                  <a:rPr dirty="0" err="1"/>
                  <a:t>zijn</a:t>
                </a:r>
                <a:r>
                  <a:rPr dirty="0"/>
                  <a:t> </a:t>
                </a:r>
                <a:r>
                  <a:rPr dirty="0" err="1"/>
                  <a:t>nodig</a:t>
                </a:r>
                <a:r>
                  <a:rPr dirty="0"/>
                  <a:t> om </a:t>
                </a:r>
                <a:r>
                  <a:rPr dirty="0" err="1"/>
                  <a:t>een</a:t>
                </a:r>
                <a:r>
                  <a:rPr dirty="0"/>
                  <a:t> </a:t>
                </a:r>
                <a:r>
                  <a:rPr dirty="0" err="1"/>
                  <a:t>positie</a:t>
                </a:r>
                <a:r>
                  <a:rPr dirty="0"/>
                  <a:t> in de </a:t>
                </a:r>
                <a:r>
                  <a:rPr dirty="0" err="1"/>
                  <a:t>ruimte</a:t>
                </a:r>
                <a:r>
                  <a:rPr dirty="0"/>
                  <a:t> </a:t>
                </a:r>
                <a:r>
                  <a:rPr dirty="0" err="1"/>
                  <a:t>weer</a:t>
                </a:r>
                <a:r>
                  <a:rPr dirty="0"/>
                  <a:t> </a:t>
                </a:r>
                <a:r>
                  <a:rPr dirty="0" err="1"/>
                  <a:t>te</a:t>
                </a:r>
                <a:r>
                  <a:rPr dirty="0"/>
                  <a:t> </a:t>
                </a:r>
                <a:r>
                  <a:rPr dirty="0" err="1"/>
                  <a:t>geven</a:t>
                </a:r>
                <a:r>
                  <a:rPr dirty="0"/>
                  <a:t>?</a:t>
                </a:r>
              </a:p>
              <a:p>
                <a:pPr marL="0" lvl="0" indent="0">
                  <a:buNone/>
                </a:pPr>
                <a:r>
                  <a:rPr b="1" dirty="0" err="1"/>
                  <a:t>Keuze-antwoorden</a:t>
                </a:r>
                <a:r>
                  <a:rPr dirty="0"/>
                  <a:t>:</a:t>
                </a:r>
                <a:br>
                  <a:rPr dirty="0"/>
                </a:br>
                <a:r>
                  <a:rPr dirty="0"/>
                  <a:t>a.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𝑥</m:t>
                        </m:r>
                      </m:sub>
                    </m:sSub>
                  </m:oMath>
                </a14:m>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𝑦</m:t>
                        </m:r>
                      </m:sub>
                    </m:sSub>
                  </m:oMath>
                </a14:m>
                <a:r>
                  <a:rPr dirty="0"/>
                  <a:t> </a:t>
                </a:r>
                <a:r>
                  <a:rPr dirty="0" err="1"/>
                  <a:t>en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𝑧</m:t>
                        </m:r>
                      </m:sub>
                    </m:sSub>
                  </m:oMath>
                </a14:m>
                <a:br>
                  <a:rPr dirty="0"/>
                </a:br>
                <a:r>
                  <a:rPr dirty="0"/>
                  <a:t>b.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𝑥</m:t>
                        </m:r>
                      </m:sub>
                    </m:sSub>
                  </m:oMath>
                </a14:m>
                <a:r>
                  <a:rPr dirty="0"/>
                  <a:t> </a:t>
                </a:r>
                <a:r>
                  <a:rPr dirty="0" err="1"/>
                  <a:t>en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𝑦</m:t>
                        </m:r>
                      </m:sub>
                    </m:sSub>
                  </m:oMath>
                </a14:m>
                <a:br>
                  <a:rPr dirty="0"/>
                </a:br>
                <a:r>
                  <a:rPr dirty="0"/>
                  <a:t>c. </a:t>
                </a:r>
                <a14:m>
                  <m:oMath xmlns:m="http://schemas.openxmlformats.org/officeDocument/2006/math">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oMath>
                </a14:m>
                <a:r>
                  <a:rPr dirty="0"/>
                  <a:t>, </a:t>
                </a:r>
                <a14:m>
                  <m:oMath xmlns:m="http://schemas.openxmlformats.org/officeDocument/2006/math">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oMath>
                </a14:m>
                <a:r>
                  <a:rPr dirty="0"/>
                  <a:t> </a:t>
                </a:r>
                <a:r>
                  <a:rPr dirty="0" err="1"/>
                  <a:t>en</a:t>
                </a:r>
                <a:r>
                  <a:rPr dirty="0"/>
                  <a:t> </a:t>
                </a:r>
                <a14:m>
                  <m:oMath xmlns:m="http://schemas.openxmlformats.org/officeDocument/2006/math">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𝑧</m:t>
                        </m:r>
                      </m:sub>
                    </m:sSub>
                  </m:oMath>
                </a14:m>
                <a:br>
                  <a:rPr dirty="0"/>
                </a:br>
                <a:r>
                  <a:rPr dirty="0"/>
                  <a:t>d.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𝑥</m:t>
                        </m:r>
                      </m:sub>
                    </m:sSub>
                  </m:oMath>
                </a14:m>
                <a:r>
                  <a:rPr dirty="0"/>
                  <a:t> </a:t>
                </a:r>
                <a:r>
                  <a:rPr dirty="0" err="1"/>
                  <a:t>en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𝑧</m:t>
                        </m:r>
                      </m:sub>
                    </m:sSub>
                  </m:oMath>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Oefening 1 – Oplossing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buNone/>
                </a:pPr>
                <a:r>
                  <a:rPr dirty="0"/>
                  <a:t>In de </a:t>
                </a:r>
                <a:r>
                  <a:rPr dirty="0" err="1"/>
                  <a:t>ruimte</a:t>
                </a:r>
                <a:r>
                  <a:rPr dirty="0"/>
                  <a:t> </a:t>
                </a:r>
                <a:r>
                  <a:rPr dirty="0" err="1"/>
                  <a:t>kun</a:t>
                </a:r>
                <a:r>
                  <a:rPr dirty="0"/>
                  <a:t> je de </a:t>
                </a:r>
                <a:r>
                  <a:rPr dirty="0" err="1"/>
                  <a:t>positie</a:t>
                </a:r>
                <a:r>
                  <a:rPr dirty="0"/>
                  <a:t> van </a:t>
                </a:r>
                <a:r>
                  <a:rPr dirty="0" err="1"/>
                  <a:t>een</a:t>
                </a:r>
                <a:r>
                  <a:rPr dirty="0"/>
                  <a:t> </a:t>
                </a:r>
                <a:r>
                  <a:rPr dirty="0" err="1"/>
                  <a:t>voorwerp</a:t>
                </a:r>
                <a:r>
                  <a:rPr dirty="0"/>
                  <a:t> </a:t>
                </a:r>
                <a:r>
                  <a:rPr dirty="0" err="1"/>
                  <a:t>aangeven</a:t>
                </a:r>
                <a:r>
                  <a:rPr dirty="0"/>
                  <a:t> met </a:t>
                </a:r>
                <a:r>
                  <a:rPr dirty="0" err="1"/>
                  <a:t>drie</a:t>
                </a:r>
                <a:r>
                  <a:rPr dirty="0"/>
                  <a:t> </a:t>
                </a:r>
                <a:r>
                  <a:rPr dirty="0" err="1"/>
                  <a:t>coördinaten</a:t>
                </a:r>
                <a:r>
                  <a:rPr dirty="0"/>
                  <a:t>.</a:t>
                </a:r>
                <a:br>
                  <a:rPr dirty="0"/>
                </a:br>
                <a:r>
                  <a:rPr dirty="0" err="1"/>
                  <a:t>Strikt</a:t>
                </a:r>
                <a:r>
                  <a:rPr dirty="0"/>
                  <a:t> </a:t>
                </a:r>
                <a:r>
                  <a:rPr dirty="0" err="1"/>
                  <a:t>genomen</a:t>
                </a:r>
                <a:r>
                  <a:rPr dirty="0"/>
                  <a:t> </a:t>
                </a:r>
                <a:r>
                  <a:rPr dirty="0" err="1"/>
                  <a:t>moet</a:t>
                </a:r>
                <a:r>
                  <a:rPr dirty="0"/>
                  <a:t> je de </a:t>
                </a:r>
                <a:r>
                  <a:rPr dirty="0" err="1"/>
                  <a:t>plaatscoördinaten</a:t>
                </a:r>
                <a:r>
                  <a:rPr dirty="0"/>
                  <a:t> </a:t>
                </a:r>
                <a:r>
                  <a:rPr dirty="0" err="1"/>
                  <a:t>noteren</a:t>
                </a:r>
                <a:r>
                  <a:rPr dirty="0"/>
                  <a:t> </a:t>
                </a:r>
                <a:r>
                  <a:rPr dirty="0" err="1"/>
                  <a:t>als</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𝑥</m:t>
                        </m:r>
                      </m:sub>
                    </m:sSub>
                  </m:oMath>
                </a14:m>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𝑦</m:t>
                        </m:r>
                      </m:sub>
                    </m:sSub>
                  </m:oMath>
                </a14:m>
                <a:r>
                  <a:rPr dirty="0"/>
                  <a:t> </a:t>
                </a:r>
                <a:r>
                  <a:rPr dirty="0" err="1"/>
                  <a:t>en</a:t>
                </a:r>
                <a:r>
                  <a:rPr dirty="0"/>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𝑧</m:t>
                        </m:r>
                      </m:sub>
                    </m:sSub>
                  </m:oMath>
                </a14:m>
                <a:r>
                  <a:rPr dirty="0"/>
                  <a:t>,</a:t>
                </a:r>
                <a:br>
                  <a:rPr dirty="0"/>
                </a:br>
                <a:r>
                  <a:rPr dirty="0"/>
                  <a:t>want ze </a:t>
                </a:r>
                <a:r>
                  <a:rPr dirty="0" err="1"/>
                  <a:t>geven</a:t>
                </a:r>
                <a:r>
                  <a:rPr dirty="0"/>
                  <a:t> </a:t>
                </a:r>
                <a:r>
                  <a:rPr dirty="0" err="1"/>
                  <a:t>ook</a:t>
                </a:r>
                <a:r>
                  <a:rPr dirty="0"/>
                  <a:t> de </a:t>
                </a:r>
                <a:r>
                  <a:rPr dirty="0" err="1"/>
                  <a:t>grootte</a:t>
                </a:r>
                <a:r>
                  <a:rPr dirty="0"/>
                  <a:t> van de </a:t>
                </a:r>
                <a:r>
                  <a:rPr dirty="0" err="1"/>
                  <a:t>geprojecteerde</a:t>
                </a:r>
                <a:r>
                  <a:rPr dirty="0"/>
                  <a:t> vector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r>
                  <a:rPr dirty="0"/>
                  <a:t> op de x-, y- </a:t>
                </a:r>
                <a:r>
                  <a:rPr dirty="0" err="1"/>
                  <a:t>en</a:t>
                </a:r>
                <a:r>
                  <a:rPr dirty="0"/>
                  <a:t> z-as.</a:t>
                </a:r>
              </a:p>
              <a:p>
                <a:pPr marL="0" lvl="0" indent="0">
                  <a:buNone/>
                </a:pPr>
                <a:r>
                  <a:rPr b="1" dirty="0"/>
                  <a:t>Antwoord</a:t>
                </a:r>
                <a:r>
                  <a:rPr dirty="0"/>
                  <a:t>: 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Oefening 2 – Vectoren op het bewegende voorwerp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buNone/>
                </a:pPr>
                <a:r>
                  <a:rPr b="1"/>
                  <a:t>Vraag</a:t>
                </a:r>
                <a:r>
                  <a:t>:</a:t>
                </a:r>
                <a:br/>
                <a:r>
                  <a:t>Welke vector(en) grijpt/grijpen aan op het bewegende voorwerp?</a:t>
                </a:r>
              </a:p>
              <a:p>
                <a:pPr marL="0" lvl="0" indent="0">
                  <a:buNone/>
                </a:pPr>
                <a:r>
                  <a:rPr b="1"/>
                  <a:t>Keuze-antwoorden</a:t>
                </a:r>
                <a:r>
                  <a:t>:</a:t>
                </a:r>
                <a:br/>
                <a:r>
                  <a:t>a. </a:t>
                </a:r>
                <a14:m>
                  <m:oMath xmlns:m="http://schemas.openxmlformats.org/officeDocument/2006/math">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𝑥</m:t>
                        </m:r>
                      </m:sub>
                    </m:sSub>
                  </m:oMath>
                </a14:m>
                <a:r>
                  <a:t>, </a:t>
                </a:r>
                <a14:m>
                  <m:oMath xmlns:m="http://schemas.openxmlformats.org/officeDocument/2006/math">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𝑦</m:t>
                        </m:r>
                      </m:sub>
                    </m:sSub>
                  </m:oMath>
                </a14:m>
                <a:r>
                  <a:t> en </a:t>
                </a:r>
                <a14:m>
                  <m:oMath xmlns:m="http://schemas.openxmlformats.org/officeDocument/2006/math">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𝑒</m:t>
                            </m:r>
                          </m:e>
                        </m:acc>
                      </m:e>
                      <m:sub>
                        <m:r>
                          <a:rPr>
                            <a:latin typeface="Cambria Math" panose="02040503050406030204" pitchFamily="18" charset="0"/>
                          </a:rPr>
                          <m:t>𝑧</m:t>
                        </m:r>
                      </m:sub>
                    </m:sSub>
                  </m:oMath>
                </a14:m>
                <a:br/>
                <a:r>
                  <a:t>b.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𝑟</m:t>
                        </m:r>
                      </m:e>
                    </m:acc>
                  </m:oMath>
                </a14:m>
                <a:br/>
                <a:r>
                  <a:t>c.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𝑣</m:t>
                        </m:r>
                      </m:e>
                    </m:acc>
                  </m:oMath>
                </a14:m>
                <a:br/>
                <a:r>
                  <a:t>d.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𝑎</m:t>
                        </m:r>
                      </m:e>
                    </m:acc>
                  </m:oMath>
                </a14:m>
                <a:r>
                  <a:t> en </a:t>
                </a:r>
                <a14:m>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𝑣</m:t>
                        </m:r>
                      </m:e>
                    </m:acc>
                  </m:oMath>
                </a14:m>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5" name="Afbeelding 4">
            <a:extLst>
              <a:ext uri="{FF2B5EF4-FFF2-40B4-BE49-F238E27FC236}">
                <a16:creationId xmlns:a16="http://schemas.microsoft.com/office/drawing/2014/main" id="{A1E76075-6182-CEB4-FD98-0893F48FB896}"/>
              </a:ext>
            </a:extLst>
          </p:cNvPr>
          <p:cNvPicPr>
            <a:picLocks noChangeAspect="1"/>
          </p:cNvPicPr>
          <p:nvPr/>
        </p:nvPicPr>
        <p:blipFill>
          <a:blip r:embed="rId3"/>
          <a:stretch>
            <a:fillRect/>
          </a:stretch>
        </p:blipFill>
        <p:spPr>
          <a:xfrm>
            <a:off x="5350803" y="2669381"/>
            <a:ext cx="4793861" cy="356789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Oefening 2 – Oplossing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buNone/>
                </a:pPr>
                <a:r>
                  <a:rPr sz="2800" dirty="0"/>
                  <a:t>Op </a:t>
                </a:r>
                <a:r>
                  <a:rPr sz="2800" dirty="0" err="1"/>
                  <a:t>een</a:t>
                </a:r>
                <a:r>
                  <a:rPr sz="2800" dirty="0"/>
                  <a:t> </a:t>
                </a:r>
                <a:r>
                  <a:rPr sz="2800" dirty="0" err="1"/>
                  <a:t>bewegend</a:t>
                </a:r>
                <a:r>
                  <a:rPr sz="2800" dirty="0"/>
                  <a:t> </a:t>
                </a:r>
                <a:r>
                  <a:rPr sz="2800" dirty="0" err="1"/>
                  <a:t>voorwerp</a:t>
                </a:r>
                <a:r>
                  <a:rPr sz="2800" dirty="0"/>
                  <a:t> </a:t>
                </a:r>
                <a:r>
                  <a:rPr sz="2800" dirty="0" err="1"/>
                  <a:t>grijpen</a:t>
                </a:r>
                <a:r>
                  <a:rPr sz="2800" dirty="0"/>
                  <a:t> de </a:t>
                </a:r>
                <a:r>
                  <a:rPr sz="2800" b="1" dirty="0" err="1"/>
                  <a:t>versnellingsvector</a:t>
                </a:r>
                <a:r>
                  <a:rPr sz="2800" dirty="0"/>
                  <a:t> </a:t>
                </a:r>
                <a14:m>
                  <m:oMath xmlns:m="http://schemas.openxmlformats.org/officeDocument/2006/math">
                    <m:acc>
                      <m:accPr>
                        <m:chr m:val="⃗"/>
                        <m:ctrlPr>
                          <a:rPr sz="2800">
                            <a:latin typeface="Cambria Math" panose="02040503050406030204" pitchFamily="18" charset="0"/>
                          </a:rPr>
                        </m:ctrlPr>
                      </m:accPr>
                      <m:e>
                        <m:r>
                          <a:rPr sz="2800">
                            <a:latin typeface="Cambria Math" panose="02040503050406030204" pitchFamily="18" charset="0"/>
                          </a:rPr>
                          <m:t>𝑎</m:t>
                        </m:r>
                      </m:e>
                    </m:acc>
                  </m:oMath>
                </a14:m>
                <a:r>
                  <a:rPr sz="2800" dirty="0"/>
                  <a:t> </a:t>
                </a:r>
                <a:r>
                  <a:rPr sz="2800" dirty="0" err="1"/>
                  <a:t>en</a:t>
                </a:r>
                <a:r>
                  <a:rPr sz="2800" dirty="0"/>
                  <a:t> de </a:t>
                </a:r>
                <a:r>
                  <a:rPr sz="2800" b="1" dirty="0" err="1"/>
                  <a:t>snelheidsvector</a:t>
                </a:r>
                <a:r>
                  <a:rPr sz="2800" dirty="0"/>
                  <a:t> </a:t>
                </a:r>
                <a14:m>
                  <m:oMath xmlns:m="http://schemas.openxmlformats.org/officeDocument/2006/math">
                    <m:acc>
                      <m:accPr>
                        <m:chr m:val="⃗"/>
                        <m:ctrlPr>
                          <a:rPr sz="2800">
                            <a:latin typeface="Cambria Math" panose="02040503050406030204" pitchFamily="18" charset="0"/>
                          </a:rPr>
                        </m:ctrlPr>
                      </m:accPr>
                      <m:e>
                        <m:r>
                          <a:rPr sz="2800">
                            <a:latin typeface="Cambria Math" panose="02040503050406030204" pitchFamily="18" charset="0"/>
                          </a:rPr>
                          <m:t>𝑣</m:t>
                        </m:r>
                      </m:e>
                    </m:acc>
                  </m:oMath>
                </a14:m>
                <a:r>
                  <a:rPr sz="2800" dirty="0"/>
                  <a:t> </a:t>
                </a:r>
                <a:r>
                  <a:rPr sz="2800" dirty="0" err="1"/>
                  <a:t>aan</a:t>
                </a:r>
                <a:r>
                  <a:rPr sz="2800" dirty="0"/>
                  <a:t>.</a:t>
                </a:r>
                <a:br>
                  <a:rPr sz="2800" dirty="0"/>
                </a:br>
                <a:r>
                  <a:rPr sz="2800" dirty="0"/>
                  <a:t>De </a:t>
                </a:r>
                <a:r>
                  <a:rPr sz="2800" dirty="0" err="1"/>
                  <a:t>versnellingsvector</a:t>
                </a:r>
                <a:r>
                  <a:rPr sz="2800" dirty="0"/>
                  <a:t> </a:t>
                </a:r>
                <a:r>
                  <a:rPr sz="2800" dirty="0" err="1"/>
                  <a:t>beschrijft</a:t>
                </a:r>
                <a:r>
                  <a:rPr sz="2800" dirty="0"/>
                  <a:t> de </a:t>
                </a:r>
                <a:r>
                  <a:rPr sz="2800" dirty="0" err="1"/>
                  <a:t>verandering</a:t>
                </a:r>
                <a:r>
                  <a:rPr sz="2800" dirty="0"/>
                  <a:t> van </a:t>
                </a:r>
                <a:r>
                  <a:rPr sz="2800" dirty="0" err="1"/>
                  <a:t>snelheid</a:t>
                </a:r>
                <a:r>
                  <a:rPr sz="2800" dirty="0"/>
                  <a:t>,</a:t>
                </a:r>
                <a:br>
                  <a:rPr sz="2800" dirty="0"/>
                </a:br>
                <a:r>
                  <a:rPr sz="2800" dirty="0" err="1"/>
                  <a:t>terwijl</a:t>
                </a:r>
                <a:r>
                  <a:rPr sz="2800" dirty="0"/>
                  <a:t> de </a:t>
                </a:r>
                <a:r>
                  <a:rPr sz="2800" dirty="0" err="1"/>
                  <a:t>snelheidsvector</a:t>
                </a:r>
                <a:r>
                  <a:rPr sz="2800" dirty="0"/>
                  <a:t> de </a:t>
                </a:r>
                <a:r>
                  <a:rPr sz="2800" dirty="0" err="1"/>
                  <a:t>richting</a:t>
                </a:r>
                <a:r>
                  <a:rPr sz="2800" dirty="0"/>
                  <a:t> </a:t>
                </a:r>
                <a:r>
                  <a:rPr sz="2800" dirty="0" err="1"/>
                  <a:t>en</a:t>
                </a:r>
                <a:r>
                  <a:rPr sz="2800" dirty="0"/>
                  <a:t> </a:t>
                </a:r>
                <a:r>
                  <a:rPr sz="2800" dirty="0" err="1"/>
                  <a:t>grootte</a:t>
                </a:r>
                <a:r>
                  <a:rPr sz="2800" dirty="0"/>
                  <a:t> van de </a:t>
                </a:r>
                <a:r>
                  <a:rPr sz="2800" dirty="0" err="1"/>
                  <a:t>beweging</a:t>
                </a:r>
                <a:r>
                  <a:rPr sz="2800" dirty="0"/>
                  <a:t> </a:t>
                </a:r>
                <a:r>
                  <a:rPr sz="2800" dirty="0" err="1"/>
                  <a:t>aangeeft</a:t>
                </a:r>
                <a:r>
                  <a:rPr sz="2800" dirty="0"/>
                  <a:t>.</a:t>
                </a:r>
              </a:p>
              <a:p>
                <a:pPr marL="0" lvl="0" indent="0">
                  <a:buNone/>
                </a:pPr>
                <a:r>
                  <a:rPr b="1" dirty="0"/>
                  <a:t>Antwoord</a:t>
                </a:r>
                <a:r>
                  <a:rPr dirty="0"/>
                  <a:t>: 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nl-BE">
                    <a:noFill/>
                  </a:rPr>
                  <a:t> </a:t>
                </a:r>
              </a:p>
            </p:txBody>
          </p:sp>
        </mc:Fallback>
      </mc:AlternateContent>
      <p:pic>
        <p:nvPicPr>
          <p:cNvPr id="4" name="Afbeelding 3">
            <a:extLst>
              <a:ext uri="{FF2B5EF4-FFF2-40B4-BE49-F238E27FC236}">
                <a16:creationId xmlns:a16="http://schemas.microsoft.com/office/drawing/2014/main" id="{C202F666-74D9-186B-34BF-BF459526EAE4}"/>
              </a:ext>
            </a:extLst>
          </p:cNvPr>
          <p:cNvPicPr>
            <a:picLocks noChangeAspect="1"/>
          </p:cNvPicPr>
          <p:nvPr/>
        </p:nvPicPr>
        <p:blipFill>
          <a:blip r:embed="rId3"/>
          <a:stretch>
            <a:fillRect/>
          </a:stretch>
        </p:blipFill>
        <p:spPr>
          <a:xfrm>
            <a:off x="5799377" y="3429000"/>
            <a:ext cx="3879461" cy="288733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498" y="-85263"/>
            <a:ext cx="11873501" cy="1325563"/>
          </a:xfrm>
        </p:spPr>
        <p:txBody>
          <a:bodyPr>
            <a:noAutofit/>
          </a:bodyPr>
          <a:lstStyle/>
          <a:p>
            <a:pPr marL="0" lvl="0" indent="0">
              <a:buNone/>
            </a:pPr>
            <a:r>
              <a:rPr sz="4800" dirty="0" err="1"/>
              <a:t>Oefening</a:t>
            </a:r>
            <a:r>
              <a:rPr sz="4800" dirty="0"/>
              <a:t> </a:t>
            </a:r>
            <a:r>
              <a:rPr lang="nl-BE" sz="4800" dirty="0"/>
              <a:t>3</a:t>
            </a:r>
            <a:r>
              <a:rPr sz="4800" dirty="0"/>
              <a:t> – </a:t>
            </a:r>
            <a:r>
              <a:rPr sz="4800" dirty="0" err="1"/>
              <a:t>Gemiddelde</a:t>
            </a:r>
            <a:r>
              <a:rPr sz="4800" dirty="0"/>
              <a:t> </a:t>
            </a:r>
            <a:r>
              <a:rPr sz="4800" dirty="0" err="1"/>
              <a:t>snelheid</a:t>
            </a:r>
            <a:r>
              <a:rPr sz="4800" dirty="0"/>
              <a:t> </a:t>
            </a:r>
            <a:r>
              <a:rPr sz="4800" dirty="0" err="1"/>
              <a:t>kusttram</a:t>
            </a:r>
            <a:endParaRPr sz="4800" dirty="0"/>
          </a:p>
        </p:txBody>
      </p:sp>
      <p:sp>
        <p:nvSpPr>
          <p:cNvPr id="3" name="Content Placeholder 2"/>
          <p:cNvSpPr>
            <a:spLocks noGrp="1"/>
          </p:cNvSpPr>
          <p:nvPr>
            <p:ph idx="1"/>
          </p:nvPr>
        </p:nvSpPr>
        <p:spPr>
          <a:xfrm>
            <a:off x="318499" y="1343818"/>
            <a:ext cx="7755826" cy="5272739"/>
          </a:xfrm>
        </p:spPr>
        <p:txBody>
          <a:bodyPr>
            <a:normAutofit/>
          </a:bodyPr>
          <a:lstStyle/>
          <a:p>
            <a:pPr marL="0" lvl="0" indent="0">
              <a:buNone/>
            </a:pPr>
            <a:r>
              <a:rPr sz="2800" dirty="0"/>
              <a:t>Je </a:t>
            </a:r>
            <a:r>
              <a:rPr sz="2800" dirty="0" err="1"/>
              <a:t>neemt</a:t>
            </a:r>
            <a:r>
              <a:rPr sz="2800" dirty="0"/>
              <a:t> in Knokke </a:t>
            </a:r>
            <a:r>
              <a:rPr sz="2800" dirty="0" err="1"/>
              <a:t>aan</a:t>
            </a:r>
            <a:r>
              <a:rPr sz="2800" dirty="0"/>
              <a:t> het station de </a:t>
            </a:r>
            <a:r>
              <a:rPr sz="2800" dirty="0" err="1"/>
              <a:t>kusttram</a:t>
            </a:r>
            <a:r>
              <a:rPr sz="2800" dirty="0"/>
              <a:t> </a:t>
            </a:r>
            <a:r>
              <a:rPr sz="2800" dirty="0" err="1"/>
              <a:t>en</a:t>
            </a:r>
            <a:r>
              <a:rPr sz="2800" dirty="0"/>
              <a:t> </a:t>
            </a:r>
            <a:r>
              <a:rPr sz="2800" dirty="0" err="1"/>
              <a:t>stapt</a:t>
            </a:r>
            <a:r>
              <a:rPr sz="2800" dirty="0"/>
              <a:t> </a:t>
            </a:r>
            <a:r>
              <a:rPr sz="2800" dirty="0" err="1"/>
              <a:t>af</a:t>
            </a:r>
            <a:r>
              <a:rPr sz="2800" dirty="0"/>
              <a:t> in </a:t>
            </a:r>
            <a:r>
              <a:rPr sz="2800" dirty="0" err="1"/>
              <a:t>Blankenberge</a:t>
            </a:r>
            <a:r>
              <a:rPr sz="2800" dirty="0"/>
              <a:t> (Sea Life).</a:t>
            </a:r>
            <a:br>
              <a:rPr sz="2800" dirty="0"/>
            </a:br>
            <a:r>
              <a:rPr sz="2800" dirty="0"/>
              <a:t>De tram </a:t>
            </a:r>
            <a:r>
              <a:rPr sz="2800" dirty="0" err="1"/>
              <a:t>legt</a:t>
            </a:r>
            <a:r>
              <a:rPr sz="2800" dirty="0"/>
              <a:t> </a:t>
            </a:r>
            <a:r>
              <a:rPr sz="2800" dirty="0" err="1"/>
              <a:t>een</a:t>
            </a:r>
            <a:r>
              <a:rPr sz="2800" dirty="0"/>
              <a:t> </a:t>
            </a:r>
            <a:r>
              <a:rPr sz="2800" dirty="0" err="1"/>
              <a:t>afstand</a:t>
            </a:r>
            <a:r>
              <a:rPr sz="2800" dirty="0"/>
              <a:t> van 11,3 km </a:t>
            </a:r>
            <a:r>
              <a:rPr sz="2800" dirty="0" err="1"/>
              <a:t>af</a:t>
            </a:r>
            <a:r>
              <a:rPr sz="2800" dirty="0"/>
              <a:t>.</a:t>
            </a:r>
          </a:p>
          <a:p>
            <a:pPr marL="0" lvl="0" indent="0">
              <a:buNone/>
            </a:pPr>
            <a:r>
              <a:rPr sz="2800" b="1" dirty="0" err="1"/>
              <a:t>Vraag</a:t>
            </a:r>
            <a:r>
              <a:rPr sz="2800" dirty="0"/>
              <a:t>: Wat is de </a:t>
            </a:r>
            <a:r>
              <a:rPr sz="2800" dirty="0" err="1"/>
              <a:t>gemiddelde</a:t>
            </a:r>
            <a:r>
              <a:rPr sz="2800" dirty="0"/>
              <a:t> </a:t>
            </a:r>
            <a:r>
              <a:rPr sz="2800" dirty="0" err="1"/>
              <a:t>snelheid</a:t>
            </a:r>
            <a:r>
              <a:rPr sz="2800" dirty="0"/>
              <a:t> van de </a:t>
            </a:r>
            <a:r>
              <a:rPr sz="2800" dirty="0" err="1"/>
              <a:t>kusttram</a:t>
            </a:r>
            <a:r>
              <a:rPr sz="2800" dirty="0"/>
              <a:t>?</a:t>
            </a:r>
          </a:p>
          <a:p>
            <a:pPr marL="0" lvl="0" indent="0">
              <a:buNone/>
            </a:pPr>
            <a:r>
              <a:rPr b="1" dirty="0" err="1"/>
              <a:t>Keuze-antwoorden</a:t>
            </a:r>
            <a:r>
              <a:rPr dirty="0"/>
              <a:t>:</a:t>
            </a:r>
            <a:br>
              <a:rPr dirty="0"/>
            </a:br>
            <a:r>
              <a:rPr dirty="0"/>
              <a:t>a. 7,97 m/s</a:t>
            </a:r>
            <a:br>
              <a:rPr dirty="0"/>
            </a:br>
            <a:r>
              <a:rPr dirty="0"/>
              <a:t>b. 9,20 m/s</a:t>
            </a:r>
            <a:br>
              <a:rPr dirty="0"/>
            </a:br>
            <a:r>
              <a:rPr dirty="0"/>
              <a:t>c. 32,3 km/h</a:t>
            </a:r>
            <a:br>
              <a:rPr dirty="0"/>
            </a:br>
            <a:r>
              <a:rPr dirty="0"/>
              <a:t>d. 40,5 km/h</a:t>
            </a:r>
          </a:p>
        </p:txBody>
      </p:sp>
      <p:pic>
        <p:nvPicPr>
          <p:cNvPr id="5" name="Afbeelding 4">
            <a:extLst>
              <a:ext uri="{FF2B5EF4-FFF2-40B4-BE49-F238E27FC236}">
                <a16:creationId xmlns:a16="http://schemas.microsoft.com/office/drawing/2014/main" id="{D214B5CC-CB80-B8D1-601F-3204A0934C93}"/>
              </a:ext>
            </a:extLst>
          </p:cNvPr>
          <p:cNvPicPr>
            <a:picLocks noChangeAspect="1"/>
          </p:cNvPicPr>
          <p:nvPr/>
        </p:nvPicPr>
        <p:blipFill>
          <a:blip r:embed="rId2"/>
          <a:stretch>
            <a:fillRect/>
          </a:stretch>
        </p:blipFill>
        <p:spPr>
          <a:xfrm>
            <a:off x="8036543" y="1513412"/>
            <a:ext cx="3836958" cy="400077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Oefening</a:t>
            </a:r>
            <a:r>
              <a:rPr dirty="0"/>
              <a:t> </a:t>
            </a:r>
            <a:r>
              <a:rPr lang="nl-BE" dirty="0"/>
              <a:t>3</a:t>
            </a:r>
            <a:r>
              <a:rPr dirty="0"/>
              <a:t> – </a:t>
            </a:r>
            <a:r>
              <a:rPr dirty="0" err="1"/>
              <a:t>Oplossing</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499" y="1343818"/>
                <a:ext cx="11609798" cy="5272739"/>
              </a:xfrm>
            </p:spPr>
            <p:txBody>
              <a:bodyPr>
                <a:normAutofit fontScale="85000" lnSpcReduction="20000"/>
              </a:bodyPr>
              <a:lstStyle/>
              <a:p>
                <a:pPr marL="0" lvl="0" indent="0">
                  <a:buNone/>
                </a:pPr>
                <a:r>
                  <a:rPr lang="nl-BE" b="1" dirty="0"/>
                  <a:t>Gegeven</a:t>
                </a:r>
                <a:r>
                  <a:rPr lang="nl-BE" dirty="0"/>
                  <a:t>:</a:t>
                </a:r>
                <a:br>
                  <a:rPr lang="nl-BE" dirty="0"/>
                </a:br>
                <a14:m>
                  <m:oMathPara xmlns:m="http://schemas.openxmlformats.org/officeDocument/2006/math">
                    <m:oMath>
                      <m:r>
                        <a:rPr lang="nl-BE">
                          <a:latin typeface="Cambria Math" panose="02040503050406030204" pitchFamily="18" charset="0"/>
                        </a:rPr>
                        <m:t>𝑡</m:t>
                      </m:r>
                      <m:r>
                        <a:rPr lang="nl-BE">
                          <a:latin typeface="Cambria Math" panose="02040503050406030204" pitchFamily="18" charset="0"/>
                        </a:rPr>
                        <m:t>=21 </m:t>
                      </m:r>
                      <m:r>
                        <m:rPr>
                          <m:nor/>
                        </m:rPr>
                        <a:rPr lang="nl-BE" i="0"/>
                        <m:t>min</m:t>
                      </m:r>
                      <m:r>
                        <a:rPr lang="nl-BE">
                          <a:latin typeface="Cambria Math" panose="02040503050406030204" pitchFamily="18" charset="0"/>
                        </a:rPr>
                        <m:t>=1260 </m:t>
                      </m:r>
                      <m:r>
                        <m:rPr>
                          <m:nor/>
                        </m:rPr>
                        <a:rPr lang="nl-BE" i="0"/>
                        <m:t>s</m:t>
                      </m:r>
                    </m:oMath>
                    <m:oMath>
                      <m:r>
                        <a:rPr lang="nl-BE">
                          <a:latin typeface="Cambria Math" panose="02040503050406030204" pitchFamily="18" charset="0"/>
                        </a:rPr>
                        <m:t>𝛥</m:t>
                      </m:r>
                      <m:r>
                        <a:rPr lang="nl-BE">
                          <a:latin typeface="Cambria Math" panose="02040503050406030204" pitchFamily="18" charset="0"/>
                        </a:rPr>
                        <m:t>𝑥</m:t>
                      </m:r>
                      <m:r>
                        <a:rPr lang="nl-BE">
                          <a:latin typeface="Cambria Math" panose="02040503050406030204" pitchFamily="18" charset="0"/>
                        </a:rPr>
                        <m:t>=11,3 </m:t>
                      </m:r>
                      <m:r>
                        <m:rPr>
                          <m:nor/>
                        </m:rPr>
                        <a:rPr lang="nl-BE" i="0"/>
                        <m:t>km</m:t>
                      </m:r>
                      <m:r>
                        <a:rPr lang="nl-BE">
                          <a:latin typeface="Cambria Math" panose="02040503050406030204" pitchFamily="18" charset="0"/>
                        </a:rPr>
                        <m:t>=11,3×</m:t>
                      </m:r>
                      <m:sSup>
                        <m:sSupPr>
                          <m:ctrlPr>
                            <a:rPr lang="ar-AE">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3</m:t>
                          </m:r>
                        </m:sup>
                      </m:sSup>
                      <m:r>
                        <a:rPr lang="ar-AE">
                          <a:latin typeface="Cambria Math" panose="02040503050406030204" pitchFamily="18" charset="0"/>
                        </a:rPr>
                        <m:t> </m:t>
                      </m:r>
                      <m:r>
                        <m:rPr>
                          <m:nor/>
                        </m:rPr>
                        <a:rPr lang="nl-BE" i="0"/>
                        <m:t>m</m:t>
                      </m:r>
                    </m:oMath>
                  </m:oMathPara>
                </a14:m>
                <a:endParaRPr lang="nl-BE" dirty="0"/>
              </a:p>
              <a:p>
                <a:pPr marL="0" lvl="0" indent="0">
                  <a:buNone/>
                </a:pPr>
                <a:r>
                  <a:rPr lang="nl-BE" b="1" dirty="0" err="1"/>
                  <a:t>Gevraagd</a:t>
                </a:r>
                <a:r>
                  <a:rPr lang="nl-BE" dirty="0"/>
                  <a:t>:</a:t>
                </a:r>
                <a:br>
                  <a:rPr lang="nl-BE" dirty="0"/>
                </a:br>
                <a:r>
                  <a:rPr lang="nl-BE" dirty="0" err="1"/>
                  <a:t>Gemiddelde</a:t>
                </a:r>
                <a:r>
                  <a:rPr lang="nl-BE" dirty="0"/>
                  <a:t> </a:t>
                </a:r>
                <a:r>
                  <a:rPr lang="nl-BE" dirty="0" err="1"/>
                  <a:t>snelheid</a:t>
                </a:r>
                <a:r>
                  <a:rPr lang="nl-BE" dirty="0"/>
                  <a:t>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𝑣</m:t>
                        </m:r>
                      </m:e>
                      <m:sub>
                        <m:r>
                          <m:rPr>
                            <m:nor/>
                          </m:rPr>
                          <a:rPr lang="nl-BE" i="0"/>
                          <m:t>gem</m:t>
                        </m:r>
                      </m:sub>
                    </m:sSub>
                  </m:oMath>
                </a14:m>
                <a:endParaRPr lang="ar-AE" dirty="0"/>
              </a:p>
              <a:p>
                <a:pPr marL="0" lvl="0" indent="0">
                  <a:buNone/>
                </a:pPr>
                <a:r>
                  <a:rPr lang="nl-BE" b="1" dirty="0" err="1"/>
                  <a:t>Oplossing</a:t>
                </a:r>
                <a:r>
                  <a:rPr lang="nl-BE" dirty="0"/>
                  <a:t>:</a:t>
                </a:r>
                <a:br>
                  <a:rPr lang="nl-BE" dirty="0"/>
                </a:br>
                <a:endParaRPr lang="nl-BE" dirty="0"/>
              </a:p>
              <a:p>
                <a:pPr marL="0" lvl="0" indent="0">
                  <a:buNone/>
                </a:pP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𝑣</m:t>
                        </m:r>
                      </m:e>
                      <m:sub>
                        <m:r>
                          <m:rPr>
                            <m:nor/>
                          </m:rPr>
                          <a:rPr lang="nl-BE" i="0"/>
                          <m:t>gem</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𝛥</m:t>
                        </m:r>
                        <m:r>
                          <a:rPr lang="ar-AE">
                            <a:latin typeface="Cambria Math" panose="02040503050406030204" pitchFamily="18" charset="0"/>
                          </a:rPr>
                          <m:t>𝑥</m:t>
                        </m:r>
                      </m:num>
                      <m:den>
                        <m:r>
                          <a:rPr lang="ar-AE">
                            <a:latin typeface="Cambria Math" panose="02040503050406030204" pitchFamily="18" charset="0"/>
                          </a:rPr>
                          <m:t>𝛥</m:t>
                        </m:r>
                        <m:r>
                          <a:rPr lang="ar-AE">
                            <a:latin typeface="Cambria Math" panose="02040503050406030204" pitchFamily="18" charset="0"/>
                          </a:rPr>
                          <m:t>𝑡</m:t>
                        </m:r>
                      </m:den>
                    </m:f>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11,3×</m:t>
                        </m:r>
                        <m:sSup>
                          <m:sSupPr>
                            <m:ctrlPr>
                              <a:rPr lang="ar-AE">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3</m:t>
                            </m:r>
                          </m:sup>
                        </m:sSup>
                      </m:num>
                      <m:den>
                        <m:r>
                          <a:rPr lang="ar-AE">
                            <a:latin typeface="Cambria Math" panose="02040503050406030204" pitchFamily="18" charset="0"/>
                          </a:rPr>
                          <m:t>1260</m:t>
                        </m:r>
                      </m:den>
                    </m:f>
                    <m:r>
                      <a:rPr lang="ar-AE">
                        <a:latin typeface="Cambria Math" panose="02040503050406030204" pitchFamily="18" charset="0"/>
                      </a:rPr>
                      <m:t>=8,97 </m:t>
                    </m:r>
                    <m:r>
                      <m:rPr>
                        <m:nor/>
                      </m:rPr>
                      <a:rPr lang="nl-BE" i="0"/>
                      <m:t>m/s</m:t>
                    </m:r>
                  </m:oMath>
                </a14:m>
                <a:r>
                  <a:rPr lang="nl-BE" dirty="0"/>
                  <a:t> = 9,0 m/s (BC)</a:t>
                </a:r>
              </a:p>
              <a:p>
                <a:pPr marL="0" lvl="0" indent="0">
                  <a:buNone/>
                </a:pPr>
                <a:r>
                  <a:rPr lang="nl-BE" dirty="0" err="1"/>
                  <a:t>Omzetten</a:t>
                </a:r>
                <a:r>
                  <a:rPr lang="nl-BE" dirty="0"/>
                  <a:t> </a:t>
                </a:r>
                <a:r>
                  <a:rPr lang="nl-BE" dirty="0" err="1"/>
                  <a:t>naar</a:t>
                </a:r>
                <a:r>
                  <a:rPr lang="nl-BE" dirty="0"/>
                  <a:t> km/h:</a:t>
                </a:r>
                <a:br>
                  <a:rPr lang="nl-BE" dirty="0"/>
                </a:br>
                <a:endParaRPr lang="nl-BE" dirty="0"/>
              </a:p>
              <a:p>
                <a:pPr marL="0" lvl="0" indent="0">
                  <a:buNone/>
                </a:pPr>
                <a14:m>
                  <m:oMath xmlns:m="http://schemas.openxmlformats.org/officeDocument/2006/math">
                    <m:r>
                      <a:rPr lang="nl-BE">
                        <a:latin typeface="Cambria Math" panose="02040503050406030204" pitchFamily="18" charset="0"/>
                      </a:rPr>
                      <m:t>8,97 </m:t>
                    </m:r>
                    <m:r>
                      <m:rPr>
                        <m:nor/>
                      </m:rPr>
                      <a:rPr lang="nl-BE" i="0"/>
                      <m:t>m/s</m:t>
                    </m:r>
                    <m:r>
                      <a:rPr lang="nl-BE">
                        <a:latin typeface="Cambria Math" panose="02040503050406030204" pitchFamily="18" charset="0"/>
                      </a:rPr>
                      <m:t>×3,600=32,3 </m:t>
                    </m:r>
                    <m:r>
                      <m:rPr>
                        <m:nor/>
                      </m:rPr>
                      <a:rPr lang="nl-BE" i="0"/>
                      <m:t>km/h</m:t>
                    </m:r>
                  </m:oMath>
                </a14:m>
                <a:r>
                  <a:rPr lang="nl-BE" dirty="0"/>
                  <a:t> = 32 km/h (BC)</a:t>
                </a:r>
              </a:p>
              <a:p>
                <a:pPr marL="0" lvl="0" indent="0">
                  <a:buNone/>
                </a:pPr>
                <a:r>
                  <a:rPr lang="nl-BE" b="1" dirty="0"/>
                  <a:t>Antwoord</a:t>
                </a:r>
                <a:r>
                  <a:rPr lang="nl-BE" dirty="0"/>
                  <a:t>: c</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499" y="1343818"/>
                <a:ext cx="11609798" cy="5272739"/>
              </a:xfrm>
              <a:blipFill>
                <a:blip r:embed="rId2"/>
                <a:stretch>
                  <a:fillRect/>
                </a:stretch>
              </a:blipFill>
            </p:spPr>
            <p:txBody>
              <a:bodyPr/>
              <a:lstStyle/>
              <a:p>
                <a:r>
                  <a:rPr lang="nl-BE">
                    <a:noFill/>
                  </a:rPr>
                  <a:t> </a:t>
                </a:r>
              </a:p>
            </p:txBody>
          </p:sp>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499" y="18255"/>
            <a:ext cx="10942834" cy="1325563"/>
          </a:xfrm>
        </p:spPr>
        <p:txBody>
          <a:bodyPr>
            <a:normAutofit fontScale="90000"/>
          </a:bodyPr>
          <a:lstStyle/>
          <a:p>
            <a:pPr marL="0" lvl="0" indent="0">
              <a:buNone/>
            </a:pPr>
            <a:r>
              <a:rPr dirty="0" err="1"/>
              <a:t>Oefening</a:t>
            </a:r>
            <a:r>
              <a:rPr dirty="0"/>
              <a:t> </a:t>
            </a:r>
            <a:r>
              <a:rPr lang="nl-BE" dirty="0"/>
              <a:t>4</a:t>
            </a:r>
            <a:r>
              <a:rPr dirty="0"/>
              <a:t> – </a:t>
            </a:r>
            <a:r>
              <a:rPr dirty="0" err="1"/>
              <a:t>Gemiddelde</a:t>
            </a:r>
            <a:r>
              <a:rPr dirty="0"/>
              <a:t> </a:t>
            </a:r>
            <a:r>
              <a:rPr dirty="0" err="1"/>
              <a:t>snelheid</a:t>
            </a:r>
            <a:r>
              <a:rPr dirty="0"/>
              <a:t> </a:t>
            </a:r>
            <a:r>
              <a:rPr dirty="0" err="1"/>
              <a:t>joggen</a:t>
            </a:r>
            <a:endParaRPr dirty="0"/>
          </a:p>
        </p:txBody>
      </p:sp>
      <p:sp>
        <p:nvSpPr>
          <p:cNvPr id="3" name="Content Placeholder 2"/>
          <p:cNvSpPr>
            <a:spLocks noGrp="1"/>
          </p:cNvSpPr>
          <p:nvPr>
            <p:ph idx="1"/>
          </p:nvPr>
        </p:nvSpPr>
        <p:spPr/>
        <p:txBody>
          <a:bodyPr/>
          <a:lstStyle/>
          <a:p>
            <a:pPr marL="0" lvl="0" indent="0">
              <a:buNone/>
            </a:pPr>
            <a:r>
              <a:rPr dirty="0"/>
              <a:t>Ariane </a:t>
            </a:r>
            <a:r>
              <a:rPr dirty="0" err="1"/>
              <a:t>gaat</a:t>
            </a:r>
            <a:r>
              <a:rPr dirty="0"/>
              <a:t> </a:t>
            </a:r>
            <a:r>
              <a:rPr dirty="0" err="1"/>
              <a:t>joggen</a:t>
            </a:r>
            <a:r>
              <a:rPr dirty="0"/>
              <a:t>.</a:t>
            </a:r>
            <a:br>
              <a:rPr dirty="0"/>
            </a:br>
            <a:r>
              <a:rPr dirty="0"/>
              <a:t>- </a:t>
            </a:r>
            <a:r>
              <a:rPr dirty="0" err="1"/>
              <a:t>Eerste</a:t>
            </a:r>
            <a:r>
              <a:rPr dirty="0"/>
              <a:t> 5 min: </a:t>
            </a:r>
            <a:r>
              <a:rPr dirty="0" err="1"/>
              <a:t>snelheid</a:t>
            </a:r>
            <a:r>
              <a:rPr dirty="0"/>
              <a:t> = 8,0 km/h</a:t>
            </a:r>
            <a:br>
              <a:rPr dirty="0"/>
            </a:br>
            <a:r>
              <a:rPr dirty="0"/>
              <a:t>- </a:t>
            </a:r>
            <a:r>
              <a:rPr dirty="0" err="1"/>
              <a:t>Volgende</a:t>
            </a:r>
            <a:r>
              <a:rPr dirty="0"/>
              <a:t> 18 min: </a:t>
            </a:r>
            <a:r>
              <a:rPr dirty="0" err="1"/>
              <a:t>snelheid</a:t>
            </a:r>
            <a:r>
              <a:rPr dirty="0"/>
              <a:t> = 10 km/h</a:t>
            </a:r>
            <a:br>
              <a:rPr dirty="0"/>
            </a:br>
            <a:r>
              <a:rPr dirty="0"/>
              <a:t>- </a:t>
            </a:r>
            <a:r>
              <a:rPr dirty="0" err="1"/>
              <a:t>Laatste</a:t>
            </a:r>
            <a:r>
              <a:rPr dirty="0"/>
              <a:t> 12 min: </a:t>
            </a:r>
            <a:r>
              <a:rPr dirty="0" err="1"/>
              <a:t>snelheid</a:t>
            </a:r>
            <a:r>
              <a:rPr dirty="0"/>
              <a:t> = 7,0 km/h</a:t>
            </a:r>
          </a:p>
          <a:p>
            <a:pPr marL="0" lvl="0" indent="0">
              <a:buNone/>
            </a:pPr>
            <a:r>
              <a:rPr b="1" dirty="0" err="1"/>
              <a:t>Vraag</a:t>
            </a:r>
            <a:r>
              <a:rPr dirty="0"/>
              <a:t>: Wat is </a:t>
            </a:r>
            <a:r>
              <a:rPr dirty="0" err="1"/>
              <a:t>Arianes</a:t>
            </a:r>
            <a:r>
              <a:rPr dirty="0"/>
              <a:t> </a:t>
            </a:r>
            <a:r>
              <a:rPr dirty="0" err="1"/>
              <a:t>gemiddelde</a:t>
            </a:r>
            <a:r>
              <a:rPr dirty="0"/>
              <a:t> </a:t>
            </a:r>
            <a:r>
              <a:rPr dirty="0" err="1"/>
              <a:t>snelheid</a:t>
            </a:r>
            <a:r>
              <a:rPr dirty="0"/>
              <a:t> op de </a:t>
            </a:r>
            <a:r>
              <a:rPr dirty="0" err="1"/>
              <a:t>tocht</a:t>
            </a:r>
            <a:r>
              <a:rPr dirty="0"/>
              <a:t>?</a:t>
            </a:r>
          </a:p>
          <a:p>
            <a:pPr marL="0" lvl="0" indent="0">
              <a:buNone/>
            </a:pPr>
            <a:r>
              <a:rPr b="1" dirty="0" err="1"/>
              <a:t>Keuze-antwoorden</a:t>
            </a:r>
            <a:r>
              <a:rPr dirty="0"/>
              <a:t>:</a:t>
            </a:r>
            <a:br>
              <a:rPr dirty="0"/>
            </a:br>
            <a:r>
              <a:rPr dirty="0"/>
              <a:t>a. 7,5 km/h</a:t>
            </a:r>
            <a:br>
              <a:rPr dirty="0"/>
            </a:br>
            <a:r>
              <a:rPr dirty="0"/>
              <a:t>b. 3,7 km/h</a:t>
            </a:r>
            <a:br>
              <a:rPr dirty="0"/>
            </a:br>
            <a:r>
              <a:rPr dirty="0"/>
              <a:t>c. 9,2 km/h</a:t>
            </a:r>
            <a:br>
              <a:rPr dirty="0"/>
            </a:br>
            <a:r>
              <a:rPr dirty="0"/>
              <a:t>d. 8,</a:t>
            </a:r>
            <a:r>
              <a:rPr lang="nl-BE" dirty="0"/>
              <a:t>7</a:t>
            </a:r>
            <a:r>
              <a:rPr dirty="0"/>
              <a:t> km/h</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733" y="-179708"/>
            <a:ext cx="10515600" cy="1325563"/>
          </a:xfrm>
        </p:spPr>
        <p:txBody>
          <a:bodyPr/>
          <a:lstStyle/>
          <a:p>
            <a:pPr marL="0" lvl="0" indent="0">
              <a:buNone/>
            </a:pPr>
            <a:r>
              <a:rPr dirty="0" err="1"/>
              <a:t>Oefening</a:t>
            </a:r>
            <a:r>
              <a:rPr dirty="0"/>
              <a:t> </a:t>
            </a:r>
            <a:r>
              <a:rPr lang="nl-BE" dirty="0"/>
              <a:t>4</a:t>
            </a:r>
            <a:r>
              <a:rPr dirty="0"/>
              <a:t> – </a:t>
            </a:r>
            <a:r>
              <a:rPr dirty="0" err="1"/>
              <a:t>Oplossing</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499" y="820132"/>
                <a:ext cx="11609798" cy="6202837"/>
              </a:xfrm>
            </p:spPr>
            <p:txBody>
              <a:bodyPr>
                <a:normAutofit fontScale="47500" lnSpcReduction="20000"/>
              </a:bodyPr>
              <a:lstStyle/>
              <a:p>
                <a:pPr marL="0" lvl="0" indent="0">
                  <a:lnSpc>
                    <a:spcPct val="120000"/>
                  </a:lnSpc>
                  <a:spcBef>
                    <a:spcPts val="600"/>
                  </a:spcBef>
                  <a:buNone/>
                </a:pPr>
                <a:r>
                  <a:rPr lang="nl-BE" b="1" dirty="0"/>
                  <a:t>Gegeven</a:t>
                </a:r>
                <a:r>
                  <a:rPr lang="nl-BE" dirty="0"/>
                  <a:t>:</a:t>
                </a:r>
                <a:br>
                  <a:rPr lang="nl-BE" dirty="0"/>
                </a:b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1</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5</m:t>
                        </m:r>
                      </m:num>
                      <m:den>
                        <m:r>
                          <a:rPr lang="ar-AE">
                            <a:latin typeface="Cambria Math" panose="02040503050406030204" pitchFamily="18" charset="0"/>
                          </a:rPr>
                          <m:t>60</m:t>
                        </m:r>
                      </m:den>
                    </m:f>
                    <m:r>
                      <a:rPr lang="ar-AE">
                        <a:latin typeface="Cambria Math" panose="02040503050406030204" pitchFamily="18" charset="0"/>
                      </a:rPr>
                      <m:t> </m:t>
                    </m:r>
                    <m:r>
                      <m:rPr>
                        <m:nor/>
                      </m:rPr>
                      <a:rPr lang="nl-BE" i="0"/>
                      <m:t>h</m:t>
                    </m:r>
                  </m:oMath>
                </a14:m>
                <a:r>
                  <a:rPr lang="nl-BE" dirty="0"/>
                  <a:t>,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1</m:t>
                        </m:r>
                      </m:sub>
                    </m:sSub>
                    <m:r>
                      <a:rPr lang="ar-AE">
                        <a:latin typeface="Cambria Math" panose="02040503050406030204" pitchFamily="18" charset="0"/>
                      </a:rPr>
                      <m:t>=8,0 </m:t>
                    </m:r>
                    <m:r>
                      <m:rPr>
                        <m:nor/>
                      </m:rPr>
                      <a:rPr lang="nl-BE" i="0"/>
                      <m:t>km/h</m:t>
                    </m:r>
                  </m:oMath>
                </a14:m>
                <a:br>
                  <a:rPr lang="nl-BE" dirty="0"/>
                </a:b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2</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18</m:t>
                        </m:r>
                      </m:num>
                      <m:den>
                        <m:r>
                          <a:rPr lang="ar-AE">
                            <a:latin typeface="Cambria Math" panose="02040503050406030204" pitchFamily="18" charset="0"/>
                          </a:rPr>
                          <m:t>60</m:t>
                        </m:r>
                      </m:den>
                    </m:f>
                    <m:r>
                      <a:rPr lang="ar-AE">
                        <a:latin typeface="Cambria Math" panose="02040503050406030204" pitchFamily="18" charset="0"/>
                      </a:rPr>
                      <m:t> </m:t>
                    </m:r>
                    <m:r>
                      <m:rPr>
                        <m:nor/>
                      </m:rPr>
                      <a:rPr lang="nl-BE" i="0"/>
                      <m:t>h</m:t>
                    </m:r>
                  </m:oMath>
                </a14:m>
                <a:r>
                  <a:rPr lang="nl-BE" dirty="0"/>
                  <a:t>,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2</m:t>
                        </m:r>
                      </m:sub>
                    </m:sSub>
                    <m:r>
                      <a:rPr lang="ar-AE">
                        <a:latin typeface="Cambria Math" panose="02040503050406030204" pitchFamily="18" charset="0"/>
                      </a:rPr>
                      <m:t>=10 </m:t>
                    </m:r>
                    <m:r>
                      <m:rPr>
                        <m:nor/>
                      </m:rPr>
                      <a:rPr lang="nl-BE" i="0"/>
                      <m:t>km/h</m:t>
                    </m:r>
                  </m:oMath>
                </a14:m>
                <a:br>
                  <a:rPr lang="nl-BE" dirty="0"/>
                </a:b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3</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12</m:t>
                        </m:r>
                      </m:num>
                      <m:den>
                        <m:r>
                          <a:rPr lang="ar-AE">
                            <a:latin typeface="Cambria Math" panose="02040503050406030204" pitchFamily="18" charset="0"/>
                          </a:rPr>
                          <m:t>60</m:t>
                        </m:r>
                      </m:den>
                    </m:f>
                    <m:r>
                      <a:rPr lang="ar-AE">
                        <a:latin typeface="Cambria Math" panose="02040503050406030204" pitchFamily="18" charset="0"/>
                      </a:rPr>
                      <m:t> </m:t>
                    </m:r>
                    <m:r>
                      <m:rPr>
                        <m:nor/>
                      </m:rPr>
                      <a:rPr lang="nl-BE" i="0"/>
                      <m:t>h</m:t>
                    </m:r>
                  </m:oMath>
                </a14:m>
                <a:r>
                  <a:rPr lang="nl-BE" dirty="0"/>
                  <a:t>,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3</m:t>
                        </m:r>
                      </m:sub>
                    </m:sSub>
                    <m:r>
                      <a:rPr lang="ar-AE">
                        <a:latin typeface="Cambria Math" panose="02040503050406030204" pitchFamily="18" charset="0"/>
                      </a:rPr>
                      <m:t>=7,0 </m:t>
                    </m:r>
                    <m:r>
                      <m:rPr>
                        <m:nor/>
                      </m:rPr>
                      <a:rPr lang="nl-BE" i="0"/>
                      <m:t>km/h</m:t>
                    </m:r>
                  </m:oMath>
                </a14:m>
                <a:endParaRPr lang="nl-BE" dirty="0"/>
              </a:p>
              <a:p>
                <a:pPr marL="0" lvl="0" indent="0">
                  <a:spcBef>
                    <a:spcPts val="600"/>
                  </a:spcBef>
                  <a:buNone/>
                </a:pPr>
                <a:r>
                  <a:rPr lang="nl-BE" b="1" dirty="0" err="1"/>
                  <a:t>Afstanden</a:t>
                </a:r>
                <a:r>
                  <a:rPr lang="nl-BE" dirty="0"/>
                  <a:t>:</a:t>
                </a:r>
                <a:br>
                  <a:rPr lang="nl-BE" dirty="0"/>
                </a:br>
                <a:endParaRPr lang="nl-BE" dirty="0"/>
              </a:p>
              <a:p>
                <a:pPr marL="0" lvl="0" indent="0">
                  <a:lnSpc>
                    <a:spcPct val="120000"/>
                  </a:lnSpc>
                  <a:spcBef>
                    <a:spcPts val="600"/>
                  </a:spcBef>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1</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𝑡</m:t>
                          </m:r>
                        </m:e>
                        <m:sub>
                          <m:r>
                            <a:rPr lang="ar-AE">
                              <a:latin typeface="Cambria Math" panose="02040503050406030204" pitchFamily="18" charset="0"/>
                            </a:rPr>
                            <m:t>1</m:t>
                          </m:r>
                        </m:sub>
                      </m:sSub>
                      <m:r>
                        <a:rPr lang="ar-AE">
                          <a:latin typeface="Cambria Math" panose="02040503050406030204" pitchFamily="18" charset="0"/>
                        </a:rPr>
                        <m:t>=8,0⋅</m:t>
                      </m:r>
                      <m:f>
                        <m:fPr>
                          <m:ctrlPr>
                            <a:rPr lang="ar-AE">
                              <a:latin typeface="Cambria Math" panose="02040503050406030204" pitchFamily="18" charset="0"/>
                            </a:rPr>
                          </m:ctrlPr>
                        </m:fPr>
                        <m:num>
                          <m:r>
                            <a:rPr lang="ar-AE">
                              <a:latin typeface="Cambria Math" panose="02040503050406030204" pitchFamily="18" charset="0"/>
                            </a:rPr>
                            <m:t>5</m:t>
                          </m:r>
                        </m:num>
                        <m:den>
                          <m:r>
                            <a:rPr lang="ar-AE">
                              <a:latin typeface="Cambria Math" panose="02040503050406030204" pitchFamily="18" charset="0"/>
                            </a:rPr>
                            <m:t>60</m:t>
                          </m:r>
                        </m:den>
                      </m:f>
                      <m:r>
                        <a:rPr lang="ar-AE">
                          <a:latin typeface="Cambria Math" panose="02040503050406030204" pitchFamily="18" charset="0"/>
                        </a:rPr>
                        <m:t>=0,667 </m:t>
                      </m:r>
                      <m:r>
                        <m:rPr>
                          <m:nor/>
                        </m:rPr>
                        <a:rPr lang="nl-BE" i="0"/>
                        <m:t>km</m:t>
                      </m:r>
                    </m:oMath>
                  </m:oMathPara>
                </a14:m>
                <a:br>
                  <a:rPr lang="nl-BE" dirty="0"/>
                </a:br>
                <a:endParaRPr lang="nl-BE" dirty="0"/>
              </a:p>
              <a:p>
                <a:pPr marL="0" lvl="0" indent="0">
                  <a:lnSpc>
                    <a:spcPct val="120000"/>
                  </a:lnSpc>
                  <a:spcBef>
                    <a:spcPts val="600"/>
                  </a:spcBef>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=10⋅</m:t>
                      </m:r>
                      <m:f>
                        <m:fPr>
                          <m:ctrlPr>
                            <a:rPr lang="ar-AE">
                              <a:latin typeface="Cambria Math" panose="02040503050406030204" pitchFamily="18" charset="0"/>
                            </a:rPr>
                          </m:ctrlPr>
                        </m:fPr>
                        <m:num>
                          <m:r>
                            <a:rPr lang="ar-AE">
                              <a:latin typeface="Cambria Math" panose="02040503050406030204" pitchFamily="18" charset="0"/>
                            </a:rPr>
                            <m:t>18</m:t>
                          </m:r>
                        </m:num>
                        <m:den>
                          <m:r>
                            <a:rPr lang="ar-AE">
                              <a:latin typeface="Cambria Math" panose="02040503050406030204" pitchFamily="18" charset="0"/>
                            </a:rPr>
                            <m:t>60</m:t>
                          </m:r>
                        </m:den>
                      </m:f>
                      <m:r>
                        <a:rPr lang="ar-AE">
                          <a:latin typeface="Cambria Math" panose="02040503050406030204" pitchFamily="18" charset="0"/>
                        </a:rPr>
                        <m:t>=3,0 </m:t>
                      </m:r>
                      <m:r>
                        <m:rPr>
                          <m:nor/>
                        </m:rPr>
                        <a:rPr lang="nl-BE" i="0"/>
                        <m:t>km</m:t>
                      </m:r>
                    </m:oMath>
                  </m:oMathPara>
                </a14:m>
                <a:endParaRPr lang="nl-BE" dirty="0"/>
              </a:p>
              <a:p>
                <a:pPr marL="0" lvl="0" indent="0">
                  <a:lnSpc>
                    <a:spcPct val="120000"/>
                  </a:lnSpc>
                  <a:spcBef>
                    <a:spcPts val="600"/>
                  </a:spcBef>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3</m:t>
                          </m:r>
                        </m:sub>
                      </m:sSub>
                      <m:r>
                        <a:rPr lang="ar-AE">
                          <a:latin typeface="Cambria Math" panose="02040503050406030204" pitchFamily="18" charset="0"/>
                        </a:rPr>
                        <m:t>=7,0⋅</m:t>
                      </m:r>
                      <m:f>
                        <m:fPr>
                          <m:ctrlPr>
                            <a:rPr lang="ar-AE">
                              <a:latin typeface="Cambria Math" panose="02040503050406030204" pitchFamily="18" charset="0"/>
                            </a:rPr>
                          </m:ctrlPr>
                        </m:fPr>
                        <m:num>
                          <m:r>
                            <a:rPr lang="ar-AE">
                              <a:latin typeface="Cambria Math" panose="02040503050406030204" pitchFamily="18" charset="0"/>
                            </a:rPr>
                            <m:t>12</m:t>
                          </m:r>
                        </m:num>
                        <m:den>
                          <m:r>
                            <a:rPr lang="ar-AE">
                              <a:latin typeface="Cambria Math" panose="02040503050406030204" pitchFamily="18" charset="0"/>
                            </a:rPr>
                            <m:t>60</m:t>
                          </m:r>
                        </m:den>
                      </m:f>
                      <m:r>
                        <a:rPr lang="ar-AE">
                          <a:latin typeface="Cambria Math" panose="02040503050406030204" pitchFamily="18" charset="0"/>
                        </a:rPr>
                        <m:t>=1,4 </m:t>
                      </m:r>
                      <m:r>
                        <m:rPr>
                          <m:nor/>
                        </m:rPr>
                        <a:rPr lang="nl-BE" i="0"/>
                        <m:t>km</m:t>
                      </m:r>
                    </m:oMath>
                  </m:oMathPara>
                </a14:m>
                <a:endParaRPr lang="nl-BE" dirty="0"/>
              </a:p>
              <a:p>
                <a:pPr marL="0" lvl="0" indent="0">
                  <a:spcBef>
                    <a:spcPts val="600"/>
                  </a:spcBef>
                  <a:buNone/>
                </a:pPr>
                <a:r>
                  <a:rPr lang="nl-BE" b="1" dirty="0" err="1"/>
                  <a:t>Totale</a:t>
                </a:r>
                <a:r>
                  <a:rPr lang="nl-BE" b="1" dirty="0"/>
                  <a:t> </a:t>
                </a:r>
                <a:r>
                  <a:rPr lang="nl-BE" b="1" dirty="0" err="1"/>
                  <a:t>afstand</a:t>
                </a:r>
                <a:r>
                  <a:rPr lang="nl-BE" dirty="0"/>
                  <a:t>:</a:t>
                </a:r>
                <a:br>
                  <a:rPr lang="nl-BE" dirty="0"/>
                </a:br>
                <a:endParaRPr lang="nl-BE" dirty="0"/>
              </a:p>
              <a:p>
                <a:pPr marL="0" lvl="0" indent="0">
                  <a:spcBef>
                    <a:spcPts val="600"/>
                  </a:spcBef>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𝑥</m:t>
                          </m:r>
                        </m:e>
                        <m:sub>
                          <m:r>
                            <m:rPr>
                              <m:nor/>
                            </m:rPr>
                            <a:rPr lang="nl-BE" i="0"/>
                            <m:t>tot</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3</m:t>
                          </m:r>
                        </m:sub>
                      </m:sSub>
                      <m:r>
                        <a:rPr lang="ar-AE">
                          <a:latin typeface="Cambria Math" panose="02040503050406030204" pitchFamily="18" charset="0"/>
                        </a:rPr>
                        <m:t>=5,067 </m:t>
                      </m:r>
                      <m:r>
                        <m:rPr>
                          <m:nor/>
                        </m:rPr>
                        <a:rPr lang="nl-BE" i="0"/>
                        <m:t>km</m:t>
                      </m:r>
                    </m:oMath>
                  </m:oMathPara>
                </a14:m>
                <a:endParaRPr lang="nl-BE" dirty="0"/>
              </a:p>
              <a:p>
                <a:pPr marL="0" lvl="0" indent="0">
                  <a:spcBef>
                    <a:spcPts val="600"/>
                  </a:spcBef>
                  <a:buNone/>
                </a:pPr>
                <a:r>
                  <a:rPr lang="nl-BE" b="1" dirty="0" err="1"/>
                  <a:t>Totale</a:t>
                </a:r>
                <a:r>
                  <a:rPr lang="nl-BE" b="1" dirty="0"/>
                  <a:t> </a:t>
                </a:r>
                <a:r>
                  <a:rPr lang="nl-BE" b="1" dirty="0" err="1"/>
                  <a:t>tijd</a:t>
                </a:r>
                <a:r>
                  <a:rPr lang="nl-BE" dirty="0"/>
                  <a:t>:</a:t>
                </a:r>
                <a:br>
                  <a:rPr lang="nl-BE" dirty="0"/>
                </a:br>
                <a:endParaRPr lang="nl-BE" dirty="0"/>
              </a:p>
              <a:p>
                <a:pPr marL="0" lvl="0" indent="0">
                  <a:spcBef>
                    <a:spcPts val="600"/>
                  </a:spcBef>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𝑡</m:t>
                          </m:r>
                        </m:e>
                        <m:sub>
                          <m:r>
                            <m:rPr>
                              <m:nor/>
                            </m:rPr>
                            <a:rPr lang="nl-BE" i="0"/>
                            <m:t>tot</m:t>
                          </m:r>
                        </m:sub>
                      </m:sSub>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35</m:t>
                          </m:r>
                        </m:num>
                        <m:den>
                          <m:r>
                            <a:rPr lang="ar-AE">
                              <a:latin typeface="Cambria Math" panose="02040503050406030204" pitchFamily="18" charset="0"/>
                            </a:rPr>
                            <m:t>60</m:t>
                          </m:r>
                        </m:den>
                      </m:f>
                      <m:r>
                        <a:rPr lang="ar-AE">
                          <a:latin typeface="Cambria Math" panose="02040503050406030204" pitchFamily="18" charset="0"/>
                        </a:rPr>
                        <m:t>=0,583 </m:t>
                      </m:r>
                      <m:r>
                        <m:rPr>
                          <m:nor/>
                        </m:rPr>
                        <a:rPr lang="nl-BE" i="0"/>
                        <m:t>h</m:t>
                      </m:r>
                    </m:oMath>
                  </m:oMathPara>
                </a14:m>
                <a:endParaRPr lang="nl-BE" dirty="0"/>
              </a:p>
              <a:p>
                <a:pPr marL="0" lvl="0" indent="0">
                  <a:spcBef>
                    <a:spcPts val="600"/>
                  </a:spcBef>
                  <a:buNone/>
                </a:pPr>
                <a:r>
                  <a:rPr lang="nl-BE" b="1" dirty="0" err="1"/>
                  <a:t>Gemiddelde</a:t>
                </a:r>
                <a:r>
                  <a:rPr lang="nl-BE" b="1" dirty="0"/>
                  <a:t> </a:t>
                </a:r>
                <a:r>
                  <a:rPr lang="nl-BE" b="1" dirty="0" err="1"/>
                  <a:t>snelheid</a:t>
                </a:r>
                <a:r>
                  <a:rPr lang="nl-BE" dirty="0"/>
                  <a:t>:</a:t>
                </a:r>
                <a:br>
                  <a:rPr lang="nl-BE" dirty="0"/>
                </a:br>
                <a:endParaRPr lang="nl-BE" dirty="0"/>
              </a:p>
              <a:p>
                <a:pPr marL="0" lvl="0" indent="0">
                  <a:spcBef>
                    <a:spcPts val="600"/>
                  </a:spcBef>
                  <a:buNone/>
                </a:pPr>
                <a14:m>
                  <m:oMathPara xmlns:m="http://schemas.openxmlformats.org/officeDocument/2006/math">
                    <m:oMathParaPr>
                      <m:jc m:val="center"/>
                    </m:oMathParaPr>
                    <m:oMath>
                      <m:sSub>
                        <m:sSubPr>
                          <m:ctrlPr>
                            <a:rPr lang="ar-AE">
                              <a:latin typeface="Cambria Math" panose="02040503050406030204" pitchFamily="18" charset="0"/>
                            </a:rPr>
                          </m:ctrlPr>
                        </m:sSubPr>
                        <m:e>
                          <m:r>
                            <a:rPr lang="ar-AE">
                              <a:latin typeface="Cambria Math" panose="02040503050406030204" pitchFamily="18" charset="0"/>
                            </a:rPr>
                            <m:t>𝑣</m:t>
                          </m:r>
                        </m:e>
                        <m:sub>
                          <m:r>
                            <m:rPr>
                              <m:nor/>
                            </m:rPr>
                            <a:rPr lang="nl-BE" i="0"/>
                            <m:t>gem</m:t>
                          </m:r>
                        </m:sub>
                      </m:sSub>
                      <m:r>
                        <a:rPr lang="ar-AE">
                          <a:latin typeface="Cambria Math" panose="02040503050406030204" pitchFamily="18" charset="0"/>
                        </a:rPr>
                        <m:t>=</m:t>
                      </m:r>
                      <m:f>
                        <m:fPr>
                          <m:ctrlPr>
                            <a:rPr lang="ar-AE" i="1">
                              <a:latin typeface="Cambria Math" panose="02040503050406030204" pitchFamily="18" charset="0"/>
                            </a:rPr>
                          </m:ctrlPr>
                        </m:fPr>
                        <m:num>
                          <m:sSub>
                            <m:sSubPr>
                              <m:ctrlPr>
                                <a:rPr lang="ar-AE">
                                  <a:latin typeface="Cambria Math" panose="02040503050406030204" pitchFamily="18" charset="0"/>
                                </a:rPr>
                              </m:ctrlPr>
                            </m:sSubPr>
                            <m:e>
                              <m:r>
                                <a:rPr lang="ar-AE">
                                  <a:latin typeface="Cambria Math" panose="02040503050406030204" pitchFamily="18" charset="0"/>
                                </a:rPr>
                                <m:t>𝑥</m:t>
                              </m:r>
                            </m:e>
                            <m:sub>
                              <m:r>
                                <m:rPr>
                                  <m:nor/>
                                </m:rPr>
                                <a:rPr lang="nl-BE" i="0"/>
                                <m:t>tot</m:t>
                              </m:r>
                            </m:sub>
                          </m:sSub>
                        </m:num>
                        <m:den>
                          <m:sSub>
                            <m:sSubPr>
                              <m:ctrlPr>
                                <a:rPr lang="ar-AE">
                                  <a:latin typeface="Cambria Math" panose="02040503050406030204" pitchFamily="18" charset="0"/>
                                </a:rPr>
                              </m:ctrlPr>
                            </m:sSubPr>
                            <m:e>
                              <m:r>
                                <a:rPr lang="ar-AE">
                                  <a:latin typeface="Cambria Math" panose="02040503050406030204" pitchFamily="18" charset="0"/>
                                </a:rPr>
                                <m:t>𝑡</m:t>
                              </m:r>
                            </m:e>
                            <m:sub>
                              <m:r>
                                <m:rPr>
                                  <m:nor/>
                                </m:rPr>
                                <a:rPr lang="nl-BE" i="0"/>
                                <m:t>tot</m:t>
                              </m:r>
                            </m:sub>
                          </m:sSub>
                        </m:den>
                      </m:f>
                      <m:r>
                        <a:rPr lang="ar-AE">
                          <a:latin typeface="Cambria Math" panose="02040503050406030204" pitchFamily="18" charset="0"/>
                        </a:rPr>
                        <m:t>=</m:t>
                      </m:r>
                      <m:f>
                        <m:fPr>
                          <m:ctrlPr>
                            <a:rPr lang="ar-AE">
                              <a:latin typeface="Cambria Math" panose="02040503050406030204" pitchFamily="18" charset="0"/>
                            </a:rPr>
                          </m:ctrlPr>
                        </m:fPr>
                        <m:num>
                          <m:r>
                            <a:rPr lang="ar-AE">
                              <a:latin typeface="Cambria Math" panose="02040503050406030204" pitchFamily="18" charset="0"/>
                            </a:rPr>
                            <m:t>5,067</m:t>
                          </m:r>
                        </m:num>
                        <m:den>
                          <m:r>
                            <a:rPr lang="ar-AE">
                              <a:latin typeface="Cambria Math" panose="02040503050406030204" pitchFamily="18" charset="0"/>
                            </a:rPr>
                            <m:t>0,583</m:t>
                          </m:r>
                        </m:den>
                      </m:f>
                      <m:r>
                        <a:rPr lang="ar-AE">
                          <a:latin typeface="Cambria Math" panose="02040503050406030204" pitchFamily="18" charset="0"/>
                        </a:rPr>
                        <m:t>≈8,</m:t>
                      </m:r>
                      <m:r>
                        <a:rPr lang="ar-AE" b="0" i="0" smtClean="0">
                          <a:latin typeface="Cambria Math" panose="02040503050406030204" pitchFamily="18" charset="0"/>
                        </a:rPr>
                        <m:t>7</m:t>
                      </m:r>
                      <m:r>
                        <a:rPr lang="ar-AE">
                          <a:latin typeface="Cambria Math" panose="02040503050406030204" pitchFamily="18" charset="0"/>
                        </a:rPr>
                        <m:t> </m:t>
                      </m:r>
                      <m:r>
                        <m:rPr>
                          <m:nor/>
                        </m:rPr>
                        <a:rPr lang="nl-BE" i="0"/>
                        <m:t>km/h</m:t>
                      </m:r>
                    </m:oMath>
                  </m:oMathPara>
                </a14:m>
                <a:endParaRPr lang="nl-BE" dirty="0"/>
              </a:p>
              <a:p>
                <a:pPr marL="0" lvl="0" indent="0">
                  <a:spcBef>
                    <a:spcPts val="600"/>
                  </a:spcBef>
                  <a:buNone/>
                </a:pPr>
                <a:r>
                  <a:rPr lang="nl-BE" b="1" dirty="0"/>
                  <a:t>Antwoord</a:t>
                </a:r>
                <a:r>
                  <a:rPr lang="nl-BE" dirty="0"/>
                  <a:t>: d</a:t>
                </a: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499" y="820132"/>
                <a:ext cx="11609798" cy="6202837"/>
              </a:xfrm>
              <a:blipFill>
                <a:blip r:embed="rId3"/>
                <a:stretch>
                  <a:fillRect/>
                </a:stretch>
              </a:blipFill>
            </p:spPr>
            <p:txBody>
              <a:bodyPr/>
              <a:lstStyle/>
              <a:p>
                <a:r>
                  <a:rPr lang="nl-BE">
                    <a:noFill/>
                  </a:rPr>
                  <a:t> </a:t>
                </a:r>
              </a:p>
            </p:txBody>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C0C5572-174A-DE30-1487-637D6526E598}"/>
              </a:ext>
            </a:extLst>
          </p:cNvPr>
          <p:cNvSpPr>
            <a:spLocks noGrp="1"/>
          </p:cNvSpPr>
          <p:nvPr>
            <p:ph type="title"/>
          </p:nvPr>
        </p:nvSpPr>
        <p:spPr/>
        <p:txBody>
          <a:bodyPr/>
          <a:lstStyle/>
          <a:p>
            <a:r>
              <a:rPr lang="nl-BE" dirty="0" err="1"/>
              <a:t>Toetsdoelen</a:t>
            </a:r>
            <a:endParaRPr lang="nl-BE" dirty="0"/>
          </a:p>
        </p:txBody>
      </p:sp>
      <p:sp>
        <p:nvSpPr>
          <p:cNvPr id="6" name="Tijdelijke aanduiding voor inhoud 5">
            <a:extLst>
              <a:ext uri="{FF2B5EF4-FFF2-40B4-BE49-F238E27FC236}">
                <a16:creationId xmlns:a16="http://schemas.microsoft.com/office/drawing/2014/main" id="{97DDEA4B-4872-49F1-33F8-EBB5628BFC15}"/>
              </a:ext>
            </a:extLst>
          </p:cNvPr>
          <p:cNvSpPr>
            <a:spLocks noGrp="1"/>
          </p:cNvSpPr>
          <p:nvPr>
            <p:ph idx="1"/>
          </p:nvPr>
        </p:nvSpPr>
        <p:spPr>
          <a:xfrm>
            <a:off x="291101" y="1148746"/>
            <a:ext cx="11609798" cy="5272739"/>
          </a:xfrm>
        </p:spPr>
        <p:txBody>
          <a:bodyPr/>
          <a:lstStyle/>
          <a:p>
            <a:r>
              <a:rPr lang="nl-NL" sz="2400" dirty="0"/>
              <a:t>Gebruik deze checklist om jezelf te evalueren tijdens het studeren, na de toets en voor het examen. Vink aan wat je beheerst en kruis aan waar je nog aan moet werken.</a:t>
            </a:r>
          </a:p>
          <a:p>
            <a:endParaRPr lang="nl-BE" dirty="0"/>
          </a:p>
        </p:txBody>
      </p:sp>
      <p:graphicFrame>
        <p:nvGraphicFramePr>
          <p:cNvPr id="7" name="Content Placeholder 5">
            <a:extLst>
              <a:ext uri="{FF2B5EF4-FFF2-40B4-BE49-F238E27FC236}">
                <a16:creationId xmlns:a16="http://schemas.microsoft.com/office/drawing/2014/main" id="{4B5BEA06-ED70-DCAB-32BC-3109B4EA9269}"/>
              </a:ext>
            </a:extLst>
          </p:cNvPr>
          <p:cNvGraphicFramePr>
            <a:graphicFrameLocks/>
          </p:cNvGraphicFramePr>
          <p:nvPr>
            <p:extLst>
              <p:ext uri="{D42A27DB-BD31-4B8C-83A1-F6EECF244321}">
                <p14:modId xmlns:p14="http://schemas.microsoft.com/office/powerpoint/2010/main" val="2994525532"/>
              </p:ext>
            </p:extLst>
          </p:nvPr>
        </p:nvGraphicFramePr>
        <p:xfrm>
          <a:off x="124120" y="2041846"/>
          <a:ext cx="11943760" cy="4615025"/>
        </p:xfrm>
        <a:graphic>
          <a:graphicData uri="http://schemas.openxmlformats.org/drawingml/2006/table">
            <a:tbl>
              <a:tblPr firstRow="1" bandRow="1">
                <a:tableStyleId>{5C22544A-7EE6-4342-B048-85BDC9FD1C3A}</a:tableStyleId>
              </a:tblPr>
              <a:tblGrid>
                <a:gridCol w="8840771">
                  <a:extLst>
                    <a:ext uri="{9D8B030D-6E8A-4147-A177-3AD203B41FA5}">
                      <a16:colId xmlns:a16="http://schemas.microsoft.com/office/drawing/2014/main" val="20000"/>
                    </a:ext>
                  </a:extLst>
                </a:gridCol>
                <a:gridCol w="1131216">
                  <a:extLst>
                    <a:ext uri="{9D8B030D-6E8A-4147-A177-3AD203B41FA5}">
                      <a16:colId xmlns:a16="http://schemas.microsoft.com/office/drawing/2014/main" val="20001"/>
                    </a:ext>
                  </a:extLst>
                </a:gridCol>
                <a:gridCol w="923827">
                  <a:extLst>
                    <a:ext uri="{9D8B030D-6E8A-4147-A177-3AD203B41FA5}">
                      <a16:colId xmlns:a16="http://schemas.microsoft.com/office/drawing/2014/main" val="20002"/>
                    </a:ext>
                  </a:extLst>
                </a:gridCol>
                <a:gridCol w="1047946">
                  <a:extLst>
                    <a:ext uri="{9D8B030D-6E8A-4147-A177-3AD203B41FA5}">
                      <a16:colId xmlns:a16="http://schemas.microsoft.com/office/drawing/2014/main" val="20003"/>
                    </a:ext>
                  </a:extLst>
                </a:gridCol>
              </a:tblGrid>
              <a:tr h="534652">
                <a:tc>
                  <a:txBody>
                    <a:bodyPr/>
                    <a:lstStyle/>
                    <a:p>
                      <a:pPr marL="0" lvl="0" indent="0">
                        <a:buNone/>
                      </a:pPr>
                      <a:r>
                        <a:rPr sz="1400" dirty="0"/>
                        <a:t>Ik </a:t>
                      </a:r>
                      <a:r>
                        <a:rPr sz="1400" dirty="0" err="1"/>
                        <a:t>kan</a:t>
                      </a:r>
                      <a:r>
                        <a:rPr sz="1400" dirty="0"/>
                        <a:t> …</a:t>
                      </a:r>
                    </a:p>
                  </a:txBody>
                  <a:tcPr/>
                </a:tc>
                <a:tc>
                  <a:txBody>
                    <a:bodyPr/>
                    <a:lstStyle/>
                    <a:p>
                      <a:pPr marL="0" lvl="0" indent="0">
                        <a:buNone/>
                      </a:pPr>
                      <a:r>
                        <a:rPr sz="1200"/>
                        <a:t>Tijdens studeren</a:t>
                      </a:r>
                    </a:p>
                  </a:txBody>
                  <a:tcPr/>
                </a:tc>
                <a:tc>
                  <a:txBody>
                    <a:bodyPr/>
                    <a:lstStyle/>
                    <a:p>
                      <a:pPr marL="0" lvl="0" indent="0">
                        <a:buNone/>
                      </a:pPr>
                      <a:r>
                        <a:rPr sz="1200"/>
                        <a:t>Na de toets</a:t>
                      </a:r>
                    </a:p>
                  </a:txBody>
                  <a:tcPr/>
                </a:tc>
                <a:tc>
                  <a:txBody>
                    <a:bodyPr/>
                    <a:lstStyle/>
                    <a:p>
                      <a:pPr marL="0" lvl="0" indent="0">
                        <a:buNone/>
                      </a:pPr>
                      <a:r>
                        <a:rPr sz="1200" dirty="0"/>
                        <a:t>Voor examen</a:t>
                      </a:r>
                    </a:p>
                  </a:txBody>
                  <a:tcPr/>
                </a:tc>
                <a:extLst>
                  <a:ext uri="{0D108BD9-81ED-4DB2-BD59-A6C34878D82A}">
                    <a16:rowId xmlns:a16="http://schemas.microsoft.com/office/drawing/2014/main" val="10000"/>
                  </a:ext>
                </a:extLst>
              </a:tr>
              <a:tr h="305516">
                <a:tc>
                  <a:txBody>
                    <a:bodyPr/>
                    <a:lstStyle/>
                    <a:p>
                      <a:pPr marL="0" lvl="0" indent="0">
                        <a:buNone/>
                      </a:pPr>
                      <a:r>
                        <a:rPr sz="1400" dirty="0"/>
                        <a:t>☐ </a:t>
                      </a:r>
                      <a:r>
                        <a:rPr lang="nl-NL" sz="1400" b="0" i="0" kern="1200" dirty="0">
                          <a:solidFill>
                            <a:schemeClr val="dk1"/>
                          </a:solidFill>
                          <a:effectLst/>
                          <a:latin typeface="+mn-lt"/>
                          <a:ea typeface="+mn-ea"/>
                          <a:cs typeface="+mn-cs"/>
                        </a:rPr>
                        <a:t>ruimte en tijd definiëren en uitleggen wat een puntmassa is.</a:t>
                      </a:r>
                      <a:endParaRPr sz="1400" dirty="0"/>
                    </a:p>
                  </a:txBody>
                  <a:tcPr/>
                </a:tc>
                <a:tc>
                  <a:txBody>
                    <a:bodyPr/>
                    <a:lstStyle/>
                    <a:p>
                      <a:pPr marL="0" lvl="0" indent="0">
                        <a:buNone/>
                      </a:pPr>
                      <a:r>
                        <a:rPr sz="1200"/>
                        <a:t>☐</a:t>
                      </a:r>
                    </a:p>
                  </a:txBody>
                  <a:tcPr/>
                </a:tc>
                <a:tc>
                  <a:txBody>
                    <a:bodyPr/>
                    <a:lstStyle/>
                    <a:p>
                      <a:pPr marL="0" lvl="0" indent="0">
                        <a:buNone/>
                      </a:pPr>
                      <a:r>
                        <a:rPr sz="1200"/>
                        <a:t>☐</a:t>
                      </a:r>
                    </a:p>
                  </a:txBody>
                  <a:tcPr/>
                </a:tc>
                <a:tc>
                  <a:txBody>
                    <a:bodyPr/>
                    <a:lstStyle/>
                    <a:p>
                      <a:pPr marL="0" lvl="0" indent="0">
                        <a:buNone/>
                      </a:pPr>
                      <a:r>
                        <a:rPr sz="1200"/>
                        <a:t>☐</a:t>
                      </a:r>
                    </a:p>
                  </a:txBody>
                  <a:tcPr/>
                </a:tc>
                <a:extLst>
                  <a:ext uri="{0D108BD9-81ED-4DB2-BD59-A6C34878D82A}">
                    <a16:rowId xmlns:a16="http://schemas.microsoft.com/office/drawing/2014/main" val="10001"/>
                  </a:ext>
                </a:extLst>
              </a:tr>
              <a:tr h="305516">
                <a:tc>
                  <a:txBody>
                    <a:bodyPr/>
                    <a:lstStyle/>
                    <a:p>
                      <a:pPr marL="0" lvl="0" indent="0">
                        <a:buNone/>
                      </a:pPr>
                      <a:r>
                        <a:rPr sz="1400" dirty="0"/>
                        <a:t>☐ </a:t>
                      </a:r>
                      <a:r>
                        <a:rPr lang="nl-NL" sz="1400" b="0" i="0" kern="1200" dirty="0">
                          <a:solidFill>
                            <a:schemeClr val="dk1"/>
                          </a:solidFill>
                          <a:effectLst/>
                          <a:latin typeface="+mn-lt"/>
                          <a:ea typeface="+mn-ea"/>
                          <a:cs typeface="+mn-cs"/>
                        </a:rPr>
                        <a:t> een referentiestelsel kiezen en een </a:t>
                      </a:r>
                      <a:r>
                        <a:rPr lang="nl-NL" sz="1400" b="0" i="0" kern="1200" dirty="0" err="1">
                          <a:solidFill>
                            <a:schemeClr val="dk1"/>
                          </a:solidFill>
                          <a:effectLst/>
                          <a:latin typeface="+mn-lt"/>
                          <a:ea typeface="+mn-ea"/>
                          <a:cs typeface="+mn-cs"/>
                        </a:rPr>
                        <a:t>plaatsvector</a:t>
                      </a:r>
                      <a:r>
                        <a:rPr lang="nl-NL" sz="1400" b="0" i="0" kern="1200" dirty="0">
                          <a:solidFill>
                            <a:schemeClr val="dk1"/>
                          </a:solidFill>
                          <a:effectLst/>
                          <a:latin typeface="+mn-lt"/>
                          <a:ea typeface="+mn-ea"/>
                          <a:cs typeface="+mn-cs"/>
                        </a:rPr>
                        <a:t> correct noteren.</a:t>
                      </a:r>
                      <a:endParaRPr sz="1400" dirty="0"/>
                    </a:p>
                  </a:txBody>
                  <a:tcPr/>
                </a:tc>
                <a:tc>
                  <a:txBody>
                    <a:bodyPr/>
                    <a:lstStyle/>
                    <a:p>
                      <a:pPr marL="0" lvl="0" indent="0">
                        <a:buNone/>
                      </a:pPr>
                      <a:r>
                        <a:rPr sz="1200"/>
                        <a:t>☐</a:t>
                      </a:r>
                    </a:p>
                  </a:txBody>
                  <a:tcPr/>
                </a:tc>
                <a:tc>
                  <a:txBody>
                    <a:bodyPr/>
                    <a:lstStyle/>
                    <a:p>
                      <a:pPr marL="0" lvl="0" indent="0">
                        <a:buNone/>
                      </a:pPr>
                      <a:r>
                        <a:rPr sz="1200"/>
                        <a:t>☐</a:t>
                      </a:r>
                    </a:p>
                  </a:txBody>
                  <a:tcPr/>
                </a:tc>
                <a:tc>
                  <a:txBody>
                    <a:bodyPr/>
                    <a:lstStyle/>
                    <a:p>
                      <a:pPr marL="0" lvl="0" indent="0">
                        <a:buNone/>
                      </a:pPr>
                      <a:r>
                        <a:rPr sz="1200"/>
                        <a:t>☐</a:t>
                      </a:r>
                    </a:p>
                  </a:txBody>
                  <a:tcPr/>
                </a:tc>
                <a:extLst>
                  <a:ext uri="{0D108BD9-81ED-4DB2-BD59-A6C34878D82A}">
                    <a16:rowId xmlns:a16="http://schemas.microsoft.com/office/drawing/2014/main" val="10002"/>
                  </a:ext>
                </a:extLst>
              </a:tr>
              <a:tr h="305516">
                <a:tc>
                  <a:txBody>
                    <a:bodyPr/>
                    <a:lstStyle/>
                    <a:p>
                      <a:pPr marL="0" lvl="0" indent="0">
                        <a:buNone/>
                      </a:pPr>
                      <a:r>
                        <a:rPr sz="1400" dirty="0"/>
                        <a:t>☐ </a:t>
                      </a:r>
                      <a:r>
                        <a:rPr lang="nl-NL" sz="1400" b="0" i="0" kern="1200" dirty="0">
                          <a:solidFill>
                            <a:schemeClr val="dk1"/>
                          </a:solidFill>
                          <a:effectLst/>
                          <a:latin typeface="+mn-lt"/>
                          <a:ea typeface="+mn-ea"/>
                          <a:cs typeface="+mn-cs"/>
                        </a:rPr>
                        <a:t> het verschil uitleggen tussen een bewegingsvergelijking en een baan.</a:t>
                      </a:r>
                      <a:endParaRPr sz="1400" dirty="0"/>
                    </a:p>
                  </a:txBody>
                  <a:tcPr/>
                </a:tc>
                <a:tc>
                  <a:txBody>
                    <a:bodyPr/>
                    <a:lstStyle/>
                    <a:p>
                      <a:pPr marL="0" lvl="0" indent="0">
                        <a:buNone/>
                      </a:pPr>
                      <a:r>
                        <a:rPr sz="1200"/>
                        <a:t>☐</a:t>
                      </a:r>
                    </a:p>
                  </a:txBody>
                  <a:tcPr/>
                </a:tc>
                <a:tc>
                  <a:txBody>
                    <a:bodyPr/>
                    <a:lstStyle/>
                    <a:p>
                      <a:pPr marL="0" lvl="0" indent="0">
                        <a:buNone/>
                      </a:pPr>
                      <a:r>
                        <a:rPr sz="1200"/>
                        <a:t>☐</a:t>
                      </a:r>
                    </a:p>
                  </a:txBody>
                  <a:tcPr/>
                </a:tc>
                <a:tc>
                  <a:txBody>
                    <a:bodyPr/>
                    <a:lstStyle/>
                    <a:p>
                      <a:pPr marL="0" lvl="0" indent="0">
                        <a:buNone/>
                      </a:pPr>
                      <a:r>
                        <a:rPr sz="1200"/>
                        <a:t>☐</a:t>
                      </a:r>
                    </a:p>
                  </a:txBody>
                  <a:tcPr/>
                </a:tc>
                <a:extLst>
                  <a:ext uri="{0D108BD9-81ED-4DB2-BD59-A6C34878D82A}">
                    <a16:rowId xmlns:a16="http://schemas.microsoft.com/office/drawing/2014/main" val="10003"/>
                  </a:ext>
                </a:extLst>
              </a:tr>
              <a:tr h="305516">
                <a:tc>
                  <a:txBody>
                    <a:bodyPr/>
                    <a:lstStyle/>
                    <a:p>
                      <a:pPr marL="0" lvl="0" indent="0">
                        <a:buNone/>
                      </a:pPr>
                      <a:r>
                        <a:rPr sz="1400" dirty="0"/>
                        <a:t>☐ </a:t>
                      </a:r>
                      <a:r>
                        <a:rPr lang="nl-NL" sz="1400" b="0" i="0" kern="1200" dirty="0">
                          <a:solidFill>
                            <a:schemeClr val="dk1"/>
                          </a:solidFill>
                          <a:effectLst/>
                          <a:latin typeface="+mn-lt"/>
                          <a:ea typeface="+mn-ea"/>
                          <a:cs typeface="+mn-cs"/>
                        </a:rPr>
                        <a:t>de grootte van een </a:t>
                      </a:r>
                      <a:r>
                        <a:rPr lang="nl-NL" sz="1400" b="0" i="0" kern="1200" dirty="0" err="1">
                          <a:solidFill>
                            <a:schemeClr val="dk1"/>
                          </a:solidFill>
                          <a:effectLst/>
                          <a:latin typeface="+mn-lt"/>
                          <a:ea typeface="+mn-ea"/>
                          <a:cs typeface="+mn-cs"/>
                        </a:rPr>
                        <a:t>plaatsvector</a:t>
                      </a:r>
                      <a:r>
                        <a:rPr lang="nl-NL" sz="1400" b="0" i="0" kern="1200" dirty="0">
                          <a:solidFill>
                            <a:schemeClr val="dk1"/>
                          </a:solidFill>
                          <a:effectLst/>
                          <a:latin typeface="+mn-lt"/>
                          <a:ea typeface="+mn-ea"/>
                          <a:cs typeface="+mn-cs"/>
                        </a:rPr>
                        <a:t> berekenen.</a:t>
                      </a:r>
                      <a:endParaRPr sz="1400" dirty="0"/>
                    </a:p>
                  </a:txBody>
                  <a:tcPr/>
                </a:tc>
                <a:tc>
                  <a:txBody>
                    <a:bodyPr/>
                    <a:lstStyle/>
                    <a:p>
                      <a:pPr marL="0" lvl="0" indent="0">
                        <a:buNone/>
                      </a:pPr>
                      <a:r>
                        <a:rPr sz="1200"/>
                        <a:t>☐</a:t>
                      </a:r>
                    </a:p>
                  </a:txBody>
                  <a:tcPr/>
                </a:tc>
                <a:tc>
                  <a:txBody>
                    <a:bodyPr/>
                    <a:lstStyle/>
                    <a:p>
                      <a:pPr marL="0" lvl="0" indent="0">
                        <a:buNone/>
                      </a:pPr>
                      <a:r>
                        <a:rPr sz="1200"/>
                        <a:t>☐</a:t>
                      </a:r>
                    </a:p>
                  </a:txBody>
                  <a:tcPr/>
                </a:tc>
                <a:tc>
                  <a:txBody>
                    <a:bodyPr/>
                    <a:lstStyle/>
                    <a:p>
                      <a:pPr marL="0" lvl="0" indent="0">
                        <a:buNone/>
                      </a:pPr>
                      <a:r>
                        <a:rPr sz="1200"/>
                        <a:t>☐</a:t>
                      </a:r>
                    </a:p>
                  </a:txBody>
                  <a:tcPr/>
                </a:tc>
                <a:extLst>
                  <a:ext uri="{0D108BD9-81ED-4DB2-BD59-A6C34878D82A}">
                    <a16:rowId xmlns:a16="http://schemas.microsoft.com/office/drawing/2014/main" val="10004"/>
                  </a:ext>
                </a:extLst>
              </a:tr>
              <a:tr h="305516">
                <a:tc>
                  <a:txBody>
                    <a:bodyPr/>
                    <a:lstStyle/>
                    <a:p>
                      <a:pPr marL="0" lvl="0" indent="0">
                        <a:buNone/>
                      </a:pPr>
                      <a:r>
                        <a:rPr sz="1400" dirty="0"/>
                        <a:t>☐ </a:t>
                      </a:r>
                      <a:r>
                        <a:rPr lang="nl-NL" sz="1400" b="0" i="0" kern="1200" dirty="0">
                          <a:solidFill>
                            <a:schemeClr val="dk1"/>
                          </a:solidFill>
                          <a:effectLst/>
                          <a:latin typeface="+mn-lt"/>
                          <a:ea typeface="+mn-ea"/>
                          <a:cs typeface="+mn-cs"/>
                        </a:rPr>
                        <a:t>het verschil uitleggen tussen verplaatsing en afgelegde weg.</a:t>
                      </a:r>
                      <a:endParaRPr sz="1400" dirty="0"/>
                    </a:p>
                  </a:txBody>
                  <a:tcPr/>
                </a:tc>
                <a:tc>
                  <a:txBody>
                    <a:bodyPr/>
                    <a:lstStyle/>
                    <a:p>
                      <a:pPr marL="0" lvl="0" indent="0">
                        <a:buNone/>
                      </a:pPr>
                      <a:r>
                        <a:rPr sz="1200"/>
                        <a:t>☐</a:t>
                      </a:r>
                    </a:p>
                  </a:txBody>
                  <a:tcPr/>
                </a:tc>
                <a:tc>
                  <a:txBody>
                    <a:bodyPr/>
                    <a:lstStyle/>
                    <a:p>
                      <a:pPr marL="0" lvl="0" indent="0">
                        <a:buNone/>
                      </a:pPr>
                      <a:r>
                        <a:rPr sz="1200"/>
                        <a:t>☐</a:t>
                      </a:r>
                    </a:p>
                  </a:txBody>
                  <a:tcPr/>
                </a:tc>
                <a:tc>
                  <a:txBody>
                    <a:bodyPr/>
                    <a:lstStyle/>
                    <a:p>
                      <a:pPr marL="0" lvl="0" indent="0">
                        <a:buNone/>
                      </a:pPr>
                      <a:r>
                        <a:rPr sz="1200"/>
                        <a:t>☐</a:t>
                      </a:r>
                    </a:p>
                  </a:txBody>
                  <a:tcPr/>
                </a:tc>
                <a:extLst>
                  <a:ext uri="{0D108BD9-81ED-4DB2-BD59-A6C34878D82A}">
                    <a16:rowId xmlns:a16="http://schemas.microsoft.com/office/drawing/2014/main" val="10005"/>
                  </a:ext>
                </a:extLst>
              </a:tr>
              <a:tr h="305516">
                <a:tc>
                  <a:txBody>
                    <a:bodyPr/>
                    <a:lstStyle/>
                    <a:p>
                      <a:pPr marL="0" lvl="0" indent="0">
                        <a:buNone/>
                      </a:pPr>
                      <a:r>
                        <a:rPr sz="1400" dirty="0"/>
                        <a:t>☐ </a:t>
                      </a:r>
                      <a:r>
                        <a:rPr lang="nl-NL" sz="1400" b="0" i="0" kern="1200" dirty="0">
                          <a:solidFill>
                            <a:schemeClr val="dk1"/>
                          </a:solidFill>
                          <a:effectLst/>
                          <a:latin typeface="+mn-lt"/>
                          <a:ea typeface="+mn-ea"/>
                          <a:cs typeface="+mn-cs"/>
                        </a:rPr>
                        <a:t>tijdsduur en </a:t>
                      </a:r>
                      <a:r>
                        <a:rPr lang="nl-NL" sz="1400" b="0" i="0" kern="1200" dirty="0" err="1">
                          <a:solidFill>
                            <a:schemeClr val="dk1"/>
                          </a:solidFill>
                          <a:effectLst/>
                          <a:latin typeface="+mn-lt"/>
                          <a:ea typeface="+mn-ea"/>
                          <a:cs typeface="+mn-cs"/>
                        </a:rPr>
                        <a:t>infinitesimaal</a:t>
                      </a:r>
                      <a:r>
                        <a:rPr lang="nl-NL" sz="1400" b="0" i="0" kern="1200" dirty="0">
                          <a:solidFill>
                            <a:schemeClr val="dk1"/>
                          </a:solidFill>
                          <a:effectLst/>
                          <a:latin typeface="+mn-lt"/>
                          <a:ea typeface="+mn-ea"/>
                          <a:cs typeface="+mn-cs"/>
                        </a:rPr>
                        <a:t> tijdsinterval duiden.</a:t>
                      </a:r>
                      <a:endParaRPr sz="1400" dirty="0"/>
                    </a:p>
                  </a:txBody>
                  <a:tcPr/>
                </a:tc>
                <a:tc>
                  <a:txBody>
                    <a:bodyPr/>
                    <a:lstStyle/>
                    <a:p>
                      <a:pPr marL="0" lvl="0" indent="0">
                        <a:buNone/>
                      </a:pPr>
                      <a:r>
                        <a:rPr sz="1200"/>
                        <a:t>☐</a:t>
                      </a:r>
                    </a:p>
                  </a:txBody>
                  <a:tcPr/>
                </a:tc>
                <a:tc>
                  <a:txBody>
                    <a:bodyPr/>
                    <a:lstStyle/>
                    <a:p>
                      <a:pPr marL="0" lvl="0" indent="0">
                        <a:buNone/>
                      </a:pPr>
                      <a:r>
                        <a:rPr sz="1200"/>
                        <a:t>☐</a:t>
                      </a:r>
                    </a:p>
                  </a:txBody>
                  <a:tcPr/>
                </a:tc>
                <a:tc>
                  <a:txBody>
                    <a:bodyPr/>
                    <a:lstStyle/>
                    <a:p>
                      <a:pPr marL="0" lvl="0" indent="0">
                        <a:buNone/>
                      </a:pPr>
                      <a:r>
                        <a:rPr sz="1200" dirty="0"/>
                        <a:t>☐</a:t>
                      </a:r>
                    </a:p>
                  </a:txBody>
                  <a:tcPr/>
                </a:tc>
                <a:extLst>
                  <a:ext uri="{0D108BD9-81ED-4DB2-BD59-A6C34878D82A}">
                    <a16:rowId xmlns:a16="http://schemas.microsoft.com/office/drawing/2014/main" val="10006"/>
                  </a:ext>
                </a:extLst>
              </a:tr>
              <a:tr h="30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 </a:t>
                      </a:r>
                      <a:r>
                        <a:rPr lang="nl-NL" sz="1400" b="0" i="0" kern="1200" dirty="0">
                          <a:solidFill>
                            <a:schemeClr val="dk1"/>
                          </a:solidFill>
                          <a:effectLst/>
                          <a:latin typeface="+mn-lt"/>
                          <a:ea typeface="+mn-ea"/>
                          <a:cs typeface="+mn-cs"/>
                        </a:rPr>
                        <a:t>gemiddelde en ogenblikkelijke snelheid berekenen.</a:t>
                      </a:r>
                      <a:endParaRPr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3357523407"/>
                  </a:ext>
                </a:extLst>
              </a:tr>
              <a:tr h="30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 </a:t>
                      </a:r>
                      <a:r>
                        <a:rPr lang="nl-NL" sz="1400" b="0" i="0" kern="1200" dirty="0">
                          <a:solidFill>
                            <a:schemeClr val="dk1"/>
                          </a:solidFill>
                          <a:effectLst/>
                          <a:latin typeface="+mn-lt"/>
                          <a:ea typeface="+mn-ea"/>
                          <a:cs typeface="+mn-cs"/>
                        </a:rPr>
                        <a:t>in 1D de snelheid berekenen en tekenconventies toepassen.</a:t>
                      </a:r>
                      <a:endParaRPr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4274151228"/>
                  </a:ext>
                </a:extLst>
              </a:tr>
              <a:tr h="30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 </a:t>
                      </a:r>
                      <a:r>
                        <a:rPr lang="nl-NL" sz="1400" b="0" i="0" kern="1200" dirty="0">
                          <a:solidFill>
                            <a:schemeClr val="dk1"/>
                          </a:solidFill>
                          <a:effectLst/>
                          <a:latin typeface="+mn-lt"/>
                          <a:ea typeface="+mn-ea"/>
                          <a:cs typeface="+mn-cs"/>
                        </a:rPr>
                        <a:t>in 2D de snelheid als vector gebruiken en de grootte berekenen.</a:t>
                      </a:r>
                      <a:endParaRPr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724086900"/>
                  </a:ext>
                </a:extLst>
              </a:tr>
              <a:tr h="30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a:t>
                      </a:r>
                      <a:r>
                        <a:rPr lang="nl-NL" sz="1400" b="0" i="0" kern="1200" dirty="0">
                          <a:solidFill>
                            <a:schemeClr val="dk1"/>
                          </a:solidFill>
                          <a:effectLst/>
                          <a:latin typeface="+mn-lt"/>
                          <a:ea typeface="+mn-ea"/>
                          <a:cs typeface="+mn-cs"/>
                        </a:rPr>
                        <a:t>x(t)-grafieken interpreteren en de helling als snelheid herkennen.</a:t>
                      </a:r>
                      <a:endParaRPr lang="nl-BE"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3047731898"/>
                  </a:ext>
                </a:extLst>
              </a:tr>
              <a:tr h="30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a:t>
                      </a:r>
                      <a:r>
                        <a:rPr lang="nl-NL" sz="1400" b="0" i="0" kern="1200" dirty="0">
                          <a:solidFill>
                            <a:schemeClr val="dk1"/>
                          </a:solidFill>
                          <a:effectLst/>
                          <a:latin typeface="+mn-lt"/>
                          <a:ea typeface="+mn-ea"/>
                          <a:cs typeface="+mn-cs"/>
                        </a:rPr>
                        <a:t>v(t)-grafieken interpreteren en de oppervlakte als verplaatsing herkennen.</a:t>
                      </a:r>
                      <a:endParaRPr lang="nl-BE"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1440591729"/>
                  </a:ext>
                </a:extLst>
              </a:tr>
              <a:tr h="3055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a:t>
                      </a:r>
                      <a:r>
                        <a:rPr lang="nl-NL" sz="1400" b="0" i="0" kern="1200" dirty="0">
                          <a:solidFill>
                            <a:schemeClr val="dk1"/>
                          </a:solidFill>
                          <a:effectLst/>
                          <a:latin typeface="+mn-lt"/>
                          <a:ea typeface="+mn-ea"/>
                          <a:cs typeface="+mn-cs"/>
                        </a:rPr>
                        <a:t>grootheden en SI-eenheden correct gebruiken.</a:t>
                      </a:r>
                      <a:endParaRPr lang="nl-BE"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285578979"/>
                  </a:ext>
                </a:extLst>
              </a:tr>
              <a:tr h="4141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t>☐</a:t>
                      </a:r>
                      <a:r>
                        <a:rPr lang="nl-NL" sz="1400" b="0" i="0" kern="1200" dirty="0">
                          <a:solidFill>
                            <a:schemeClr val="dk1"/>
                          </a:solidFill>
                          <a:effectLst/>
                          <a:latin typeface="+mn-lt"/>
                          <a:ea typeface="+mn-ea"/>
                          <a:cs typeface="+mn-cs"/>
                        </a:rPr>
                        <a:t> snelheden omzetten tussen m/s en km/h.</a:t>
                      </a:r>
                      <a:endParaRPr lang="nl-BE" sz="1400" dirty="0"/>
                    </a:p>
                  </a:txBody>
                  <a:tcPr/>
                </a:tc>
                <a:tc>
                  <a:txBody>
                    <a:bodyPr/>
                    <a:lstStyle/>
                    <a:p>
                      <a:pPr marL="0" lvl="0" indent="0">
                        <a:buNone/>
                      </a:pPr>
                      <a:r>
                        <a:rPr sz="1200" dirty="0"/>
                        <a:t>☐</a:t>
                      </a:r>
                    </a:p>
                  </a:txBody>
                  <a:tcPr/>
                </a:tc>
                <a:tc>
                  <a:txBody>
                    <a:bodyPr/>
                    <a:lstStyle/>
                    <a:p>
                      <a:pPr marL="0" lvl="0" indent="0">
                        <a:buNone/>
                      </a:pPr>
                      <a:r>
                        <a:rPr sz="1200" dirty="0"/>
                        <a:t>☐</a:t>
                      </a:r>
                    </a:p>
                  </a:txBody>
                  <a:tcPr/>
                </a:tc>
                <a:tc>
                  <a:txBody>
                    <a:bodyPr/>
                    <a:lstStyle/>
                    <a:p>
                      <a:pPr marL="0" lvl="0" indent="0">
                        <a:buNone/>
                      </a:pPr>
                      <a:r>
                        <a:rPr sz="1200" dirty="0"/>
                        <a:t>☐</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08115063"/>
      </p:ext>
    </p:extLst>
  </p:cSld>
  <p:clrMapOvr>
    <a:masterClrMapping/>
  </p:clrMapOvr>
</p:sld>
</file>

<file path=ppt/theme/theme1.xml><?xml version="1.0" encoding="utf-8"?>
<a:theme xmlns:a="http://schemas.openxmlformats.org/drawingml/2006/main" name="Title and Content ">
  <a:themeElements>
    <a:clrScheme name="Diepte">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iepte">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ept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938</TotalTime>
  <Words>3956</Words>
  <Application>Microsoft Office PowerPoint</Application>
  <PresentationFormat>Breedbeeld</PresentationFormat>
  <Paragraphs>437</Paragraphs>
  <Slides>70</Slides>
  <Notes>3</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70</vt:i4>
      </vt:variant>
    </vt:vector>
  </HeadingPairs>
  <TitlesOfParts>
    <vt:vector size="75" baseType="lpstr">
      <vt:lpstr>Aptos</vt:lpstr>
      <vt:lpstr>Arial</vt:lpstr>
      <vt:lpstr>Cambria Math</vt:lpstr>
      <vt:lpstr>Corbel</vt:lpstr>
      <vt:lpstr>Title and Content </vt:lpstr>
      <vt:lpstr>Beweging en kracht D1</vt:lpstr>
      <vt:lpstr>Inhoudsopgave</vt:lpstr>
      <vt:lpstr>Ruimte</vt:lpstr>
      <vt:lpstr>Ruimte — assen en dimensies</vt:lpstr>
      <vt:lpstr>Einde 15/9/26</vt:lpstr>
      <vt:lpstr>Tijd</vt:lpstr>
      <vt:lpstr>Tijd — klassieke mechanica</vt:lpstr>
      <vt:lpstr>Ruimtetijd </vt:lpstr>
      <vt:lpstr>Model: puntmassa</vt:lpstr>
      <vt:lpstr>Waarom modelleren?</vt:lpstr>
      <vt:lpstr>Plaats</vt:lpstr>
      <vt:lpstr>Plaats vs. tijd (klassiek)</vt:lpstr>
      <vt:lpstr>Cartesisch coördinatenstelsel</vt:lpstr>
      <vt:lpstr>Plaatsvector — definitie</vt:lpstr>
      <vt:lpstr>Plaatsvector — notatie &amp; grootte</vt:lpstr>
      <vt:lpstr>Meten in de praktijk</vt:lpstr>
      <vt:lpstr>Veranderen van oorsprong</vt:lpstr>
      <vt:lpstr>Valkuilen</vt:lpstr>
      <vt:lpstr>Check jezelf (juist / fout)</vt:lpstr>
      <vt:lpstr>Check jezelf (juist / fout)</vt:lpstr>
      <vt:lpstr>Plaatscoördinaten meten </vt:lpstr>
      <vt:lpstr>Bewegingsvergelijking</vt:lpstr>
      <vt:lpstr>Grootte van de plaatsvector </vt:lpstr>
      <vt:lpstr>Reducties naar 2D en 1D </vt:lpstr>
      <vt:lpstr>Voorwerp in rust</vt:lpstr>
      <vt:lpstr>Verplaatsing — definitie </vt:lpstr>
      <vt:lpstr>Verplaatsing in 1D</vt:lpstr>
      <vt:lpstr>Voorbeeldoefening — Wandelaar (1D)</vt:lpstr>
      <vt:lpstr>Verschil tussen Verplaatsing en Afgelegde weg</vt:lpstr>
      <vt:lpstr>Verschil tussen Verplaatsing en Afgelegde weg</vt:lpstr>
      <vt:lpstr>Valkuilen</vt:lpstr>
      <vt:lpstr>Check jezelf (juist/fout)</vt:lpstr>
      <vt:lpstr>Check jezelf (juist/fout)</vt:lpstr>
      <vt:lpstr>Voorbeeldoefening — Loper op atletiekpiste</vt:lpstr>
      <vt:lpstr>Einde 18/9/26</vt:lpstr>
      <vt:lpstr>Andere coördinatensystemen </vt:lpstr>
      <vt:lpstr>Tijdsduur </vt:lpstr>
      <vt:lpstr>Verplaatsing in functie van tijd </vt:lpstr>
      <vt:lpstr>Infinitesimaal tijdsinterval </vt:lpstr>
      <vt:lpstr>Concept van “moment” </vt:lpstr>
      <vt:lpstr>Check jezelf (juist/fout)</vt:lpstr>
      <vt:lpstr>Check jezelf (juist/fout)</vt:lpstr>
      <vt:lpstr>Snelheid</vt:lpstr>
      <vt:lpstr>Snelheid — definities</vt:lpstr>
      <vt:lpstr>Snelheid — 1D langs x-as</vt:lpstr>
      <vt:lpstr> Snelheid — x(t)-diagram</vt:lpstr>
      <vt:lpstr>Einde 25/9/26</vt:lpstr>
      <vt:lpstr>Notatie verduidelijkt</vt:lpstr>
      <vt:lpstr>Praktische eenheden — km/h ↔ m/s</vt:lpstr>
      <vt:lpstr>Voorbeeldoefening — Fietser op rechte baan</vt:lpstr>
      <vt:lpstr>Voorbeeldoefening — Fietser op rechte baan: Grafische interpretatie</vt:lpstr>
      <vt:lpstr>Check jezelf (juist/fout)</vt:lpstr>
      <vt:lpstr>Check jezelf (juist/fout)</vt:lpstr>
      <vt:lpstr>2D-snelheid</vt:lpstr>
      <vt:lpstr>Voorbeeldoefening — Vlinder in 2D (even herhalen voor december examen) </vt:lpstr>
      <vt:lpstr>Constante snelheid langs de x-as</vt:lpstr>
      <vt:lpstr>Constante snelheid langs de x-as</vt:lpstr>
      <vt:lpstr>Constante snelheid langs de x-as</vt:lpstr>
      <vt:lpstr>Verplaatsing en tijd zijn verbonden (ter info)</vt:lpstr>
      <vt:lpstr>Test jezelf (Waar/ niet-waar)</vt:lpstr>
      <vt:lpstr>Test jezelf (Waar/ niet-waar)</vt:lpstr>
      <vt:lpstr>Oefening 1 – Componenten van de plaatsvector</vt:lpstr>
      <vt:lpstr>Oefening 1 – Oplossing</vt:lpstr>
      <vt:lpstr>Oefening 2 – Vectoren op het bewegende voorwerp</vt:lpstr>
      <vt:lpstr>Oefening 2 – Oplossing</vt:lpstr>
      <vt:lpstr>Oefening 3 – Gemiddelde snelheid kusttram</vt:lpstr>
      <vt:lpstr>Oefening 3 – Oplossing</vt:lpstr>
      <vt:lpstr>Oefening 4 – Gemiddelde snelheid joggen</vt:lpstr>
      <vt:lpstr>Oefening 4 – Oplossing</vt:lpstr>
      <vt:lpstr>Toetsdoelen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Diepte</Template>
  <TotalTime>1645</TotalTime>
  <Words>32</Words>
  <Application>Microsoft Office PowerPoint</Application>
  <PresentationFormat>Breedbeeld</PresentationFormat>
  <Paragraphs>11</Paragraphs>
  <Slides>6</Slides>
  <Notes>0</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6</vt:i4>
      </vt:variant>
    </vt:vector>
  </HeadingPairs>
  <TitlesOfParts>
    <vt:vector size="9" baseType="lpstr">
      <vt:lpstr>Arial</vt:lpstr>
      <vt:lpstr>Corbel</vt:lpstr>
      <vt:lpstr>Title and Content </vt:lpstr>
      <vt:lpstr>Title Slide</vt:lpstr>
      <vt:lpstr>Section Header</vt:lpstr>
      <vt:lpstr>Title and Content</vt:lpstr>
      <vt:lpstr>Two Content</vt:lpstr>
      <vt:lpstr>Comparison Slide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Koen DE BELIE</dc:creator>
  <cp:keywords/>
  <cp:lastModifiedBy>Koen DE BELIE</cp:lastModifiedBy>
  <cp:revision>3</cp:revision>
  <dcterms:created xsi:type="dcterms:W3CDTF">2025-09-23T20:21:22Z</dcterms:created>
  <dcterms:modified xsi:type="dcterms:W3CDTF">2026-09-29T10:52:43Z</dcterms:modified>
</cp:coreProperties>
</file>