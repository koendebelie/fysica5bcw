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402" r:id="rId2"/>
    <p:sldId id="384" r:id="rId3"/>
    <p:sldId id="385" r:id="rId4"/>
    <p:sldId id="256" r:id="rId5"/>
    <p:sldId id="257" r:id="rId6"/>
    <p:sldId id="258" r:id="rId7"/>
    <p:sldId id="265" r:id="rId8"/>
    <p:sldId id="266" r:id="rId9"/>
    <p:sldId id="259" r:id="rId10"/>
    <p:sldId id="280" r:id="rId11"/>
    <p:sldId id="406" r:id="rId12"/>
    <p:sldId id="262" r:id="rId13"/>
    <p:sldId id="275" r:id="rId14"/>
    <p:sldId id="282" r:id="rId15"/>
    <p:sldId id="383" r:id="rId16"/>
    <p:sldId id="285" r:id="rId17"/>
    <p:sldId id="289" r:id="rId18"/>
    <p:sldId id="357" r:id="rId19"/>
    <p:sldId id="359" r:id="rId20"/>
    <p:sldId id="363" r:id="rId21"/>
    <p:sldId id="362" r:id="rId22"/>
    <p:sldId id="372" r:id="rId23"/>
    <p:sldId id="373" r:id="rId24"/>
    <p:sldId id="405" r:id="rId25"/>
    <p:sldId id="277" r:id="rId26"/>
    <p:sldId id="276" r:id="rId27"/>
    <p:sldId id="407" r:id="rId28"/>
    <p:sldId id="300" r:id="rId29"/>
    <p:sldId id="294" r:id="rId30"/>
    <p:sldId id="301" r:id="rId31"/>
    <p:sldId id="302" r:id="rId32"/>
    <p:sldId id="403" r:id="rId33"/>
    <p:sldId id="40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46396-EE76-49F1-B4C6-778A7BEDF452}" v="12" dt="2026-01-22T08:42:35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896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custSel addSld delSld modSld">
      <pc:chgData name="Koen DE BELIE" userId="0b604c76-dc05-41eb-aae4-58be6ad353f8" providerId="ADAL" clId="{A0CAB841-4192-4D5A-AB98-8769508D3B25}" dt="2026-01-27T14:38:31.615" v="108" actId="680"/>
      <pc:docMkLst>
        <pc:docMk/>
      </pc:docMkLst>
      <pc:sldChg chg="modSp">
        <pc:chgData name="Koen DE BELIE" userId="0b604c76-dc05-41eb-aae4-58be6ad353f8" providerId="ADAL" clId="{A0CAB841-4192-4D5A-AB98-8769508D3B25}" dt="2026-01-22T08:42:35.774" v="107" actId="20577"/>
        <pc:sldMkLst>
          <pc:docMk/>
          <pc:sldMk cId="0" sldId="277"/>
        </pc:sldMkLst>
        <pc:spChg chg="mod">
          <ac:chgData name="Koen DE BELIE" userId="0b604c76-dc05-41eb-aae4-58be6ad353f8" providerId="ADAL" clId="{A0CAB841-4192-4D5A-AB98-8769508D3B25}" dt="2026-01-22T08:42:35.774" v="107" actId="20577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Koen DE BELIE" userId="0b604c76-dc05-41eb-aae4-58be6ad353f8" providerId="ADAL" clId="{A0CAB841-4192-4D5A-AB98-8769508D3B25}" dt="2026-01-22T08:10:02.357" v="99" actId="20577"/>
        <pc:sldMkLst>
          <pc:docMk/>
          <pc:sldMk cId="1855455800" sldId="289"/>
        </pc:sldMkLst>
        <pc:spChg chg="mod">
          <ac:chgData name="Koen DE BELIE" userId="0b604c76-dc05-41eb-aae4-58be6ad353f8" providerId="ADAL" clId="{A0CAB841-4192-4D5A-AB98-8769508D3B25}" dt="2026-01-22T08:10:02.357" v="99" actId="20577"/>
          <ac:spMkLst>
            <pc:docMk/>
            <pc:sldMk cId="1855455800" sldId="289"/>
            <ac:spMk id="2" creationId="{9F6C42FA-7CA4-5980-ACAE-6EEF228C322E}"/>
          </ac:spMkLst>
        </pc:spChg>
      </pc:sldChg>
      <pc:sldChg chg="modSp add mod">
        <pc:chgData name="Koen DE BELIE" userId="0b604c76-dc05-41eb-aae4-58be6ad353f8" providerId="ADAL" clId="{A0CAB841-4192-4D5A-AB98-8769508D3B25}" dt="2026-01-21T08:50:46.837" v="52" actId="20577"/>
        <pc:sldMkLst>
          <pc:docMk/>
          <pc:sldMk cId="0" sldId="384"/>
        </pc:sldMkLst>
        <pc:spChg chg="mod">
          <ac:chgData name="Koen DE BELIE" userId="0b604c76-dc05-41eb-aae4-58be6ad353f8" providerId="ADAL" clId="{A0CAB841-4192-4D5A-AB98-8769508D3B25}" dt="2026-01-12T16:15:18.912" v="8" actId="1076"/>
          <ac:spMkLst>
            <pc:docMk/>
            <pc:sldMk cId="0" sldId="384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6-01-21T08:50:46.837" v="52" actId="20577"/>
          <ac:spMkLst>
            <pc:docMk/>
            <pc:sldMk cId="0" sldId="384"/>
            <ac:spMk id="3" creationId="{00000000-0000-0000-0000-000000000000}"/>
          </ac:spMkLst>
        </pc:spChg>
      </pc:sldChg>
      <pc:sldChg chg="modSp add mod">
        <pc:chgData name="Koen DE BELIE" userId="0b604c76-dc05-41eb-aae4-58be6ad353f8" providerId="ADAL" clId="{A0CAB841-4192-4D5A-AB98-8769508D3B25}" dt="2026-01-12T16:16:24.875" v="37" actId="20577"/>
        <pc:sldMkLst>
          <pc:docMk/>
          <pc:sldMk cId="0" sldId="385"/>
        </pc:sldMkLst>
        <pc:spChg chg="mod">
          <ac:chgData name="Koen DE BELIE" userId="0b604c76-dc05-41eb-aae4-58be6ad353f8" providerId="ADAL" clId="{A0CAB841-4192-4D5A-AB98-8769508D3B25}" dt="2026-01-12T16:15:36.055" v="14" actId="1076"/>
          <ac:spMkLst>
            <pc:docMk/>
            <pc:sldMk cId="0" sldId="385"/>
            <ac:spMk id="2" creationId="{00000000-0000-0000-0000-000000000000}"/>
          </ac:spMkLst>
        </pc:spChg>
        <pc:spChg chg="mod">
          <ac:chgData name="Koen DE BELIE" userId="0b604c76-dc05-41eb-aae4-58be6ad353f8" providerId="ADAL" clId="{A0CAB841-4192-4D5A-AB98-8769508D3B25}" dt="2026-01-12T16:16:24.875" v="37" actId="20577"/>
          <ac:spMkLst>
            <pc:docMk/>
            <pc:sldMk cId="0" sldId="385"/>
            <ac:spMk id="3" creationId="{00000000-0000-0000-0000-000000000000}"/>
          </ac:spMkLst>
        </pc:spChg>
      </pc:sldChg>
      <pc:sldChg chg="modSp add mod">
        <pc:chgData name="Koen DE BELIE" userId="0b604c76-dc05-41eb-aae4-58be6ad353f8" providerId="ADAL" clId="{A0CAB841-4192-4D5A-AB98-8769508D3B25}" dt="2026-01-12T16:15:06.457" v="6" actId="20577"/>
        <pc:sldMkLst>
          <pc:docMk/>
          <pc:sldMk cId="73015213" sldId="402"/>
        </pc:sldMkLst>
        <pc:spChg chg="mod">
          <ac:chgData name="Koen DE BELIE" userId="0b604c76-dc05-41eb-aae4-58be6ad353f8" providerId="ADAL" clId="{A0CAB841-4192-4D5A-AB98-8769508D3B25}" dt="2026-01-12T16:15:06.457" v="6" actId="20577"/>
          <ac:spMkLst>
            <pc:docMk/>
            <pc:sldMk cId="73015213" sldId="402"/>
            <ac:spMk id="3" creationId="{34C9B37D-279F-575B-0986-126A21149CED}"/>
          </ac:spMkLst>
        </pc:spChg>
      </pc:sldChg>
      <pc:sldChg chg="add">
        <pc:chgData name="Koen DE BELIE" userId="0b604c76-dc05-41eb-aae4-58be6ad353f8" providerId="ADAL" clId="{A0CAB841-4192-4D5A-AB98-8769508D3B25}" dt="2026-01-12T16:16:48.752" v="38"/>
        <pc:sldMkLst>
          <pc:docMk/>
          <pc:sldMk cId="0" sldId="403"/>
        </pc:sldMkLst>
      </pc:sldChg>
      <pc:sldChg chg="modSp add mod">
        <pc:chgData name="Koen DE BELIE" userId="0b604c76-dc05-41eb-aae4-58be6ad353f8" providerId="ADAL" clId="{A0CAB841-4192-4D5A-AB98-8769508D3B25}" dt="2026-01-12T16:17:40.616" v="48" actId="1076"/>
        <pc:sldMkLst>
          <pc:docMk/>
          <pc:sldMk cId="0" sldId="404"/>
        </pc:sldMkLst>
        <pc:spChg chg="mod">
          <ac:chgData name="Koen DE BELIE" userId="0b604c76-dc05-41eb-aae4-58be6ad353f8" providerId="ADAL" clId="{A0CAB841-4192-4D5A-AB98-8769508D3B25}" dt="2026-01-12T16:17:40.616" v="48" actId="1076"/>
          <ac:spMkLst>
            <pc:docMk/>
            <pc:sldMk cId="0" sldId="404"/>
            <ac:spMk id="2" creationId="{00000000-0000-0000-0000-000000000000}"/>
          </ac:spMkLst>
        </pc:spChg>
        <pc:graphicFrameChg chg="mod modGraphic">
          <ac:chgData name="Koen DE BELIE" userId="0b604c76-dc05-41eb-aae4-58be6ad353f8" providerId="ADAL" clId="{A0CAB841-4192-4D5A-AB98-8769508D3B25}" dt="2026-01-12T16:17:38.391" v="47" actId="1076"/>
          <ac:graphicFrameMkLst>
            <pc:docMk/>
            <pc:sldMk cId="0" sldId="404"/>
            <ac:graphicFrameMk id="6" creationId="{00000000-0000-0000-0000-000000000000}"/>
          </ac:graphicFrameMkLst>
        </pc:graphicFrameChg>
      </pc:sldChg>
      <pc:sldChg chg="modSp add">
        <pc:chgData name="Koen DE BELIE" userId="0b604c76-dc05-41eb-aae4-58be6ad353f8" providerId="ADAL" clId="{A0CAB841-4192-4D5A-AB98-8769508D3B25}" dt="2026-01-22T08:42:10.764" v="101" actId="20577"/>
        <pc:sldMkLst>
          <pc:docMk/>
          <pc:sldMk cId="0" sldId="405"/>
        </pc:sldMkLst>
        <pc:spChg chg="mod">
          <ac:chgData name="Koen DE BELIE" userId="0b604c76-dc05-41eb-aae4-58be6ad353f8" providerId="ADAL" clId="{A0CAB841-4192-4D5A-AB98-8769508D3B25}" dt="2026-01-22T08:42:10.764" v="101" actId="20577"/>
          <ac:spMkLst>
            <pc:docMk/>
            <pc:sldMk cId="0" sldId="405"/>
            <ac:spMk id="3" creationId="{00000000-0000-0000-0000-000000000000}"/>
          </ac:spMkLst>
        </pc:spChg>
      </pc:sldChg>
      <pc:sldChg chg="modSp new mod">
        <pc:chgData name="Koen DE BELIE" userId="0b604c76-dc05-41eb-aae4-58be6ad353f8" providerId="ADAL" clId="{A0CAB841-4192-4D5A-AB98-8769508D3B25}" dt="2026-01-21T09:05:47.825" v="67" actId="20577"/>
        <pc:sldMkLst>
          <pc:docMk/>
          <pc:sldMk cId="2736265967" sldId="406"/>
        </pc:sldMkLst>
        <pc:spChg chg="mod">
          <ac:chgData name="Koen DE BELIE" userId="0b604c76-dc05-41eb-aae4-58be6ad353f8" providerId="ADAL" clId="{A0CAB841-4192-4D5A-AB98-8769508D3B25}" dt="2026-01-21T09:05:47.825" v="67" actId="20577"/>
          <ac:spMkLst>
            <pc:docMk/>
            <pc:sldMk cId="2736265967" sldId="406"/>
            <ac:spMk id="2" creationId="{8C4F96ED-5076-4245-FE93-BB7140618E91}"/>
          </ac:spMkLst>
        </pc:spChg>
      </pc:sldChg>
      <pc:sldChg chg="new">
        <pc:chgData name="Koen DE BELIE" userId="0b604c76-dc05-41eb-aae4-58be6ad353f8" providerId="ADAL" clId="{A0CAB841-4192-4D5A-AB98-8769508D3B25}" dt="2026-01-27T14:38:31.615" v="108" actId="680"/>
        <pc:sldMkLst>
          <pc:docMk/>
          <pc:sldMk cId="1656019498" sldId="40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4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1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4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5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8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2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3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3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24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4679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40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4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07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5733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499" y="1343818"/>
            <a:ext cx="11609798" cy="527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5019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B5DAD2-7194-57C4-C960-3809540156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Arbeid en Energie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4C9B37D-279F-575B-0986-126A21149C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Deel 2</a:t>
            </a:r>
          </a:p>
        </p:txBody>
      </p:sp>
    </p:spTree>
    <p:extLst>
      <p:ext uri="{BB962C8B-B14F-4D97-AF65-F5344CB8AC3E}">
        <p14:creationId xmlns:p14="http://schemas.microsoft.com/office/powerpoint/2010/main" val="73015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-164625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Overzicht</a:t>
            </a:r>
            <a:r>
              <a:rPr dirty="0"/>
              <a:t> van alle </a:t>
            </a:r>
            <a:r>
              <a:rPr dirty="0" err="1"/>
              <a:t>lesdoelen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499" y="868680"/>
            <a:ext cx="11609798" cy="585216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dirty="0"/>
              <a:t>Wet van </a:t>
            </a:r>
            <a:r>
              <a:rPr dirty="0" err="1"/>
              <a:t>behoud</a:t>
            </a:r>
            <a:r>
              <a:rPr dirty="0"/>
              <a:t> van </a:t>
            </a:r>
            <a:r>
              <a:rPr dirty="0" err="1"/>
              <a:t>energie</a:t>
            </a:r>
            <a:r>
              <a:rPr dirty="0"/>
              <a:t> </a:t>
            </a:r>
            <a:r>
              <a:rPr dirty="0" err="1"/>
              <a:t>kunnen</a:t>
            </a:r>
            <a:r>
              <a:rPr dirty="0"/>
              <a:t> </a:t>
            </a:r>
            <a:r>
              <a:rPr dirty="0" err="1"/>
              <a:t>uitleggen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toepassen</a:t>
            </a:r>
            <a:r>
              <a:rPr dirty="0"/>
              <a:t> in </a:t>
            </a:r>
            <a:r>
              <a:rPr dirty="0" err="1"/>
              <a:t>modellen</a:t>
            </a:r>
            <a:r>
              <a:rPr dirty="0"/>
              <a:t>.</a:t>
            </a:r>
          </a:p>
          <a:p>
            <a:pPr lvl="0"/>
            <a:r>
              <a:rPr dirty="0"/>
              <a:t>Begrip van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geïsoleerd</a:t>
            </a:r>
            <a:r>
              <a:rPr dirty="0"/>
              <a:t> </a:t>
            </a:r>
            <a:r>
              <a:rPr dirty="0" err="1"/>
              <a:t>systeem</a:t>
            </a:r>
            <a:r>
              <a:rPr dirty="0"/>
              <a:t> </a:t>
            </a:r>
            <a:r>
              <a:rPr dirty="0" err="1"/>
              <a:t>toelichten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beperkingen</a:t>
            </a:r>
            <a:r>
              <a:rPr dirty="0"/>
              <a:t> van </a:t>
            </a:r>
            <a:r>
              <a:rPr dirty="0" err="1"/>
              <a:t>modellen</a:t>
            </a:r>
            <a:r>
              <a:rPr dirty="0"/>
              <a:t> </a:t>
            </a:r>
            <a:r>
              <a:rPr dirty="0" err="1"/>
              <a:t>herkennen</a:t>
            </a:r>
            <a:r>
              <a:rPr dirty="0"/>
              <a:t>.</a:t>
            </a:r>
          </a:p>
          <a:p>
            <a:pPr lvl="0"/>
            <a:r>
              <a:rPr dirty="0" err="1"/>
              <a:t>Energievormen</a:t>
            </a:r>
            <a:r>
              <a:rPr dirty="0"/>
              <a:t> </a:t>
            </a:r>
            <a:r>
              <a:rPr dirty="0" err="1"/>
              <a:t>herkennen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benoemen</a:t>
            </a:r>
            <a:r>
              <a:rPr dirty="0"/>
              <a:t>: Ek, Ez, Ev (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wrijvingsenergie</a:t>
            </a:r>
            <a:r>
              <a:rPr dirty="0"/>
              <a:t> </a:t>
            </a:r>
            <a:r>
              <a:rPr dirty="0" err="1"/>
              <a:t>waar</a:t>
            </a:r>
            <a:r>
              <a:rPr dirty="0"/>
              <a:t> relevant).</a:t>
            </a:r>
          </a:p>
          <a:p>
            <a:pPr lvl="0"/>
            <a:r>
              <a:rPr dirty="0"/>
              <a:t>Begin-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eindsituatie</a:t>
            </a:r>
            <a:r>
              <a:rPr dirty="0"/>
              <a:t> </a:t>
            </a:r>
            <a:r>
              <a:rPr dirty="0" err="1"/>
              <a:t>methodisch</a:t>
            </a:r>
            <a:r>
              <a:rPr dirty="0"/>
              <a:t> </a:t>
            </a:r>
            <a:r>
              <a:rPr dirty="0" err="1"/>
              <a:t>analyseren</a:t>
            </a:r>
            <a:r>
              <a:rPr dirty="0"/>
              <a:t> </a:t>
            </a:r>
            <a:r>
              <a:rPr dirty="0" err="1"/>
              <a:t>bij</a:t>
            </a:r>
            <a:r>
              <a:rPr dirty="0"/>
              <a:t> </a:t>
            </a:r>
            <a:r>
              <a:rPr dirty="0" err="1"/>
              <a:t>energieproblemen</a:t>
            </a:r>
            <a:r>
              <a:rPr dirty="0"/>
              <a:t>.</a:t>
            </a:r>
          </a:p>
          <a:p>
            <a:pPr lvl="0"/>
            <a:r>
              <a:rPr dirty="0" err="1"/>
              <a:t>Voorbeeldoefeningen</a:t>
            </a:r>
            <a:r>
              <a:rPr dirty="0"/>
              <a:t> </a:t>
            </a:r>
            <a:r>
              <a:rPr dirty="0" err="1"/>
              <a:t>oplossen</a:t>
            </a:r>
            <a:r>
              <a:rPr dirty="0"/>
              <a:t>: </a:t>
            </a:r>
            <a:r>
              <a:rPr dirty="0" err="1"/>
              <a:t>vrije</a:t>
            </a:r>
            <a:r>
              <a:rPr dirty="0"/>
              <a:t> </a:t>
            </a:r>
            <a:r>
              <a:rPr dirty="0" err="1"/>
              <a:t>val</a:t>
            </a:r>
            <a:r>
              <a:rPr dirty="0"/>
              <a:t>, </a:t>
            </a:r>
            <a:r>
              <a:rPr dirty="0" err="1"/>
              <a:t>veerpistool</a:t>
            </a:r>
            <a:r>
              <a:rPr dirty="0"/>
              <a:t>, </a:t>
            </a:r>
            <a:r>
              <a:rPr dirty="0" err="1"/>
              <a:t>helling</a:t>
            </a:r>
            <a:r>
              <a:rPr dirty="0"/>
              <a:t> met </a:t>
            </a:r>
            <a:r>
              <a:rPr dirty="0" err="1"/>
              <a:t>wrijving</a:t>
            </a:r>
            <a:r>
              <a:rPr dirty="0"/>
              <a:t>, </a:t>
            </a:r>
            <a:r>
              <a:rPr dirty="0" err="1"/>
              <a:t>ontsnappingssnelheid</a:t>
            </a:r>
            <a:r>
              <a:rPr dirty="0"/>
              <a:t>.</a:t>
            </a:r>
          </a:p>
          <a:p>
            <a:pPr lvl="0"/>
            <a:r>
              <a:rPr dirty="0" err="1"/>
              <a:t>Vermogen</a:t>
            </a:r>
            <a:r>
              <a:rPr dirty="0"/>
              <a:t> </a:t>
            </a:r>
            <a:r>
              <a:rPr dirty="0" err="1"/>
              <a:t>definiëren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arbeid</a:t>
            </a:r>
            <a:r>
              <a:rPr dirty="0"/>
              <a:t> per </a:t>
            </a:r>
            <a:r>
              <a:rPr dirty="0" err="1"/>
              <a:t>tijdseenheid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situeren</a:t>
            </a:r>
            <a:r>
              <a:rPr dirty="0"/>
              <a:t> </a:t>
            </a:r>
            <a:r>
              <a:rPr dirty="0" err="1"/>
              <a:t>binnen</a:t>
            </a:r>
            <a:r>
              <a:rPr dirty="0"/>
              <a:t> </a:t>
            </a:r>
            <a:r>
              <a:rPr dirty="0" err="1"/>
              <a:t>arbeid</a:t>
            </a:r>
            <a:r>
              <a:rPr dirty="0"/>
              <a:t> &amp; </a:t>
            </a:r>
            <a:r>
              <a:rPr dirty="0" err="1"/>
              <a:t>energie</a:t>
            </a:r>
            <a:r>
              <a:rPr dirty="0"/>
              <a:t>.</a:t>
            </a:r>
          </a:p>
          <a:p>
            <a:pPr lvl="0"/>
            <a:r>
              <a:rPr dirty="0" err="1"/>
              <a:t>Verschil</a:t>
            </a:r>
            <a:r>
              <a:rPr dirty="0"/>
              <a:t> </a:t>
            </a:r>
            <a:r>
              <a:rPr dirty="0" err="1"/>
              <a:t>tussen</a:t>
            </a:r>
            <a:r>
              <a:rPr dirty="0"/>
              <a:t> </a:t>
            </a:r>
            <a:r>
              <a:rPr dirty="0" err="1"/>
              <a:t>gemiddeld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ogenblikkelijk</a:t>
            </a:r>
            <a:r>
              <a:rPr dirty="0"/>
              <a:t> </a:t>
            </a:r>
            <a:r>
              <a:rPr dirty="0" err="1"/>
              <a:t>vermogen</a:t>
            </a:r>
            <a:r>
              <a:rPr dirty="0"/>
              <a:t> </a:t>
            </a:r>
            <a:r>
              <a:rPr dirty="0" err="1"/>
              <a:t>uitleggen</a:t>
            </a:r>
            <a:r>
              <a:rPr dirty="0"/>
              <a:t>.</a:t>
            </a:r>
          </a:p>
          <a:p>
            <a:pPr lvl="0"/>
            <a:r>
              <a:rPr dirty="0" err="1"/>
              <a:t>Relatie</a:t>
            </a:r>
            <a:r>
              <a:rPr dirty="0"/>
              <a:t> </a:t>
            </a:r>
            <a:r>
              <a:rPr dirty="0" err="1"/>
              <a:t>vermogen</a:t>
            </a:r>
            <a:r>
              <a:rPr dirty="0"/>
              <a:t>–</a:t>
            </a:r>
            <a:r>
              <a:rPr dirty="0" err="1"/>
              <a:t>kracht</a:t>
            </a:r>
            <a:r>
              <a:rPr dirty="0"/>
              <a:t>–</a:t>
            </a:r>
            <a:r>
              <a:rPr dirty="0" err="1"/>
              <a:t>snelheid</a:t>
            </a:r>
            <a:r>
              <a:rPr dirty="0"/>
              <a:t> </a:t>
            </a:r>
            <a:r>
              <a:rPr dirty="0" err="1"/>
              <a:t>gebruiken</a:t>
            </a:r>
            <a:r>
              <a:rPr dirty="0"/>
              <a:t>: </a:t>
            </a:r>
            <a:r>
              <a:rPr lang="nl-BE" dirty="0"/>
              <a:t>P</a:t>
            </a:r>
            <a:r>
              <a:rPr dirty="0"/>
              <a:t> = F · v.</a:t>
            </a:r>
          </a:p>
          <a:p>
            <a:pPr lvl="0"/>
            <a:r>
              <a:rPr dirty="0" err="1"/>
              <a:t>Vermogen</a:t>
            </a:r>
            <a:r>
              <a:rPr dirty="0"/>
              <a:t> </a:t>
            </a:r>
            <a:r>
              <a:rPr dirty="0" err="1"/>
              <a:t>berekenen</a:t>
            </a:r>
            <a:r>
              <a:rPr dirty="0"/>
              <a:t> in </a:t>
            </a:r>
            <a:r>
              <a:rPr dirty="0" err="1"/>
              <a:t>contexten</a:t>
            </a:r>
            <a:r>
              <a:rPr dirty="0"/>
              <a:t> (</a:t>
            </a:r>
            <a:r>
              <a:rPr dirty="0" err="1"/>
              <a:t>bv</a:t>
            </a:r>
            <a:r>
              <a:rPr dirty="0"/>
              <a:t>. </a:t>
            </a:r>
            <a:r>
              <a:rPr dirty="0" err="1"/>
              <a:t>muurklimmen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703" y="-313215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Inhoudsopgave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499" y="1012348"/>
            <a:ext cx="11609798" cy="5827397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b="1" dirty="0" err="1"/>
              <a:t>Behoud</a:t>
            </a:r>
            <a:r>
              <a:rPr b="1" dirty="0"/>
              <a:t> van </a:t>
            </a:r>
            <a:r>
              <a:rPr b="1" dirty="0" err="1"/>
              <a:t>energie</a:t>
            </a:r>
            <a:endParaRPr b="1" dirty="0"/>
          </a:p>
          <a:p>
            <a:pPr lvl="1"/>
            <a:r>
              <a:rPr dirty="0" err="1"/>
              <a:t>Betekenis</a:t>
            </a:r>
            <a:r>
              <a:rPr dirty="0"/>
              <a:t> van “</a:t>
            </a:r>
            <a:r>
              <a:rPr dirty="0" err="1"/>
              <a:t>behoud</a:t>
            </a:r>
            <a:r>
              <a:rPr lang="nl-BE" dirty="0"/>
              <a:t> van energie</a:t>
            </a:r>
            <a:r>
              <a:rPr dirty="0"/>
              <a:t>” in de </a:t>
            </a:r>
            <a:r>
              <a:rPr dirty="0" err="1"/>
              <a:t>fysica</a:t>
            </a:r>
            <a:endParaRPr dirty="0"/>
          </a:p>
          <a:p>
            <a:pPr lvl="1"/>
            <a:r>
              <a:rPr dirty="0" err="1"/>
              <a:t>Geïsoleerd</a:t>
            </a:r>
            <a:r>
              <a:rPr dirty="0"/>
              <a:t> </a:t>
            </a:r>
            <a:r>
              <a:rPr dirty="0" err="1"/>
              <a:t>systeem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werken</a:t>
            </a:r>
            <a:r>
              <a:rPr dirty="0"/>
              <a:t> met </a:t>
            </a:r>
            <a:r>
              <a:rPr dirty="0" err="1"/>
              <a:t>een</a:t>
            </a:r>
            <a:r>
              <a:rPr dirty="0"/>
              <a:t> model</a:t>
            </a:r>
          </a:p>
          <a:p>
            <a:pPr lvl="1"/>
            <a:r>
              <a:rPr dirty="0" err="1"/>
              <a:t>Energievormen</a:t>
            </a:r>
            <a:r>
              <a:rPr dirty="0"/>
              <a:t> (Ek, Ez, Ev, </a:t>
            </a:r>
            <a:r>
              <a:rPr dirty="0" err="1"/>
              <a:t>wrijving</a:t>
            </a:r>
            <a:r>
              <a:rPr dirty="0"/>
              <a:t>)</a:t>
            </a:r>
          </a:p>
          <a:p>
            <a:pPr lvl="1"/>
            <a:r>
              <a:rPr dirty="0" err="1"/>
              <a:t>Aanpak</a:t>
            </a:r>
            <a:r>
              <a:rPr dirty="0"/>
              <a:t>: begin-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eindsituatie</a:t>
            </a:r>
            <a:r>
              <a:rPr dirty="0"/>
              <a:t>, </a:t>
            </a:r>
            <a:r>
              <a:rPr dirty="0" err="1"/>
              <a:t>energiebalans</a:t>
            </a:r>
            <a:endParaRPr dirty="0"/>
          </a:p>
          <a:p>
            <a:pPr lvl="1"/>
            <a:r>
              <a:rPr dirty="0" err="1"/>
              <a:t>Voorbeelden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oefeningen</a:t>
            </a:r>
            <a:r>
              <a:rPr dirty="0"/>
              <a:t>:</a:t>
            </a:r>
          </a:p>
          <a:p>
            <a:pPr lvl="2"/>
            <a:r>
              <a:rPr dirty="0"/>
              <a:t>Vrije </a:t>
            </a:r>
            <a:r>
              <a:rPr dirty="0" err="1"/>
              <a:t>val</a:t>
            </a:r>
            <a:endParaRPr dirty="0"/>
          </a:p>
          <a:p>
            <a:pPr lvl="2"/>
            <a:r>
              <a:rPr dirty="0" err="1"/>
              <a:t>Veerpistool</a:t>
            </a:r>
            <a:endParaRPr dirty="0"/>
          </a:p>
          <a:p>
            <a:pPr lvl="2"/>
            <a:r>
              <a:rPr dirty="0"/>
              <a:t>Helling met </a:t>
            </a:r>
            <a:r>
              <a:rPr dirty="0" err="1"/>
              <a:t>wrijving</a:t>
            </a:r>
            <a:endParaRPr dirty="0"/>
          </a:p>
          <a:p>
            <a:pPr lvl="2"/>
            <a:r>
              <a:rPr dirty="0" err="1"/>
              <a:t>Ontsnappingssnelheid</a:t>
            </a:r>
            <a:endParaRPr dirty="0"/>
          </a:p>
          <a:p>
            <a:pPr lvl="0"/>
            <a:r>
              <a:rPr b="1" dirty="0" err="1"/>
              <a:t>Vermogen</a:t>
            </a:r>
            <a:endParaRPr b="1" dirty="0"/>
          </a:p>
          <a:p>
            <a:pPr lvl="1"/>
            <a:r>
              <a:rPr dirty="0" err="1"/>
              <a:t>Definitie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eenheid</a:t>
            </a:r>
            <a:r>
              <a:rPr dirty="0"/>
              <a:t> (watt)</a:t>
            </a:r>
          </a:p>
          <a:p>
            <a:pPr lvl="1"/>
            <a:r>
              <a:rPr dirty="0" err="1"/>
              <a:t>Gemiddeld</a:t>
            </a:r>
            <a:r>
              <a:rPr dirty="0"/>
              <a:t> vs </a:t>
            </a:r>
            <a:r>
              <a:rPr dirty="0" err="1"/>
              <a:t>ogenblikkelijk</a:t>
            </a:r>
            <a:r>
              <a:rPr dirty="0"/>
              <a:t> </a:t>
            </a:r>
            <a:r>
              <a:rPr dirty="0" err="1"/>
              <a:t>vermogen</a:t>
            </a:r>
            <a:endParaRPr dirty="0"/>
          </a:p>
          <a:p>
            <a:pPr lvl="1"/>
            <a:r>
              <a:rPr dirty="0" err="1"/>
              <a:t>Formule</a:t>
            </a:r>
            <a:r>
              <a:rPr dirty="0"/>
              <a:t> </a:t>
            </a:r>
          </a:p>
          <a:p>
            <a:pPr lvl="1"/>
            <a:r>
              <a:rPr dirty="0" err="1"/>
              <a:t>Voorbeelden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oefeningen</a:t>
            </a:r>
            <a:r>
              <a:rPr dirty="0"/>
              <a:t> (</a:t>
            </a:r>
            <a:r>
              <a:rPr dirty="0" err="1"/>
              <a:t>muurklimmen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Behoud van energie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De wet van </a:t>
                </a:r>
                <a:r>
                  <a:rPr dirty="0" err="1"/>
                  <a:t>behoud</a:t>
                </a:r>
                <a:r>
                  <a:rPr dirty="0"/>
                  <a:t> van </a:t>
                </a:r>
                <a:r>
                  <a:rPr dirty="0" err="1"/>
                  <a:t>energie</a:t>
                </a:r>
                <a:r>
                  <a:rPr dirty="0"/>
                  <a:t> is de </a:t>
                </a:r>
                <a:r>
                  <a:rPr dirty="0" err="1"/>
                  <a:t>belangrijkste</a:t>
                </a:r>
                <a:r>
                  <a:rPr dirty="0"/>
                  <a:t> </a:t>
                </a:r>
                <a:r>
                  <a:rPr dirty="0" err="1"/>
                  <a:t>natuurwet</a:t>
                </a:r>
                <a:r>
                  <a:rPr dirty="0"/>
                  <a:t>.</a:t>
                </a:r>
              </a:p>
              <a:p>
                <a:pPr lvl="0"/>
                <a:r>
                  <a:rPr dirty="0"/>
                  <a:t>In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geïsoleerd</a:t>
                </a:r>
                <a:r>
                  <a:rPr dirty="0"/>
                  <a:t> </a:t>
                </a:r>
                <a:r>
                  <a:rPr dirty="0" err="1"/>
                  <a:t>systeem</a:t>
                </a:r>
                <a:r>
                  <a:rPr dirty="0"/>
                  <a:t> </a:t>
                </a:r>
                <a:r>
                  <a:rPr dirty="0" err="1"/>
                  <a:t>blijft</a:t>
                </a:r>
                <a:r>
                  <a:rPr dirty="0"/>
                  <a:t> de </a:t>
                </a:r>
                <a:r>
                  <a:rPr dirty="0" err="1"/>
                  <a:t>totale</a:t>
                </a:r>
                <a:r>
                  <a:rPr dirty="0"/>
                  <a:t> </a:t>
                </a:r>
                <a:r>
                  <a:rPr dirty="0" err="1"/>
                  <a:t>energie</a:t>
                </a:r>
                <a:r>
                  <a:rPr dirty="0"/>
                  <a:t> constant:</a:t>
                </a:r>
                <a:endParaRPr lang="nl-BE" dirty="0"/>
              </a:p>
              <a:p>
                <a:pPr lvl="0"/>
                <a:endParaRPr sz="1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𝑑𝐸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Energie </a:t>
                </a:r>
                <a:r>
                  <a:rPr dirty="0" err="1"/>
                  <a:t>kan</a:t>
                </a:r>
                <a:r>
                  <a:rPr dirty="0"/>
                  <a:t> van </a:t>
                </a:r>
                <a:r>
                  <a:rPr dirty="0" err="1"/>
                  <a:t>vorm</a:t>
                </a:r>
                <a:r>
                  <a:rPr dirty="0"/>
                  <a:t> </a:t>
                </a:r>
                <a:r>
                  <a:rPr dirty="0" err="1"/>
                  <a:t>veranderen</a:t>
                </a:r>
                <a:r>
                  <a:rPr dirty="0"/>
                  <a:t> of </a:t>
                </a:r>
                <a:r>
                  <a:rPr dirty="0" err="1"/>
                  <a:t>tussen</a:t>
                </a:r>
                <a:r>
                  <a:rPr dirty="0"/>
                  <a:t> </a:t>
                </a:r>
                <a:r>
                  <a:rPr dirty="0" err="1"/>
                  <a:t>voorwerpen</a:t>
                </a:r>
                <a:r>
                  <a:rPr dirty="0"/>
                  <a:t> </a:t>
                </a:r>
                <a:r>
                  <a:rPr dirty="0" err="1"/>
                  <a:t>worden</a:t>
                </a:r>
                <a:r>
                  <a:rPr dirty="0"/>
                  <a:t> </a:t>
                </a:r>
                <a:r>
                  <a:rPr dirty="0" err="1"/>
                  <a:t>uitgewisseld</a:t>
                </a:r>
                <a:r>
                  <a:rPr dirty="0"/>
                  <a:t>, maar de </a:t>
                </a:r>
                <a:r>
                  <a:rPr dirty="0" err="1"/>
                  <a:t>totale</a:t>
                </a:r>
                <a:r>
                  <a:rPr dirty="0"/>
                  <a:t> </a:t>
                </a:r>
                <a:r>
                  <a:rPr dirty="0" err="1"/>
                  <a:t>energie</a:t>
                </a:r>
                <a:r>
                  <a:rPr dirty="0"/>
                  <a:t> </a:t>
                </a:r>
                <a:r>
                  <a:rPr dirty="0" err="1"/>
                  <a:t>wijzigt</a:t>
                </a:r>
                <a:r>
                  <a:rPr dirty="0"/>
                  <a:t> </a:t>
                </a:r>
                <a:r>
                  <a:rPr dirty="0" err="1"/>
                  <a:t>niet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Geïsoleerd systeem en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dirty="0"/>
              <a:t>Een </a:t>
            </a:r>
            <a:r>
              <a:rPr dirty="0" err="1"/>
              <a:t>geïsoleerd</a:t>
            </a:r>
            <a:r>
              <a:rPr dirty="0"/>
              <a:t> </a:t>
            </a:r>
            <a:r>
              <a:rPr dirty="0" err="1"/>
              <a:t>systeem</a:t>
            </a:r>
            <a:r>
              <a:rPr dirty="0"/>
              <a:t>: </a:t>
            </a:r>
            <a:r>
              <a:rPr dirty="0" err="1"/>
              <a:t>geen</a:t>
            </a:r>
            <a:r>
              <a:rPr dirty="0"/>
              <a:t> </a:t>
            </a:r>
            <a:r>
              <a:rPr dirty="0" err="1"/>
              <a:t>energie</a:t>
            </a:r>
            <a:r>
              <a:rPr dirty="0"/>
              <a:t> of </a:t>
            </a:r>
            <a:r>
              <a:rPr dirty="0" err="1"/>
              <a:t>materie-uitwisseling</a:t>
            </a:r>
            <a:r>
              <a:rPr dirty="0"/>
              <a:t> met de </a:t>
            </a:r>
            <a:r>
              <a:rPr dirty="0" err="1"/>
              <a:t>omgeving</a:t>
            </a:r>
            <a:r>
              <a:rPr dirty="0"/>
              <a:t>.</a:t>
            </a:r>
          </a:p>
          <a:p>
            <a:pPr lvl="0"/>
            <a:r>
              <a:rPr dirty="0"/>
              <a:t>In </a:t>
            </a:r>
            <a:r>
              <a:rPr dirty="0" err="1"/>
              <a:t>werkelijkheid</a:t>
            </a:r>
            <a:r>
              <a:rPr dirty="0"/>
              <a:t> </a:t>
            </a:r>
            <a:r>
              <a:rPr dirty="0" err="1"/>
              <a:t>bestaan</a:t>
            </a:r>
            <a:r>
              <a:rPr dirty="0"/>
              <a:t> perfect </a:t>
            </a:r>
            <a:r>
              <a:rPr dirty="0" err="1"/>
              <a:t>geïsoleerde</a:t>
            </a:r>
            <a:r>
              <a:rPr dirty="0"/>
              <a:t> </a:t>
            </a:r>
            <a:r>
              <a:rPr dirty="0" err="1"/>
              <a:t>systemen</a:t>
            </a:r>
            <a:r>
              <a:rPr dirty="0"/>
              <a:t> </a:t>
            </a:r>
            <a:r>
              <a:rPr dirty="0" err="1"/>
              <a:t>niet</a:t>
            </a:r>
            <a:r>
              <a:rPr dirty="0"/>
              <a:t> → </a:t>
            </a:r>
            <a:r>
              <a:rPr dirty="0" err="1"/>
              <a:t>altijd</a:t>
            </a:r>
            <a:r>
              <a:rPr dirty="0"/>
              <a:t> </a:t>
            </a:r>
            <a:r>
              <a:rPr dirty="0" err="1"/>
              <a:t>kleine</a:t>
            </a:r>
            <a:r>
              <a:rPr dirty="0"/>
              <a:t> </a:t>
            </a:r>
            <a:r>
              <a:rPr dirty="0" err="1"/>
              <a:t>energielekken</a:t>
            </a:r>
            <a:r>
              <a:rPr dirty="0"/>
              <a:t>.</a:t>
            </a:r>
            <a:endParaRPr lang="nl-BE" dirty="0"/>
          </a:p>
          <a:p>
            <a:r>
              <a:rPr lang="nl-NL" dirty="0"/>
              <a:t>Het ultiem geïsoleerde systeem is het universum</a:t>
            </a:r>
            <a:endParaRPr dirty="0"/>
          </a:p>
          <a:p>
            <a:pPr lvl="0"/>
            <a:r>
              <a:rPr dirty="0"/>
              <a:t>Voor </a:t>
            </a:r>
            <a:r>
              <a:rPr dirty="0" err="1"/>
              <a:t>toepassingen</a:t>
            </a:r>
            <a:r>
              <a:rPr dirty="0"/>
              <a:t> </a:t>
            </a:r>
            <a:r>
              <a:rPr dirty="0" err="1"/>
              <a:t>werk</a:t>
            </a:r>
            <a:r>
              <a:rPr dirty="0"/>
              <a:t> je met </a:t>
            </a:r>
            <a:r>
              <a:rPr dirty="0" err="1"/>
              <a:t>een</a:t>
            </a:r>
            <a:r>
              <a:rPr dirty="0"/>
              <a:t> model:</a:t>
            </a:r>
          </a:p>
          <a:p>
            <a:pPr lvl="1"/>
            <a:r>
              <a:rPr dirty="0"/>
              <a:t>Begin-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eindsituatie</a:t>
            </a:r>
            <a:r>
              <a:rPr dirty="0"/>
              <a:t> </a:t>
            </a:r>
            <a:r>
              <a:rPr dirty="0" err="1"/>
              <a:t>duidelijk</a:t>
            </a:r>
            <a:r>
              <a:rPr dirty="0"/>
              <a:t> </a:t>
            </a:r>
            <a:r>
              <a:rPr dirty="0" err="1"/>
              <a:t>definiëren</a:t>
            </a:r>
            <a:r>
              <a:rPr dirty="0"/>
              <a:t>.</a:t>
            </a:r>
          </a:p>
          <a:p>
            <a:pPr lvl="1"/>
            <a:r>
              <a:rPr dirty="0"/>
              <a:t>Wet van </a:t>
            </a:r>
            <a:r>
              <a:rPr dirty="0" err="1"/>
              <a:t>behoud</a:t>
            </a:r>
            <a:r>
              <a:rPr dirty="0"/>
              <a:t> van </a:t>
            </a:r>
            <a:r>
              <a:rPr dirty="0" err="1"/>
              <a:t>energie</a:t>
            </a:r>
            <a:r>
              <a:rPr dirty="0"/>
              <a:t> </a:t>
            </a:r>
            <a:r>
              <a:rPr dirty="0" err="1"/>
              <a:t>geldt</a:t>
            </a:r>
            <a:r>
              <a:rPr dirty="0"/>
              <a:t> </a:t>
            </a:r>
            <a:r>
              <a:rPr dirty="0" err="1"/>
              <a:t>binnen</a:t>
            </a:r>
            <a:r>
              <a:rPr dirty="0"/>
              <a:t> de </a:t>
            </a:r>
            <a:r>
              <a:rPr dirty="0" err="1"/>
              <a:t>grenzen</a:t>
            </a:r>
            <a:r>
              <a:rPr dirty="0"/>
              <a:t> van het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002" y="0"/>
            <a:ext cx="11463897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Wet van </a:t>
            </a:r>
            <a:r>
              <a:rPr dirty="0" err="1"/>
              <a:t>behoud</a:t>
            </a:r>
            <a:r>
              <a:rPr dirty="0"/>
              <a:t> van </a:t>
            </a:r>
            <a:r>
              <a:rPr dirty="0" err="1"/>
              <a:t>energie</a:t>
            </a:r>
            <a:r>
              <a:rPr dirty="0"/>
              <a:t> in </a:t>
            </a:r>
            <a:r>
              <a:rPr dirty="0" err="1"/>
              <a:t>een</a:t>
            </a:r>
            <a:r>
              <a:rPr dirty="0"/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1101" y="1850594"/>
                <a:ext cx="11609798" cy="5272739"/>
              </a:xfrm>
            </p:spPr>
            <p:txBody>
              <a:bodyPr/>
              <a:lstStyle/>
              <a:p>
                <a:pPr lvl="0"/>
                <a:r>
                  <a:rPr dirty="0" err="1"/>
                  <a:t>Totale</a:t>
                </a:r>
                <a:r>
                  <a:rPr dirty="0"/>
                  <a:t> </a:t>
                </a:r>
                <a:r>
                  <a:rPr dirty="0" err="1"/>
                  <a:t>energie</a:t>
                </a:r>
                <a:r>
                  <a:rPr dirty="0"/>
                  <a:t> op </a:t>
                </a:r>
                <a:r>
                  <a:rPr dirty="0" err="1"/>
                  <a:t>tijdstip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dirty="0"/>
                  <a:t>:</a:t>
                </a:r>
                <a:endParaRPr lang="nl-BE" dirty="0"/>
              </a:p>
              <a:p>
                <a:pPr lvl="0"/>
                <a:endParaRPr sz="11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tot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/>
                            <m:t>tot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Som van alle </a:t>
                </a:r>
                <a:r>
                  <a:rPr dirty="0" err="1"/>
                  <a:t>energievormen</a:t>
                </a:r>
                <a:r>
                  <a:rPr dirty="0"/>
                  <a:t> </a:t>
                </a:r>
                <a:r>
                  <a:rPr dirty="0" err="1"/>
                  <a:t>blijft</a:t>
                </a:r>
                <a:r>
                  <a:rPr dirty="0"/>
                  <a:t> </a:t>
                </a:r>
                <a:r>
                  <a:rPr dirty="0" err="1"/>
                  <a:t>gelijk</a:t>
                </a:r>
                <a:r>
                  <a:rPr dirty="0"/>
                  <a:t>:</a:t>
                </a:r>
                <a:endParaRPr lang="nl-BE" dirty="0"/>
              </a:p>
              <a:p>
                <a:pPr lvl="0"/>
                <a:endParaRPr sz="16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+…=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′+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′+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′+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′+…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101" y="1850594"/>
                <a:ext cx="11609798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03" y="-124965"/>
            <a:ext cx="12052453" cy="13255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Toepassing</a:t>
            </a:r>
            <a:r>
              <a:rPr dirty="0"/>
              <a:t> wet van </a:t>
            </a:r>
            <a:r>
              <a:rPr dirty="0" err="1"/>
              <a:t>behoud</a:t>
            </a:r>
            <a:r>
              <a:rPr dirty="0"/>
              <a:t> van </a:t>
            </a:r>
            <a:r>
              <a:rPr dirty="0" err="1"/>
              <a:t>energie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1420936"/>
                <a:ext cx="11609798" cy="5272739"/>
              </a:xfrm>
            </p:spPr>
            <p:txBody>
              <a:bodyPr>
                <a:normAutofit fontScale="62500" lnSpcReduction="20000"/>
              </a:bodyPr>
              <a:lstStyle/>
              <a:p>
                <a:pPr lvl="0"/>
                <a:r>
                  <a:rPr lang="nl-BE" dirty="0"/>
                  <a:t>In </a:t>
                </a:r>
                <a:r>
                  <a:rPr lang="nl-BE" dirty="0" err="1"/>
                  <a:t>een</a:t>
                </a:r>
                <a:r>
                  <a:rPr lang="nl-BE" dirty="0"/>
                  <a:t> </a:t>
                </a:r>
                <a:r>
                  <a:rPr lang="nl-BE" dirty="0" err="1"/>
                  <a:t>geïsoleerd</a:t>
                </a:r>
                <a:r>
                  <a:rPr lang="nl-BE" dirty="0"/>
                  <a:t> </a:t>
                </a:r>
                <a:r>
                  <a:rPr lang="nl-BE" dirty="0" err="1"/>
                  <a:t>systeem</a:t>
                </a:r>
                <a:r>
                  <a:rPr lang="nl-BE" dirty="0"/>
                  <a:t> </a:t>
                </a:r>
                <a:r>
                  <a:rPr lang="nl-BE" dirty="0" err="1"/>
                  <a:t>blijft</a:t>
                </a:r>
                <a:r>
                  <a:rPr lang="nl-BE" dirty="0"/>
                  <a:t> de </a:t>
                </a:r>
                <a:r>
                  <a:rPr lang="nl-BE" dirty="0" err="1"/>
                  <a:t>totale</a:t>
                </a:r>
                <a:r>
                  <a:rPr lang="nl-BE" dirty="0"/>
                  <a:t> </a:t>
                </a:r>
                <a:r>
                  <a:rPr lang="nl-BE" dirty="0" err="1"/>
                  <a:t>energie</a:t>
                </a:r>
                <a:r>
                  <a:rPr lang="nl-BE" dirty="0"/>
                  <a:t> constant: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nl-BE"/>
                          <m:t>tot</m:t>
                        </m:r>
                        <m:r>
                          <a:rPr lang="nl-B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nl-BE"/>
                          <m:t>tot</m:t>
                        </m:r>
                      </m:sub>
                    </m:sSub>
                  </m:oMath>
                </a14:m>
                <a:endParaRPr lang="ar-AE" dirty="0"/>
              </a:p>
              <a:p>
                <a:pPr lvl="0"/>
                <a:r>
                  <a:rPr lang="nl-BE" dirty="0"/>
                  <a:t>Energie </a:t>
                </a:r>
                <a:r>
                  <a:rPr lang="nl-BE" dirty="0" err="1"/>
                  <a:t>kan</a:t>
                </a:r>
                <a:r>
                  <a:rPr lang="nl-BE" dirty="0"/>
                  <a:t> van </a:t>
                </a:r>
                <a:r>
                  <a:rPr lang="nl-BE" dirty="0" err="1"/>
                  <a:t>vorm</a:t>
                </a:r>
                <a:r>
                  <a:rPr lang="nl-BE" dirty="0"/>
                  <a:t> </a:t>
                </a:r>
                <a:r>
                  <a:rPr lang="nl-BE" dirty="0" err="1"/>
                  <a:t>veranderen</a:t>
                </a:r>
                <a:r>
                  <a:rPr lang="nl-BE" dirty="0"/>
                  <a:t>, maar de </a:t>
                </a:r>
                <a:r>
                  <a:rPr lang="nl-BE" dirty="0" err="1"/>
                  <a:t>som</a:t>
                </a:r>
                <a:r>
                  <a:rPr lang="nl-BE" dirty="0"/>
                  <a:t> van alle </a:t>
                </a:r>
                <a:r>
                  <a:rPr lang="nl-BE" dirty="0" err="1"/>
                  <a:t>energievormen</a:t>
                </a:r>
                <a:r>
                  <a:rPr lang="nl-BE" dirty="0"/>
                  <a:t> </a:t>
                </a:r>
                <a:r>
                  <a:rPr lang="nl-BE" dirty="0" err="1"/>
                  <a:t>blijft</a:t>
                </a:r>
                <a:r>
                  <a:rPr lang="nl-BE" dirty="0"/>
                  <a:t> </a:t>
                </a:r>
                <a:r>
                  <a:rPr lang="nl-BE" dirty="0" err="1"/>
                  <a:t>gelijk</a:t>
                </a:r>
                <a:r>
                  <a:rPr lang="nl-BE" dirty="0"/>
                  <a:t>.</a:t>
                </a:r>
              </a:p>
              <a:p>
                <a:pPr lvl="0"/>
                <a:r>
                  <a:rPr lang="nl-BE" dirty="0" err="1"/>
                  <a:t>Typische</a:t>
                </a:r>
                <a:r>
                  <a:rPr lang="nl-BE" dirty="0"/>
                  <a:t> </a:t>
                </a:r>
                <a:r>
                  <a:rPr lang="nl-BE" dirty="0" err="1"/>
                  <a:t>energievormen</a:t>
                </a:r>
                <a:r>
                  <a:rPr lang="nl-BE" dirty="0"/>
                  <a:t>:</a:t>
                </a:r>
              </a:p>
              <a:p>
                <a:pPr lvl="1"/>
                <a:r>
                  <a:rPr lang="nl-BE" dirty="0" err="1"/>
                  <a:t>Kinetische</a:t>
                </a:r>
                <a:r>
                  <a:rPr lang="nl-BE" dirty="0"/>
                  <a:t> </a:t>
                </a:r>
                <a:r>
                  <a:rPr lang="nl-BE" dirty="0" err="1"/>
                  <a:t>energie</a:t>
                </a:r>
                <a:r>
                  <a:rPr lang="nl-BE" dirty="0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lvl="1"/>
                <a:r>
                  <a:rPr lang="nl-BE" dirty="0" err="1"/>
                  <a:t>Zwaarte-energie</a:t>
                </a:r>
                <a:r>
                  <a:rPr lang="nl-BE" dirty="0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ar-AE" dirty="0"/>
              </a:p>
              <a:p>
                <a:pPr lvl="1"/>
                <a:r>
                  <a:rPr lang="nl-BE" dirty="0" err="1"/>
                  <a:t>Veerenergie</a:t>
                </a:r>
                <a:r>
                  <a:rPr lang="nl-BE" dirty="0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lvl="1"/>
                <a:r>
                  <a:rPr lang="nl-BE" dirty="0"/>
                  <a:t>Wrijvingsenergie: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 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 .</m:t>
                      </m:r>
                      <m:r>
                        <m:rPr>
                          <m:sty m:val="p"/>
                        </m:rPr>
                        <a:rPr lang="nl-BE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 .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BE" dirty="0"/>
              </a:p>
              <a:p>
                <a:pPr lvl="0"/>
                <a:r>
                  <a:rPr lang="nl-BE" dirty="0" err="1"/>
                  <a:t>Controleer</a:t>
                </a:r>
                <a:r>
                  <a:rPr lang="nl-BE" dirty="0"/>
                  <a:t> of er </a:t>
                </a:r>
                <a:r>
                  <a:rPr lang="nl-BE" b="1" dirty="0" err="1"/>
                  <a:t>energieverlies</a:t>
                </a:r>
                <a:r>
                  <a:rPr lang="nl-BE" dirty="0"/>
                  <a:t> is (</a:t>
                </a:r>
                <a:r>
                  <a:rPr lang="nl-BE" dirty="0" err="1"/>
                  <a:t>bv</a:t>
                </a:r>
                <a:r>
                  <a:rPr lang="nl-BE" dirty="0"/>
                  <a:t>. </a:t>
                </a:r>
                <a:r>
                  <a:rPr lang="nl-BE" dirty="0" err="1"/>
                  <a:t>wrijving</a:t>
                </a:r>
                <a:r>
                  <a:rPr lang="nl-BE" dirty="0"/>
                  <a:t>, </a:t>
                </a:r>
                <a:r>
                  <a:rPr lang="nl-BE" dirty="0" err="1"/>
                  <a:t>luchtweerstand</a:t>
                </a:r>
                <a:r>
                  <a:rPr lang="nl-BE" dirty="0"/>
                  <a:t>).</a:t>
                </a:r>
              </a:p>
              <a:p>
                <a:pPr marL="457200" lvl="1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420936"/>
                <a:ext cx="11609798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 descr="Afbeelding met Lettertype, handschrift, tekst, wit&#10;&#10;Door AI gegenereerde inhoud is mogelijk onjuist.">
            <a:extLst>
              <a:ext uri="{FF2B5EF4-FFF2-40B4-BE49-F238E27FC236}">
                <a16:creationId xmlns:a16="http://schemas.microsoft.com/office/drawing/2014/main" id="{15ED6D39-0AFE-FAB7-A957-A4F9EE1D0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981" y="5721268"/>
            <a:ext cx="1716656" cy="614848"/>
          </a:xfrm>
          <a:prstGeom prst="rect">
            <a:avLst/>
          </a:prstGeom>
        </p:spPr>
      </p:pic>
      <p:pic>
        <p:nvPicPr>
          <p:cNvPr id="7" name="Afbeelding 6" descr="Afbeelding met Lettertype, wit, typografie, ontwerp&#10;&#10;Door AI gegenereerde inhoud is mogelijk onjuist.">
            <a:extLst>
              <a:ext uri="{FF2B5EF4-FFF2-40B4-BE49-F238E27FC236}">
                <a16:creationId xmlns:a16="http://schemas.microsoft.com/office/drawing/2014/main" id="{65C77B16-6E6F-DDC0-FEFC-78965EEDA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981" y="5413425"/>
            <a:ext cx="932548" cy="32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88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Begin- en eindsituatie analyseren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dirty="0"/>
                  <a:t>Voor elk </a:t>
                </a:r>
                <a:r>
                  <a:rPr dirty="0" err="1"/>
                  <a:t>probleem</a:t>
                </a:r>
                <a:r>
                  <a:rPr dirty="0"/>
                  <a:t>:</a:t>
                </a:r>
              </a:p>
              <a:p>
                <a:pPr lvl="1"/>
                <a:r>
                  <a:rPr dirty="0" err="1"/>
                  <a:t>Definieer</a:t>
                </a:r>
                <a:r>
                  <a:rPr dirty="0"/>
                  <a:t> </a:t>
                </a:r>
                <a:r>
                  <a:rPr dirty="0" err="1"/>
                  <a:t>beginsituatie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eindsituatie</a:t>
                </a:r>
                <a:r>
                  <a:rPr dirty="0"/>
                  <a:t>.</a:t>
                </a:r>
                <a:endParaRPr lang="nl-BE" dirty="0"/>
              </a:p>
              <a:p>
                <a:pPr lvl="1"/>
                <a:r>
                  <a:rPr lang="nl-NL" dirty="0"/>
                  <a:t>Noteer welke energievormen aanwezig zijn.</a:t>
                </a:r>
                <a:endParaRPr dirty="0"/>
              </a:p>
              <a:p>
                <a:pPr lvl="1"/>
                <a:r>
                  <a:rPr dirty="0"/>
                  <a:t>Som van alle </a:t>
                </a:r>
                <a:r>
                  <a:rPr dirty="0" err="1"/>
                  <a:t>energievormen</a:t>
                </a:r>
                <a:r>
                  <a:rPr dirty="0"/>
                  <a:t> </a:t>
                </a:r>
                <a:r>
                  <a:rPr dirty="0" err="1"/>
                  <a:t>blijft</a:t>
                </a:r>
                <a:r>
                  <a:rPr dirty="0"/>
                  <a:t> </a:t>
                </a:r>
                <a:r>
                  <a:rPr dirty="0" err="1"/>
                  <a:t>gelijk</a:t>
                </a:r>
                <a:r>
                  <a:rPr dirty="0"/>
                  <a:t>: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/>
                          <m:t>tot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/>
                          <m:t>tot</m:t>
                        </m:r>
                      </m:sub>
                    </m:sSub>
                  </m:oMath>
                </a14:m>
                <a:endParaRPr dirty="0"/>
              </a:p>
              <a:p>
                <a:pPr lvl="0"/>
                <a:r>
                  <a:rPr dirty="0" err="1"/>
                  <a:t>Voorbeeld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+…=</m:t>
                      </m:r>
                      <m:r>
                        <m:rPr>
                          <m:nor/>
                        </m:rPr>
                        <a:rPr/>
                        <m:t>constant</m:t>
                      </m:r>
                    </m:oMath>
                  </m:oMathPara>
                </a14:m>
                <a:endParaRPr lang="nl-BE" dirty="0"/>
              </a:p>
              <a:p>
                <a:r>
                  <a:rPr lang="nl-NL" dirty="0"/>
                  <a:t>Extra energievormen (bv. wrijving, luchtweerstand) maken het model complexer.</a:t>
                </a:r>
              </a:p>
              <a:p>
                <a:pPr lvl="0"/>
                <a:endParaRPr lang="nl-B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914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336" y="-202082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Voorbeeldoefening</a:t>
            </a:r>
            <a:r>
              <a:rPr dirty="0"/>
              <a:t> </a:t>
            </a:r>
            <a:r>
              <a:rPr lang="nl-BE" dirty="0"/>
              <a:t>1</a:t>
            </a:r>
            <a:r>
              <a:rPr dirty="0"/>
              <a:t>: </a:t>
            </a:r>
            <a:r>
              <a:rPr dirty="0" err="1"/>
              <a:t>Vallende</a:t>
            </a:r>
            <a:r>
              <a:rPr dirty="0"/>
              <a:t> </a:t>
            </a:r>
            <a:r>
              <a:rPr dirty="0" err="1"/>
              <a:t>bal</a:t>
            </a:r>
            <a:endParaRPr dirty="0"/>
          </a:p>
        </p:txBody>
      </p:sp>
      <p:pic>
        <p:nvPicPr>
          <p:cNvPr id="7" name="Afbeelding 6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44172A34-69AF-BD6F-049C-74744CB7B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20" y="1009650"/>
            <a:ext cx="10241832" cy="56614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C8BDC-E1CB-AAB4-9648-1051955E9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5F63-8C5D-6F52-25C1-22472467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Voorbeeldoefening</a:t>
            </a:r>
            <a:r>
              <a:rPr dirty="0"/>
              <a:t> </a:t>
            </a:r>
            <a:r>
              <a:rPr lang="nl-BE" dirty="0"/>
              <a:t>2</a:t>
            </a:r>
            <a:r>
              <a:rPr dirty="0"/>
              <a:t>: </a:t>
            </a:r>
            <a:r>
              <a:rPr dirty="0" err="1"/>
              <a:t>Veerpistool</a:t>
            </a:r>
            <a:endParaRPr dirty="0"/>
          </a:p>
        </p:txBody>
      </p:sp>
      <p:pic>
        <p:nvPicPr>
          <p:cNvPr id="4" name="Afbeelding 3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8186C8FE-4293-4CCB-1357-D97BB5626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7" y="1162050"/>
            <a:ext cx="100679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1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4F96ED-5076-4245-FE93-BB714061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EINDE 21/1/26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76F4069-79D9-8ABF-B532-E984741CB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6265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404" y="-158015"/>
            <a:ext cx="11523643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 err="1"/>
              <a:t>Voorbeeldoefening</a:t>
            </a:r>
            <a:r>
              <a:rPr dirty="0"/>
              <a:t> </a:t>
            </a:r>
            <a:r>
              <a:rPr lang="nl-BE" dirty="0"/>
              <a:t>4</a:t>
            </a:r>
            <a:r>
              <a:rPr dirty="0"/>
              <a:t>: Helling met </a:t>
            </a:r>
            <a:r>
              <a:rPr dirty="0" err="1"/>
              <a:t>wrijving</a:t>
            </a:r>
            <a:endParaRPr dirty="0"/>
          </a:p>
        </p:txBody>
      </p:sp>
      <p:pic>
        <p:nvPicPr>
          <p:cNvPr id="7" name="Afbeelding 6" descr="Afbeelding met tekst, schermopname, brief&#10;&#10;Door AI gegenereerde inhoud is mogelijk onjuist.">
            <a:extLst>
              <a:ext uri="{FF2B5EF4-FFF2-40B4-BE49-F238E27FC236}">
                <a16:creationId xmlns:a16="http://schemas.microsoft.com/office/drawing/2014/main" id="{64CD83BF-95AF-F37F-9625-84B7171B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658" y="992459"/>
            <a:ext cx="7948684" cy="57582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014" y="-246150"/>
            <a:ext cx="11942284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 err="1"/>
              <a:t>Voorbeeldoefening</a:t>
            </a:r>
            <a:r>
              <a:rPr dirty="0"/>
              <a:t> </a:t>
            </a:r>
            <a:r>
              <a:rPr lang="nl-BE" dirty="0"/>
              <a:t>5</a:t>
            </a:r>
            <a:r>
              <a:rPr dirty="0"/>
              <a:t>: </a:t>
            </a:r>
            <a:r>
              <a:rPr dirty="0" err="1"/>
              <a:t>Ontsnappingssnelheid</a:t>
            </a:r>
            <a:endParaRPr dirty="0"/>
          </a:p>
        </p:txBody>
      </p:sp>
      <p:pic>
        <p:nvPicPr>
          <p:cNvPr id="6" name="Afbeelding 5" descr="Afbeelding met tekst, schermopname, brief&#10;&#10;Door AI gegenereerde inhoud is mogelijk onjuist.">
            <a:extLst>
              <a:ext uri="{FF2B5EF4-FFF2-40B4-BE49-F238E27FC236}">
                <a16:creationId xmlns:a16="http://schemas.microsoft.com/office/drawing/2014/main" id="{9AB37533-1531-6238-A645-AE6DEF276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938" y="902202"/>
            <a:ext cx="7138124" cy="59000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B8EA6-A597-81CD-82EB-F69920F4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Opdracht 1</a:t>
            </a:r>
          </a:p>
        </p:txBody>
      </p:sp>
      <p:pic>
        <p:nvPicPr>
          <p:cNvPr id="5" name="Afbeelding 4" descr="Afbeelding met tekst, schermopname, Lettertype, algebra&#10;&#10;Door AI gegenereerde inhoud is mogelijk onjuist.">
            <a:extLst>
              <a:ext uri="{FF2B5EF4-FFF2-40B4-BE49-F238E27FC236}">
                <a16:creationId xmlns:a16="http://schemas.microsoft.com/office/drawing/2014/main" id="{8A3EF8EF-CBC1-698F-3B79-AAEA0B908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62" y="1724541"/>
            <a:ext cx="921067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54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4334" y="927101"/>
                <a:ext cx="11609798" cy="6019800"/>
              </a:xfrm>
            </p:spPr>
            <p:txBody>
              <a:bodyPr>
                <a:normAutofit fontScale="62500" lnSpcReduction="20000"/>
              </a:bodyPr>
              <a:lstStyle/>
              <a:p>
                <a:pPr marL="0" lvl="0" indent="0">
                  <a:buNone/>
                </a:pPr>
                <a:r>
                  <a:rPr lang="nl-BE" dirty="0"/>
                  <a:t>Bij </a:t>
                </a:r>
                <a:r>
                  <a:rPr lang="nl-BE" dirty="0" err="1"/>
                  <a:t>vrije</a:t>
                </a:r>
                <a:r>
                  <a:rPr lang="nl-BE" dirty="0"/>
                  <a:t> </a:t>
                </a:r>
                <a:r>
                  <a:rPr lang="nl-BE" dirty="0" err="1"/>
                  <a:t>val</a:t>
                </a:r>
                <a:r>
                  <a:rPr lang="nl-BE" dirty="0"/>
                  <a:t> in </a:t>
                </a:r>
                <a:r>
                  <a:rPr lang="nl-BE" dirty="0" err="1"/>
                  <a:t>vacuüm</a:t>
                </a:r>
                <a:r>
                  <a:rPr lang="nl-BE" dirty="0"/>
                  <a:t> </a:t>
                </a:r>
                <a:r>
                  <a:rPr lang="nl-BE" dirty="0" err="1"/>
                  <a:t>blijft</a:t>
                </a:r>
                <a:r>
                  <a:rPr lang="nl-BE" dirty="0"/>
                  <a:t> de </a:t>
                </a:r>
                <a:r>
                  <a:rPr lang="nl-BE" b="1" dirty="0" err="1"/>
                  <a:t>mechanische</a:t>
                </a:r>
                <a:r>
                  <a:rPr lang="nl-BE" b="1" dirty="0"/>
                  <a:t> </a:t>
                </a:r>
                <a:r>
                  <a:rPr lang="nl-BE" b="1" dirty="0" err="1"/>
                  <a:t>energie</a:t>
                </a:r>
                <a:r>
                  <a:rPr lang="nl-BE" dirty="0"/>
                  <a:t> </a:t>
                </a:r>
                <a:r>
                  <a:rPr lang="nl-BE" dirty="0" err="1"/>
                  <a:t>behouden</a:t>
                </a:r>
                <a:r>
                  <a:rPr lang="nl-BE" dirty="0"/>
                  <a:t>.</a:t>
                </a:r>
              </a:p>
              <a:p>
                <a:pPr marL="0" lvl="0" indent="0">
                  <a:buNone/>
                </a:pPr>
                <a:r>
                  <a:rPr lang="nl-BE" b="1" dirty="0"/>
                  <a:t>Begin (</a:t>
                </a:r>
                <a:r>
                  <a:rPr lang="nl-BE" b="1" dirty="0" err="1"/>
                  <a:t>hoogte</a:t>
                </a:r>
                <a:r>
                  <a:rPr lang="nl-BE" b="1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nl-BE" b="1" dirty="0"/>
                  <a:t>):</a:t>
                </a:r>
                <a:br>
                  <a:rPr lang="nl-BE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  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b="1" dirty="0"/>
                  <a:t>Net </a:t>
                </a:r>
                <a:r>
                  <a:rPr lang="nl-BE" b="1" dirty="0" err="1"/>
                  <a:t>vóór</a:t>
                </a:r>
                <a:r>
                  <a:rPr lang="nl-BE" b="1" dirty="0"/>
                  <a:t> de </a:t>
                </a:r>
                <a:r>
                  <a:rPr lang="nl-BE" b="1" dirty="0" err="1"/>
                  <a:t>botsing</a:t>
                </a:r>
                <a:r>
                  <a:rPr lang="nl-BE" b="1" dirty="0"/>
                  <a:t>:</a:t>
                </a:r>
                <a:br>
                  <a:rPr lang="nl-BE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  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b="1" dirty="0"/>
                  <a:t>Wet van </a:t>
                </a:r>
                <a:r>
                  <a:rPr lang="nl-BE" b="1" dirty="0" err="1"/>
                  <a:t>behoud</a:t>
                </a:r>
                <a:r>
                  <a:rPr lang="nl-BE" b="1" dirty="0"/>
                  <a:t> van </a:t>
                </a:r>
                <a:r>
                  <a:rPr lang="nl-BE" b="1" dirty="0" err="1"/>
                  <a:t>energie</a:t>
                </a:r>
                <a:r>
                  <a:rPr lang="nl-BE" b="1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BE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b="1" dirty="0"/>
              </a:p>
              <a:p>
                <a:pPr marL="0" lvl="0" indent="0">
                  <a:buNone/>
                </a:pPr>
                <a:r>
                  <a:rPr lang="nl-BE" b="1" dirty="0" err="1"/>
                  <a:t>Snelheid</a:t>
                </a:r>
                <a:r>
                  <a:rPr lang="nl-BE" b="1" dirty="0"/>
                  <a:t> </a:t>
                </a:r>
                <a:r>
                  <a:rPr lang="nl-BE" b="1" dirty="0" err="1"/>
                  <a:t>als</a:t>
                </a:r>
                <a:r>
                  <a:rPr lang="nl-BE" b="1" dirty="0"/>
                  <a:t> </a:t>
                </a:r>
                <a:r>
                  <a:rPr lang="nl-BE" b="1" dirty="0" err="1"/>
                  <a:t>functie</a:t>
                </a:r>
                <a:r>
                  <a:rPr lang="nl-BE" b="1" dirty="0"/>
                  <a:t> van </a:t>
                </a:r>
                <a:r>
                  <a:rPr lang="nl-BE" b="1" dirty="0" err="1"/>
                  <a:t>hoogte</a:t>
                </a:r>
                <a:r>
                  <a:rPr lang="nl-BE" b="1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BE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rad>
                    </m:oMath>
                  </m:oMathPara>
                </a14:m>
                <a:endParaRPr lang="ar-AE" b="1" dirty="0"/>
              </a:p>
              <a:p>
                <a:pPr marL="0" lvl="0" indent="0">
                  <a:buNone/>
                </a:pPr>
                <a:r>
                  <a:rPr lang="nl-BE" b="1" dirty="0" err="1"/>
                  <a:t>Voorwaarde</a:t>
                </a:r>
                <a:r>
                  <a:rPr lang="nl-BE" b="1" dirty="0"/>
                  <a:t>: </a:t>
                </a:r>
                <a:r>
                  <a:rPr lang="nl-BE" b="1" dirty="0" err="1"/>
                  <a:t>snelheid</a:t>
                </a:r>
                <a:r>
                  <a:rPr lang="nl-BE" b="1" dirty="0"/>
                  <a:t> </a:t>
                </a:r>
                <a:r>
                  <a:rPr lang="nl-BE" b="1" dirty="0" err="1"/>
                  <a:t>verdubbelen</a:t>
                </a:r>
                <a:endParaRPr lang="nl-BE" b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ar-AE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nl-BE" b="1" dirty="0"/>
              </a:p>
              <a:p>
                <a:pPr marL="0" lvl="0" indent="0">
                  <a:buNone/>
                </a:pPr>
                <a:endParaRPr lang="ar-AE" sz="1600" b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ar-AE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rad>
                    </m:oMath>
                  </m:oMathPara>
                </a14:m>
                <a:endParaRPr lang="nl-BE" b="1" dirty="0"/>
              </a:p>
              <a:p>
                <a:pPr marL="0" lvl="0" indent="0">
                  <a:buNone/>
                </a:pPr>
                <a:endParaRPr lang="ar-AE" sz="700" b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ar-AE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nl-BE" b="0" i="0" smtClean="0">
                          <a:latin typeface="Cambria Math" panose="02040503050406030204" pitchFamily="18" charset="0"/>
                        </a:rPr>
                        <m:t>dus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nl-BE" b="0" i="0" smtClean="0">
                          <a:latin typeface="Cambria Math" panose="02040503050406030204" pitchFamily="18" charset="0"/>
                        </a:rPr>
                        <m:t>antwoord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nl-BE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334" y="927101"/>
                <a:ext cx="11609798" cy="60198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3C41234C-D853-6524-E855-B83423874E1B}"/>
              </a:ext>
            </a:extLst>
          </p:cNvPr>
          <p:cNvSpPr txBox="1">
            <a:spLocks/>
          </p:cNvSpPr>
          <p:nvPr/>
        </p:nvSpPr>
        <p:spPr>
          <a:xfrm>
            <a:off x="631433" y="-2484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nl-BE" dirty="0"/>
              <a:t>Opdracht 1</a:t>
            </a:r>
          </a:p>
        </p:txBody>
      </p:sp>
      <p:pic>
        <p:nvPicPr>
          <p:cNvPr id="7" name="Afbeelding 6" descr="Afbeelding met tekst, schermopname, Lettertype, algebra&#10;&#10;Door AI gegenereerde inhoud is mogelijk onjuist.">
            <a:extLst>
              <a:ext uri="{FF2B5EF4-FFF2-40B4-BE49-F238E27FC236}">
                <a16:creationId xmlns:a16="http://schemas.microsoft.com/office/drawing/2014/main" id="{8E20BFD3-3835-2EDA-5D13-D18684C07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862" y="0"/>
            <a:ext cx="4783138" cy="24682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F8C5A-A02D-DC4F-6E39-4EEE61142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F6AA8-30C5-96AF-D845-6CD72F2C6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Opdracht 2</a:t>
            </a:r>
          </a:p>
        </p:txBody>
      </p:sp>
      <p:pic>
        <p:nvPicPr>
          <p:cNvPr id="5" name="Afbeelding 4" descr="Afbeelding met tekst, lijn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55CBD543-09E9-3F2E-2B96-7474B583D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998" y="1343818"/>
            <a:ext cx="6498004" cy="521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14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925A4-18D5-F7F7-4AB0-E3221474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C42FA-7CA4-5980-ACAE-6EEF228C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Opdracht 2 (= i.p.v. +!)</a:t>
            </a:r>
          </a:p>
        </p:txBody>
      </p:sp>
      <p:pic>
        <p:nvPicPr>
          <p:cNvPr id="5" name="Afbeelding 4" descr="Afbeelding met tekst, lijn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6BD81A4A-EA81-1BF8-B215-AD73AE4D7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25" y="1960763"/>
            <a:ext cx="4520435" cy="3624789"/>
          </a:xfrm>
          <a:prstGeom prst="rect">
            <a:avLst/>
          </a:prstGeom>
        </p:spPr>
      </p:pic>
      <p:pic>
        <p:nvPicPr>
          <p:cNvPr id="4" name="Afbeelding 3" descr="Afbeelding met tekst, ontvangst, Lettertype, wit&#10;&#10;Door AI gegenereerde inhoud is mogelijk onjuist.">
            <a:extLst>
              <a:ext uri="{FF2B5EF4-FFF2-40B4-BE49-F238E27FC236}">
                <a16:creationId xmlns:a16="http://schemas.microsoft.com/office/drawing/2014/main" id="{FC32FD04-E035-03FE-F7E2-5AEEE3556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405" y="1960763"/>
            <a:ext cx="6829270" cy="244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55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3</a:t>
            </a:r>
            <a:endParaRPr lang="nl-NL" altLang="nl-BE" dirty="0"/>
          </a:p>
        </p:txBody>
      </p:sp>
      <p:sp>
        <p:nvSpPr>
          <p:cNvPr id="11776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6" y="2205039"/>
            <a:ext cx="6443663" cy="310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825" y="2205038"/>
            <a:ext cx="1301750" cy="352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61925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3</a:t>
            </a:r>
            <a:endParaRPr lang="nl-NL" altLang="nl-BE" dirty="0"/>
          </a:p>
        </p:txBody>
      </p:sp>
      <p:sp>
        <p:nvSpPr>
          <p:cNvPr id="11981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9318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908050"/>
            <a:ext cx="4392612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663" y="908050"/>
            <a:ext cx="946150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4" y="3068639"/>
            <a:ext cx="385127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4" y="5440364"/>
            <a:ext cx="5508625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125413"/>
            <a:ext cx="8540750" cy="1143000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4</a:t>
            </a:r>
            <a:endParaRPr lang="nl-NL" altLang="nl-BE" dirty="0"/>
          </a:p>
        </p:txBody>
      </p:sp>
      <p:sp>
        <p:nvSpPr>
          <p:cNvPr id="12390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9626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467" y="1513308"/>
            <a:ext cx="8569325" cy="381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00013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4</a:t>
            </a:r>
            <a:endParaRPr lang="nl-NL" altLang="nl-BE" dirty="0"/>
          </a:p>
        </p:txBody>
      </p:sp>
      <p:sp>
        <p:nvSpPr>
          <p:cNvPr id="12288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9728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5" y="4581526"/>
            <a:ext cx="5837238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6" y="908051"/>
            <a:ext cx="7921625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5</a:t>
            </a:r>
            <a:endParaRPr lang="nl-NL" altLang="nl-BE" dirty="0"/>
          </a:p>
        </p:txBody>
      </p:sp>
      <p:sp>
        <p:nvSpPr>
          <p:cNvPr id="13312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10547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700214"/>
            <a:ext cx="5976938" cy="407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664" y="2133600"/>
            <a:ext cx="228282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00013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5</a:t>
            </a:r>
            <a:endParaRPr lang="nl-NL" altLang="nl-BE" dirty="0"/>
          </a:p>
        </p:txBody>
      </p:sp>
      <p:sp>
        <p:nvSpPr>
          <p:cNvPr id="134147" name="Rectangl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1065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1052513"/>
            <a:ext cx="4537075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26" y="1052513"/>
            <a:ext cx="228282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221163"/>
            <a:ext cx="3168650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6" y="4221163"/>
            <a:ext cx="5940425" cy="239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-224116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Wat is </a:t>
            </a:r>
            <a:r>
              <a:rPr dirty="0" err="1"/>
              <a:t>vermogen</a:t>
            </a:r>
            <a:r>
              <a:rPr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1002535"/>
                <a:ext cx="11609798" cy="5761821"/>
              </a:xfrm>
            </p:spPr>
            <p:txBody>
              <a:bodyPr>
                <a:normAutofit fontScale="77500" lnSpcReduction="20000"/>
              </a:bodyPr>
              <a:lstStyle/>
              <a:p>
                <a:pPr lvl="0"/>
                <a:r>
                  <a:rPr dirty="0" err="1"/>
                  <a:t>Vermogen</a:t>
                </a:r>
                <a:r>
                  <a:rPr dirty="0"/>
                  <a:t> </a:t>
                </a:r>
                <a:r>
                  <a:rPr dirty="0" err="1"/>
                  <a:t>geeft</a:t>
                </a:r>
                <a:r>
                  <a:rPr dirty="0"/>
                  <a:t> </a:t>
                </a:r>
                <a:r>
                  <a:rPr dirty="0" err="1"/>
                  <a:t>aan</a:t>
                </a:r>
                <a:r>
                  <a:rPr dirty="0"/>
                  <a:t> </a:t>
                </a:r>
                <a:r>
                  <a:rPr b="1" dirty="0"/>
                  <a:t>hoe </a:t>
                </a:r>
                <a:r>
                  <a:rPr b="1" dirty="0" err="1"/>
                  <a:t>snel</a:t>
                </a:r>
                <a:r>
                  <a:rPr b="1" dirty="0"/>
                  <a:t> </a:t>
                </a:r>
                <a:r>
                  <a:rPr b="1" dirty="0" err="1"/>
                  <a:t>arbeid</a:t>
                </a:r>
                <a:r>
                  <a:rPr b="1" dirty="0"/>
                  <a:t> </a:t>
                </a:r>
                <a:r>
                  <a:rPr b="1" dirty="0" err="1"/>
                  <a:t>wordt</a:t>
                </a:r>
                <a:r>
                  <a:rPr b="1" dirty="0"/>
                  <a:t> </a:t>
                </a:r>
                <a:r>
                  <a:rPr b="1" dirty="0" err="1"/>
                  <a:t>verricht</a:t>
                </a:r>
                <a:r>
                  <a:rPr dirty="0"/>
                  <a:t> of </a:t>
                </a:r>
                <a:r>
                  <a:rPr dirty="0" err="1"/>
                  <a:t>energie</a:t>
                </a:r>
                <a:r>
                  <a:rPr dirty="0"/>
                  <a:t> </a:t>
                </a:r>
                <a:r>
                  <a:rPr dirty="0" err="1"/>
                  <a:t>wordt</a:t>
                </a:r>
                <a:r>
                  <a:rPr dirty="0"/>
                  <a:t> </a:t>
                </a:r>
                <a:r>
                  <a:rPr dirty="0" err="1"/>
                  <a:t>omgezet</a:t>
                </a:r>
                <a:r>
                  <a:rPr dirty="0"/>
                  <a:t>.</a:t>
                </a:r>
              </a:p>
              <a:p>
                <a:pPr lvl="0"/>
                <a:r>
                  <a:rPr dirty="0" err="1"/>
                  <a:t>Definitie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lvl="1"/>
                <a:r>
                  <a:rPr dirty="0" err="1"/>
                  <a:t>waarbij</a:t>
                </a:r>
                <a:r>
                  <a:rPr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sz="23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300" dirty="0"/>
                  <a:t> = </a:t>
                </a:r>
                <a:r>
                  <a:rPr sz="2300" dirty="0" err="1"/>
                  <a:t>vermogen</a:t>
                </a:r>
                <a:r>
                  <a:rPr sz="2300" dirty="0"/>
                  <a:t> (in watt, W)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sz="2300">
                        <a:latin typeface="Cambria Math" panose="02040503050406030204" pitchFamily="18" charset="0"/>
                      </a:rPr>
                      <m:t>𝛥</m:t>
                    </m:r>
                    <m:r>
                      <a:rPr sz="230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300" dirty="0"/>
                  <a:t> = </a:t>
                </a:r>
                <a:r>
                  <a:rPr sz="2300" dirty="0" err="1"/>
                  <a:t>geleverde</a:t>
                </a:r>
                <a:r>
                  <a:rPr sz="2300" dirty="0"/>
                  <a:t> </a:t>
                </a:r>
                <a:r>
                  <a:rPr sz="2300" dirty="0" err="1"/>
                  <a:t>arbeid</a:t>
                </a:r>
                <a:r>
                  <a:rPr sz="2300" dirty="0"/>
                  <a:t> (in joule, J)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sz="2300">
                        <a:latin typeface="Cambria Math" panose="02040503050406030204" pitchFamily="18" charset="0"/>
                      </a:rPr>
                      <m:t>𝛥</m:t>
                    </m:r>
                    <m:r>
                      <a:rPr sz="23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300" dirty="0"/>
                  <a:t> = </a:t>
                </a:r>
                <a:r>
                  <a:rPr sz="2300" dirty="0" err="1"/>
                  <a:t>tijdsduur</a:t>
                </a:r>
                <a:r>
                  <a:rPr sz="2300" dirty="0"/>
                  <a:t> (in </a:t>
                </a:r>
                <a:r>
                  <a:rPr sz="2300" dirty="0" err="1"/>
                  <a:t>seconden</a:t>
                </a:r>
                <a:r>
                  <a:rPr sz="2300" dirty="0"/>
                  <a:t>, s)</a:t>
                </a:r>
              </a:p>
              <a:p>
                <a:pPr lvl="0"/>
                <a:r>
                  <a:rPr dirty="0" err="1"/>
                  <a:t>Vermogen</a:t>
                </a:r>
                <a:r>
                  <a:rPr dirty="0"/>
                  <a:t> is </a:t>
                </a:r>
                <a:r>
                  <a:rPr dirty="0" err="1"/>
                  <a:t>belangrijk</a:t>
                </a:r>
                <a:r>
                  <a:rPr dirty="0"/>
                  <a:t> om </a:t>
                </a:r>
                <a:r>
                  <a:rPr dirty="0" err="1"/>
                  <a:t>prestaties</a:t>
                </a:r>
                <a:r>
                  <a:rPr dirty="0"/>
                  <a:t> van machines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mensen</a:t>
                </a:r>
                <a:r>
                  <a:rPr dirty="0"/>
                  <a:t> </a:t>
                </a:r>
                <a:r>
                  <a:rPr dirty="0" err="1"/>
                  <a:t>te</a:t>
                </a:r>
                <a:r>
                  <a:rPr dirty="0"/>
                  <a:t> </a:t>
                </a:r>
                <a:r>
                  <a:rPr dirty="0" err="1"/>
                  <a:t>vergelijken</a:t>
                </a:r>
                <a:r>
                  <a:rPr dirty="0"/>
                  <a:t>.</a:t>
                </a:r>
              </a:p>
              <a:p>
                <a:pPr lvl="0"/>
                <a:r>
                  <a:rPr dirty="0" err="1"/>
                  <a:t>Voorbeelden</a:t>
                </a:r>
                <a:r>
                  <a:rPr dirty="0"/>
                  <a:t>:</a:t>
                </a:r>
              </a:p>
              <a:p>
                <a:pPr lvl="1"/>
                <a:r>
                  <a:rPr dirty="0"/>
                  <a:t>Een </a:t>
                </a:r>
                <a:r>
                  <a:rPr dirty="0" err="1"/>
                  <a:t>mens</a:t>
                </a:r>
                <a:r>
                  <a:rPr dirty="0"/>
                  <a:t> </a:t>
                </a:r>
                <a:r>
                  <a:rPr dirty="0" err="1"/>
                  <a:t>kan</a:t>
                </a:r>
                <a:r>
                  <a:rPr dirty="0"/>
                  <a:t> </a:t>
                </a:r>
                <a:r>
                  <a:rPr dirty="0" err="1"/>
                  <a:t>enkele</a:t>
                </a:r>
                <a:r>
                  <a:rPr dirty="0"/>
                  <a:t> </a:t>
                </a:r>
                <a:r>
                  <a:rPr dirty="0" err="1"/>
                  <a:t>honderden</a:t>
                </a:r>
                <a:r>
                  <a:rPr dirty="0"/>
                  <a:t> watt </a:t>
                </a:r>
                <a:r>
                  <a:rPr dirty="0" err="1"/>
                  <a:t>leveren</a:t>
                </a:r>
                <a:r>
                  <a:rPr dirty="0"/>
                  <a:t>.</a:t>
                </a:r>
              </a:p>
              <a:p>
                <a:pPr lvl="1"/>
                <a:r>
                  <a:rPr dirty="0"/>
                  <a:t>Een auto- of </a:t>
                </a:r>
                <a:r>
                  <a:rPr dirty="0" err="1"/>
                  <a:t>elektromotor</a:t>
                </a:r>
                <a:r>
                  <a:rPr dirty="0"/>
                  <a:t> </a:t>
                </a:r>
                <a:r>
                  <a:rPr dirty="0" err="1"/>
                  <a:t>levert</a:t>
                </a:r>
                <a:r>
                  <a:rPr dirty="0"/>
                  <a:t> </a:t>
                </a:r>
                <a:r>
                  <a:rPr dirty="0" err="1"/>
                  <a:t>duizenden</a:t>
                </a:r>
                <a:r>
                  <a:rPr dirty="0"/>
                  <a:t> watt (kilowatt).</a:t>
                </a:r>
              </a:p>
              <a:p>
                <a:pPr lvl="0"/>
                <a:r>
                  <a:rPr dirty="0" err="1"/>
                  <a:t>Ogenblikkelijk</a:t>
                </a:r>
                <a:r>
                  <a:rPr dirty="0"/>
                  <a:t> </a:t>
                </a:r>
                <a:r>
                  <a:rPr dirty="0" err="1"/>
                  <a:t>vermogen</a:t>
                </a:r>
                <a:r>
                  <a:rPr dirty="0"/>
                  <a:t>:</a:t>
                </a:r>
                <a:r>
                  <a:rPr lang="nl-BE" dirty="0"/>
                  <a:t> P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(</a:t>
                </a:r>
                <a:r>
                  <a:rPr dirty="0" err="1"/>
                  <a:t>kracht</a:t>
                </a:r>
                <a:r>
                  <a:rPr dirty="0"/>
                  <a:t> × </a:t>
                </a:r>
                <a:r>
                  <a:rPr dirty="0" err="1"/>
                  <a:t>snelheid</a:t>
                </a:r>
                <a:r>
                  <a:rPr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002535"/>
                <a:ext cx="11609798" cy="576182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nl-BE" dirty="0"/>
              <a:t>Vermogen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0"/>
                <a:r>
                  <a:rPr lang="nl-NL" dirty="0"/>
                  <a:t>Eenheid: watt (W), genoemd naar James Watt.</a:t>
                </a:r>
              </a:p>
              <a:p>
                <a:pPr lvl="0"/>
                <a:r>
                  <a:rPr lang="nl-NL" dirty="0"/>
                  <a:t>1 W = 1 J/s</a:t>
                </a:r>
              </a:p>
              <a:p>
                <a:pPr lvl="0"/>
                <a:r>
                  <a:rPr lang="nl-NL" dirty="0"/>
                  <a:t>Gemiddeld v</a:t>
                </a:r>
                <a:r>
                  <a:rPr lang="nl-NL" dirty="0" err="1"/>
                  <a:t>ermogen</a:t>
                </a:r>
                <a:r>
                  <a:rPr lang="nl-NL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lvl="0"/>
                <a:r>
                  <a:rPr lang="nl-NL" dirty="0" err="1"/>
                  <a:t>Ogenblikkelijk</a:t>
                </a:r>
                <a:r>
                  <a:rPr lang="nl-NL" dirty="0"/>
                  <a:t> </a:t>
                </a:r>
                <a:r>
                  <a:rPr lang="nl-NL" dirty="0" err="1"/>
                  <a:t>vermogen</a:t>
                </a:r>
                <a:r>
                  <a:rPr lang="nl-NL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nl-NL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𝑑𝑊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lvl="0"/>
                <a:r>
                  <a:rPr lang="nl-NL" dirty="0" err="1"/>
                  <a:t>Relatie</a:t>
                </a:r>
                <a:r>
                  <a:rPr lang="nl-NL" dirty="0"/>
                  <a:t> met </a:t>
                </a:r>
                <a:r>
                  <a:rPr lang="nl-NL" dirty="0" err="1"/>
                  <a:t>kracht</a:t>
                </a:r>
                <a:r>
                  <a:rPr lang="nl-NL" dirty="0"/>
                  <a:t> </a:t>
                </a:r>
                <a:r>
                  <a:rPr lang="nl-NL" dirty="0" err="1"/>
                  <a:t>en</a:t>
                </a:r>
                <a:r>
                  <a:rPr lang="nl-NL" dirty="0"/>
                  <a:t> </a:t>
                </a:r>
                <a:r>
                  <a:rPr lang="nl-NL" dirty="0" err="1"/>
                  <a:t>snelheid</a:t>
                </a:r>
                <a:r>
                  <a:rPr lang="nl-NL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BE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nl-NL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nl-NL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nl-NL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03" y="-271677"/>
            <a:ext cx="11664594" cy="132556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4000" dirty="0" err="1"/>
              <a:t>Voorbeeldoefening</a:t>
            </a:r>
            <a:r>
              <a:rPr sz="4000" dirty="0"/>
              <a:t> </a:t>
            </a:r>
            <a:r>
              <a:rPr lang="nl-BE" sz="4000" dirty="0"/>
              <a:t>6</a:t>
            </a:r>
            <a:r>
              <a:rPr sz="4000" dirty="0"/>
              <a:t>: </a:t>
            </a:r>
            <a:r>
              <a:rPr sz="4000" dirty="0" err="1"/>
              <a:t>Vermogen</a:t>
            </a:r>
            <a:r>
              <a:rPr sz="4000" dirty="0"/>
              <a:t> </a:t>
            </a:r>
            <a:r>
              <a:rPr sz="4000" dirty="0" err="1"/>
              <a:t>bij</a:t>
            </a:r>
            <a:r>
              <a:rPr sz="4000" dirty="0"/>
              <a:t> </a:t>
            </a:r>
            <a:r>
              <a:rPr sz="4000" dirty="0" err="1"/>
              <a:t>muurklimmen</a:t>
            </a:r>
            <a:endParaRPr sz="4000" dirty="0"/>
          </a:p>
        </p:txBody>
      </p:sp>
      <p:pic>
        <p:nvPicPr>
          <p:cNvPr id="7" name="Afbeelding 6" descr="Afbeelding met tekst, schoeisel, schermopname, persoon&#10;&#10;Door AI gegenereerde inhoud is mogelijk onjuist.">
            <a:extLst>
              <a:ext uri="{FF2B5EF4-FFF2-40B4-BE49-F238E27FC236}">
                <a16:creationId xmlns:a16="http://schemas.microsoft.com/office/drawing/2014/main" id="{6DCFB2A8-C278-F60C-D5B2-FD4A44FEE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471612"/>
            <a:ext cx="10306050" cy="39147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1B2738-20AC-5D9A-F2B2-AC41CF5B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5FFA335-5D2E-ECAD-1B2B-270547023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56019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6 </a:t>
            </a:r>
            <a:endParaRPr lang="nl-NL" altLang="nl-BE" dirty="0"/>
          </a:p>
        </p:txBody>
      </p:sp>
      <p:sp>
        <p:nvSpPr>
          <p:cNvPr id="5120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16113"/>
            <a:ext cx="9144000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6 </a:t>
            </a:r>
            <a:endParaRPr lang="nl-NL" altLang="nl-BE" dirty="0"/>
          </a:p>
        </p:txBody>
      </p:sp>
      <p:sp>
        <p:nvSpPr>
          <p:cNvPr id="4505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16113"/>
            <a:ext cx="9144000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3357564"/>
            <a:ext cx="1592263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588" y="3357563"/>
            <a:ext cx="6659562" cy="114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nl-BE" dirty="0"/>
              <a:t>Opdracht 7 (extra opdracht)</a:t>
            </a:r>
            <a:endParaRPr lang="nl-NL" altLang="nl-BE" dirty="0"/>
          </a:p>
        </p:txBody>
      </p:sp>
      <p:sp>
        <p:nvSpPr>
          <p:cNvPr id="5222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430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84314"/>
            <a:ext cx="9144000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2997200"/>
            <a:ext cx="6911975" cy="359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5625" y="-100013"/>
            <a:ext cx="8540750" cy="1143001"/>
          </a:xfrm>
        </p:spPr>
        <p:txBody>
          <a:bodyPr/>
          <a:lstStyle/>
          <a:p>
            <a:pPr eaLnBrk="1" hangingPunct="1"/>
            <a:r>
              <a:rPr lang="nl-BE" altLang="nl-BE" dirty="0"/>
              <a:t>Opdracht 7</a:t>
            </a:r>
            <a:endParaRPr lang="nl-NL" altLang="nl-BE" dirty="0"/>
          </a:p>
        </p:txBody>
      </p:sp>
      <p:sp>
        <p:nvSpPr>
          <p:cNvPr id="5325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nl-BE" altLang="nl-BE"/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52514"/>
            <a:ext cx="9144000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1" y="2460625"/>
            <a:ext cx="5184775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Toetsdoelen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Op de volgende slide staat een </a:t>
            </a:r>
            <a:r>
              <a:rPr b="1"/>
              <a:t>checklist</a:t>
            </a:r>
            <a:r>
              <a:t> met alle lesdoelen.</a:t>
            </a:r>
          </a:p>
          <a:p>
            <a:pPr lvl="0"/>
            <a:r>
              <a:rPr b="1"/>
              <a:t>Hoe gebruik je die?</a:t>
            </a:r>
          </a:p>
          <a:p>
            <a:pPr lvl="1"/>
            <a:r>
              <a:t>Tijdens het </a:t>
            </a:r>
            <a:r>
              <a:rPr b="1"/>
              <a:t>studeren</a:t>
            </a:r>
            <a:r>
              <a:t>: vink aan wat je begrijpt en zelfstandig kunt toepassen.</a:t>
            </a:r>
          </a:p>
          <a:p>
            <a:pPr lvl="1"/>
            <a:r>
              <a:rPr b="1"/>
              <a:t>Na de toets</a:t>
            </a:r>
            <a:r>
              <a:t>: evalueer jezelf; markeer wat nog herhaling of extra oefening vraagt.</a:t>
            </a:r>
          </a:p>
          <a:p>
            <a:pPr lvl="1"/>
            <a:r>
              <a:rPr b="1"/>
              <a:t>Voor het examen</a:t>
            </a:r>
            <a:r>
              <a:t>: controleer of elk doel behaald is; plan gerichte herhaling.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33" y="-158015"/>
            <a:ext cx="10515600" cy="1325563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Toetsdoelen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39255"/>
              </p:ext>
            </p:extLst>
          </p:nvPr>
        </p:nvGraphicFramePr>
        <p:xfrm>
          <a:off x="141384" y="1035345"/>
          <a:ext cx="1190923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1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Ik </a:t>
                      </a:r>
                      <a:r>
                        <a:rPr dirty="0" err="1"/>
                        <a:t>kan</a:t>
                      </a:r>
                      <a:r>
                        <a:rPr dirty="0"/>
                        <a:t>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Tijdens studeren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Na de toets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Voor examen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uitleggen wat de wet van behoud van energie inhoudt.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toelichten wat een geïsoleerd systeem is en waarom we met modellen werken.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energievormen herkennen en benoemen (Ek, Ez, Ev, wrijving).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een energiebalans opstellen vanuit begin- en eindsituatie.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behoud van energie toepassen op vrije val en het resultaat interpreteren.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behoud van energie toepassen op een veerpistool (veer → hoogte).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de invloed van wrijving op een helling meenemen en de eindsnelheid berekenen.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de formule voor ontsnappingssnelheid gebruiken en duiden.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vermogen definiëren als P = ΔW / Δt en de eenheid (W) correct gebruiken.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het verschil uitleggen tussen gemiddeld vermogen en ogenblikkelijk vermogen.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 de relatie p = F · v toepassen in contexten (bv. constante snelheid, klim).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☐ </a:t>
                      </a:r>
                      <a:r>
                        <a:rPr dirty="0" err="1"/>
                        <a:t>vermogen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berekenen</a:t>
                      </a:r>
                      <a:r>
                        <a:rPr dirty="0"/>
                        <a:t> in </a:t>
                      </a:r>
                      <a:r>
                        <a:rPr dirty="0" err="1"/>
                        <a:t>een</a:t>
                      </a:r>
                      <a:r>
                        <a:rPr dirty="0"/>
                        <a:t> concrete </a:t>
                      </a:r>
                      <a:r>
                        <a:rPr dirty="0" err="1"/>
                        <a:t>situatie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bv</a:t>
                      </a:r>
                      <a:r>
                        <a:rPr dirty="0"/>
                        <a:t>. </a:t>
                      </a:r>
                      <a:r>
                        <a:rPr dirty="0" err="1"/>
                        <a:t>muurklimmen</a:t>
                      </a:r>
                      <a:r>
                        <a:rPr dirty="0"/>
                        <a:t>)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interpreteren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itle and Content ">
  <a:themeElements>
    <a:clrScheme name="Diept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iept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ept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1020</Words>
  <Application>Microsoft Office PowerPoint</Application>
  <PresentationFormat>Breedbeeld</PresentationFormat>
  <Paragraphs>185</Paragraphs>
  <Slides>33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33</vt:i4>
      </vt:variant>
    </vt:vector>
  </HeadingPairs>
  <TitlesOfParts>
    <vt:vector size="37" baseType="lpstr">
      <vt:lpstr>Arial</vt:lpstr>
      <vt:lpstr>Cambria Math</vt:lpstr>
      <vt:lpstr>Corbel</vt:lpstr>
      <vt:lpstr>Title and Content </vt:lpstr>
      <vt:lpstr>Arbeid en Energie</vt:lpstr>
      <vt:lpstr>Overzicht van alle lesdoelen</vt:lpstr>
      <vt:lpstr>Inhoudsopgave</vt:lpstr>
      <vt:lpstr>Behoud van energie</vt:lpstr>
      <vt:lpstr>Geïsoleerd systeem en model</vt:lpstr>
      <vt:lpstr>Wet van behoud van energie in een model</vt:lpstr>
      <vt:lpstr>Toepassing wet van behoud van energie</vt:lpstr>
      <vt:lpstr>Begin- en eindsituatie analyseren</vt:lpstr>
      <vt:lpstr>Voorbeeldoefening 1: Vallende bal</vt:lpstr>
      <vt:lpstr>Voorbeeldoefening 2: Veerpistool</vt:lpstr>
      <vt:lpstr>EINDE 21/1/26 </vt:lpstr>
      <vt:lpstr>Voorbeeldoefening 4: Helling met wrijving</vt:lpstr>
      <vt:lpstr>Voorbeeldoefening 5: Ontsnappingssnelheid</vt:lpstr>
      <vt:lpstr>Opdracht 1</vt:lpstr>
      <vt:lpstr>PowerPoint-presentatie</vt:lpstr>
      <vt:lpstr>Opdracht 2</vt:lpstr>
      <vt:lpstr>Opdracht 2 (= i.p.v. +!)</vt:lpstr>
      <vt:lpstr>Opdracht 3</vt:lpstr>
      <vt:lpstr>Opdracht 3</vt:lpstr>
      <vt:lpstr>Opdracht 4</vt:lpstr>
      <vt:lpstr>Opdracht 4</vt:lpstr>
      <vt:lpstr>Opdracht 5</vt:lpstr>
      <vt:lpstr>Opdracht 5</vt:lpstr>
      <vt:lpstr>Wat is vermogen?</vt:lpstr>
      <vt:lpstr>Vermogen</vt:lpstr>
      <vt:lpstr>Voorbeeldoefening 6: Vermogen bij muurklimmen</vt:lpstr>
      <vt:lpstr>PowerPoint-presentatie</vt:lpstr>
      <vt:lpstr>Opdracht 6 </vt:lpstr>
      <vt:lpstr>Opdracht 6 </vt:lpstr>
      <vt:lpstr>Opdracht 7 (extra opdracht)</vt:lpstr>
      <vt:lpstr>Opdracht 7</vt:lpstr>
      <vt:lpstr>Toetsdoelen</vt:lpstr>
      <vt:lpstr>Toetsdoelen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Diepte</Template>
  <TotalTime>1645</TotalTime>
  <Words>32</Words>
  <Application>Microsoft Office PowerPoint</Application>
  <PresentationFormat>Breedbeeld</PresentationFormat>
  <Paragraphs>11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9" baseType="lpstr">
      <vt:lpstr>Arial</vt:lpstr>
      <vt:lpstr>Corbel</vt:lpstr>
      <vt:lpstr>Title and Content </vt:lpstr>
      <vt:lpstr>Title Slide</vt:lpstr>
      <vt:lpstr>Section Header</vt:lpstr>
      <vt:lpstr>Title and Content</vt:lpstr>
      <vt:lpstr>Two Content</vt:lpstr>
      <vt:lpstr>Comparison Slide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 DE BELIE</dc:creator>
  <cp:keywords/>
  <cp:lastModifiedBy>Koen DE BELIE</cp:lastModifiedBy>
  <cp:revision>2</cp:revision>
  <dcterms:created xsi:type="dcterms:W3CDTF">2026-01-12T13:18:38Z</dcterms:created>
  <dcterms:modified xsi:type="dcterms:W3CDTF">2026-01-27T14:38:43Z</dcterms:modified>
</cp:coreProperties>
</file>