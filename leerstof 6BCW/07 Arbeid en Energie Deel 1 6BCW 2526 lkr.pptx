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62"/>
  </p:notesMasterIdLst>
  <p:sldIdLst>
    <p:sldId id="402" r:id="rId2"/>
    <p:sldId id="403" r:id="rId3"/>
    <p:sldId id="404" r:id="rId4"/>
    <p:sldId id="256" r:id="rId5"/>
    <p:sldId id="257" r:id="rId6"/>
    <p:sldId id="281" r:id="rId7"/>
    <p:sldId id="258" r:id="rId8"/>
    <p:sldId id="259" r:id="rId9"/>
    <p:sldId id="395" r:id="rId10"/>
    <p:sldId id="283" r:id="rId11"/>
    <p:sldId id="282" r:id="rId12"/>
    <p:sldId id="261" r:id="rId13"/>
    <p:sldId id="396" r:id="rId14"/>
    <p:sldId id="397" r:id="rId15"/>
    <p:sldId id="287" r:id="rId16"/>
    <p:sldId id="293" r:id="rId17"/>
    <p:sldId id="263" r:id="rId18"/>
    <p:sldId id="264" r:id="rId19"/>
    <p:sldId id="265" r:id="rId20"/>
    <p:sldId id="266" r:id="rId21"/>
    <p:sldId id="312" r:id="rId22"/>
    <p:sldId id="407" r:id="rId23"/>
    <p:sldId id="267" r:id="rId24"/>
    <p:sldId id="398" r:id="rId25"/>
    <p:sldId id="316" r:id="rId26"/>
    <p:sldId id="317" r:id="rId27"/>
    <p:sldId id="318" r:id="rId28"/>
    <p:sldId id="384" r:id="rId29"/>
    <p:sldId id="319" r:id="rId30"/>
    <p:sldId id="320" r:id="rId31"/>
    <p:sldId id="321" r:id="rId32"/>
    <p:sldId id="324" r:id="rId33"/>
    <p:sldId id="325" r:id="rId34"/>
    <p:sldId id="322" r:id="rId35"/>
    <p:sldId id="389" r:id="rId36"/>
    <p:sldId id="323" r:id="rId37"/>
    <p:sldId id="390" r:id="rId38"/>
    <p:sldId id="269" r:id="rId39"/>
    <p:sldId id="270" r:id="rId40"/>
    <p:sldId id="271" r:id="rId41"/>
    <p:sldId id="272" r:id="rId42"/>
    <p:sldId id="350" r:id="rId43"/>
    <p:sldId id="351" r:id="rId44"/>
    <p:sldId id="273" r:id="rId45"/>
    <p:sldId id="399" r:id="rId46"/>
    <p:sldId id="274" r:id="rId47"/>
    <p:sldId id="344" r:id="rId48"/>
    <p:sldId id="353" r:id="rId49"/>
    <p:sldId id="275" r:id="rId50"/>
    <p:sldId id="400" r:id="rId51"/>
    <p:sldId id="276" r:id="rId52"/>
    <p:sldId id="277" r:id="rId53"/>
    <p:sldId id="278" r:id="rId54"/>
    <p:sldId id="279" r:id="rId55"/>
    <p:sldId id="401" r:id="rId56"/>
    <p:sldId id="339" r:id="rId57"/>
    <p:sldId id="340" r:id="rId58"/>
    <p:sldId id="341" r:id="rId59"/>
    <p:sldId id="405" r:id="rId60"/>
    <p:sldId id="406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B0AAB-3333-45E6-902E-DD4969A4CD2F}" v="1" dt="2026-06-10T07:41:20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77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608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addSld delSld modSld">
      <pc:chgData name="Koen DE BELIE" userId="0b604c76-dc05-41eb-aae4-58be6ad353f8" providerId="ADAL" clId="{A0CAB841-4192-4D5A-AB98-8769508D3B25}" dt="2026-06-10T07:41:20.905" v="225" actId="20577"/>
      <pc:docMkLst>
        <pc:docMk/>
      </pc:docMkLst>
      <pc:sldChg chg="modSp mod">
        <pc:chgData name="Koen DE BELIE" userId="0b604c76-dc05-41eb-aae4-58be6ad353f8" providerId="ADAL" clId="{A0CAB841-4192-4D5A-AB98-8769508D3B25}" dt="2026-06-10T07:41:20.905" v="225" actId="20577"/>
        <pc:sldMkLst>
          <pc:docMk/>
          <pc:sldMk cId="0" sldId="275"/>
        </pc:sldMkLst>
        <pc:spChg chg="mod">
          <ac:chgData name="Koen DE BELIE" userId="0b604c76-dc05-41eb-aae4-58be6ad353f8" providerId="ADAL" clId="{A0CAB841-4192-4D5A-AB98-8769508D3B25}" dt="2026-06-10T07:41:20.905" v="225" actId="20577"/>
          <ac:spMkLst>
            <pc:docMk/>
            <pc:sldMk cId="0" sldId="27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39DD0-91AC-4DD9-AE14-33A97B216B8B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4D4DC-028F-4B8A-801A-A29C0E196DD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43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D4DC-028F-4B8A-801A-A29C0E196DD5}" type="slidenum">
              <a:rPr lang="nl-BE" smtClean="0"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2399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D4DC-028F-4B8A-801A-A29C0E196DD5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172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67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0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499" y="1343818"/>
            <a:ext cx="11609798" cy="527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01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5DAD2-7194-57C4-C960-3809540156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Arbeid en Energie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C9B37D-279F-575B-0986-126A21149C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Deel 1</a:t>
            </a:r>
          </a:p>
        </p:txBody>
      </p:sp>
    </p:spTree>
    <p:extLst>
      <p:ext uri="{BB962C8B-B14F-4D97-AF65-F5344CB8AC3E}">
        <p14:creationId xmlns:p14="http://schemas.microsoft.com/office/powerpoint/2010/main" val="7301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223792"/>
            <a:ext cx="105156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4400" dirty="0" err="1"/>
              <a:t>Overzicht</a:t>
            </a:r>
            <a:r>
              <a:rPr sz="4400" dirty="0"/>
              <a:t> van alle </a:t>
            </a:r>
            <a:r>
              <a:rPr sz="4400" dirty="0" err="1"/>
              <a:t>lesdoelen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499" y="793376"/>
            <a:ext cx="11609798" cy="6064624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dirty="0" err="1"/>
              <a:t>Begrijpen</a:t>
            </a:r>
            <a:r>
              <a:rPr dirty="0"/>
              <a:t> wat </a:t>
            </a:r>
            <a:r>
              <a:rPr dirty="0" err="1"/>
              <a:t>arbeid</a:t>
            </a:r>
            <a:r>
              <a:rPr dirty="0"/>
              <a:t> </a:t>
            </a:r>
            <a:r>
              <a:rPr dirty="0" err="1"/>
              <a:t>betekent</a:t>
            </a:r>
            <a:r>
              <a:rPr dirty="0"/>
              <a:t> in de </a:t>
            </a:r>
            <a:r>
              <a:rPr dirty="0" err="1"/>
              <a:t>fysica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hoe het </a:t>
            </a:r>
            <a:r>
              <a:rPr dirty="0" err="1"/>
              <a:t>verschilt</a:t>
            </a:r>
            <a:r>
              <a:rPr dirty="0"/>
              <a:t> van </a:t>
            </a:r>
            <a:r>
              <a:rPr dirty="0" err="1"/>
              <a:t>alledaags</a:t>
            </a:r>
            <a:r>
              <a:rPr dirty="0"/>
              <a:t> </a:t>
            </a:r>
            <a:r>
              <a:rPr dirty="0" err="1"/>
              <a:t>gebruik</a:t>
            </a:r>
            <a:r>
              <a:rPr dirty="0"/>
              <a:t>.</a:t>
            </a:r>
          </a:p>
          <a:p>
            <a:pPr lvl="0"/>
            <a:r>
              <a:rPr dirty="0"/>
              <a:t>De </a:t>
            </a:r>
            <a:r>
              <a:rPr dirty="0" err="1"/>
              <a:t>formule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</a:t>
            </a:r>
            <a:r>
              <a:rPr dirty="0" err="1"/>
              <a:t>arbeid</a:t>
            </a:r>
            <a:r>
              <a:rPr dirty="0"/>
              <a:t> </a:t>
            </a:r>
            <a:r>
              <a:rPr dirty="0" err="1"/>
              <a:t>bij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kracht</a:t>
            </a:r>
            <a:r>
              <a:rPr dirty="0"/>
              <a:t> </a:t>
            </a:r>
            <a:r>
              <a:rPr dirty="0" err="1"/>
              <a:t>kunnen</a:t>
            </a:r>
            <a:r>
              <a:rPr dirty="0"/>
              <a:t> </a:t>
            </a:r>
            <a:r>
              <a:rPr dirty="0" err="1"/>
              <a:t>toepassen</a:t>
            </a:r>
            <a:r>
              <a:rPr dirty="0"/>
              <a:t>.</a:t>
            </a:r>
          </a:p>
          <a:p>
            <a:pPr lvl="0"/>
            <a:r>
              <a:rPr dirty="0"/>
              <a:t>Het </a:t>
            </a:r>
            <a:r>
              <a:rPr dirty="0" err="1"/>
              <a:t>verband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</a:t>
            </a:r>
            <a:r>
              <a:rPr dirty="0" err="1"/>
              <a:t>kracht</a:t>
            </a:r>
            <a:r>
              <a:rPr dirty="0"/>
              <a:t>, </a:t>
            </a:r>
            <a:r>
              <a:rPr dirty="0" err="1"/>
              <a:t>verplaatsing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hoek</a:t>
            </a:r>
            <a:r>
              <a:rPr dirty="0"/>
              <a:t> </a:t>
            </a:r>
            <a:r>
              <a:rPr dirty="0" err="1"/>
              <a:t>toelichten</a:t>
            </a:r>
            <a:r>
              <a:rPr dirty="0"/>
              <a:t>.</a:t>
            </a:r>
          </a:p>
          <a:p>
            <a:pPr lvl="0"/>
            <a:r>
              <a:rPr dirty="0" err="1"/>
              <a:t>Grafische</a:t>
            </a:r>
            <a:r>
              <a:rPr dirty="0"/>
              <a:t> </a:t>
            </a:r>
            <a:r>
              <a:rPr dirty="0" err="1"/>
              <a:t>interpretatie</a:t>
            </a:r>
            <a:r>
              <a:rPr dirty="0"/>
              <a:t> van </a:t>
            </a:r>
            <a:r>
              <a:rPr dirty="0" err="1"/>
              <a:t>arbeid</a:t>
            </a:r>
            <a:r>
              <a:rPr dirty="0"/>
              <a:t> op </a:t>
            </a:r>
            <a:r>
              <a:rPr dirty="0" err="1"/>
              <a:t>een</a:t>
            </a:r>
            <a:r>
              <a:rPr dirty="0"/>
              <a:t> F–x-diagram </a:t>
            </a:r>
            <a:r>
              <a:rPr dirty="0" err="1"/>
              <a:t>begrijpen</a:t>
            </a:r>
            <a:r>
              <a:rPr dirty="0"/>
              <a:t>.</a:t>
            </a:r>
          </a:p>
          <a:p>
            <a:pPr lvl="0"/>
            <a:r>
              <a:rPr dirty="0"/>
              <a:t>Het </a:t>
            </a:r>
            <a:r>
              <a:rPr dirty="0" err="1"/>
              <a:t>verband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</a:t>
            </a:r>
            <a:r>
              <a:rPr dirty="0" err="1"/>
              <a:t>arbeid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kunnen</a:t>
            </a:r>
            <a:r>
              <a:rPr dirty="0"/>
              <a:t> </a:t>
            </a:r>
            <a:r>
              <a:rPr dirty="0" err="1"/>
              <a:t>uitleggen</a:t>
            </a:r>
            <a:r>
              <a:rPr dirty="0"/>
              <a:t>.</a:t>
            </a:r>
          </a:p>
          <a:p>
            <a:pPr lvl="0"/>
            <a:r>
              <a:rPr dirty="0"/>
              <a:t>Het </a:t>
            </a:r>
            <a:r>
              <a:rPr dirty="0" err="1"/>
              <a:t>arbeid-energiestelling</a:t>
            </a:r>
            <a:r>
              <a:rPr dirty="0"/>
              <a:t> </a:t>
            </a:r>
            <a:r>
              <a:rPr dirty="0" err="1"/>
              <a:t>toepassen</a:t>
            </a:r>
            <a:r>
              <a:rPr dirty="0"/>
              <a:t> op </a:t>
            </a:r>
            <a:r>
              <a:rPr dirty="0" err="1"/>
              <a:t>eenvoudige</a:t>
            </a:r>
            <a:r>
              <a:rPr dirty="0"/>
              <a:t> </a:t>
            </a:r>
            <a:r>
              <a:rPr dirty="0" err="1"/>
              <a:t>situaties</a:t>
            </a:r>
            <a:r>
              <a:rPr dirty="0"/>
              <a:t>.</a:t>
            </a:r>
          </a:p>
          <a:p>
            <a:pPr lvl="0"/>
            <a:r>
              <a:rPr dirty="0" err="1"/>
              <a:t>Kinetische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definiëren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berekenen</a:t>
            </a:r>
            <a:r>
              <a:rPr dirty="0"/>
              <a:t>.</a:t>
            </a:r>
          </a:p>
          <a:p>
            <a:pPr lvl="0"/>
            <a:r>
              <a:rPr dirty="0" err="1"/>
              <a:t>Zwaarte-energie</a:t>
            </a:r>
            <a:r>
              <a:rPr dirty="0"/>
              <a:t> </a:t>
            </a:r>
            <a:r>
              <a:rPr dirty="0" err="1"/>
              <a:t>definiëren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berekenen</a:t>
            </a:r>
            <a:r>
              <a:rPr dirty="0"/>
              <a:t>.</a:t>
            </a:r>
          </a:p>
          <a:p>
            <a:pPr lvl="0"/>
            <a:r>
              <a:rPr dirty="0"/>
              <a:t>Het begrip </a:t>
            </a:r>
            <a:r>
              <a:rPr dirty="0" err="1"/>
              <a:t>referentiehoogte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zwaartepunt</a:t>
            </a:r>
            <a:r>
              <a:rPr dirty="0"/>
              <a:t> </a:t>
            </a:r>
            <a:r>
              <a:rPr dirty="0" err="1"/>
              <a:t>toepassen</a:t>
            </a:r>
            <a:r>
              <a:rPr dirty="0"/>
              <a:t>.</a:t>
            </a:r>
          </a:p>
          <a:p>
            <a:pPr lvl="0"/>
            <a:r>
              <a:rPr dirty="0" err="1"/>
              <a:t>Conservatieve</a:t>
            </a:r>
            <a:r>
              <a:rPr dirty="0"/>
              <a:t> </a:t>
            </a:r>
            <a:r>
              <a:rPr dirty="0" err="1"/>
              <a:t>krachten</a:t>
            </a:r>
            <a:r>
              <a:rPr dirty="0"/>
              <a:t> </a:t>
            </a:r>
            <a:r>
              <a:rPr dirty="0" err="1"/>
              <a:t>onderscheiden</a:t>
            </a:r>
            <a:r>
              <a:rPr dirty="0"/>
              <a:t> van </a:t>
            </a:r>
            <a:r>
              <a:rPr dirty="0" err="1"/>
              <a:t>niet-conservatieve</a:t>
            </a:r>
            <a:r>
              <a:rPr dirty="0"/>
              <a:t> </a:t>
            </a:r>
            <a:r>
              <a:rPr dirty="0" err="1"/>
              <a:t>krachten</a:t>
            </a:r>
            <a:r>
              <a:rPr dirty="0"/>
              <a:t>.</a:t>
            </a:r>
          </a:p>
          <a:p>
            <a:pPr lvl="0"/>
            <a:r>
              <a:rPr dirty="0" err="1"/>
              <a:t>Veerenergie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wrijvingsenergie</a:t>
            </a:r>
            <a:r>
              <a:rPr dirty="0"/>
              <a:t> </a:t>
            </a:r>
            <a:r>
              <a:rPr dirty="0" err="1"/>
              <a:t>kunnen</a:t>
            </a:r>
            <a:r>
              <a:rPr dirty="0"/>
              <a:t> </a:t>
            </a:r>
            <a:r>
              <a:rPr dirty="0" err="1"/>
              <a:t>verklaren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berekenen</a:t>
            </a:r>
            <a:r>
              <a:rPr dirty="0"/>
              <a:t>.</a:t>
            </a:r>
          </a:p>
          <a:p>
            <a:pPr lvl="0"/>
            <a:r>
              <a:rPr dirty="0" err="1"/>
              <a:t>Voorbeelden</a:t>
            </a:r>
            <a:r>
              <a:rPr dirty="0"/>
              <a:t> van </a:t>
            </a:r>
            <a:r>
              <a:rPr dirty="0" err="1"/>
              <a:t>energieomzettingen</a:t>
            </a:r>
            <a:r>
              <a:rPr dirty="0"/>
              <a:t> </a:t>
            </a:r>
            <a:r>
              <a:rPr dirty="0" err="1"/>
              <a:t>herkennen</a:t>
            </a:r>
            <a:r>
              <a:rPr dirty="0"/>
              <a:t>.</a:t>
            </a:r>
          </a:p>
          <a:p>
            <a:pPr lvl="0"/>
            <a:r>
              <a:rPr dirty="0" err="1"/>
              <a:t>Inzicht</a:t>
            </a:r>
            <a:r>
              <a:rPr dirty="0"/>
              <a:t> </a:t>
            </a:r>
            <a:r>
              <a:rPr dirty="0" err="1"/>
              <a:t>krijgen</a:t>
            </a:r>
            <a:r>
              <a:rPr dirty="0"/>
              <a:t> in diverse </a:t>
            </a:r>
            <a:r>
              <a:rPr dirty="0" err="1"/>
              <a:t>energievormen</a:t>
            </a:r>
            <a:r>
              <a:rPr dirty="0"/>
              <a:t> (</a:t>
            </a:r>
            <a:r>
              <a:rPr dirty="0" err="1"/>
              <a:t>chemisch</a:t>
            </a:r>
            <a:r>
              <a:rPr dirty="0"/>
              <a:t>, </a:t>
            </a:r>
            <a:r>
              <a:rPr dirty="0" err="1"/>
              <a:t>elektrisch</a:t>
            </a:r>
            <a:r>
              <a:rPr dirty="0"/>
              <a:t>, </a:t>
            </a:r>
            <a:r>
              <a:rPr dirty="0" err="1"/>
              <a:t>nucleair</a:t>
            </a:r>
            <a:r>
              <a:rPr dirty="0"/>
              <a:t>, </a:t>
            </a:r>
            <a:r>
              <a:rPr dirty="0" err="1"/>
              <a:t>thermisch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Inhoudsopgave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1. Arbeid als fysisch concept</a:t>
            </a:r>
          </a:p>
          <a:p>
            <a:pPr marL="0" lvl="0" indent="0">
              <a:buNone/>
            </a:pPr>
            <a:r>
              <a:t>Definitie, formule, hoek en grafische interpretatie.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Arbeid en energie: kinetische energie</a:t>
            </a:r>
          </a:p>
          <a:p>
            <a:pPr marL="0" lvl="0" indent="0">
              <a:buNone/>
            </a:pPr>
            <a:r>
              <a:t>Arbeid-energiestelling en toepassing op beweging.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3. Potentiële energie en conservatieve krachten</a:t>
            </a:r>
          </a:p>
          <a:p>
            <a:pPr marL="0" lvl="0" indent="0">
              <a:buNone/>
            </a:pPr>
            <a:r>
              <a:t>Zwaarte-energie, referentiehoogte en conservatieve krachten.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4. Andere energievormen en energieomzettingen</a:t>
            </a:r>
          </a:p>
          <a:p>
            <a:pPr marL="0" lvl="0" indent="0">
              <a:buNone/>
            </a:pPr>
            <a:r>
              <a:t>Veerenergie, wrijvingsenergie en overzicht van energievormen.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Van arbeid naar energie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Arbeid is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opstap</a:t>
                </a:r>
                <a:r>
                  <a:rPr dirty="0"/>
                  <a:t> </a:t>
                </a:r>
                <a:r>
                  <a:rPr dirty="0" err="1"/>
                  <a:t>naar</a:t>
                </a:r>
                <a:r>
                  <a:rPr dirty="0"/>
                  <a:t> de </a:t>
                </a:r>
                <a:r>
                  <a:rPr dirty="0" err="1"/>
                  <a:t>definitie</a:t>
                </a:r>
                <a:r>
                  <a:rPr dirty="0"/>
                  <a:t> van </a:t>
                </a:r>
                <a:r>
                  <a:rPr dirty="0" err="1"/>
                  <a:t>energie</a:t>
                </a:r>
                <a:r>
                  <a:rPr dirty="0"/>
                  <a:t>.</a:t>
                </a:r>
              </a:p>
              <a:p>
                <a:pPr lvl="0"/>
                <a:r>
                  <a:rPr i="1" dirty="0" err="1"/>
                  <a:t>Historische</a:t>
                </a:r>
                <a:r>
                  <a:rPr i="1" dirty="0"/>
                  <a:t> context: </a:t>
                </a:r>
                <a:r>
                  <a:rPr i="1" dirty="0" err="1"/>
                  <a:t>Industriële</a:t>
                </a:r>
                <a:r>
                  <a:rPr i="1" dirty="0"/>
                  <a:t> </a:t>
                </a:r>
                <a:r>
                  <a:rPr i="1" dirty="0" err="1"/>
                  <a:t>Revolutie</a:t>
                </a:r>
                <a:r>
                  <a:rPr i="1" dirty="0"/>
                  <a:t> (1760-1840).</a:t>
                </a:r>
              </a:p>
              <a:p>
                <a:pPr lvl="0"/>
                <a:r>
                  <a:rPr dirty="0"/>
                  <a:t>Arbeid </a:t>
                </a:r>
                <a:r>
                  <a:rPr dirty="0" err="1"/>
                  <a:t>combineert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verplaatsing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Symbool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dirty="0"/>
                  <a:t> (work).</a:t>
                </a:r>
              </a:p>
              <a:p>
                <a:pPr lvl="0"/>
                <a:r>
                  <a:rPr dirty="0" err="1"/>
                  <a:t>Eenheid</a:t>
                </a:r>
                <a:r>
                  <a:rPr dirty="0"/>
                  <a:t>: joule (J), </a:t>
                </a:r>
                <a:r>
                  <a:rPr i="1" dirty="0" err="1"/>
                  <a:t>genoemd</a:t>
                </a:r>
                <a:r>
                  <a:rPr i="1" dirty="0"/>
                  <a:t> </a:t>
                </a:r>
                <a:r>
                  <a:rPr i="1" dirty="0" err="1"/>
                  <a:t>naar</a:t>
                </a:r>
                <a:r>
                  <a:rPr i="1" dirty="0"/>
                  <a:t> James Prescott Joule.</a:t>
                </a:r>
              </a:p>
              <a:p>
                <a:pPr lvl="0"/>
                <a:r>
                  <a:rPr dirty="0"/>
                  <a:t>Arbeid is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scalaire</a:t>
                </a:r>
                <a:r>
                  <a:rPr dirty="0"/>
                  <a:t> </a:t>
                </a:r>
                <a:r>
                  <a:rPr dirty="0" err="1"/>
                  <a:t>grootheid</a:t>
                </a:r>
                <a:r>
                  <a:rPr dirty="0"/>
                  <a:t> (</a:t>
                </a:r>
                <a:r>
                  <a:rPr dirty="0" err="1"/>
                  <a:t>geen</a:t>
                </a:r>
                <a:r>
                  <a:rPr dirty="0"/>
                  <a:t> </a:t>
                </a:r>
                <a:r>
                  <a:rPr dirty="0" err="1"/>
                  <a:t>richting</a:t>
                </a:r>
                <a:r>
                  <a:rPr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Definitie van arbeid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Als </a:t>
                </a:r>
                <a:r>
                  <a:rPr lang="nl-BE" dirty="0"/>
                  <a:t>constante </a:t>
                </a:r>
                <a:r>
                  <a:rPr dirty="0" err="1"/>
                  <a:t>kracht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verplaatsing</a:t>
                </a:r>
                <a:r>
                  <a:rPr dirty="0"/>
                  <a:t> </a:t>
                </a:r>
                <a:r>
                  <a:rPr dirty="0" err="1"/>
                  <a:t>dezelfde</a:t>
                </a:r>
                <a:r>
                  <a:rPr dirty="0"/>
                  <a:t> </a:t>
                </a:r>
                <a:r>
                  <a:rPr dirty="0" err="1"/>
                  <a:t>richting</a:t>
                </a:r>
                <a:r>
                  <a:rPr dirty="0"/>
                  <a:t> </a:t>
                </a:r>
                <a:r>
                  <a:rPr dirty="0" err="1"/>
                  <a:t>hebben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lang="nl-BE" dirty="0"/>
                  <a:t>Afleiding van de eenheid:</a:t>
                </a:r>
              </a:p>
              <a:p>
                <a:pPr lvl="0"/>
                <a:endParaRPr lang="nl-BE" dirty="0"/>
              </a:p>
              <a:p>
                <a:pPr lvl="0"/>
                <a:r>
                  <a:rPr dirty="0"/>
                  <a:t>Bij </a:t>
                </a:r>
                <a:r>
                  <a:rPr dirty="0" err="1"/>
                  <a:t>veranderende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Op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/>
                  <a:t>-diagram </a:t>
                </a:r>
                <a:r>
                  <a:rPr dirty="0" err="1"/>
                  <a:t>stelt</a:t>
                </a:r>
                <a:r>
                  <a:rPr dirty="0"/>
                  <a:t> de </a:t>
                </a:r>
                <a:r>
                  <a:rPr dirty="0" err="1"/>
                  <a:t>oppervlakte</a:t>
                </a:r>
                <a:r>
                  <a:rPr dirty="0"/>
                  <a:t> </a:t>
                </a:r>
                <a:r>
                  <a:rPr dirty="0" err="1"/>
                  <a:t>tussen</a:t>
                </a:r>
                <a:r>
                  <a:rPr dirty="0"/>
                  <a:t> de curve </a:t>
                </a:r>
                <a:r>
                  <a:rPr dirty="0" err="1"/>
                  <a:t>en</a:t>
                </a:r>
                <a:r>
                  <a:rPr dirty="0"/>
                  <a:t> de x-as de </a:t>
                </a:r>
                <a:r>
                  <a:rPr dirty="0" err="1"/>
                  <a:t>arbeid</a:t>
                </a:r>
                <a:r>
                  <a:rPr dirty="0"/>
                  <a:t> </a:t>
                </a:r>
                <a:r>
                  <a:rPr dirty="0" err="1"/>
                  <a:t>voor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182B8B4C-DCDC-1B49-56A5-11E9678AA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506" y="2471484"/>
            <a:ext cx="4741862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02336" y="341313"/>
            <a:ext cx="1135075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nl-BE" altLang="nl-BE" sz="4000" dirty="0"/>
              <a:t>Kracht en verplaatsing hebben dezelfde richting</a:t>
            </a:r>
            <a:endParaRPr lang="nl-NL" altLang="nl-BE" sz="4000" dirty="0"/>
          </a:p>
        </p:txBody>
      </p:sp>
      <p:pic>
        <p:nvPicPr>
          <p:cNvPr id="717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09813"/>
            <a:ext cx="9144000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6" y="4419601"/>
            <a:ext cx="23034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4419601"/>
            <a:ext cx="24511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2" y="18255"/>
            <a:ext cx="11794185" cy="13255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4400" dirty="0"/>
              <a:t>Arbeid </a:t>
            </a:r>
            <a:r>
              <a:rPr sz="4400" dirty="0" err="1"/>
              <a:t>en</a:t>
            </a:r>
            <a:r>
              <a:rPr sz="4400" dirty="0"/>
              <a:t> </a:t>
            </a:r>
            <a:r>
              <a:rPr sz="4400" dirty="0" err="1"/>
              <a:t>hoek</a:t>
            </a:r>
            <a:r>
              <a:rPr sz="4400" dirty="0"/>
              <a:t> </a:t>
            </a:r>
            <a:r>
              <a:rPr sz="4400" dirty="0" err="1"/>
              <a:t>tussen</a:t>
            </a:r>
            <a:r>
              <a:rPr sz="4400" dirty="0"/>
              <a:t> </a:t>
            </a:r>
            <a:r>
              <a:rPr lang="nl-BE" sz="4400" dirty="0" err="1"/>
              <a:t>cte</a:t>
            </a:r>
            <a:r>
              <a:rPr lang="nl-BE" sz="4400" dirty="0"/>
              <a:t>. </a:t>
            </a:r>
            <a:r>
              <a:rPr sz="4400" dirty="0" err="1"/>
              <a:t>kracht</a:t>
            </a:r>
            <a:r>
              <a:rPr sz="4400" dirty="0"/>
              <a:t> </a:t>
            </a:r>
            <a:r>
              <a:rPr sz="4400" dirty="0" err="1"/>
              <a:t>en</a:t>
            </a:r>
            <a:r>
              <a:rPr sz="4400" dirty="0"/>
              <a:t> </a:t>
            </a:r>
            <a:r>
              <a:rPr sz="4400" dirty="0" err="1"/>
              <a:t>verplaatsing</a:t>
            </a:r>
            <a:endParaRPr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Alleen de component van de </a:t>
                </a:r>
                <a:r>
                  <a:rPr dirty="0" err="1"/>
                  <a:t>kracht</a:t>
                </a:r>
                <a:r>
                  <a:rPr dirty="0"/>
                  <a:t> in de </a:t>
                </a:r>
                <a:r>
                  <a:rPr dirty="0" err="1"/>
                  <a:t>richting</a:t>
                </a:r>
                <a:r>
                  <a:rPr dirty="0"/>
                  <a:t> van de </a:t>
                </a:r>
                <a:r>
                  <a:rPr dirty="0" err="1"/>
                  <a:t>verplaatsing</a:t>
                </a:r>
                <a:r>
                  <a:rPr dirty="0"/>
                  <a:t> </a:t>
                </a:r>
                <a:r>
                  <a:rPr dirty="0" err="1"/>
                  <a:t>levert</a:t>
                </a:r>
                <a:r>
                  <a:rPr dirty="0"/>
                  <a:t> </a:t>
                </a:r>
                <a:r>
                  <a:rPr dirty="0" err="1"/>
                  <a:t>arbeid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Formule</a:t>
                </a:r>
                <a:r>
                  <a:rPr lang="nl-BE" dirty="0"/>
                  <a:t> (</a:t>
                </a:r>
                <a:r>
                  <a:rPr lang="nl-BE" dirty="0" err="1"/>
                  <a:t>cte.kracht</a:t>
                </a:r>
                <a:r>
                  <a:rPr lang="nl-BE" dirty="0"/>
                  <a:t>)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dirty="0"/>
              </a:p>
              <a:p>
                <a:pPr marL="457200" lvl="1" indent="0">
                  <a:buNone/>
                </a:pPr>
                <a:r>
                  <a:rPr lang="nl-BE" dirty="0"/>
                  <a:t>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 = </a:t>
                </a:r>
                <a:r>
                  <a:rPr dirty="0" err="1"/>
                  <a:t>kleinste</a:t>
                </a:r>
                <a:r>
                  <a:rPr dirty="0"/>
                  <a:t> </a:t>
                </a:r>
                <a:r>
                  <a:rPr dirty="0" err="1"/>
                  <a:t>hoek</a:t>
                </a:r>
                <a:r>
                  <a:rPr dirty="0"/>
                  <a:t> </a:t>
                </a:r>
                <a:r>
                  <a:rPr dirty="0" err="1"/>
                  <a:t>tussen</a:t>
                </a:r>
                <a:r>
                  <a:rPr dirty="0"/>
                  <a:t> </a:t>
                </a:r>
                <a:r>
                  <a:rPr dirty="0" err="1"/>
                  <a:t>krachtvector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verplaatsingsvector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𝛥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endParaRPr dirty="0"/>
              </a:p>
              <a:p>
                <a:pPr lvl="0"/>
                <a:r>
                  <a:rPr dirty="0"/>
                  <a:t>Kracht </a:t>
                </a:r>
                <a:r>
                  <a:rPr dirty="0" err="1"/>
                  <a:t>loodrecht</a:t>
                </a:r>
                <a:r>
                  <a:rPr dirty="0"/>
                  <a:t> op </a:t>
                </a:r>
                <a:r>
                  <a:rPr dirty="0" err="1"/>
                  <a:t>verplaatsing</a:t>
                </a:r>
                <a:r>
                  <a:rPr dirty="0"/>
                  <a:t> → </a:t>
                </a:r>
                <a:r>
                  <a:rPr dirty="0" err="1"/>
                  <a:t>geen</a:t>
                </a:r>
                <a:r>
                  <a:rPr dirty="0"/>
                  <a:t> </a:t>
                </a:r>
                <a:r>
                  <a:rPr dirty="0" err="1"/>
                  <a:t>arbeid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Hoek &gt; 90° → </a:t>
                </a:r>
                <a:r>
                  <a:rPr dirty="0" err="1"/>
                  <a:t>negatieve</a:t>
                </a:r>
                <a:r>
                  <a:rPr dirty="0"/>
                  <a:t> </a:t>
                </a:r>
                <a:r>
                  <a:rPr dirty="0" err="1"/>
                  <a:t>arbeid</a:t>
                </a:r>
                <a:r>
                  <a:rPr dirty="0"/>
                  <a:t> (</a:t>
                </a:r>
                <a:r>
                  <a:rPr dirty="0" err="1"/>
                  <a:t>kracht</a:t>
                </a:r>
                <a:r>
                  <a:rPr dirty="0"/>
                  <a:t> </a:t>
                </a:r>
                <a:r>
                  <a:rPr dirty="0" err="1"/>
                  <a:t>slorpt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 op).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Vectoriële beschrijving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nl-BE" dirty="0"/>
                  <a:t>V</a:t>
                </a:r>
                <a:r>
                  <a:rPr dirty="0" err="1"/>
                  <a:t>ectornotatie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Scala</a:t>
                </a:r>
                <a:r>
                  <a:rPr lang="nl-BE" dirty="0"/>
                  <a:t>i</a:t>
                </a:r>
                <a:r>
                  <a:rPr dirty="0"/>
                  <a:t>r product: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acc>
                            <m:accPr>
                              <m:chr m:val="⃗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1</a:t>
            </a:r>
            <a:endParaRPr lang="nl-NL" altLang="nl-BE" dirty="0"/>
          </a:p>
        </p:txBody>
      </p:sp>
      <p:sp>
        <p:nvSpPr>
          <p:cNvPr id="3174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9138"/>
            <a:ext cx="9144000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26988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1</a:t>
            </a:r>
            <a:endParaRPr lang="nl-NL" altLang="nl-BE" dirty="0"/>
          </a:p>
        </p:txBody>
      </p:sp>
      <p:sp>
        <p:nvSpPr>
          <p:cNvPr id="3277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68413"/>
            <a:ext cx="9144000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3429001"/>
            <a:ext cx="4781550" cy="269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947A-397F-14CB-F439-0A489B06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2CE5-2A3B-6F03-87FA-53786550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Grafische interpretatie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864C10-2237-A21C-34F2-13BC2BC43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nl-BE" dirty="0"/>
                  <a:t>Bij constante </a:t>
                </a:r>
                <a:r>
                  <a:rPr lang="nl-BE" dirty="0" err="1"/>
                  <a:t>kracht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  <a:p>
                <a:pPr lvl="0"/>
                <a:r>
                  <a:rPr lang="nl-BE" dirty="0" err="1"/>
                  <a:t>Oppervlakte</a:t>
                </a:r>
                <a:r>
                  <a:rPr lang="nl-BE" dirty="0"/>
                  <a:t> </a:t>
                </a:r>
                <a:r>
                  <a:rPr lang="nl-BE" dirty="0" err="1"/>
                  <a:t>onder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-</a:t>
                </a:r>
                <a:r>
                  <a:rPr lang="nl-BE" dirty="0"/>
                  <a:t>curve = </a:t>
                </a:r>
                <a:r>
                  <a:rPr lang="nl-BE" dirty="0" err="1"/>
                  <a:t>arbeid</a:t>
                </a:r>
                <a:r>
                  <a:rPr lang="nl-BE" dirty="0"/>
                  <a:t>.</a:t>
                </a:r>
              </a:p>
              <a:p>
                <a:pPr lvl="0"/>
                <a:r>
                  <a:rPr lang="nl-BE" dirty="0" err="1"/>
                  <a:t>Negatieve</a:t>
                </a:r>
                <a:r>
                  <a:rPr lang="nl-BE" dirty="0"/>
                  <a:t> </a:t>
                </a:r>
                <a:r>
                  <a:rPr lang="nl-BE" dirty="0" err="1"/>
                  <a:t>oppervlakte</a:t>
                </a:r>
                <a:r>
                  <a:rPr lang="nl-BE" dirty="0"/>
                  <a:t> → </a:t>
                </a:r>
                <a:r>
                  <a:rPr lang="nl-BE" dirty="0" err="1"/>
                  <a:t>negatieve</a:t>
                </a:r>
                <a:r>
                  <a:rPr lang="nl-BE" dirty="0"/>
                  <a:t> </a:t>
                </a:r>
                <a:r>
                  <a:rPr lang="nl-BE" dirty="0" err="1"/>
                  <a:t>arbeid</a:t>
                </a:r>
                <a:r>
                  <a:rPr lang="nl-BE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864C10-2237-A21C-34F2-13BC2BC43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ABD526C3-3CDD-7379-6F0A-BD80700BB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422" y="4046633"/>
            <a:ext cx="3189155" cy="256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81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Grafische interpretatie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dirty="0"/>
                  <a:t>Bij </a:t>
                </a:r>
                <a:r>
                  <a:rPr dirty="0" err="1"/>
                  <a:t>veranderlijke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Oppervlakte</a:t>
                </a:r>
                <a:r>
                  <a:rPr dirty="0"/>
                  <a:t> </a:t>
                </a:r>
                <a:r>
                  <a:rPr dirty="0" err="1"/>
                  <a:t>onder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/>
                  <a:t>-curve = </a:t>
                </a:r>
                <a:r>
                  <a:rPr dirty="0" err="1"/>
                  <a:t>arbeid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Negatieve</a:t>
                </a:r>
                <a:r>
                  <a:rPr dirty="0"/>
                  <a:t> </a:t>
                </a:r>
                <a:r>
                  <a:rPr dirty="0" err="1"/>
                  <a:t>oppervlakte</a:t>
                </a:r>
                <a:r>
                  <a:rPr dirty="0"/>
                  <a:t> → </a:t>
                </a:r>
                <a:r>
                  <a:rPr dirty="0" err="1"/>
                  <a:t>negatieve</a:t>
                </a:r>
                <a:r>
                  <a:rPr dirty="0"/>
                  <a:t> </a:t>
                </a:r>
                <a:r>
                  <a:rPr dirty="0" err="1"/>
                  <a:t>arbeid</a:t>
                </a:r>
                <a:r>
                  <a:rPr dirty="0"/>
                  <a:t>.</a:t>
                </a:r>
                <a:endParaRPr lang="nl-BE" dirty="0"/>
              </a:p>
              <a:p>
                <a:pPr lvl="0"/>
                <a:endParaRPr lang="nl-NL" dirty="0"/>
              </a:p>
              <a:p>
                <a:pPr lvl="0"/>
                <a:endParaRPr lang="nl-NL" dirty="0"/>
              </a:p>
              <a:p>
                <a:pPr marL="0" lvl="0" indent="0">
                  <a:buNone/>
                </a:pPr>
                <a:r>
                  <a:rPr lang="nl-NL" dirty="0"/>
                  <a:t>OPMERKING: hoe smaller de rechthoekjes, hoe beter</a:t>
                </a:r>
                <a:br>
                  <a:rPr lang="nl-NL" dirty="0"/>
                </a:br>
                <a:r>
                  <a:rPr lang="nl-NL" dirty="0"/>
                  <a:t>deze samen de georiënteerd opp. tussen curve en </a:t>
                </a:r>
                <a:br>
                  <a:rPr lang="nl-NL" dirty="0"/>
                </a:br>
                <a:r>
                  <a:rPr lang="nl-NL" dirty="0"/>
                  <a:t>horizontale </a:t>
                </a:r>
                <a:r>
                  <a:rPr lang="nl-NL" dirty="0" err="1"/>
                  <a:t>asgaan</a:t>
                </a:r>
                <a:r>
                  <a:rPr lang="nl-NL" dirty="0"/>
                  <a:t> benaderen.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diagram, lijn, Perceel&#10;&#10;Door AI gegenereerde inhoud is mogelijk onjuist.">
            <a:extLst>
              <a:ext uri="{FF2B5EF4-FFF2-40B4-BE49-F238E27FC236}">
                <a16:creationId xmlns:a16="http://schemas.microsoft.com/office/drawing/2014/main" id="{B5175BD1-0E13-9668-38DC-DA27AEF6D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986" y="241443"/>
            <a:ext cx="2691829" cy="6272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40F815-E4C3-9DEE-4E4B-854C4AB3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414217"/>
            <a:ext cx="11704320" cy="1143000"/>
          </a:xfrm>
        </p:spPr>
        <p:txBody>
          <a:bodyPr>
            <a:normAutofit fontScale="90000"/>
          </a:bodyPr>
          <a:lstStyle/>
          <a:p>
            <a:r>
              <a:rPr lang="nl-BE" sz="4900" dirty="0"/>
              <a:t>Voorbeeldoefening 1:</a:t>
            </a:r>
            <a:br>
              <a:rPr lang="nl-BE" sz="4400" dirty="0"/>
            </a:br>
            <a:r>
              <a:rPr lang="nl-BE" sz="3100" dirty="0"/>
              <a:t>De arbeid bepalen bij het uitrekken van een veer door veranderlijke krachten</a:t>
            </a:r>
            <a:br>
              <a:rPr lang="nl-BE" dirty="0"/>
            </a:br>
            <a:endParaRPr lang="nl-BE" dirty="0"/>
          </a:p>
        </p:txBody>
      </p:sp>
      <p:pic>
        <p:nvPicPr>
          <p:cNvPr id="9" name="Afbeelding 8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8EB4F034-F3C8-744F-9E29-42AAC875D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8" y="1556793"/>
            <a:ext cx="88106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91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9D00-0C3F-5393-EFAC-FA47CF69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9382D-F6C5-F16F-AB10-906CF63D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442384"/>
            <a:ext cx="11753088" cy="1143000"/>
          </a:xfrm>
        </p:spPr>
        <p:txBody>
          <a:bodyPr>
            <a:normAutofit fontScale="90000"/>
          </a:bodyPr>
          <a:lstStyle/>
          <a:p>
            <a:r>
              <a:rPr lang="nl-BE" sz="4900" dirty="0"/>
              <a:t>Voorbeeldoefening 2:</a:t>
            </a:r>
            <a:br>
              <a:rPr lang="nl-BE" sz="4400" dirty="0"/>
            </a:br>
            <a:r>
              <a:rPr lang="nl-BE" sz="3100" dirty="0"/>
              <a:t>De arbeid bepalen bij een gas dat uitzet</a:t>
            </a:r>
            <a:br>
              <a:rPr lang="nl-BE" dirty="0"/>
            </a:br>
            <a:endParaRPr lang="nl-BE" dirty="0"/>
          </a:p>
        </p:txBody>
      </p:sp>
      <p:pic>
        <p:nvPicPr>
          <p:cNvPr id="4" name="Afbeelding 3" descr="Afbeelding met tekst, schermopname, ballon, brief&#10;&#10;Door AI gegenereerde inhoud is mogelijk onjuist.">
            <a:extLst>
              <a:ext uri="{FF2B5EF4-FFF2-40B4-BE49-F238E27FC236}">
                <a16:creationId xmlns:a16="http://schemas.microsoft.com/office/drawing/2014/main" id="{817DA6B8-68D0-799E-7C9A-02FE1386E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7" y="1700808"/>
            <a:ext cx="89921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78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46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2 </a:t>
            </a:r>
            <a:endParaRPr lang="nl-NL" altLang="nl-BE" dirty="0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1628775"/>
            <a:ext cx="4533900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1628776"/>
            <a:ext cx="3441700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46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2 (BC)</a:t>
            </a:r>
            <a:endParaRPr lang="nl-NL" altLang="nl-BE" dirty="0"/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1052513"/>
            <a:ext cx="3600450" cy="235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052514"/>
            <a:ext cx="2736850" cy="235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3573463"/>
            <a:ext cx="7488238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Energie door arbeid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Arbeid </a:t>
                </a:r>
                <a:r>
                  <a:rPr dirty="0" err="1"/>
                  <a:t>geleverd</a:t>
                </a:r>
                <a:r>
                  <a:rPr dirty="0"/>
                  <a:t> door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 </a:t>
                </a:r>
                <a:r>
                  <a:rPr dirty="0" err="1"/>
                  <a:t>verandert</a:t>
                </a:r>
                <a:r>
                  <a:rPr dirty="0"/>
                  <a:t> de </a:t>
                </a:r>
                <a:r>
                  <a:rPr dirty="0" err="1"/>
                  <a:t>energie</a:t>
                </a:r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systeem</a:t>
                </a:r>
                <a:r>
                  <a:rPr dirty="0"/>
                  <a:t>.</a:t>
                </a:r>
              </a:p>
              <a:p>
                <a:pPr lvl="0"/>
                <a:r>
                  <a:rPr lang="nl-BE" dirty="0"/>
                  <a:t>In formulevorm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=∫</m:t>
                      </m:r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Energie </a:t>
                </a:r>
                <a:r>
                  <a:rPr dirty="0" err="1"/>
                  <a:t>heeft</a:t>
                </a:r>
                <a:r>
                  <a:rPr dirty="0"/>
                  <a:t> </a:t>
                </a:r>
                <a:r>
                  <a:rPr dirty="0" err="1"/>
                  <a:t>dezelfde</a:t>
                </a:r>
                <a:r>
                  <a:rPr dirty="0"/>
                  <a:t> </a:t>
                </a:r>
                <a:r>
                  <a:rPr dirty="0" err="1"/>
                  <a:t>eenheid</a:t>
                </a:r>
                <a:r>
                  <a:rPr dirty="0"/>
                  <a:t> </a:t>
                </a:r>
                <a:r>
                  <a:rPr dirty="0" err="1"/>
                  <a:t>als</a:t>
                </a:r>
                <a:r>
                  <a:rPr dirty="0"/>
                  <a:t> </a:t>
                </a:r>
                <a:r>
                  <a:rPr dirty="0" err="1"/>
                  <a:t>arbeid</a:t>
                </a:r>
                <a:r>
                  <a:rPr dirty="0"/>
                  <a:t>: joule (J).</a:t>
                </a:r>
              </a:p>
              <a:p>
                <a:pPr lvl="0"/>
                <a:r>
                  <a:rPr dirty="0"/>
                  <a:t>Energie is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scalaire</a:t>
                </a:r>
                <a:r>
                  <a:rPr dirty="0"/>
                  <a:t> </a:t>
                </a:r>
                <a:r>
                  <a:rPr dirty="0" err="1"/>
                  <a:t>grootheid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102" y="-115857"/>
            <a:ext cx="11730210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Theorema</a:t>
            </a:r>
            <a:r>
              <a:rPr dirty="0"/>
              <a:t> </a:t>
            </a:r>
            <a:r>
              <a:rPr dirty="0" err="1"/>
              <a:t>arbeid-energie</a:t>
            </a:r>
            <a:r>
              <a:rPr lang="nl-BE" dirty="0"/>
              <a:t>: kinetische energie</a:t>
            </a:r>
            <a:br>
              <a:rPr lang="nl-BE" dirty="0"/>
            </a:br>
            <a:r>
              <a:rPr lang="nl-BE" sz="2700" i="1" dirty="0">
                <a:solidFill>
                  <a:srgbClr val="FFFF00"/>
                </a:solidFill>
              </a:rPr>
              <a:t>(afleiding wordt niet op toets gevraagd, kan wel op examen gevraagd worden)</a:t>
            </a:r>
            <a:endParaRPr i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1101" y="965866"/>
                <a:ext cx="11609798" cy="5272739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nl-BE" sz="2400" dirty="0"/>
                  <a:t>Volgens Newton: </a:t>
                </a:r>
                <a:r>
                  <a:rPr lang="nl-BE" sz="2400" dirty="0" err="1"/>
                  <a:t>resulterende</a:t>
                </a:r>
                <a:r>
                  <a:rPr lang="nl-BE" sz="2400" dirty="0"/>
                  <a:t> </a:t>
                </a:r>
                <a:r>
                  <a:rPr lang="nl-BE" sz="2400" dirty="0" err="1"/>
                  <a:t>kracht</a:t>
                </a:r>
                <a:r>
                  <a:rPr lang="nl-BE" sz="2400" dirty="0"/>
                  <a:t> </a:t>
                </a:r>
                <a:r>
                  <a:rPr lang="nl-BE" sz="2400" dirty="0" err="1"/>
                  <a:t>veroorzaakt</a:t>
                </a:r>
                <a:r>
                  <a:rPr lang="nl-BE" sz="2400" dirty="0"/>
                  <a:t> </a:t>
                </a:r>
                <a:r>
                  <a:rPr lang="nl-BE" sz="2400" dirty="0" err="1"/>
                  <a:t>versnelling</a:t>
                </a:r>
                <a:r>
                  <a:rPr lang="nl-BE" sz="2400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 sz="2400">
                          <a:latin typeface="Cambria Math" panose="02040503050406030204" pitchFamily="18" charset="0"/>
                        </a:rPr>
                        <m:t>∑</m:t>
                      </m:r>
                      <m:acc>
                        <m:accPr>
                          <m:chr m:val="⃗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ar-AE" sz="2400" dirty="0"/>
              </a:p>
              <a:p>
                <a:pPr lvl="0"/>
                <a:r>
                  <a:rPr lang="nl-BE" sz="2400" dirty="0"/>
                  <a:t>definitie van arbeid:              </a:t>
                </a:r>
                <a14:m>
                  <m:oMath xmlns:m="http://schemas.openxmlformats.org/officeDocument/2006/math">
                    <m:r>
                      <a:rPr lang="nl-BE" sz="2400">
                        <a:latin typeface="Cambria Math" panose="02040503050406030204" pitchFamily="18" charset="0"/>
                      </a:rPr>
                      <m:t>𝑊</m:t>
                    </m:r>
                    <m:r>
                      <a:rPr lang="nl-BE" sz="2400">
                        <a:latin typeface="Cambria Math" panose="02040503050406030204" pitchFamily="18" charset="0"/>
                      </a:rPr>
                      <m:t>=∫</m:t>
                    </m:r>
                    <m:acc>
                      <m:accPr>
                        <m:chr m:val="⃗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ar-AE" sz="2400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endParaRPr lang="ar-AE" sz="2800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101" y="965866"/>
                <a:ext cx="11609798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tekst, handschrift, Lettertype, nummer&#10;&#10;Door AI gegenereerde inhoud is mogelijk onjuist.">
            <a:extLst>
              <a:ext uri="{FF2B5EF4-FFF2-40B4-BE49-F238E27FC236}">
                <a16:creationId xmlns:a16="http://schemas.microsoft.com/office/drawing/2014/main" id="{2E4D4622-F557-1C0E-240C-3593ABBD7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857" y="2413349"/>
            <a:ext cx="4954933" cy="43155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Kinetische energie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 err="1"/>
                  <a:t>Definitie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Eigenschappen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Altijd</a:t>
                </a:r>
                <a:r>
                  <a:rPr dirty="0"/>
                  <a:t> </a:t>
                </a:r>
                <a:r>
                  <a:rPr dirty="0" err="1"/>
                  <a:t>positief</a:t>
                </a:r>
                <a:r>
                  <a:rPr dirty="0"/>
                  <a:t>.</a:t>
                </a:r>
              </a:p>
              <a:p>
                <a:pPr lvl="1"/>
                <a:r>
                  <a:rPr dirty="0" err="1"/>
                  <a:t>Afhankelijk</a:t>
                </a:r>
                <a:r>
                  <a:rPr dirty="0"/>
                  <a:t> van </a:t>
                </a:r>
                <a:r>
                  <a:rPr dirty="0" err="1"/>
                  <a:t>massa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snelheid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dirty="0"/>
                  <a:t>.</a:t>
                </a:r>
              </a:p>
              <a:p>
                <a:pPr lvl="0"/>
                <a:r>
                  <a:rPr dirty="0"/>
                  <a:t>Als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,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Interpretatie van het theorema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Arbeid </a:t>
                </a:r>
                <a:r>
                  <a:rPr dirty="0" err="1"/>
                  <a:t>geleverd</a:t>
                </a:r>
                <a:r>
                  <a:rPr dirty="0"/>
                  <a:t> door de </a:t>
                </a:r>
                <a:r>
                  <a:rPr dirty="0" err="1"/>
                  <a:t>resulterende</a:t>
                </a:r>
                <a:r>
                  <a:rPr dirty="0"/>
                  <a:t> </a:t>
                </a:r>
                <a:r>
                  <a:rPr dirty="0" err="1"/>
                  <a:t>kracht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Voorbeeldsituatie</a:t>
                </a:r>
                <a:r>
                  <a:rPr dirty="0"/>
                  <a:t>:</a:t>
                </a:r>
              </a:p>
              <a:p>
                <a:pPr lvl="1"/>
                <a:r>
                  <a:rPr dirty="0"/>
                  <a:t>Trappen </a:t>
                </a:r>
                <a:r>
                  <a:rPr dirty="0" err="1"/>
                  <a:t>tegen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bal</a:t>
                </a:r>
                <a:r>
                  <a:rPr dirty="0"/>
                  <a:t> </a:t>
                </a:r>
                <a:r>
                  <a:rPr dirty="0" err="1"/>
                  <a:t>verhoogt</a:t>
                </a:r>
                <a:r>
                  <a:rPr dirty="0"/>
                  <a:t> </a:t>
                </a:r>
                <a:r>
                  <a:rPr dirty="0" err="1"/>
                  <a:t>zijn</a:t>
                </a:r>
                <a:r>
                  <a:rPr dirty="0"/>
                  <a:t> </a:t>
                </a:r>
                <a:r>
                  <a:rPr dirty="0" err="1"/>
                  <a:t>kinetische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53975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Theorema arbeid-energie</a:t>
            </a:r>
            <a:endParaRPr lang="nl-NL" altLang="nl-BE" dirty="0"/>
          </a:p>
        </p:txBody>
      </p:sp>
      <p:sp>
        <p:nvSpPr>
          <p:cNvPr id="655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72353" y="3349625"/>
            <a:ext cx="7007972" cy="3175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nl-BE" altLang="nl-BE" dirty="0"/>
              <a:t>Positieve arbeid:</a:t>
            </a:r>
          </a:p>
          <a:p>
            <a:pPr lvl="1" eaLnBrk="1" hangingPunct="1">
              <a:lnSpc>
                <a:spcPct val="90000"/>
              </a:lnSpc>
            </a:pPr>
            <a:r>
              <a:rPr lang="nl-BE" altLang="nl-BE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nl-BE" altLang="nl-BE" dirty="0"/>
              <a:t>snelheid neemt toe.</a:t>
            </a:r>
          </a:p>
          <a:p>
            <a:pPr eaLnBrk="1" hangingPunct="1">
              <a:lnSpc>
                <a:spcPct val="90000"/>
              </a:lnSpc>
            </a:pPr>
            <a:r>
              <a:rPr lang="nl-BE" altLang="nl-BE" dirty="0"/>
              <a:t>Negatieve arbeid:</a:t>
            </a:r>
          </a:p>
          <a:p>
            <a:pPr lvl="1" eaLnBrk="1" hangingPunct="1">
              <a:lnSpc>
                <a:spcPct val="90000"/>
              </a:lnSpc>
            </a:pPr>
            <a:r>
              <a:rPr lang="nl-BE" altLang="nl-BE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nl-BE" altLang="nl-BE" dirty="0"/>
              <a:t>snelheid neemt af.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nl-NL" altLang="nl-BE" dirty="0"/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1341438"/>
            <a:ext cx="3240087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715" y="3791092"/>
            <a:ext cx="13684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715" y="5497139"/>
            <a:ext cx="12239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4" y="1844675"/>
            <a:ext cx="2808287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A76BD-2195-3B2D-CE39-87B6962F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7/1/25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0B5E81A-206E-3D71-FDFE-53A77CB56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8423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Belang van resulterende kracht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/>
                          <m:t>res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 → geen verandering in kinetische energie.</a:t>
                </a:r>
              </a:p>
              <a:p>
                <a:pPr lvl="0"/>
                <a:r>
                  <a:t>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/>
                          <m:t>res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 → snelheid en kinetische energie veranderen.</a:t>
                </a:r>
              </a:p>
              <a:p>
                <a:pPr lvl="0"/>
                <a:r>
                  <a:t>Toepassing: helling opduwen, versnellen, vertragen.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272A-77F2-6D49-5833-834FE767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941EF-5843-EC61-2B92-B5EEB29D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442384"/>
            <a:ext cx="11753088" cy="1143000"/>
          </a:xfrm>
        </p:spPr>
        <p:txBody>
          <a:bodyPr>
            <a:normAutofit fontScale="90000"/>
          </a:bodyPr>
          <a:lstStyle/>
          <a:p>
            <a:r>
              <a:rPr lang="nl-BE" sz="4900" dirty="0"/>
              <a:t>Voorbeeldoefening 3:</a:t>
            </a:r>
            <a:br>
              <a:rPr lang="nl-BE" sz="4400" dirty="0"/>
            </a:br>
            <a:r>
              <a:rPr lang="nl-BE" sz="3100" dirty="0"/>
              <a:t>De snelheid bepalen van een bal bij het trappen</a:t>
            </a:r>
            <a:br>
              <a:rPr lang="nl-BE" dirty="0"/>
            </a:br>
            <a:endParaRPr lang="nl-BE" dirty="0"/>
          </a:p>
        </p:txBody>
      </p:sp>
      <p:pic>
        <p:nvPicPr>
          <p:cNvPr id="5" name="Afbeelding 4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82FEA84E-9A04-3B0B-4DFF-D57B543A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770" y="1342530"/>
            <a:ext cx="9572459" cy="530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3</a:t>
            </a:r>
            <a:endParaRPr lang="nl-NL" altLang="nl-BE" dirty="0"/>
          </a:p>
        </p:txBody>
      </p:sp>
      <p:sp>
        <p:nvSpPr>
          <p:cNvPr id="6963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593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44676"/>
            <a:ext cx="91440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90488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3</a:t>
            </a:r>
            <a:endParaRPr lang="nl-NL" altLang="nl-BE" dirty="0"/>
          </a:p>
        </p:txBody>
      </p:sp>
      <p:sp>
        <p:nvSpPr>
          <p:cNvPr id="7065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79501"/>
            <a:ext cx="91440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17"/>
          <a:stretch>
            <a:fillRect/>
          </a:stretch>
        </p:blipFill>
        <p:spPr bwMode="auto">
          <a:xfrm>
            <a:off x="6167439" y="3141663"/>
            <a:ext cx="3906837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83"/>
          <a:stretch>
            <a:fillRect/>
          </a:stretch>
        </p:blipFill>
        <p:spPr bwMode="auto">
          <a:xfrm>
            <a:off x="2117725" y="3141663"/>
            <a:ext cx="3906838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4</a:t>
            </a:r>
            <a:endParaRPr lang="nl-NL" altLang="nl-BE" dirty="0"/>
          </a:p>
        </p:txBody>
      </p:sp>
      <p:sp>
        <p:nvSpPr>
          <p:cNvPr id="7168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14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085344"/>
            <a:ext cx="9144000" cy="163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4</a:t>
            </a:r>
            <a:endParaRPr lang="nl-NL" altLang="nl-BE" dirty="0"/>
          </a:p>
        </p:txBody>
      </p:sp>
      <p:sp>
        <p:nvSpPr>
          <p:cNvPr id="7270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981076"/>
            <a:ext cx="8424863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147"/>
          <a:stretch>
            <a:fillRect/>
          </a:stretch>
        </p:blipFill>
        <p:spPr bwMode="auto">
          <a:xfrm>
            <a:off x="2495550" y="2924175"/>
            <a:ext cx="3348038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02" b="14840"/>
          <a:stretch/>
        </p:blipFill>
        <p:spPr bwMode="auto">
          <a:xfrm>
            <a:off x="6564314" y="2970214"/>
            <a:ext cx="3348037" cy="240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513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4</a:t>
            </a:r>
            <a:endParaRPr lang="nl-NL" alt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07" name="Rectangle 3"/>
              <p:cNvSpPr>
                <a:spLocks noGrp="1" noRot="1" noChangeArrowheads="1"/>
              </p:cNvSpPr>
              <p:nvPr>
                <p:ph type="body" idx="1"/>
              </p:nvPr>
            </p:nvSpPr>
            <p:spPr>
              <a:xfrm>
                <a:off x="2731193" y="3260992"/>
                <a:ext cx="11609798" cy="3498784"/>
              </a:xfrm>
            </p:spPr>
            <p:txBody>
              <a:bodyPr/>
              <a:lstStyle/>
              <a:p>
                <a:r>
                  <a:rPr lang="nl-BE" altLang="nl-BE" dirty="0"/>
                  <a:t>Theorema arbeid – energie: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𝑊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BE" altLang="nl-BE" dirty="0"/>
              </a:p>
              <a:p>
                <a:r>
                  <a:rPr lang="nl-BE" altLang="nl-BE" dirty="0"/>
                  <a:t>Beginsnelheid is 0, dus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𝑊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BE" altLang="nl-BE" dirty="0"/>
              </a:p>
              <a:p>
                <a:endParaRPr lang="nl-BE" altLang="nl-BE" dirty="0"/>
              </a:p>
            </p:txBody>
          </p:sp>
        </mc:Choice>
        <mc:Fallback xmlns="">
          <p:sp>
            <p:nvSpPr>
              <p:cNvPr id="727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31193" y="3260992"/>
                <a:ext cx="11609798" cy="349878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981076"/>
            <a:ext cx="8424863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258"/>
          <a:stretch>
            <a:fillRect/>
          </a:stretch>
        </p:blipFill>
        <p:spPr bwMode="auto">
          <a:xfrm>
            <a:off x="3325355" y="4692975"/>
            <a:ext cx="6250331" cy="136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5</a:t>
            </a:r>
            <a:endParaRPr lang="nl-NL" altLang="nl-BE" dirty="0"/>
          </a:p>
        </p:txBody>
      </p:sp>
      <p:sp>
        <p:nvSpPr>
          <p:cNvPr id="7373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349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73239"/>
            <a:ext cx="9144000" cy="310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26988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5</a:t>
            </a:r>
            <a:endParaRPr lang="nl-NL" altLang="nl-BE" dirty="0"/>
          </a:p>
        </p:txBody>
      </p:sp>
      <p:sp>
        <p:nvSpPr>
          <p:cNvPr id="7475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1125538"/>
            <a:ext cx="8388350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4076700"/>
            <a:ext cx="6408738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444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6</a:t>
            </a:r>
            <a:endParaRPr lang="nl-NL" altLang="nl-BE" dirty="0"/>
          </a:p>
        </p:txBody>
      </p:sp>
      <p:sp>
        <p:nvSpPr>
          <p:cNvPr id="7885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1" y="1290639"/>
            <a:ext cx="5688013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6" y="4076700"/>
            <a:ext cx="3744913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444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6 </a:t>
            </a:r>
            <a:r>
              <a:rPr lang="nl-BE" altLang="nl-BE" sz="4000" i="1" dirty="0"/>
              <a:t>(2 in noemer)</a:t>
            </a:r>
            <a:endParaRPr lang="nl-NL" altLang="nl-BE" i="1" dirty="0"/>
          </a:p>
        </p:txBody>
      </p:sp>
      <p:sp>
        <p:nvSpPr>
          <p:cNvPr id="7987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1" y="1290639"/>
            <a:ext cx="5688013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51" y="188913"/>
            <a:ext cx="1439863" cy="92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4" y="3933825"/>
            <a:ext cx="3311525" cy="274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7</a:t>
            </a:r>
            <a:endParaRPr lang="nl-NL" altLang="nl-BE" dirty="0"/>
          </a:p>
        </p:txBody>
      </p:sp>
      <p:sp>
        <p:nvSpPr>
          <p:cNvPr id="7577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412875"/>
            <a:ext cx="6481763" cy="286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463" y="1412875"/>
            <a:ext cx="1890712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5546-ACF0-2CEC-B3D5-AEE8EB3C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69CF61D-59D2-22C2-33BF-5E4CBFA8102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14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7</a:t>
            </a:r>
            <a:endParaRPr lang="nl-NL" altLang="nl-BE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7E50302-D329-7081-9AF3-A110F43A009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8612" name="Picture 4">
            <a:extLst>
              <a:ext uri="{FF2B5EF4-FFF2-40B4-BE49-F238E27FC236}">
                <a16:creationId xmlns:a16="http://schemas.microsoft.com/office/drawing/2014/main" id="{F9E06DA8-97A7-9ED6-9F58-1995C6B1A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981075"/>
            <a:ext cx="5400675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>
            <a:extLst>
              <a:ext uri="{FF2B5EF4-FFF2-40B4-BE49-F238E27FC236}">
                <a16:creationId xmlns:a16="http://schemas.microsoft.com/office/drawing/2014/main" id="{54031FAF-5AD4-813D-E8A2-AA68DD112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826" y="0"/>
            <a:ext cx="12684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6">
            <a:extLst>
              <a:ext uri="{FF2B5EF4-FFF2-40B4-BE49-F238E27FC236}">
                <a16:creationId xmlns:a16="http://schemas.microsoft.com/office/drawing/2014/main" id="{440678EB-8D14-31BC-F64B-CBF80984FB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08"/>
          <a:stretch/>
        </p:blipFill>
        <p:spPr bwMode="auto">
          <a:xfrm>
            <a:off x="2351089" y="3429000"/>
            <a:ext cx="4321175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1782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14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7</a:t>
            </a:r>
            <a:endParaRPr lang="nl-NL" altLang="nl-BE" dirty="0"/>
          </a:p>
        </p:txBody>
      </p:sp>
      <p:sp>
        <p:nvSpPr>
          <p:cNvPr id="7680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 dirty="0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981075"/>
            <a:ext cx="5400675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826" y="0"/>
            <a:ext cx="12684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3429000"/>
            <a:ext cx="4321175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9968-EFBF-5888-1516-DFDA4F36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ED54A32-8906-42E8-DA37-8B57E2E05FA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14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7</a:t>
            </a:r>
            <a:endParaRPr lang="nl-NL" altLang="nl-BE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FBB11E2F-B165-AC67-9288-44617CB4D68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68612" name="Picture 4">
            <a:extLst>
              <a:ext uri="{FF2B5EF4-FFF2-40B4-BE49-F238E27FC236}">
                <a16:creationId xmlns:a16="http://schemas.microsoft.com/office/drawing/2014/main" id="{80FCCF89-1DBB-801B-B5FB-BEBF5A9C3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981075"/>
            <a:ext cx="5400675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>
            <a:extLst>
              <a:ext uri="{FF2B5EF4-FFF2-40B4-BE49-F238E27FC236}">
                <a16:creationId xmlns:a16="http://schemas.microsoft.com/office/drawing/2014/main" id="{1BBAE463-83DB-B84C-0292-7F6E8DC8E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826" y="0"/>
            <a:ext cx="12684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6">
            <a:extLst>
              <a:ext uri="{FF2B5EF4-FFF2-40B4-BE49-F238E27FC236}">
                <a16:creationId xmlns:a16="http://schemas.microsoft.com/office/drawing/2014/main" id="{0EDF359D-C9DE-88EC-974D-ACED91945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3429000"/>
            <a:ext cx="4321175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7">
            <a:extLst>
              <a:ext uri="{FF2B5EF4-FFF2-40B4-BE49-F238E27FC236}">
                <a16:creationId xmlns:a16="http://schemas.microsoft.com/office/drawing/2014/main" id="{09DAF7F8-327B-5F4C-9421-B929AABD9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3963989"/>
            <a:ext cx="31686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3255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500" y="18255"/>
            <a:ext cx="118735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Zwaartekrachtenergie</a:t>
            </a:r>
            <a:r>
              <a:rPr dirty="0"/>
              <a:t> (</a:t>
            </a:r>
            <a:r>
              <a:rPr dirty="0" err="1"/>
              <a:t>zwaarte-energie</a:t>
            </a:r>
            <a:r>
              <a:rPr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nl-BE" dirty="0"/>
                  <a:t>Definitie van </a:t>
                </a:r>
                <a:r>
                  <a:rPr lang="nl-BE" dirty="0" err="1"/>
                  <a:t>zwaartekracht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nl-BE" dirty="0"/>
                  <a:t>Arbeid </a:t>
                </a:r>
                <a:r>
                  <a:rPr lang="nl-BE" dirty="0" err="1"/>
                  <a:t>geleverd</a:t>
                </a:r>
                <a:r>
                  <a:rPr lang="nl-BE" dirty="0"/>
                  <a:t> door </a:t>
                </a:r>
                <a:r>
                  <a:rPr lang="nl-BE" dirty="0" err="1"/>
                  <a:t>zwaartekracht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Energie: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nl-BE" dirty="0" err="1"/>
                  <a:t>Eenheid</a:t>
                </a:r>
                <a:r>
                  <a:rPr lang="nl-BE" dirty="0"/>
                  <a:t>: joule (J).</a:t>
                </a:r>
              </a:p>
              <a:p>
                <a:pPr lvl="0"/>
                <a:r>
                  <a:rPr lang="nl-BE" dirty="0" err="1"/>
                  <a:t>Afspraak</a:t>
                </a:r>
                <a:r>
                  <a:rPr lang="nl-BE" dirty="0"/>
                  <a:t>: op de </a:t>
                </a:r>
                <a:r>
                  <a:rPr lang="nl-BE" dirty="0" err="1"/>
                  <a:t>grond</a:t>
                </a:r>
                <a:r>
                  <a:rPr lang="nl-BE" dirty="0"/>
                  <a:t> is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dirty="0"/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Lettertype, tekst, handschrift, wit&#10;&#10;Door AI gegenereerde inhoud is mogelijk onjuist.">
            <a:extLst>
              <a:ext uri="{FF2B5EF4-FFF2-40B4-BE49-F238E27FC236}">
                <a16:creationId xmlns:a16="http://schemas.microsoft.com/office/drawing/2014/main" id="{9F5EFD08-758A-BB4F-92F2-A591A9DA5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099" y="3204713"/>
            <a:ext cx="6711801" cy="9993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Situatie-energie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Potentiële energie = energie door situatie in een krachtveld.</a:t>
            </a:r>
          </a:p>
          <a:p>
            <a:pPr lvl="0"/>
            <a:r>
              <a:t>Voorbeeld: massa in gravitatieveld van de aarde.</a:t>
            </a:r>
          </a:p>
          <a:p>
            <a:pPr lvl="0"/>
            <a:r>
              <a:t>Hoe lager een voorwerp, hoe kleiner zijn zwaarte-energie.</a:t>
            </a:r>
          </a:p>
          <a:p>
            <a:pPr lvl="0"/>
            <a:r>
              <a:t>Arbeid geleverd door kracht in de zin van het veld → potentiële energie neemt af.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Conservatieve krachten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/>
                <a:r>
                  <a:rPr dirty="0" err="1"/>
                  <a:t>Definitie</a:t>
                </a:r>
                <a:r>
                  <a:rPr dirty="0"/>
                  <a:t>: </a:t>
                </a:r>
                <a:r>
                  <a:rPr dirty="0" err="1"/>
                  <a:t>arbeid</a:t>
                </a:r>
                <a:r>
                  <a:rPr dirty="0"/>
                  <a:t> is </a:t>
                </a:r>
                <a:r>
                  <a:rPr dirty="0" err="1"/>
                  <a:t>onafhankelijk</a:t>
                </a:r>
                <a:r>
                  <a:rPr dirty="0"/>
                  <a:t> van de </a:t>
                </a:r>
                <a:r>
                  <a:rPr dirty="0" err="1"/>
                  <a:t>gevolgde</a:t>
                </a:r>
                <a:r>
                  <a:rPr dirty="0"/>
                  <a:t> </a:t>
                </a:r>
                <a:r>
                  <a:rPr dirty="0" err="1"/>
                  <a:t>weg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Voorbeeld</a:t>
                </a:r>
                <a:r>
                  <a:rPr dirty="0"/>
                  <a:t>: </a:t>
                </a:r>
                <a:r>
                  <a:rPr dirty="0" err="1"/>
                  <a:t>zwaartekracht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Alleen </a:t>
                </a:r>
                <a:r>
                  <a:rPr dirty="0" err="1"/>
                  <a:t>hoogteverschil</a:t>
                </a:r>
                <a:r>
                  <a:rPr dirty="0"/>
                  <a:t> </a:t>
                </a:r>
                <a:r>
                  <a:rPr dirty="0" err="1"/>
                  <a:t>speelt</a:t>
                </a:r>
                <a:r>
                  <a:rPr dirty="0"/>
                  <a:t>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rol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Formule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Niet-conservatieve</a:t>
                </a:r>
                <a:r>
                  <a:rPr dirty="0"/>
                  <a:t> </a:t>
                </a:r>
                <a:r>
                  <a:rPr dirty="0" err="1"/>
                  <a:t>krachten</a:t>
                </a:r>
                <a:r>
                  <a:rPr dirty="0"/>
                  <a:t>: </a:t>
                </a:r>
                <a:r>
                  <a:rPr dirty="0" err="1"/>
                  <a:t>wrijving</a:t>
                </a:r>
                <a:r>
                  <a:rPr dirty="0"/>
                  <a:t>, </a:t>
                </a:r>
                <a:r>
                  <a:rPr dirty="0" err="1"/>
                  <a:t>normaalkracht</a:t>
                </a:r>
                <a:r>
                  <a:rPr dirty="0"/>
                  <a:t>, </a:t>
                </a:r>
                <a:r>
                  <a:rPr dirty="0" err="1"/>
                  <a:t>spankracht</a:t>
                </a:r>
                <a:r>
                  <a:rPr dirty="0"/>
                  <a:t>, </a:t>
                </a:r>
                <a:r>
                  <a:rPr dirty="0" err="1"/>
                  <a:t>inductiestromen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Bij </a:t>
                </a:r>
                <a:r>
                  <a:rPr dirty="0" err="1"/>
                  <a:t>niet-conservatieve</a:t>
                </a:r>
                <a:r>
                  <a:rPr dirty="0"/>
                  <a:t> </a:t>
                </a:r>
                <a:r>
                  <a:rPr dirty="0" err="1"/>
                  <a:t>krachten</a:t>
                </a:r>
                <a:r>
                  <a:rPr dirty="0"/>
                  <a:t> → </a:t>
                </a:r>
                <a:r>
                  <a:rPr dirty="0" err="1"/>
                  <a:t>andere</a:t>
                </a:r>
                <a:r>
                  <a:rPr dirty="0"/>
                  <a:t> </a:t>
                </a:r>
                <a:r>
                  <a:rPr dirty="0" err="1"/>
                  <a:t>energievormen</a:t>
                </a:r>
                <a:r>
                  <a:rPr dirty="0"/>
                  <a:t> (</a:t>
                </a:r>
                <a:r>
                  <a:rPr dirty="0" err="1"/>
                  <a:t>bv</a:t>
                </a:r>
                <a:r>
                  <a:rPr dirty="0"/>
                  <a:t>. </a:t>
                </a:r>
                <a:r>
                  <a:rPr dirty="0" err="1"/>
                  <a:t>thermische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Belang van referentiehoogte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/>
              <a:t>Je mag </a:t>
            </a:r>
            <a:r>
              <a:rPr dirty="0" err="1"/>
              <a:t>nulniveau</a:t>
            </a:r>
            <a:r>
              <a:rPr dirty="0"/>
              <a:t> van </a:t>
            </a:r>
            <a:r>
              <a:rPr dirty="0" err="1"/>
              <a:t>zwaarte-energie</a:t>
            </a:r>
            <a:r>
              <a:rPr dirty="0"/>
              <a:t> </a:t>
            </a:r>
            <a:r>
              <a:rPr dirty="0" err="1"/>
              <a:t>zelf</a:t>
            </a:r>
            <a:r>
              <a:rPr dirty="0"/>
              <a:t> </a:t>
            </a:r>
            <a:r>
              <a:rPr dirty="0" err="1"/>
              <a:t>kiezen</a:t>
            </a:r>
            <a:r>
              <a:rPr dirty="0"/>
              <a:t> (</a:t>
            </a:r>
            <a:r>
              <a:rPr dirty="0" err="1"/>
              <a:t>bv</a:t>
            </a:r>
            <a:r>
              <a:rPr dirty="0"/>
              <a:t>. </a:t>
            </a:r>
            <a:r>
              <a:rPr dirty="0" err="1"/>
              <a:t>tafel</a:t>
            </a:r>
            <a:r>
              <a:rPr dirty="0"/>
              <a:t>).</a:t>
            </a:r>
          </a:p>
          <a:p>
            <a:pPr lvl="1"/>
            <a:r>
              <a:rPr lang="nl-BE" dirty="0"/>
              <a:t>Zorg wel voor eenduidigheid </a:t>
            </a:r>
            <a:r>
              <a:rPr dirty="0"/>
              <a:t>in </a:t>
            </a:r>
            <a:r>
              <a:rPr dirty="0" err="1"/>
              <a:t>berekeningen</a:t>
            </a:r>
            <a:r>
              <a:rPr dirty="0"/>
              <a:t>.</a:t>
            </a:r>
          </a:p>
          <a:p>
            <a:pPr lvl="0"/>
            <a:r>
              <a:rPr dirty="0" err="1"/>
              <a:t>Zwaartepunt</a:t>
            </a:r>
            <a:r>
              <a:rPr dirty="0"/>
              <a:t>:</a:t>
            </a:r>
          </a:p>
          <a:p>
            <a:pPr lvl="1"/>
            <a:r>
              <a:rPr dirty="0"/>
              <a:t>Bij </a:t>
            </a:r>
            <a:r>
              <a:rPr dirty="0" err="1"/>
              <a:t>regelmatige</a:t>
            </a:r>
            <a:r>
              <a:rPr dirty="0"/>
              <a:t> </a:t>
            </a:r>
            <a:r>
              <a:rPr dirty="0" err="1"/>
              <a:t>homogene</a:t>
            </a:r>
            <a:r>
              <a:rPr dirty="0"/>
              <a:t> </a:t>
            </a:r>
            <a:r>
              <a:rPr dirty="0" err="1"/>
              <a:t>lichamen</a:t>
            </a:r>
            <a:r>
              <a:rPr dirty="0"/>
              <a:t> </a:t>
            </a:r>
            <a:r>
              <a:rPr dirty="0" err="1"/>
              <a:t>ligt</a:t>
            </a:r>
            <a:r>
              <a:rPr dirty="0"/>
              <a:t> het in het midden.</a:t>
            </a:r>
            <a:endParaRPr lang="nl-BE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BE" dirty="0"/>
          </a:p>
          <a:p>
            <a:pPr lvl="1"/>
            <a:endParaRPr dirty="0"/>
          </a:p>
          <a:p>
            <a:pPr lvl="1"/>
            <a:r>
              <a:rPr dirty="0"/>
              <a:t>Voor </a:t>
            </a:r>
            <a:r>
              <a:rPr dirty="0" err="1"/>
              <a:t>uitgebreide</a:t>
            </a:r>
            <a:r>
              <a:rPr dirty="0"/>
              <a:t> </a:t>
            </a:r>
            <a:r>
              <a:rPr dirty="0" err="1"/>
              <a:t>voorwerpen</a:t>
            </a:r>
            <a:r>
              <a:rPr dirty="0"/>
              <a:t> → model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puntmassa</a:t>
            </a:r>
            <a:r>
              <a:rPr dirty="0"/>
              <a:t> in </a:t>
            </a:r>
            <a:r>
              <a:rPr dirty="0" err="1"/>
              <a:t>zwaartepunt</a:t>
            </a:r>
            <a:r>
              <a:rPr dirty="0"/>
              <a:t>.</a:t>
            </a:r>
          </a:p>
        </p:txBody>
      </p:sp>
      <p:pic>
        <p:nvPicPr>
          <p:cNvPr id="5" name="Afbeelding 4" descr="Afbeelding met origami, Vouwpapier, Kunstpapier, diagram&#10;&#10;Door AI gegenereerde inhoud is mogelijk onjuist.">
            <a:extLst>
              <a:ext uri="{FF2B5EF4-FFF2-40B4-BE49-F238E27FC236}">
                <a16:creationId xmlns:a16="http://schemas.microsoft.com/office/drawing/2014/main" id="{B0435686-2AF5-7A43-2E75-DAECE78EC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735" y="3778904"/>
            <a:ext cx="145732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8</a:t>
            </a:r>
            <a:endParaRPr lang="nl-NL" altLang="nl-BE" dirty="0"/>
          </a:p>
        </p:txBody>
      </p:sp>
      <p:sp>
        <p:nvSpPr>
          <p:cNvPr id="10547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060575"/>
            <a:ext cx="84963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52230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26988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8</a:t>
            </a:r>
            <a:endParaRPr lang="nl-NL" altLang="nl-BE" dirty="0"/>
          </a:p>
        </p:txBody>
      </p:sp>
      <p:sp>
        <p:nvSpPr>
          <p:cNvPr id="10649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 dirty="0"/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484313"/>
            <a:ext cx="84963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2997201"/>
            <a:ext cx="4716463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7995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257791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Gravitatie-energie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810521"/>
                <a:ext cx="11609798" cy="5719410"/>
              </a:xfrm>
            </p:spPr>
            <p:txBody>
              <a:bodyPr>
                <a:normAutofit fontScale="85000" lnSpcReduction="10000"/>
              </a:bodyPr>
              <a:lstStyle/>
              <a:p>
                <a:pPr lvl="0"/>
                <a:r>
                  <a:rPr dirty="0"/>
                  <a:t>Bij </a:t>
                </a:r>
                <a:r>
                  <a:rPr dirty="0" err="1"/>
                  <a:t>grote</a:t>
                </a:r>
                <a:r>
                  <a:rPr dirty="0"/>
                  <a:t> </a:t>
                </a:r>
                <a:r>
                  <a:rPr dirty="0" err="1"/>
                  <a:t>afstanden</a:t>
                </a:r>
                <a:r>
                  <a:rPr dirty="0"/>
                  <a:t> is de </a:t>
                </a:r>
                <a:r>
                  <a:rPr dirty="0" err="1"/>
                  <a:t>zwaarteveldsterkte</a:t>
                </a:r>
                <a:r>
                  <a:rPr dirty="0"/>
                  <a:t> </a:t>
                </a:r>
                <a:r>
                  <a:rPr dirty="0" err="1"/>
                  <a:t>niet</a:t>
                </a:r>
                <a:r>
                  <a:rPr dirty="0"/>
                  <a:t> constant.</a:t>
                </a:r>
              </a:p>
              <a:p>
                <a:pPr lvl="0"/>
                <a:r>
                  <a:rPr dirty="0" err="1"/>
                  <a:t>Universele</a:t>
                </a:r>
                <a:r>
                  <a:rPr dirty="0"/>
                  <a:t> </a:t>
                </a:r>
                <a:r>
                  <a:rPr dirty="0" err="1"/>
                  <a:t>gravitatiewet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Arbeid </a:t>
                </a:r>
                <a:r>
                  <a:rPr dirty="0" err="1"/>
                  <a:t>geleverd</a:t>
                </a:r>
                <a:r>
                  <a:rPr dirty="0"/>
                  <a:t> door </a:t>
                </a:r>
                <a:r>
                  <a:rPr dirty="0" err="1"/>
                  <a:t>gravitatiekracht</a:t>
                </a:r>
                <a:r>
                  <a:rPr dirty="0"/>
                  <a:t>:</a:t>
                </a:r>
              </a:p>
              <a:p>
                <a:pPr lvl="0"/>
                <a:endParaRPr lang="nl-BE" dirty="0"/>
              </a:p>
              <a:p>
                <a:pPr lvl="0"/>
                <a:endParaRPr lang="nl-BE" dirty="0"/>
              </a:p>
              <a:p>
                <a:pPr lvl="0"/>
                <a:endParaRPr lang="nl-BE" dirty="0"/>
              </a:p>
              <a:p>
                <a:pPr lvl="0"/>
                <a:endParaRPr lang="nl-BE" dirty="0"/>
              </a:p>
              <a:p>
                <a:pPr lvl="0"/>
                <a:r>
                  <a:rPr dirty="0"/>
                  <a:t>Energie: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810521"/>
                <a:ext cx="11609798" cy="5719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tekst, Lettertype, handschrift, lijn&#10;&#10;Door AI gegenereerde inhoud is mogelijk onjuist.">
            <a:extLst>
              <a:ext uri="{FF2B5EF4-FFF2-40B4-BE49-F238E27FC236}">
                <a16:creationId xmlns:a16="http://schemas.microsoft.com/office/drawing/2014/main" id="{334AB234-0256-AB09-77AF-C011FDF5E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228" y="3111800"/>
            <a:ext cx="5217543" cy="239137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7E00-2699-D632-7C2D-02A96FF5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B919-E32B-9F5B-C2E1-898833A7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733" y="-257791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Gravitatie-energie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DE895-92B2-04FC-9909-37EA41C7B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499" y="897148"/>
                <a:ext cx="11609798" cy="571941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dirty="0"/>
                  <a:t>Energie: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Eigenschappen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Negatieve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.</a:t>
                </a:r>
              </a:p>
              <a:p>
                <a:pPr lvl="1"/>
                <a:r>
                  <a:rPr dirty="0"/>
                  <a:t>Hoe </a:t>
                </a:r>
                <a:r>
                  <a:rPr dirty="0" err="1"/>
                  <a:t>dichter</a:t>
                </a:r>
                <a:r>
                  <a:rPr dirty="0"/>
                  <a:t> de </a:t>
                </a:r>
                <a:r>
                  <a:rPr dirty="0" err="1"/>
                  <a:t>massa’s</a:t>
                </a:r>
                <a:r>
                  <a:rPr dirty="0"/>
                  <a:t>, hoe </a:t>
                </a:r>
                <a:r>
                  <a:rPr dirty="0" err="1"/>
                  <a:t>negatiever</a:t>
                </a:r>
                <a:r>
                  <a:rPr dirty="0"/>
                  <a:t> de </a:t>
                </a:r>
                <a:r>
                  <a:rPr dirty="0" err="1"/>
                  <a:t>gravitatie-energie</a:t>
                </a:r>
                <a:r>
                  <a:rPr dirty="0"/>
                  <a:t>.</a:t>
                </a:r>
              </a:p>
              <a:p>
                <a:pPr lvl="1"/>
                <a:r>
                  <a:rPr dirty="0"/>
                  <a:t>Op </a:t>
                </a:r>
                <a:r>
                  <a:rPr dirty="0" err="1"/>
                  <a:t>oneindige</a:t>
                </a:r>
                <a:r>
                  <a:rPr dirty="0"/>
                  <a:t> </a:t>
                </a:r>
                <a:r>
                  <a:rPr dirty="0" err="1"/>
                  <a:t>afstand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DE895-92B2-04FC-9909-37EA41C7B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897148"/>
                <a:ext cx="11609798" cy="5719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168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Conservatieve kracht bij gravitatie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Arbeid is onafhankelijk van de gevolgde weg.</a:t>
            </a:r>
          </a:p>
          <a:p>
            <a:pPr lvl="0"/>
            <a:r>
              <a:t>Alleen het verschil in afstand speelt een rol.</a:t>
            </a:r>
          </a:p>
          <a:p>
            <a:pPr lvl="0"/>
            <a:r>
              <a:t>Gravitatiekracht is dus conservatief.</a:t>
            </a:r>
          </a:p>
          <a:p>
            <a:pPr lvl="0"/>
            <a:r>
              <a:t>Voorbeeld: banen van planeten → gravitatiekracht staat loodrecht op verplaatsing → geen arbeid.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1450"/>
            <a:ext cx="854075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nl-BE" altLang="nl-BE" dirty="0"/>
              <a:t>Opdracht 9 </a:t>
            </a:r>
            <a:r>
              <a:rPr lang="nl-BE" altLang="nl-BE" sz="3600" dirty="0"/>
              <a:t>(potentiële gravitatie-energie)</a:t>
            </a:r>
            <a:endParaRPr lang="nl-NL" altLang="nl-BE" dirty="0"/>
          </a:p>
        </p:txBody>
      </p:sp>
      <p:sp>
        <p:nvSpPr>
          <p:cNvPr id="9933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6" y="981076"/>
            <a:ext cx="3529013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213100"/>
            <a:ext cx="55435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12792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714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9</a:t>
            </a:r>
            <a:endParaRPr lang="nl-NL" altLang="nl-BE" dirty="0"/>
          </a:p>
        </p:txBody>
      </p:sp>
      <p:sp>
        <p:nvSpPr>
          <p:cNvPr id="10854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870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836613"/>
            <a:ext cx="55435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4365626"/>
            <a:ext cx="8335963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150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Veerenergie</a:t>
            </a:r>
            <a:r>
              <a:rPr dirty="0"/>
              <a:t> (</a:t>
            </a:r>
            <a:r>
              <a:rPr dirty="0" err="1"/>
              <a:t>elastische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lvl="0"/>
                <a:r>
                  <a:rPr lang="nl-BE" dirty="0"/>
                  <a:t>Wet van Hooke: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ar-AE" dirty="0"/>
                  <a:t> = </a:t>
                </a:r>
                <a:r>
                  <a:rPr lang="nl-BE" dirty="0" err="1"/>
                  <a:t>veerconstante</a:t>
                </a:r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BE" dirty="0"/>
                  <a:t> = </a:t>
                </a:r>
                <a:r>
                  <a:rPr lang="nl-BE" dirty="0" err="1"/>
                  <a:t>uitrekking</a:t>
                </a:r>
                <a:r>
                  <a:rPr lang="nl-BE" dirty="0"/>
                  <a:t> of </a:t>
                </a:r>
                <a:r>
                  <a:rPr lang="nl-BE" dirty="0" err="1"/>
                  <a:t>indrukking</a:t>
                </a:r>
                <a:r>
                  <a:rPr lang="nl-BE" dirty="0"/>
                  <a:t>.</a:t>
                </a:r>
              </a:p>
              <a:p>
                <a:pPr lvl="0"/>
                <a:r>
                  <a:rPr lang="nl-BE" dirty="0"/>
                  <a:t>Arbeid </a:t>
                </a:r>
                <a:r>
                  <a:rPr lang="nl-BE" dirty="0" err="1"/>
                  <a:t>geleverd</a:t>
                </a:r>
                <a:r>
                  <a:rPr lang="nl-BE" dirty="0"/>
                  <a:t> door </a:t>
                </a:r>
                <a:r>
                  <a:rPr lang="nl-BE" dirty="0" err="1"/>
                  <a:t>veerkracht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marL="0" lvl="0" indent="0">
                  <a:buNone/>
                </a:pPr>
                <a:endParaRPr lang="nl-BE" dirty="0"/>
              </a:p>
              <a:p>
                <a:pPr lvl="0"/>
                <a:r>
                  <a:rPr lang="nl-BE" dirty="0"/>
                  <a:t>Potentiële </a:t>
                </a:r>
                <a:r>
                  <a:rPr lang="nl-BE" dirty="0" err="1"/>
                  <a:t>veerenergie</a:t>
                </a:r>
                <a:r>
                  <a:rPr lang="nl-BE" dirty="0"/>
                  <a:t> (potentiële elastische energie):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handschrift, typografie, patroon&#10;&#10;Door AI gegenereerde inhoud is mogelijk onjuist.">
            <a:extLst>
              <a:ext uri="{FF2B5EF4-FFF2-40B4-BE49-F238E27FC236}">
                <a16:creationId xmlns:a16="http://schemas.microsoft.com/office/drawing/2014/main" id="{113A121F-F46C-B522-40FD-700AD559C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031" y="4350866"/>
            <a:ext cx="3123266" cy="2265691"/>
          </a:xfrm>
          <a:prstGeom prst="rect">
            <a:avLst/>
          </a:prstGeom>
        </p:spPr>
      </p:pic>
      <p:pic>
        <p:nvPicPr>
          <p:cNvPr id="7" name="Afbeelding 6" descr="Afbeelding met tekst, Lettertype, handschrift, lijn&#10;&#10;Door AI gegenereerde inhoud is mogelijk onjuist.">
            <a:extLst>
              <a:ext uri="{FF2B5EF4-FFF2-40B4-BE49-F238E27FC236}">
                <a16:creationId xmlns:a16="http://schemas.microsoft.com/office/drawing/2014/main" id="{E74314C9-5803-12CF-6E01-720157906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043" y="3429000"/>
            <a:ext cx="6681338" cy="16403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30B2-4946-36E6-667F-107AA6C8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0555-3C0F-DD44-CD8D-1A36C897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Veerenergie (elastische energie)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9A8D93-C53E-4828-C4AE-AB5AF91109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endParaRPr dirty="0"/>
              </a:p>
              <a:p>
                <a:pPr lvl="0"/>
                <a:r>
                  <a:rPr dirty="0"/>
                  <a:t>Energie: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Eigenschappen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Altijd</a:t>
                </a:r>
                <a:r>
                  <a:rPr dirty="0"/>
                  <a:t> </a:t>
                </a:r>
                <a:r>
                  <a:rPr dirty="0" err="1"/>
                  <a:t>positief</a:t>
                </a:r>
                <a:r>
                  <a:rPr dirty="0"/>
                  <a:t>.</a:t>
                </a:r>
              </a:p>
              <a:p>
                <a:pPr lvl="1"/>
                <a:r>
                  <a:rPr dirty="0" err="1"/>
                  <a:t>Afhankelijk</a:t>
                </a:r>
                <a:r>
                  <a:rPr dirty="0"/>
                  <a:t> van </a:t>
                </a:r>
                <a:r>
                  <a:rPr dirty="0" err="1"/>
                  <a:t>veerconstante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vervorming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Veerenergie</a:t>
                </a:r>
                <a:r>
                  <a:rPr dirty="0"/>
                  <a:t> is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vorm</a:t>
                </a:r>
                <a:r>
                  <a:rPr dirty="0"/>
                  <a:t> van </a:t>
                </a:r>
                <a:r>
                  <a:rPr dirty="0" err="1"/>
                  <a:t>potentiële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9A8D93-C53E-4828-C4AE-AB5AF9110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handschrift, typografie, patroon&#10;&#10;Door AI gegenereerde inhoud is mogelijk onjuist.">
            <a:extLst>
              <a:ext uri="{FF2B5EF4-FFF2-40B4-BE49-F238E27FC236}">
                <a16:creationId xmlns:a16="http://schemas.microsoft.com/office/drawing/2014/main" id="{ED6F7484-D06C-5743-DEF7-EA1A71AEB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42" y="1343818"/>
            <a:ext cx="3969859" cy="28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756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171527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Wrijvingsenergie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966158"/>
                <a:ext cx="11609798" cy="5650399"/>
              </a:xfrm>
            </p:spPr>
            <p:txBody>
              <a:bodyPr>
                <a:normAutofit fontScale="77500" lnSpcReduction="20000"/>
              </a:bodyPr>
              <a:lstStyle/>
              <a:p>
                <a:pPr lvl="0"/>
                <a:r>
                  <a:rPr dirty="0" err="1"/>
                  <a:t>Wrijvingskracht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lang="nl-BE" dirty="0"/>
                  <a:t>			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dirty="0"/>
                  <a:t> = </a:t>
                </a:r>
                <a:r>
                  <a:rPr dirty="0" err="1"/>
                  <a:t>wrijvingscoëfficiënt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dirty="0"/>
                  <a:t> = </a:t>
                </a:r>
                <a:r>
                  <a:rPr dirty="0" err="1"/>
                  <a:t>normaalkracht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Arbeid </a:t>
                </a:r>
                <a:r>
                  <a:rPr dirty="0" err="1"/>
                  <a:t>geleverd</a:t>
                </a:r>
                <a:r>
                  <a:rPr dirty="0"/>
                  <a:t> door </a:t>
                </a:r>
                <a:r>
                  <a:rPr dirty="0" err="1"/>
                  <a:t>wrijvingskracht</a:t>
                </a:r>
                <a:r>
                  <a:rPr dirty="0"/>
                  <a:t>:</a:t>
                </a:r>
              </a:p>
              <a:p>
                <a:pPr lvl="0"/>
                <a:endParaRPr lang="nl-BE" dirty="0"/>
              </a:p>
              <a:p>
                <a:pPr lvl="0"/>
                <a:endParaRPr lang="nl-BE" dirty="0"/>
              </a:p>
              <a:p>
                <a:pPr lvl="0"/>
                <a:endParaRPr lang="nl-BE" dirty="0"/>
              </a:p>
              <a:p>
                <a:pPr lvl="0"/>
                <a:r>
                  <a:rPr dirty="0"/>
                  <a:t>Energie: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Eigenschappen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Negatief</a:t>
                </a:r>
                <a:r>
                  <a:rPr dirty="0"/>
                  <a:t>: </a:t>
                </a:r>
                <a:r>
                  <a:rPr dirty="0" err="1"/>
                  <a:t>wrijving</a:t>
                </a:r>
                <a:r>
                  <a:rPr dirty="0"/>
                  <a:t> </a:t>
                </a:r>
                <a:r>
                  <a:rPr dirty="0" err="1"/>
                  <a:t>slorpt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 op.</a:t>
                </a:r>
              </a:p>
              <a:p>
                <a:pPr lvl="1"/>
                <a:r>
                  <a:rPr dirty="0"/>
                  <a:t>Zet </a:t>
                </a:r>
                <a:r>
                  <a:rPr dirty="0" err="1"/>
                  <a:t>mechanische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 om in </a:t>
                </a:r>
                <a:r>
                  <a:rPr dirty="0" err="1"/>
                  <a:t>warmte</a:t>
                </a:r>
                <a:r>
                  <a:rPr dirty="0"/>
                  <a:t> (</a:t>
                </a:r>
                <a:r>
                  <a:rPr dirty="0" err="1"/>
                  <a:t>microscopisch</a:t>
                </a:r>
                <a:r>
                  <a:rPr dirty="0"/>
                  <a:t>: </a:t>
                </a:r>
                <a:r>
                  <a:rPr dirty="0" err="1"/>
                  <a:t>moleculen</a:t>
                </a:r>
                <a:r>
                  <a:rPr dirty="0"/>
                  <a:t> </a:t>
                </a:r>
                <a:r>
                  <a:rPr dirty="0" err="1"/>
                  <a:t>gaan</a:t>
                </a:r>
                <a:r>
                  <a:rPr dirty="0"/>
                  <a:t> </a:t>
                </a:r>
                <a:r>
                  <a:rPr dirty="0" err="1"/>
                  <a:t>sneller</a:t>
                </a:r>
                <a:r>
                  <a:rPr dirty="0"/>
                  <a:t> </a:t>
                </a:r>
                <a:r>
                  <a:rPr dirty="0" err="1"/>
                  <a:t>trillen</a:t>
                </a:r>
                <a:r>
                  <a:rPr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966158"/>
                <a:ext cx="11609798" cy="56503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tekst, Lettertype, handschrift, wit&#10;&#10;Door AI gegenereerde inhoud is mogelijk onjuist.">
            <a:extLst>
              <a:ext uri="{FF2B5EF4-FFF2-40B4-BE49-F238E27FC236}">
                <a16:creationId xmlns:a16="http://schemas.microsoft.com/office/drawing/2014/main" id="{ACA84E10-1D54-DEBF-85DD-03655E96C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727" y="2756392"/>
            <a:ext cx="6290546" cy="155681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Energieomzetting bij wrijving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Wrijvingsenergie veroorzaakt temperatuurstijging.</a:t>
            </a:r>
          </a:p>
          <a:p>
            <a:pPr lvl="0"/>
            <a:r>
              <a:t>Energie wordt getransporteerd naar omgeving als warmte.</a:t>
            </a:r>
          </a:p>
          <a:p>
            <a:pPr lvl="0"/>
            <a:r>
              <a:t>Voorbeeld: remmen van een auto → remschijven gloeien rood.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Andere </a:t>
            </a:r>
            <a:r>
              <a:rPr dirty="0" err="1"/>
              <a:t>energievormen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t>Elektrische potentiële energie:</a:t>
            </a:r>
          </a:p>
          <a:p>
            <a:pPr lvl="1"/>
            <a:r>
              <a:t>Gevolg van coulombkracht.</a:t>
            </a:r>
          </a:p>
          <a:p>
            <a:pPr lvl="0"/>
            <a:r>
              <a:t>Nucleaire energie:</a:t>
            </a:r>
          </a:p>
          <a:p>
            <a:pPr lvl="1"/>
            <a:r>
              <a:t>Sterke en zwakke kernkracht.</a:t>
            </a:r>
          </a:p>
          <a:p>
            <a:pPr lvl="0"/>
            <a:r>
              <a:t>Chemische energie:</a:t>
            </a:r>
          </a:p>
          <a:p>
            <a:pPr lvl="1"/>
            <a:r>
              <a:t>Herschikking van atomen en bindingen.</a:t>
            </a:r>
          </a:p>
          <a:p>
            <a:pPr lvl="0"/>
            <a:r>
              <a:t>Thermische energie:</a:t>
            </a:r>
          </a:p>
          <a:p>
            <a:pPr lvl="1"/>
            <a:r>
              <a:t>Som van kinetische energie van moleculen + potentiële energie van coulombkrachten.</a:t>
            </a:r>
          </a:p>
          <a:p>
            <a:pPr lvl="0"/>
            <a:r>
              <a:t>Stralingsenergie:</a:t>
            </a:r>
          </a:p>
          <a:p>
            <a:pPr lvl="1"/>
            <a:r>
              <a:t>Elektromagnetische golven.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406" y="18255"/>
            <a:ext cx="11664594" cy="1325563"/>
          </a:xfrm>
        </p:spPr>
        <p:txBody>
          <a:bodyPr>
            <a:normAutofit fontScale="90000"/>
          </a:bodyPr>
          <a:lstStyle/>
          <a:p>
            <a:pPr lvl="0"/>
            <a:r>
              <a:rPr lang="nl-BE" dirty="0"/>
              <a:t>Andere energievormen:</a:t>
            </a:r>
            <a:r>
              <a:rPr dirty="0" err="1"/>
              <a:t>Inwendige</a:t>
            </a:r>
            <a:r>
              <a:rPr dirty="0"/>
              <a:t> </a:t>
            </a:r>
            <a:r>
              <a:rPr dirty="0" err="1"/>
              <a:t>energie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nl-BE" dirty="0"/>
                  <a:t>Thermische energie: i</a:t>
                </a:r>
                <a:r>
                  <a:rPr lang="nl-BE" dirty="0" err="1"/>
                  <a:t>nwendige</a:t>
                </a:r>
                <a:r>
                  <a:rPr lang="nl-BE" dirty="0"/>
                  <a:t> </a:t>
                </a:r>
                <a:r>
                  <a:rPr lang="nl-BE" dirty="0" err="1"/>
                  <a:t>energie</a:t>
                </a:r>
                <a:r>
                  <a:rPr lang="nl-BE" dirty="0"/>
                  <a:t> van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stof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/>
                            <m:t>kin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nl-BE"/>
                            <m:t>pot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lvl="0"/>
                <a:r>
                  <a:rPr lang="nl-BE" dirty="0" err="1"/>
                  <a:t>Gevolg</a:t>
                </a:r>
                <a:r>
                  <a:rPr lang="nl-BE" dirty="0"/>
                  <a:t> van:</a:t>
                </a:r>
              </a:p>
              <a:p>
                <a:pPr lvl="1"/>
                <a:r>
                  <a:rPr lang="nl-BE" dirty="0" err="1"/>
                  <a:t>Trillende</a:t>
                </a:r>
                <a:r>
                  <a:rPr lang="nl-BE" dirty="0"/>
                  <a:t> </a:t>
                </a:r>
                <a:r>
                  <a:rPr lang="nl-BE" dirty="0" err="1"/>
                  <a:t>moleculen</a:t>
                </a:r>
                <a:r>
                  <a:rPr lang="nl-BE" dirty="0"/>
                  <a:t> (</a:t>
                </a:r>
                <a:r>
                  <a:rPr lang="nl-BE" dirty="0" err="1"/>
                  <a:t>kinetisch</a:t>
                </a:r>
                <a:r>
                  <a:rPr lang="nl-BE" dirty="0"/>
                  <a:t>).</a:t>
                </a:r>
              </a:p>
              <a:p>
                <a:pPr lvl="1"/>
                <a:r>
                  <a:rPr lang="nl-BE" dirty="0"/>
                  <a:t>Coulombkrachten tussen moleculen (potentieel).</a:t>
                </a:r>
              </a:p>
              <a:p>
                <a:pPr lvl="2"/>
                <a:r>
                  <a:rPr lang="nl-BE"/>
                  <a:t>Faseovergangen </a:t>
                </a:r>
                <a:endParaRPr lang="nl-BE" dirty="0"/>
              </a:p>
              <a:p>
                <a:pPr lvl="2"/>
                <a:r>
                  <a:rPr lang="nl-BE" dirty="0"/>
                  <a:t>Thermische uitzetting</a:t>
                </a:r>
              </a:p>
              <a:p>
                <a:pPr lvl="0"/>
                <a:r>
                  <a:rPr lang="nl-BE" dirty="0" err="1"/>
                  <a:t>Voorwerpen</a:t>
                </a:r>
                <a:r>
                  <a:rPr lang="nl-BE" dirty="0"/>
                  <a:t> met </a:t>
                </a:r>
                <a:r>
                  <a:rPr lang="nl-BE" dirty="0" err="1"/>
                  <a:t>hoge</a:t>
                </a:r>
                <a:r>
                  <a:rPr lang="nl-BE" dirty="0"/>
                  <a:t> </a:t>
                </a:r>
                <a:r>
                  <a:rPr lang="nl-BE" dirty="0" err="1"/>
                  <a:t>inwendige</a:t>
                </a:r>
                <a:r>
                  <a:rPr lang="nl-BE" dirty="0"/>
                  <a:t> </a:t>
                </a:r>
                <a:r>
                  <a:rPr lang="nl-BE" dirty="0" err="1"/>
                  <a:t>energie</a:t>
                </a:r>
                <a:r>
                  <a:rPr lang="nl-BE" dirty="0"/>
                  <a:t> </a:t>
                </a:r>
                <a:r>
                  <a:rPr lang="nl-BE" dirty="0" err="1"/>
                  <a:t>verliezen</a:t>
                </a:r>
                <a:r>
                  <a:rPr lang="nl-BE" dirty="0"/>
                  <a:t> </a:t>
                </a:r>
                <a:r>
                  <a:rPr lang="nl-BE" dirty="0" err="1"/>
                  <a:t>energie</a:t>
                </a:r>
                <a:r>
                  <a:rPr lang="nl-BE" dirty="0"/>
                  <a:t> via </a:t>
                </a:r>
                <a:r>
                  <a:rPr lang="nl-BE" dirty="0" err="1"/>
                  <a:t>warmte</a:t>
                </a:r>
                <a:r>
                  <a:rPr lang="nl-BE" dirty="0"/>
                  <a:t> </a:t>
                </a:r>
                <a:r>
                  <a:rPr lang="nl-BE" dirty="0" err="1"/>
                  <a:t>en</a:t>
                </a:r>
                <a:r>
                  <a:rPr lang="nl-BE" dirty="0"/>
                  <a:t> </a:t>
                </a:r>
                <a:r>
                  <a:rPr lang="nl-BE" dirty="0" err="1"/>
                  <a:t>straling</a:t>
                </a:r>
                <a:r>
                  <a:rPr lang="nl-BE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C534-73F1-3FC9-3CC4-2D95E4937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F8050300-A1CD-D53A-434A-3554997C05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825625" y="7097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10</a:t>
            </a:r>
            <a:endParaRPr lang="nl-NL" altLang="nl-BE" dirty="0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F26549F9-17B2-6199-5FC9-9D58EFA3642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72708" name="Picture 4">
            <a:extLst>
              <a:ext uri="{FF2B5EF4-FFF2-40B4-BE49-F238E27FC236}">
                <a16:creationId xmlns:a16="http://schemas.microsoft.com/office/drawing/2014/main" id="{9A69873F-1BBD-5866-3978-7E6AFD96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398" y="1343818"/>
            <a:ext cx="91440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244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234950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10</a:t>
            </a:r>
            <a:endParaRPr lang="nl-NL" altLang="nl-BE" dirty="0"/>
          </a:p>
        </p:txBody>
      </p:sp>
      <p:sp>
        <p:nvSpPr>
          <p:cNvPr id="9421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5175"/>
            <a:ext cx="91440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6" y="1700214"/>
            <a:ext cx="4418013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125413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11</a:t>
            </a:r>
            <a:endParaRPr lang="nl-NL" altLang="nl-BE" dirty="0"/>
          </a:p>
        </p:txBody>
      </p:sp>
      <p:sp>
        <p:nvSpPr>
          <p:cNvPr id="9523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737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557339"/>
            <a:ext cx="8642350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125413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11</a:t>
            </a:r>
            <a:endParaRPr lang="nl-NL" altLang="nl-BE" dirty="0"/>
          </a:p>
        </p:txBody>
      </p:sp>
      <p:sp>
        <p:nvSpPr>
          <p:cNvPr id="9625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412876"/>
            <a:ext cx="8642350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6" y="5013325"/>
            <a:ext cx="4537075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Op de volgende slide vind je een checklist met alle leerdoelen van deze lessenreeks.</a:t>
            </a:r>
            <a:br/>
            <a:r>
              <a:rPr b="1"/>
              <a:t>Hoe gebruik je deze checklist?</a:t>
            </a:r>
            <a:br/>
            <a:r>
              <a:t>- Tijdens het studeren: vink af wat je begrijpt en kunt toepassen.</a:t>
            </a:r>
            <a:br/>
            <a:r>
              <a:t>- Na de toets: evalueer jezelf en noteer wat nog moet worden herhaald.</a:t>
            </a:r>
            <a:br/>
            <a:r>
              <a:t>- Voor het examen: controleer of je alle doelen beheerst.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99352"/>
              </p:ext>
            </p:extLst>
          </p:nvPr>
        </p:nvGraphicFramePr>
        <p:xfrm>
          <a:off x="105334" y="1064559"/>
          <a:ext cx="11981331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Ik kan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uitleggen wat arbeid betekent in de fysica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de formule voor arbeid bij constante kracht toepassen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het verband tussen kracht, verplaatsing en hoek toelichten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arbeid grafisch interpreteren op een F–x-diagram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het verband tussen arbeid en energie uitleggen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het arbeid-energiestelling toepassen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kinetische energie definiëren en berekenen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zwaarte-energie definiëren en berekenen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het begrip referentiehoogte en zwaartepunt toepassen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conservatieve en niet-conservatieve krachten onderscheiden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veerenergie en wrijvingsenergie verklaren en berekenen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voorbeelden van energieomzettingen herkennen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diverse energievormen benoemen en hun kenmerken uitleggen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itle and Content 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1550</Words>
  <Application>Microsoft Office PowerPoint</Application>
  <PresentationFormat>Breedbeeld</PresentationFormat>
  <Paragraphs>304</Paragraphs>
  <Slides>60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60</vt:i4>
      </vt:variant>
    </vt:vector>
  </HeadingPairs>
  <TitlesOfParts>
    <vt:vector size="65" baseType="lpstr">
      <vt:lpstr>Aptos</vt:lpstr>
      <vt:lpstr>Arial</vt:lpstr>
      <vt:lpstr>Cambria Math</vt:lpstr>
      <vt:lpstr>Corbel</vt:lpstr>
      <vt:lpstr>Title and Content </vt:lpstr>
      <vt:lpstr>Arbeid en Energie</vt:lpstr>
      <vt:lpstr>Overzicht van alle lesdoelen</vt:lpstr>
      <vt:lpstr>Inhoudsopgave</vt:lpstr>
      <vt:lpstr>Van arbeid naar energie</vt:lpstr>
      <vt:lpstr>Definitie van arbeid</vt:lpstr>
      <vt:lpstr>Kracht en verplaatsing hebben dezelfde richting</vt:lpstr>
      <vt:lpstr>Arbeid en hoek tussen cte. kracht en verplaatsing</vt:lpstr>
      <vt:lpstr>Vectoriële beschrijving</vt:lpstr>
      <vt:lpstr>Opdracht 1</vt:lpstr>
      <vt:lpstr>Opdracht 1</vt:lpstr>
      <vt:lpstr>Grafische interpretatie</vt:lpstr>
      <vt:lpstr>Grafische interpretatie</vt:lpstr>
      <vt:lpstr>Voorbeeldoefening 1: De arbeid bepalen bij het uitrekken van een veer door veranderlijke krachten </vt:lpstr>
      <vt:lpstr>Voorbeeldoefening 2: De arbeid bepalen bij een gas dat uitzet </vt:lpstr>
      <vt:lpstr>Opdracht 2 </vt:lpstr>
      <vt:lpstr>Opdracht 2 (BC)</vt:lpstr>
      <vt:lpstr>Energie door arbeid</vt:lpstr>
      <vt:lpstr>Theorema arbeid-energie: kinetische energie (afleiding wordt niet op toets gevraagd, kan wel op examen gevraagd worden)</vt:lpstr>
      <vt:lpstr>Kinetische energie</vt:lpstr>
      <vt:lpstr>Interpretatie van het theorema</vt:lpstr>
      <vt:lpstr>Theorema arbeid-energie</vt:lpstr>
      <vt:lpstr>Einde 7/1/25</vt:lpstr>
      <vt:lpstr>Belang van resulterende kracht</vt:lpstr>
      <vt:lpstr>Voorbeeldoefening 3: De snelheid bepalen van een bal bij het trappen </vt:lpstr>
      <vt:lpstr>Opdracht 3</vt:lpstr>
      <vt:lpstr>Opdracht 3</vt:lpstr>
      <vt:lpstr>Opdracht 4</vt:lpstr>
      <vt:lpstr>Opdracht 4</vt:lpstr>
      <vt:lpstr>Opdracht 4</vt:lpstr>
      <vt:lpstr>Opdracht 5</vt:lpstr>
      <vt:lpstr>Opdracht 5</vt:lpstr>
      <vt:lpstr>Opdracht 6</vt:lpstr>
      <vt:lpstr>Opdracht 6 (2 in noemer)</vt:lpstr>
      <vt:lpstr>Opdracht 7</vt:lpstr>
      <vt:lpstr>Opdracht 7</vt:lpstr>
      <vt:lpstr>Opdracht 7</vt:lpstr>
      <vt:lpstr>Opdracht 7</vt:lpstr>
      <vt:lpstr>Zwaartekrachtenergie (zwaarte-energie)</vt:lpstr>
      <vt:lpstr>Situatie-energie</vt:lpstr>
      <vt:lpstr>Conservatieve krachten</vt:lpstr>
      <vt:lpstr>Belang van referentiehoogte</vt:lpstr>
      <vt:lpstr>Opdracht 8</vt:lpstr>
      <vt:lpstr>Opdracht 8</vt:lpstr>
      <vt:lpstr>Gravitatie-energie</vt:lpstr>
      <vt:lpstr>Gravitatie-energie</vt:lpstr>
      <vt:lpstr>Conservatieve kracht bij gravitatie</vt:lpstr>
      <vt:lpstr>Opdracht 9 (potentiële gravitatie-energie)</vt:lpstr>
      <vt:lpstr>Opdracht 9</vt:lpstr>
      <vt:lpstr>Veerenergie (elastische energie)</vt:lpstr>
      <vt:lpstr>Veerenergie (elastische energie)</vt:lpstr>
      <vt:lpstr>Wrijvingsenergie</vt:lpstr>
      <vt:lpstr>Energieomzetting bij wrijving</vt:lpstr>
      <vt:lpstr>Andere energievormen</vt:lpstr>
      <vt:lpstr>Andere energievormen:Inwendige energie</vt:lpstr>
      <vt:lpstr>Opdracht 10</vt:lpstr>
      <vt:lpstr>Opdracht 10</vt:lpstr>
      <vt:lpstr>Opdracht 11</vt:lpstr>
      <vt:lpstr>Opdracht 11</vt:lpstr>
      <vt:lpstr>Toetsdoelen</vt:lpstr>
      <vt:lpstr>Toetsdoelen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Diepte</Template>
  <TotalTime>1645</TotalTime>
  <Words>32</Words>
  <Application>Microsoft Office PowerPoint</Application>
  <PresentationFormat>Breedbeeld</PresentationFormat>
  <Paragraphs>11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Corbel</vt:lpstr>
      <vt:lpstr>Title and Content </vt:lpstr>
      <vt:lpstr>Title Slide</vt:lpstr>
      <vt:lpstr>Section Header</vt:lpstr>
      <vt:lpstr>Title and Content</vt:lpstr>
      <vt:lpstr>Two Content</vt:lpstr>
      <vt:lpstr>Comparison Slide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BELIE</dc:creator>
  <cp:keywords/>
  <cp:lastModifiedBy>Koen DE BELIE</cp:lastModifiedBy>
  <cp:revision>4</cp:revision>
  <dcterms:created xsi:type="dcterms:W3CDTF">2026-01-06T20:21:51Z</dcterms:created>
  <dcterms:modified xsi:type="dcterms:W3CDTF">2026-06-10T07:41:31Z</dcterms:modified>
</cp:coreProperties>
</file>