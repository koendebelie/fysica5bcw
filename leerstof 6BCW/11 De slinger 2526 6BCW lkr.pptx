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3"/>
  </p:notesMasterIdLst>
  <p:sldIdLst>
    <p:sldId id="284" r:id="rId2"/>
    <p:sldId id="311" r:id="rId3"/>
    <p:sldId id="312" r:id="rId4"/>
    <p:sldId id="285" r:id="rId5"/>
    <p:sldId id="286" r:id="rId6"/>
    <p:sldId id="287" r:id="rId7"/>
    <p:sldId id="289" r:id="rId8"/>
    <p:sldId id="290" r:id="rId9"/>
    <p:sldId id="288" r:id="rId10"/>
    <p:sldId id="257" r:id="rId11"/>
    <p:sldId id="282" r:id="rId12"/>
    <p:sldId id="259" r:id="rId13"/>
    <p:sldId id="260" r:id="rId14"/>
    <p:sldId id="283" r:id="rId15"/>
    <p:sldId id="261" r:id="rId16"/>
    <p:sldId id="263" r:id="rId17"/>
    <p:sldId id="315" r:id="rId18"/>
    <p:sldId id="264" r:id="rId19"/>
    <p:sldId id="262" r:id="rId20"/>
    <p:sldId id="267" r:id="rId21"/>
    <p:sldId id="269" r:id="rId22"/>
    <p:sldId id="270" r:id="rId23"/>
    <p:sldId id="271" r:id="rId24"/>
    <p:sldId id="273" r:id="rId25"/>
    <p:sldId id="274" r:id="rId26"/>
    <p:sldId id="292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7" r:id="rId38"/>
    <p:sldId id="308" r:id="rId39"/>
    <p:sldId id="306" r:id="rId40"/>
    <p:sldId id="313" r:id="rId41"/>
    <p:sldId id="314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93FCC-EB21-48B9-9559-118B521A4850}" v="20" dt="2026-03-18T20:30:52.336"/>
    <p1510:client id="{EDDD384E-91ED-4DFE-B1D3-A6FA7A97B42D}" v="2" dt="2026-03-17T22:04:07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37" autoAdjust="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76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custSel addSld delSld modSld">
      <pc:chgData name="Koen DE BELIE" userId="0b604c76-dc05-41eb-aae4-58be6ad353f8" providerId="ADAL" clId="{A0CAB841-4192-4D5A-AB98-8769508D3B25}" dt="2026-03-18T20:30:52.336" v="33" actId="20577"/>
      <pc:docMkLst>
        <pc:docMk/>
      </pc:docMkLst>
      <pc:sldChg chg="modSp">
        <pc:chgData name="Koen DE BELIE" userId="0b604c76-dc05-41eb-aae4-58be6ad353f8" providerId="ADAL" clId="{A0CAB841-4192-4D5A-AB98-8769508D3B25}" dt="2026-03-18T20:29:47.333" v="17" actId="20577"/>
        <pc:sldMkLst>
          <pc:docMk/>
          <pc:sldMk cId="957033454" sldId="260"/>
        </pc:sldMkLst>
        <pc:spChg chg="mod">
          <ac:chgData name="Koen DE BELIE" userId="0b604c76-dc05-41eb-aae4-58be6ad353f8" providerId="ADAL" clId="{A0CAB841-4192-4D5A-AB98-8769508D3B25}" dt="2026-03-18T20:29:47.333" v="17" actId="20577"/>
          <ac:spMkLst>
            <pc:docMk/>
            <pc:sldMk cId="957033454" sldId="260"/>
            <ac:spMk id="3" creationId="{00000000-0000-0000-0000-000000000000}"/>
          </ac:spMkLst>
        </pc:spChg>
      </pc:sldChg>
      <pc:sldChg chg="modSp">
        <pc:chgData name="Koen DE BELIE" userId="0b604c76-dc05-41eb-aae4-58be6ad353f8" providerId="ADAL" clId="{A0CAB841-4192-4D5A-AB98-8769508D3B25}" dt="2026-03-18T20:30:12.388" v="23" actId="20577"/>
        <pc:sldMkLst>
          <pc:docMk/>
          <pc:sldMk cId="1508753460" sldId="261"/>
        </pc:sldMkLst>
        <pc:spChg chg="mod">
          <ac:chgData name="Koen DE BELIE" userId="0b604c76-dc05-41eb-aae4-58be6ad353f8" providerId="ADAL" clId="{A0CAB841-4192-4D5A-AB98-8769508D3B25}" dt="2026-03-18T20:30:12.388" v="23" actId="20577"/>
          <ac:spMkLst>
            <pc:docMk/>
            <pc:sldMk cId="1508753460" sldId="261"/>
            <ac:spMk id="3" creationId="{00000000-0000-0000-0000-000000000000}"/>
          </ac:spMkLst>
        </pc:spChg>
      </pc:sldChg>
      <pc:sldChg chg="modSp">
        <pc:chgData name="Koen DE BELIE" userId="0b604c76-dc05-41eb-aae4-58be6ad353f8" providerId="ADAL" clId="{A0CAB841-4192-4D5A-AB98-8769508D3B25}" dt="2026-03-18T20:30:29.451" v="25" actId="20577"/>
        <pc:sldMkLst>
          <pc:docMk/>
          <pc:sldMk cId="1444559633" sldId="270"/>
        </pc:sldMkLst>
        <pc:spChg chg="mod">
          <ac:chgData name="Koen DE BELIE" userId="0b604c76-dc05-41eb-aae4-58be6ad353f8" providerId="ADAL" clId="{A0CAB841-4192-4D5A-AB98-8769508D3B25}" dt="2026-03-18T20:30:29.451" v="25" actId="20577"/>
          <ac:spMkLst>
            <pc:docMk/>
            <pc:sldMk cId="1444559633" sldId="270"/>
            <ac:spMk id="3" creationId="{00000000-0000-0000-0000-000000000000}"/>
          </ac:spMkLst>
        </pc:spChg>
      </pc:sldChg>
      <pc:sldChg chg="modSp">
        <pc:chgData name="Koen DE BELIE" userId="0b604c76-dc05-41eb-aae4-58be6ad353f8" providerId="ADAL" clId="{A0CAB841-4192-4D5A-AB98-8769508D3B25}" dt="2026-03-18T20:30:46.432" v="31" actId="20577"/>
        <pc:sldMkLst>
          <pc:docMk/>
          <pc:sldMk cId="3570963234" sldId="271"/>
        </pc:sldMkLst>
        <pc:spChg chg="mod">
          <ac:chgData name="Koen DE BELIE" userId="0b604c76-dc05-41eb-aae4-58be6ad353f8" providerId="ADAL" clId="{A0CAB841-4192-4D5A-AB98-8769508D3B25}" dt="2026-03-18T20:30:46.432" v="31" actId="20577"/>
          <ac:spMkLst>
            <pc:docMk/>
            <pc:sldMk cId="3570963234" sldId="271"/>
            <ac:spMk id="3" creationId="{00000000-0000-0000-0000-000000000000}"/>
          </ac:spMkLst>
        </pc:spChg>
      </pc:sldChg>
      <pc:sldChg chg="modSp">
        <pc:chgData name="Koen DE BELIE" userId="0b604c76-dc05-41eb-aae4-58be6ad353f8" providerId="ADAL" clId="{A0CAB841-4192-4D5A-AB98-8769508D3B25}" dt="2026-03-18T20:30:52.336" v="33" actId="20577"/>
        <pc:sldMkLst>
          <pc:docMk/>
          <pc:sldMk cId="669722006" sldId="273"/>
        </pc:sldMkLst>
        <pc:spChg chg="mod">
          <ac:chgData name="Koen DE BELIE" userId="0b604c76-dc05-41eb-aae4-58be6ad353f8" providerId="ADAL" clId="{A0CAB841-4192-4D5A-AB98-8769508D3B25}" dt="2026-03-18T20:30:52.336" v="33" actId="20577"/>
          <ac:spMkLst>
            <pc:docMk/>
            <pc:sldMk cId="669722006" sldId="273"/>
            <ac:spMk id="3" creationId="{00000000-0000-0000-0000-000000000000}"/>
          </ac:spMkLst>
        </pc:spChg>
      </pc:sldChg>
      <pc:sldChg chg="del">
        <pc:chgData name="Koen DE BELIE" userId="0b604c76-dc05-41eb-aae4-58be6ad353f8" providerId="ADAL" clId="{A0CAB841-4192-4D5A-AB98-8769508D3B25}" dt="2026-03-18T08:59:41.055" v="2" actId="47"/>
        <pc:sldMkLst>
          <pc:docMk/>
          <pc:sldMk cId="1768418404" sldId="310"/>
        </pc:sldMkLst>
      </pc:sldChg>
      <pc:sldChg chg="modSp mod">
        <pc:chgData name="Koen DE BELIE" userId="0b604c76-dc05-41eb-aae4-58be6ad353f8" providerId="ADAL" clId="{A0CAB841-4192-4D5A-AB98-8769508D3B25}" dt="2026-03-18T08:50:21.381" v="1" actId="27636"/>
        <pc:sldMkLst>
          <pc:docMk/>
          <pc:sldMk cId="0" sldId="311"/>
        </pc:sldMkLst>
        <pc:spChg chg="mod">
          <ac:chgData name="Koen DE BELIE" userId="0b604c76-dc05-41eb-aae4-58be6ad353f8" providerId="ADAL" clId="{A0CAB841-4192-4D5A-AB98-8769508D3B25}" dt="2026-03-18T08:50:21.381" v="1" actId="27636"/>
          <ac:spMkLst>
            <pc:docMk/>
            <pc:sldMk cId="0" sldId="311"/>
            <ac:spMk id="3" creationId="{00000000-0000-0000-0000-000000000000}"/>
          </ac:spMkLst>
        </pc:spChg>
      </pc:sldChg>
      <pc:sldChg chg="modSp new mod">
        <pc:chgData name="Koen DE BELIE" userId="0b604c76-dc05-41eb-aae4-58be6ad353f8" providerId="ADAL" clId="{A0CAB841-4192-4D5A-AB98-8769508D3B25}" dt="2026-03-18T09:08:01.293" v="13" actId="20577"/>
        <pc:sldMkLst>
          <pc:docMk/>
          <pc:sldMk cId="3125700881" sldId="315"/>
        </pc:sldMkLst>
        <pc:spChg chg="mod">
          <ac:chgData name="Koen DE BELIE" userId="0b604c76-dc05-41eb-aae4-58be6ad353f8" providerId="ADAL" clId="{A0CAB841-4192-4D5A-AB98-8769508D3B25}" dt="2026-03-18T09:08:01.293" v="13" actId="20577"/>
          <ac:spMkLst>
            <pc:docMk/>
            <pc:sldMk cId="3125700881" sldId="315"/>
            <ac:spMk id="2" creationId="{CCB1A0BE-A4F0-8FC1-A9AB-723D18ABEF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AF872-D682-4B4C-BDE4-0F63E63ED0AC}" type="datetimeFigureOut">
              <a:rPr lang="nl-NL" smtClean="0"/>
              <a:t>18-3-2026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BE877-AD56-427B-A234-0333C93D2A8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383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Puntmassa → benadering waarbij men veronderstelt dat alle massa van 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992ECA-FD68-42B2-AC38-D42A0E425D5B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883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4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1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4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57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84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2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7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2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67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4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0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4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807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5733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8499" y="1343818"/>
            <a:ext cx="11609798" cy="527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501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32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walter-fendt.de/html5/phnl/pendulum_nl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ter-fendt.de/html5/phnl/pendulum_nl.htm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www.walter-fendt.de/html5/phnl/pendulum_nl.htm&#8203;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e84vG6bzoA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nl-BE" dirty="0"/>
              <a:t>De slinger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nl-B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Lesdoelen van de volledige presentatie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Uitleggen</a:t>
            </a:r>
            <a:r>
              <a:rPr dirty="0"/>
              <a:t> wat </a:t>
            </a:r>
            <a:r>
              <a:rPr dirty="0" err="1"/>
              <a:t>een</a:t>
            </a:r>
            <a:r>
              <a:rPr dirty="0"/>
              <a:t> slinger is </a:t>
            </a:r>
            <a:r>
              <a:rPr dirty="0" err="1"/>
              <a:t>en</a:t>
            </a:r>
            <a:r>
              <a:rPr dirty="0"/>
              <a:t> hoe de </a:t>
            </a:r>
            <a:r>
              <a:rPr dirty="0" err="1"/>
              <a:t>beweging</a:t>
            </a:r>
            <a:r>
              <a:rPr dirty="0"/>
              <a:t> </a:t>
            </a:r>
            <a:r>
              <a:rPr dirty="0" err="1"/>
              <a:t>ontstaat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Onderscheid</a:t>
            </a:r>
            <a:r>
              <a:rPr dirty="0"/>
              <a:t> </a:t>
            </a:r>
            <a:r>
              <a:rPr dirty="0" err="1"/>
              <a:t>maken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wiskundige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fysische</a:t>
            </a:r>
            <a:r>
              <a:rPr dirty="0"/>
              <a:t> slinger.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Inzien</a:t>
            </a:r>
            <a:r>
              <a:rPr dirty="0"/>
              <a:t> </a:t>
            </a:r>
            <a:r>
              <a:rPr dirty="0" err="1"/>
              <a:t>waarom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uitwijking</a:t>
            </a:r>
            <a:r>
              <a:rPr dirty="0"/>
              <a:t> </a:t>
            </a:r>
            <a:r>
              <a:rPr dirty="0" err="1"/>
              <a:t>leidt</a:t>
            </a:r>
            <a:r>
              <a:rPr dirty="0"/>
              <a:t> tot </a:t>
            </a:r>
            <a:r>
              <a:rPr dirty="0" err="1"/>
              <a:t>een</a:t>
            </a:r>
            <a:r>
              <a:rPr dirty="0"/>
              <a:t> </a:t>
            </a:r>
            <a:r>
              <a:rPr dirty="0" err="1"/>
              <a:t>harmonische</a:t>
            </a:r>
            <a:r>
              <a:rPr dirty="0"/>
              <a:t> trilling.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/>
              <a:t>De </a:t>
            </a:r>
            <a:r>
              <a:rPr dirty="0" err="1"/>
              <a:t>invloed</a:t>
            </a:r>
            <a:r>
              <a:rPr dirty="0"/>
              <a:t> van de </a:t>
            </a:r>
            <a:r>
              <a:rPr dirty="0" err="1"/>
              <a:t>slingerlengte</a:t>
            </a:r>
            <a:r>
              <a:rPr dirty="0"/>
              <a:t> op de </a:t>
            </a:r>
            <a:r>
              <a:rPr dirty="0" err="1"/>
              <a:t>periode</a:t>
            </a:r>
            <a:r>
              <a:rPr dirty="0"/>
              <a:t> </a:t>
            </a:r>
            <a:r>
              <a:rPr dirty="0" err="1"/>
              <a:t>analyseren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grafisch</a:t>
            </a:r>
            <a:r>
              <a:rPr dirty="0"/>
              <a:t> </a:t>
            </a:r>
            <a:r>
              <a:rPr dirty="0" err="1"/>
              <a:t>interpreteren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/>
              <a:t>De </a:t>
            </a:r>
            <a:r>
              <a:rPr dirty="0" err="1"/>
              <a:t>invloed</a:t>
            </a:r>
            <a:r>
              <a:rPr dirty="0"/>
              <a:t> van </a:t>
            </a:r>
            <a:r>
              <a:rPr dirty="0" err="1"/>
              <a:t>massa</a:t>
            </a:r>
            <a:r>
              <a:rPr dirty="0"/>
              <a:t> op de </a:t>
            </a:r>
            <a:r>
              <a:rPr dirty="0" err="1"/>
              <a:t>periode</a:t>
            </a:r>
            <a:r>
              <a:rPr dirty="0"/>
              <a:t> </a:t>
            </a:r>
            <a:r>
              <a:rPr dirty="0" err="1"/>
              <a:t>onderzoeken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/>
              <a:t>De </a:t>
            </a:r>
            <a:r>
              <a:rPr dirty="0" err="1"/>
              <a:t>invloed</a:t>
            </a:r>
            <a:r>
              <a:rPr dirty="0"/>
              <a:t> van </a:t>
            </a:r>
            <a:r>
              <a:rPr dirty="0" err="1"/>
              <a:t>hoekamplitude</a:t>
            </a:r>
            <a:r>
              <a:rPr dirty="0"/>
              <a:t> </a:t>
            </a:r>
            <a:r>
              <a:rPr dirty="0" err="1"/>
              <a:t>duiden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</a:t>
            </a:r>
            <a:r>
              <a:rPr dirty="0" err="1"/>
              <a:t>kleine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grotere</a:t>
            </a:r>
            <a:r>
              <a:rPr dirty="0"/>
              <a:t> </a:t>
            </a:r>
            <a:r>
              <a:rPr dirty="0" err="1"/>
              <a:t>uitwijkingen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Verbanden</a:t>
            </a:r>
            <a:r>
              <a:rPr dirty="0"/>
              <a:t> </a:t>
            </a:r>
            <a:r>
              <a:rPr dirty="0" err="1"/>
              <a:t>herkennen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beoordelen</a:t>
            </a:r>
            <a:r>
              <a:rPr dirty="0"/>
              <a:t> in </a:t>
            </a:r>
            <a:r>
              <a:rPr dirty="0" err="1"/>
              <a:t>tabellen</a:t>
            </a:r>
            <a:r>
              <a:rPr dirty="0"/>
              <a:t>, </a:t>
            </a:r>
            <a:r>
              <a:rPr dirty="0" err="1"/>
              <a:t>berekeningen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grafieken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/>
              <a:t>Het </a:t>
            </a:r>
            <a:r>
              <a:rPr dirty="0" err="1"/>
              <a:t>verband</a:t>
            </a:r>
            <a:r>
              <a:rPr dirty="0"/>
              <a:t> </a:t>
            </a:r>
            <a:r>
              <a:rPr dirty="0" err="1"/>
              <a:t>tussen</a:t>
            </a:r>
            <a:r>
              <a:rPr dirty="0"/>
              <a:t> </a:t>
            </a:r>
            <a:r>
              <a:rPr dirty="0" err="1"/>
              <a:t>periode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zwaarteveldsterkte</a:t>
            </a:r>
            <a:r>
              <a:rPr dirty="0"/>
              <a:t> </a:t>
            </a:r>
            <a:r>
              <a:rPr dirty="0" err="1"/>
              <a:t>uitleggen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interpreteren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Uitleggen</a:t>
            </a:r>
            <a:r>
              <a:rPr dirty="0"/>
              <a:t> hoe </a:t>
            </a:r>
            <a:r>
              <a:rPr dirty="0" err="1"/>
              <a:t>potentiële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kinetische</a:t>
            </a:r>
            <a:r>
              <a:rPr dirty="0"/>
              <a:t> </a:t>
            </a:r>
            <a:r>
              <a:rPr dirty="0" err="1"/>
              <a:t>energie</a:t>
            </a:r>
            <a:r>
              <a:rPr dirty="0"/>
              <a:t> </a:t>
            </a:r>
            <a:r>
              <a:rPr dirty="0" err="1"/>
              <a:t>elkaar</a:t>
            </a:r>
            <a:r>
              <a:rPr dirty="0"/>
              <a:t> </a:t>
            </a:r>
            <a:r>
              <a:rPr dirty="0" err="1"/>
              <a:t>afwisselen</a:t>
            </a:r>
            <a:r>
              <a:rPr dirty="0"/>
              <a:t> in </a:t>
            </a:r>
            <a:r>
              <a:rPr dirty="0" err="1"/>
              <a:t>een</a:t>
            </a:r>
            <a:r>
              <a:rPr dirty="0"/>
              <a:t> slinger.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Toepassingen</a:t>
            </a:r>
            <a:r>
              <a:rPr dirty="0"/>
              <a:t> </a:t>
            </a:r>
            <a:r>
              <a:rPr dirty="0" err="1"/>
              <a:t>analyseren</a:t>
            </a:r>
            <a:r>
              <a:rPr dirty="0"/>
              <a:t> </a:t>
            </a:r>
            <a:r>
              <a:rPr dirty="0" err="1"/>
              <a:t>zoals</a:t>
            </a:r>
            <a:r>
              <a:rPr dirty="0"/>
              <a:t> de </a:t>
            </a:r>
            <a:r>
              <a:rPr dirty="0" err="1"/>
              <a:t>Foucaultslinger</a:t>
            </a:r>
            <a:r>
              <a:rPr dirty="0"/>
              <a:t>.</a:t>
            </a:r>
            <a:br>
              <a:rPr dirty="0"/>
            </a:br>
            <a:endParaRPr dirty="0"/>
          </a:p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dirty="0" err="1"/>
              <a:t>Periode</a:t>
            </a:r>
            <a:r>
              <a:rPr dirty="0"/>
              <a:t>, </a:t>
            </a:r>
            <a:r>
              <a:rPr dirty="0" err="1"/>
              <a:t>frequentie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lengte</a:t>
            </a:r>
            <a:r>
              <a:rPr dirty="0"/>
              <a:t> </a:t>
            </a:r>
            <a:r>
              <a:rPr dirty="0" err="1"/>
              <a:t>berekenen</a:t>
            </a:r>
            <a:r>
              <a:rPr dirty="0"/>
              <a:t> in diverse </a:t>
            </a:r>
            <a:r>
              <a:rPr dirty="0" err="1"/>
              <a:t>contexten</a:t>
            </a:r>
            <a:r>
              <a:rPr dirty="0"/>
              <a:t> (</a:t>
            </a:r>
            <a:r>
              <a:rPr dirty="0" err="1"/>
              <a:t>bv</a:t>
            </a:r>
            <a:r>
              <a:rPr dirty="0"/>
              <a:t>. op </a:t>
            </a:r>
            <a:r>
              <a:rPr dirty="0" err="1"/>
              <a:t>aarde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maan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Structuur van de PowerPoint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lvl="0">
              <a:spcBef>
                <a:spcPts val="600"/>
              </a:spcBef>
            </a:pPr>
            <a:r>
              <a:rPr sz="4000" dirty="0"/>
              <a:t>Wat is </a:t>
            </a:r>
            <a:r>
              <a:rPr sz="4000" dirty="0" err="1"/>
              <a:t>een</a:t>
            </a:r>
            <a:r>
              <a:rPr sz="4000" dirty="0"/>
              <a:t> slinger?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Wiskundige</a:t>
            </a:r>
            <a:r>
              <a:rPr sz="4000" dirty="0"/>
              <a:t> slinger vs. </a:t>
            </a:r>
            <a:r>
              <a:rPr sz="4000" dirty="0" err="1"/>
              <a:t>fysische</a:t>
            </a:r>
            <a:r>
              <a:rPr sz="4000" dirty="0"/>
              <a:t> slinger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Onderzoeksvragen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Slingerwet</a:t>
            </a:r>
            <a:r>
              <a:rPr sz="4000" dirty="0"/>
              <a:t> 1: </a:t>
            </a:r>
            <a:r>
              <a:rPr sz="4000" dirty="0" err="1"/>
              <a:t>invloed</a:t>
            </a:r>
            <a:r>
              <a:rPr sz="4000" dirty="0"/>
              <a:t> van amplitude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Slingerwet</a:t>
            </a:r>
            <a:r>
              <a:rPr sz="4000" dirty="0"/>
              <a:t> 2: </a:t>
            </a:r>
            <a:r>
              <a:rPr sz="4000" dirty="0" err="1"/>
              <a:t>invloed</a:t>
            </a:r>
            <a:r>
              <a:rPr sz="4000" dirty="0"/>
              <a:t> van </a:t>
            </a:r>
            <a:r>
              <a:rPr sz="4000" dirty="0" err="1"/>
              <a:t>massa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Slingerwet</a:t>
            </a:r>
            <a:r>
              <a:rPr sz="4000" dirty="0"/>
              <a:t> 3: </a:t>
            </a:r>
            <a:r>
              <a:rPr sz="4000" dirty="0" err="1"/>
              <a:t>invloed</a:t>
            </a:r>
            <a:r>
              <a:rPr sz="4000" dirty="0"/>
              <a:t> van </a:t>
            </a:r>
            <a:r>
              <a:rPr sz="4000" dirty="0" err="1"/>
              <a:t>lengte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Analyse</a:t>
            </a:r>
            <a:r>
              <a:rPr sz="4000" dirty="0"/>
              <a:t> van </a:t>
            </a:r>
            <a:r>
              <a:rPr sz="4000" dirty="0" err="1"/>
              <a:t>gegevens</a:t>
            </a:r>
            <a:r>
              <a:rPr sz="4000" dirty="0"/>
              <a:t> (</a:t>
            </a:r>
            <a:r>
              <a:rPr sz="4000" dirty="0" err="1"/>
              <a:t>tabellen</a:t>
            </a:r>
            <a:r>
              <a:rPr sz="4000" dirty="0"/>
              <a:t> &amp; </a:t>
            </a:r>
            <a:r>
              <a:rPr sz="4000" dirty="0" err="1"/>
              <a:t>grafieken</a:t>
            </a:r>
            <a:r>
              <a:rPr sz="4000" dirty="0"/>
              <a:t>)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Simulatie</a:t>
            </a:r>
            <a:r>
              <a:rPr sz="4000" dirty="0"/>
              <a:t> Walter Fendt — </a:t>
            </a:r>
            <a:r>
              <a:rPr sz="4000" dirty="0" err="1"/>
              <a:t>periode</a:t>
            </a:r>
            <a:r>
              <a:rPr sz="4000" dirty="0"/>
              <a:t> </a:t>
            </a:r>
            <a:r>
              <a:rPr sz="4000" dirty="0" err="1"/>
              <a:t>en</a:t>
            </a:r>
            <a:r>
              <a:rPr sz="4000" dirty="0"/>
              <a:t> </a:t>
            </a:r>
            <a:r>
              <a:rPr sz="4000" dirty="0" err="1"/>
              <a:t>lengte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Simulatie</a:t>
            </a:r>
            <a:r>
              <a:rPr sz="4000" dirty="0"/>
              <a:t> Walter Fendt — </a:t>
            </a:r>
            <a:r>
              <a:rPr sz="4000" dirty="0" err="1"/>
              <a:t>periode</a:t>
            </a:r>
            <a:r>
              <a:rPr sz="4000" dirty="0"/>
              <a:t> </a:t>
            </a:r>
            <a:r>
              <a:rPr sz="4000" dirty="0" err="1"/>
              <a:t>en</a:t>
            </a:r>
            <a:r>
              <a:rPr sz="4000" dirty="0"/>
              <a:t> g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Besluit</a:t>
            </a:r>
            <a:r>
              <a:rPr sz="4000" dirty="0"/>
              <a:t> van alle </a:t>
            </a:r>
            <a:r>
              <a:rPr sz="4000" dirty="0" err="1"/>
              <a:t>slingerwetten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/>
              <a:t>Energie: </a:t>
            </a:r>
            <a:r>
              <a:rPr sz="4000" dirty="0" err="1"/>
              <a:t>potentieel</a:t>
            </a:r>
            <a:r>
              <a:rPr sz="4000" dirty="0"/>
              <a:t> ↔ </a:t>
            </a:r>
            <a:r>
              <a:rPr sz="4000" dirty="0" err="1"/>
              <a:t>kinetisch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/>
              <a:t>Energie-</a:t>
            </a:r>
            <a:r>
              <a:rPr sz="4000" dirty="0" err="1"/>
              <a:t>animaties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Toepassingen</a:t>
            </a:r>
            <a:r>
              <a:rPr sz="4000" dirty="0"/>
              <a:t> </a:t>
            </a:r>
            <a:r>
              <a:rPr sz="4000" dirty="0" err="1"/>
              <a:t>en</a:t>
            </a:r>
            <a:r>
              <a:rPr sz="4000" dirty="0"/>
              <a:t> </a:t>
            </a:r>
            <a:r>
              <a:rPr sz="4000" dirty="0" err="1"/>
              <a:t>oefeningen</a:t>
            </a:r>
            <a:br>
              <a:rPr sz="4000" dirty="0"/>
            </a:br>
            <a:endParaRPr sz="4000" dirty="0"/>
          </a:p>
          <a:p>
            <a:pPr lvl="0">
              <a:spcBef>
                <a:spcPts val="600"/>
              </a:spcBef>
            </a:pPr>
            <a:r>
              <a:rPr sz="4000" dirty="0" err="1"/>
              <a:t>Foucaultslinger</a:t>
            </a:r>
            <a:br>
              <a:rPr dirty="0"/>
            </a:br>
            <a:endParaRPr dirty="0"/>
          </a:p>
          <a:p>
            <a:pPr lvl="0">
              <a:spcBef>
                <a:spcPts val="600"/>
              </a:spcBef>
            </a:pPr>
            <a:r>
              <a:rPr sz="3400" dirty="0" err="1"/>
              <a:t>Eindopdrachten</a:t>
            </a:r>
            <a:r>
              <a:rPr sz="3400" dirty="0"/>
              <a:t> </a:t>
            </a:r>
            <a:r>
              <a:rPr sz="3400" dirty="0" err="1"/>
              <a:t>en</a:t>
            </a:r>
            <a:r>
              <a:rPr sz="3400" dirty="0"/>
              <a:t> </a:t>
            </a:r>
            <a:r>
              <a:rPr sz="3400" dirty="0" err="1"/>
              <a:t>rekenvoorbeelden</a:t>
            </a:r>
            <a:endParaRPr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nl-NL" dirty="0"/>
              <a:t>Massa opgehangen aan uiteinde van koord; </a:t>
            </a:r>
          </a:p>
          <a:p>
            <a:pPr>
              <a:spcAft>
                <a:spcPts val="1800"/>
              </a:spcAft>
            </a:pPr>
            <a:r>
              <a:rPr lang="nl-NL" dirty="0"/>
              <a:t>massa opzij getrokken en losgelaten → heen en weer bewegen </a:t>
            </a:r>
            <a:r>
              <a:rPr lang="nl-NL" dirty="0" err="1"/>
              <a:t>o.i.v</a:t>
            </a:r>
            <a:r>
              <a:rPr lang="nl-NL" dirty="0"/>
              <a:t>. zwaartekracht;</a:t>
            </a:r>
          </a:p>
          <a:p>
            <a:pPr>
              <a:spcAft>
                <a:spcPts val="1800"/>
              </a:spcAft>
            </a:pPr>
            <a:r>
              <a:rPr lang="nl-NL" dirty="0"/>
              <a:t>massa passeert telkens het centrale, laagste punt.</a:t>
            </a:r>
          </a:p>
          <a:p>
            <a:pPr>
              <a:spcAft>
                <a:spcPts val="1800"/>
              </a:spcAft>
            </a:pPr>
            <a:r>
              <a:rPr lang="nl-NL" dirty="0"/>
              <a:t>Bij kleine uitwijkingen is een slinger een voorbeeld van een harmonische trilling.</a:t>
            </a:r>
          </a:p>
          <a:p>
            <a:endParaRPr lang="nl-B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1C72C-967B-4B23-81D1-E5359462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600"/>
            <a:ext cx="9144000" cy="1143000"/>
          </a:xfrm>
        </p:spPr>
        <p:txBody>
          <a:bodyPr/>
          <a:lstStyle/>
          <a:p>
            <a:r>
              <a:rPr lang="nl-BE" sz="4200" dirty="0"/>
              <a:t>Wiskundige slinger ↔ fysische slinger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BD319B6-9A6F-4012-9DFE-84A779963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nl-N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Ideale wiskundige slinger bestaat uit  puntmassa, opgehangen aan een massaloos onelastisch koord. 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nl-N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werkelijkheid kan men niet helemaal aan deze voorwaarden voldoen en daarom spreekt men over een fysische slinger.</a:t>
            </a:r>
          </a:p>
          <a:p>
            <a:pPr>
              <a:spcBef>
                <a:spcPts val="0"/>
              </a:spcBef>
              <a:spcAft>
                <a:spcPts val="3000"/>
              </a:spcAft>
            </a:pPr>
            <a:r>
              <a:rPr lang="nl-NL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slingerwetten die we gaan onderzoeken gelden voor de ideale wiskundige slinger → benadering.</a:t>
            </a:r>
          </a:p>
          <a:p>
            <a:pPr lvl="1">
              <a:spcBef>
                <a:spcPts val="0"/>
              </a:spcBef>
              <a:spcAft>
                <a:spcPts val="3000"/>
              </a:spcAft>
            </a:pPr>
            <a:r>
              <a:rPr lang="nl-NL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Bij kleine uitwijkingen </a:t>
            </a:r>
            <a:endParaRPr lang="nl-BE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8868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Onderzoek van de slingerwetten bij een wiskundige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18499" y="1884731"/>
            <a:ext cx="11609798" cy="5272739"/>
          </a:xfrm>
        </p:spPr>
        <p:txBody>
          <a:bodyPr/>
          <a:lstStyle/>
          <a:p>
            <a:r>
              <a:rPr lang="nl-BE" dirty="0"/>
              <a:t>Verband tussen periode en hoekamplitude.</a:t>
            </a:r>
          </a:p>
          <a:p>
            <a:r>
              <a:rPr lang="nl-BE" dirty="0"/>
              <a:t>Verband tussen periode en massa bij kleine amplitude.</a:t>
            </a:r>
          </a:p>
          <a:p>
            <a:r>
              <a:rPr lang="nl-BE" dirty="0"/>
              <a:t>Verband tussen de periode en de slingerlengte.</a:t>
            </a:r>
          </a:p>
          <a:p>
            <a:r>
              <a:rPr lang="nl-BE" dirty="0"/>
              <a:t>Verband tussen de periode en g.</a:t>
            </a:r>
          </a:p>
          <a:p>
            <a:pPr lvl="1"/>
            <a:r>
              <a:rPr lang="nl-BE" i="1" dirty="0"/>
              <a:t>Hoe zou men het verband tussen periode en g kunnen onderzoeken?</a:t>
            </a:r>
          </a:p>
          <a:p>
            <a:pPr lvl="1"/>
            <a:endParaRPr lang="nl-B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Onderzoek van de slingerwetten</a:t>
            </a:r>
            <a:br>
              <a:rPr lang="nl-BE" dirty="0"/>
            </a:br>
            <a:r>
              <a:rPr lang="nl-BE" dirty="0"/>
              <a:t>bij een wiskundige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18499" y="1585261"/>
            <a:ext cx="11609798" cy="5272739"/>
          </a:xfrm>
        </p:spPr>
        <p:txBody>
          <a:bodyPr/>
          <a:lstStyle/>
          <a:p>
            <a:r>
              <a:rPr lang="nl-BE" dirty="0"/>
              <a:t>Verband tussen periode en hoekamplitude.</a:t>
            </a:r>
          </a:p>
          <a:p>
            <a:endParaRPr lang="nl-BE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3593" y="2564905"/>
            <a:ext cx="7218363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7" y="5013177"/>
            <a:ext cx="8399463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Onderzoek van de slingerwetten bij een wiskundige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18499" y="1728734"/>
            <a:ext cx="11609798" cy="5272739"/>
          </a:xfrm>
        </p:spPr>
        <p:txBody>
          <a:bodyPr/>
          <a:lstStyle/>
          <a:p>
            <a:r>
              <a:rPr lang="nl-BE" dirty="0"/>
              <a:t>Verband tussen periode en massa bij kleine amplitude.</a:t>
            </a:r>
          </a:p>
          <a:p>
            <a:endParaRPr lang="nl-BE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2708920"/>
            <a:ext cx="8015048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9577" y="4653136"/>
            <a:ext cx="757017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Applet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1600" dirty="0">
                <a:hlinkClick r:id="rId2"/>
              </a:rPr>
              <a:t>https://www.walter-fendt.de/html5/phnl/pendulum_nl.htm</a:t>
            </a:r>
            <a:endParaRPr lang="nl-BE" sz="1600" dirty="0"/>
          </a:p>
          <a:p>
            <a:endParaRPr lang="nl-BE" sz="1600" dirty="0"/>
          </a:p>
          <a:p>
            <a:endParaRPr lang="nl-BE" dirty="0">
              <a:effectLst/>
            </a:endParaRPr>
          </a:p>
          <a:p>
            <a:endParaRPr lang="nl-BE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79" y="2403814"/>
            <a:ext cx="8724374" cy="422558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C3730DE-C758-4CEB-AE62-2E4CFED63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216" y="133517"/>
            <a:ext cx="2160212" cy="217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3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5"/>
            <a:ext cx="12191999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Onderzoeksvraag</a:t>
            </a:r>
            <a:r>
              <a:rPr lang="nl-BE" dirty="0"/>
              <a:t> 1 applet slinger Walter </a:t>
            </a:r>
            <a:r>
              <a:rPr lang="nl-BE" dirty="0" err="1"/>
              <a:t>Fendt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dirty="0"/>
                  <a:t>Hoe </a:t>
                </a:r>
                <a:r>
                  <a:rPr dirty="0" err="1"/>
                  <a:t>hangt</a:t>
                </a:r>
                <a:r>
                  <a:rPr dirty="0"/>
                  <a:t> de </a:t>
                </a:r>
                <a:r>
                  <a:rPr dirty="0" err="1"/>
                  <a:t>periode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slinger </a:t>
                </a:r>
                <a:r>
                  <a:rPr dirty="0" err="1"/>
                  <a:t>af</a:t>
                </a:r>
                <a:r>
                  <a:rPr dirty="0"/>
                  <a:t> van de </a:t>
                </a:r>
                <a:r>
                  <a:rPr dirty="0" err="1"/>
                  <a:t>lengte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dirty="0"/>
                  <a:t> van de slinger?</a:t>
                </a:r>
              </a:p>
              <a:p>
                <a:pPr marL="0" lvl="0" indent="0">
                  <a:buNone/>
                </a:pPr>
                <a:r>
                  <a:rPr dirty="0"/>
                  <a:t>We </a:t>
                </a:r>
                <a:r>
                  <a:rPr dirty="0" err="1"/>
                  <a:t>onderzoeken</a:t>
                </a:r>
                <a:r>
                  <a:rPr dirty="0"/>
                  <a:t> </a:t>
                </a:r>
                <a:r>
                  <a:rPr lang="nl-BE" dirty="0"/>
                  <a:t>vier</a:t>
                </a:r>
                <a:r>
                  <a:rPr dirty="0"/>
                  <a:t> </a:t>
                </a:r>
                <a:r>
                  <a:rPr dirty="0" err="1"/>
                  <a:t>mogelijke</a:t>
                </a:r>
                <a:r>
                  <a:rPr dirty="0"/>
                  <a:t> </a:t>
                </a:r>
                <a:r>
                  <a:rPr dirty="0" err="1"/>
                  <a:t>verbanden</a:t>
                </a:r>
                <a:r>
                  <a:rPr dirty="0"/>
                  <a:t>: </a:t>
                </a:r>
                <a:endParaRPr lang="nl-BE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dirty="0"/>
                  <a:t>Recht </a:t>
                </a:r>
                <a:r>
                  <a:rPr dirty="0" err="1"/>
                  <a:t>evenredig</a:t>
                </a:r>
                <a:r>
                  <a:rPr lang="nl-BE" dirty="0"/>
                  <a:t> verband?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dirty="0" err="1"/>
                  <a:t>Omgekeerd</a:t>
                </a:r>
                <a:r>
                  <a:rPr dirty="0"/>
                  <a:t> </a:t>
                </a:r>
                <a:r>
                  <a:rPr dirty="0" err="1"/>
                  <a:t>evenredig</a:t>
                </a:r>
                <a:r>
                  <a:rPr dirty="0"/>
                  <a:t> </a:t>
                </a:r>
                <a:r>
                  <a:rPr lang="nl-BE" dirty="0"/>
                  <a:t>verband?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nl-BE" dirty="0"/>
                  <a:t>Kwadratisch verband?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nl-BE" dirty="0"/>
                  <a:t>T </a:t>
                </a:r>
                <a:r>
                  <a:rPr lang="nl-BE" dirty="0" err="1"/>
                  <a:t>rechtevenredig</a:t>
                </a:r>
                <a:r>
                  <a:rPr lang="nl-BE" dirty="0"/>
                  <a:t> met vierkantswortel van l?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nl-BE" dirty="0"/>
              </a:p>
              <a:p>
                <a:pPr marL="457200" lvl="1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029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2A0E8-E8D8-3D07-B919-B426A6ED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98792F8-5B4D-2B2C-86A9-885B1F2065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marL="0" lvl="0" indent="0">
                  <a:buNone/>
                </a:pPr>
                <a:r>
                  <a:rPr lang="nl-NL" dirty="0"/>
                  <a:t>Verband tussen periode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en lengte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BE" dirty="0"/>
                  <a:t> van een slinger</a:t>
                </a:r>
                <a:endParaRPr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98792F8-5B4D-2B2C-86A9-885B1F2065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F2259-1916-6712-6386-B95AD61AD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nl-NL" dirty="0">
                <a:hlinkClick r:id="rId3"/>
              </a:rPr>
              <a:t>https://www.walter-fendt.de/html5/phnl/pendulum_nl.htm</a:t>
            </a:r>
            <a:endParaRPr lang="nl-NL" dirty="0"/>
          </a:p>
          <a:p>
            <a:pPr marL="0" lvl="0" indent="0">
              <a:buNone/>
            </a:pPr>
            <a:endParaRPr dirty="0"/>
          </a:p>
        </p:txBody>
      </p:sp>
      <p:pic>
        <p:nvPicPr>
          <p:cNvPr id="7" name="Afbeelding 6">
            <a:hlinkClick r:id="rId4"/>
            <a:extLst>
              <a:ext uri="{FF2B5EF4-FFF2-40B4-BE49-F238E27FC236}">
                <a16:creationId xmlns:a16="http://schemas.microsoft.com/office/drawing/2014/main" id="{B26C787E-4BC7-8DF2-D411-B84C9CED3D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4669" y="2007700"/>
            <a:ext cx="7520714" cy="3944974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C7DBEF6B-E192-5F3F-E655-6D79E6602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08" y="2191271"/>
            <a:ext cx="3749253" cy="28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3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760" y="18255"/>
            <a:ext cx="11401276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nl-NL" dirty="0"/>
              <a:t>Mogelijkheid 1: </a:t>
            </a:r>
            <a:r>
              <a:rPr dirty="0"/>
              <a:t>Recht </a:t>
            </a:r>
            <a:r>
              <a:rPr dirty="0" err="1"/>
              <a:t>Evenredig</a:t>
            </a:r>
            <a:r>
              <a:rPr dirty="0"/>
              <a:t> </a:t>
            </a:r>
            <a:r>
              <a:rPr dirty="0" err="1"/>
              <a:t>Verband</a:t>
            </a:r>
            <a:r>
              <a:rPr lang="nl-BE" dirty="0"/>
              <a:t> ?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nl-NL" dirty="0"/>
                  <a:t>Als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recht</a:t>
                </a:r>
                <a:r>
                  <a:rPr lang="nl-NL" dirty="0"/>
                  <a:t> </a:t>
                </a:r>
                <a:r>
                  <a:rPr lang="nl-NL" dirty="0" err="1"/>
                  <a:t>evenredig</a:t>
                </a:r>
                <a:r>
                  <a:rPr lang="nl-NL" dirty="0"/>
                  <a:t> </a:t>
                </a:r>
                <a:r>
                  <a:rPr lang="nl-NL" dirty="0" err="1"/>
                  <a:t>zijn</a:t>
                </a:r>
                <a:r>
                  <a:rPr lang="nl-NL" dirty="0"/>
                  <a:t>, </a:t>
                </a:r>
                <a:r>
                  <a:rPr lang="nl-NL" dirty="0" err="1"/>
                  <a:t>moet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nl-NL" dirty="0"/>
                  <a:t>constant </a:t>
                </a:r>
                <a:r>
                  <a:rPr lang="nl-NL" dirty="0" err="1"/>
                  <a:t>zijn</a:t>
                </a:r>
                <a:r>
                  <a:rPr lang="nl-NL" dirty="0"/>
                  <a:t>.</a:t>
                </a:r>
              </a:p>
              <a:p>
                <a:pPr marL="0" lvl="0" indent="0">
                  <a:buNone/>
                </a:pPr>
                <a:r>
                  <a:rPr lang="nl-NL" dirty="0" err="1"/>
                  <a:t>Berekening</a:t>
                </a:r>
                <a:r>
                  <a:rPr lang="nl-NL" dirty="0"/>
                  <a:t> van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ar-AE" dirty="0"/>
                  <a:t>: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84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lang="ar-AE" dirty="0"/>
                  <a:t>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47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ar-AE"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NL" b="1" dirty="0" err="1"/>
                  <a:t>Conclusie</a:t>
                </a:r>
                <a:r>
                  <a:rPr lang="nl-NL" b="1" dirty="0"/>
                  <a:t>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zijn</a:t>
                </a:r>
                <a:r>
                  <a:rPr lang="nl-NL" dirty="0"/>
                  <a:t> </a:t>
                </a:r>
                <a:r>
                  <a:rPr lang="nl-NL" dirty="0" err="1"/>
                  <a:t>niet</a:t>
                </a:r>
                <a:r>
                  <a:rPr lang="nl-NL" dirty="0"/>
                  <a:t> </a:t>
                </a:r>
                <a:r>
                  <a:rPr lang="nl-NL" dirty="0" err="1"/>
                  <a:t>recht</a:t>
                </a:r>
                <a:r>
                  <a:rPr lang="nl-NL" dirty="0"/>
                  <a:t> </a:t>
                </a:r>
                <a:r>
                  <a:rPr lang="nl-NL" dirty="0" err="1"/>
                  <a:t>evenredig</a:t>
                </a:r>
                <a:r>
                  <a:rPr lang="nl-NL" dirty="0"/>
                  <a:t>, </a:t>
                </a:r>
                <a:r>
                  <a:rPr lang="nl-NL" dirty="0" err="1"/>
                  <a:t>omdat</a:t>
                </a:r>
                <a:r>
                  <a:rPr lang="nl-NL" dirty="0"/>
                  <a:t> de </a:t>
                </a:r>
                <a:r>
                  <a:rPr lang="nl-NL" dirty="0" err="1"/>
                  <a:t>verhoudingen</a:t>
                </a:r>
                <a:r>
                  <a:rPr lang="nl-NL" dirty="0"/>
                  <a:t> </a:t>
                </a:r>
                <a:r>
                  <a:rPr lang="nl-NL" dirty="0" err="1"/>
                  <a:t>niet</a:t>
                </a:r>
                <a:r>
                  <a:rPr lang="nl-NL" dirty="0"/>
                  <a:t> constant </a:t>
                </a:r>
                <a:r>
                  <a:rPr lang="nl-NL" dirty="0" err="1"/>
                  <a:t>zijn</a:t>
                </a:r>
                <a:r>
                  <a:rPr lang="nl-NL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6FEA4B3A-4F83-396D-60BB-5DE69E129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080" y="2396545"/>
            <a:ext cx="3749253" cy="28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5"/>
            <a:ext cx="12191999" cy="13255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4700" dirty="0" err="1"/>
              <a:t>Mogelijkheid</a:t>
            </a:r>
            <a:r>
              <a:rPr sz="4700" dirty="0"/>
              <a:t> 2: </a:t>
            </a:r>
            <a:r>
              <a:rPr sz="4700" dirty="0" err="1"/>
              <a:t>Omgekeerd</a:t>
            </a:r>
            <a:r>
              <a:rPr sz="4700" dirty="0"/>
              <a:t> </a:t>
            </a:r>
            <a:r>
              <a:rPr sz="4700" dirty="0" err="1"/>
              <a:t>Evenredig</a:t>
            </a:r>
            <a:r>
              <a:rPr sz="4700" dirty="0"/>
              <a:t> </a:t>
            </a:r>
            <a:r>
              <a:rPr sz="4700" dirty="0" err="1"/>
              <a:t>Verband</a:t>
            </a:r>
            <a:r>
              <a:rPr lang="nl-BE" sz="4700" dirty="0"/>
              <a:t>?</a:t>
            </a:r>
            <a:endParaRPr sz="4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nl-BE" dirty="0"/>
                  <a:t>Als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omgekeerd</a:t>
                </a:r>
                <a:r>
                  <a:rPr lang="nl-BE" dirty="0"/>
                  <a:t> </a:t>
                </a:r>
                <a:r>
                  <a:rPr lang="nl-BE" dirty="0" err="1"/>
                  <a:t>evenredig</a:t>
                </a:r>
                <a:r>
                  <a:rPr lang="nl-BE" dirty="0"/>
                  <a:t> is met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BE" dirty="0"/>
                  <a:t>, </a:t>
                </a:r>
                <a:r>
                  <a:rPr lang="nl-BE" dirty="0" err="1"/>
                  <a:t>geldt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𝑡𝑒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 err="1"/>
                  <a:t>Waarbij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constante</a:t>
                </a:r>
                <a:r>
                  <a:rPr lang="nl-BE" dirty="0"/>
                  <a:t> is.</a:t>
                </a:r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BE" b="1" dirty="0" err="1"/>
                  <a:t>Observatie</a:t>
                </a:r>
                <a:r>
                  <a:rPr lang="nl-BE" b="1" dirty="0"/>
                  <a:t>:</a:t>
                </a:r>
              </a:p>
              <a:p>
                <a:pPr marL="0" lvl="0" indent="0">
                  <a:buNone/>
                </a:pPr>
                <a:r>
                  <a:rPr lang="nl-BE" dirty="0"/>
                  <a:t>De </a:t>
                </a:r>
                <a:r>
                  <a:rPr lang="nl-BE" dirty="0" err="1"/>
                  <a:t>waarden</a:t>
                </a:r>
                <a:r>
                  <a:rPr lang="nl-BE" dirty="0"/>
                  <a:t> van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nemen</a:t>
                </a:r>
                <a:r>
                  <a:rPr lang="nl-BE" dirty="0"/>
                  <a:t> </a:t>
                </a:r>
                <a:r>
                  <a:rPr lang="nl-BE" dirty="0" err="1"/>
                  <a:t>niet</a:t>
                </a:r>
                <a:r>
                  <a:rPr lang="nl-BE" dirty="0"/>
                  <a:t> </a:t>
                </a:r>
                <a:r>
                  <a:rPr lang="nl-BE" dirty="0" err="1"/>
                  <a:t>af</a:t>
                </a:r>
                <a:r>
                  <a:rPr lang="nl-BE" dirty="0"/>
                  <a:t> </a:t>
                </a:r>
                <a:br>
                  <a:rPr lang="nl-BE" dirty="0"/>
                </a:br>
                <a:r>
                  <a:rPr lang="nl-BE" dirty="0" err="1"/>
                  <a:t>wanneer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toeneemt</a:t>
                </a:r>
                <a:r>
                  <a:rPr lang="nl-BE" dirty="0"/>
                  <a:t>, maar </a:t>
                </a:r>
                <a:r>
                  <a:rPr lang="nl-BE" dirty="0" err="1"/>
                  <a:t>stijgen</a:t>
                </a:r>
                <a:r>
                  <a:rPr lang="nl-BE" dirty="0"/>
                  <a:t> </a:t>
                </a:r>
                <a:r>
                  <a:rPr lang="nl-BE" dirty="0" err="1"/>
                  <a:t>juist</a:t>
                </a:r>
                <a:r>
                  <a:rPr lang="nl-BE" dirty="0"/>
                  <a:t>.</a:t>
                </a:r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BE" b="1" dirty="0" err="1"/>
                  <a:t>Conclusie</a:t>
                </a:r>
                <a:r>
                  <a:rPr lang="nl-BE" b="1" dirty="0"/>
                  <a:t>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en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zijn</a:t>
                </a:r>
                <a:r>
                  <a:rPr lang="nl-BE" dirty="0"/>
                  <a:t> </a:t>
                </a:r>
                <a:r>
                  <a:rPr lang="nl-BE" dirty="0" err="1"/>
                  <a:t>niet</a:t>
                </a:r>
                <a:r>
                  <a:rPr lang="nl-BE" dirty="0"/>
                  <a:t> </a:t>
                </a:r>
                <a:r>
                  <a:rPr lang="nl-BE" dirty="0" err="1"/>
                  <a:t>omgekeerd</a:t>
                </a:r>
                <a:r>
                  <a:rPr lang="nl-BE" dirty="0"/>
                  <a:t> </a:t>
                </a:r>
                <a:r>
                  <a:rPr lang="nl-BE" dirty="0" err="1"/>
                  <a:t>evenredig</a:t>
                </a:r>
                <a:r>
                  <a:rPr lang="nl-BE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063B65DE-C91B-AAF7-A0D8-D817DDC2A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446" y="2396545"/>
            <a:ext cx="3749253" cy="28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033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C6D60-D21F-A4F2-B414-AE2B0F065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Mogelijkheid 3: Kwadratisch verband tussen T en 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14E888-BDDD-7062-2738-62C632499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Aan de resultaten is duidelijk te zien dat T niet evenredig is met het kwadraat van l: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425EDD7B-25E0-18D6-F9CB-823A9F98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781" y="2547227"/>
            <a:ext cx="3749253" cy="286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71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529" y="156484"/>
            <a:ext cx="11127768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/>
              <a:t>Mogelijkheid</a:t>
            </a:r>
            <a:r>
              <a:rPr dirty="0"/>
              <a:t> </a:t>
            </a:r>
            <a:r>
              <a:rPr lang="nl-BE" dirty="0"/>
              <a:t>4</a:t>
            </a:r>
            <a:r>
              <a:rPr dirty="0"/>
              <a:t>: </a:t>
            </a:r>
            <a:r>
              <a:rPr lang="nl-BE" dirty="0" err="1"/>
              <a:t>Rechtevenredig</a:t>
            </a:r>
            <a:r>
              <a:rPr lang="nl-BE" dirty="0"/>
              <a:t> verband tussen T en </a:t>
            </a:r>
            <a:r>
              <a:rPr lang="nl-BE" dirty="0" err="1"/>
              <a:t>vierkantsw</a:t>
            </a:r>
            <a:r>
              <a:rPr dirty="0" err="1"/>
              <a:t>ortel</a:t>
            </a:r>
            <a:r>
              <a:rPr lang="nl-BE" dirty="0"/>
              <a:t> van l?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8499" y="1567006"/>
                <a:ext cx="11609798" cy="5272739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nl-BE" dirty="0"/>
                  <a:t>Als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rechtevenredig</a:t>
                </a:r>
                <a:r>
                  <a:rPr lang="nl-BE" dirty="0"/>
                  <a:t> is met vierkantswortel van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BE" dirty="0"/>
                  <a:t>, dan </a:t>
                </a:r>
                <a:r>
                  <a:rPr lang="nl-BE" dirty="0" err="1"/>
                  <a:t>geldt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BE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te</m:t>
                          </m:r>
                          <m:r>
                            <a:rPr lang="nl-BE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BE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ra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/>
                  <a:t>of, equivalent: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te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 err="1"/>
                  <a:t>Waarbij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te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constante</a:t>
                </a:r>
                <a:r>
                  <a:rPr lang="nl-BE" dirty="0"/>
                  <a:t> is.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499" y="1567006"/>
                <a:ext cx="11609798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87487D62-0F7E-AD8B-BE6A-68E5A667A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460" y="3736184"/>
            <a:ext cx="4954732" cy="296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53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nl-NL" dirty="0"/>
              <a:t>Mogelijkheid 3: </a:t>
            </a:r>
            <a:r>
              <a:rPr lang="nl-NL" dirty="0" err="1"/>
              <a:t>Rechtevenredig</a:t>
            </a:r>
            <a:r>
              <a:rPr lang="nl-NL" dirty="0"/>
              <a:t> verband tussen T en vierkantswortel van l?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nl-NL" dirty="0"/>
                  <a:t>Berekening van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nl-NL" dirty="0"/>
                  <a:t>om </a:t>
                </a:r>
                <a:r>
                  <a:rPr lang="nl-NL" dirty="0" err="1"/>
                  <a:t>te</a:t>
                </a:r>
                <a:r>
                  <a:rPr lang="nl-NL" dirty="0"/>
                  <a:t> </a:t>
                </a:r>
                <a:r>
                  <a:rPr lang="nl-NL" dirty="0" err="1"/>
                  <a:t>controleren</a:t>
                </a:r>
                <a:r>
                  <a:rPr lang="nl-NL" dirty="0"/>
                  <a:t> op </a:t>
                </a:r>
                <a:r>
                  <a:rPr lang="nl-NL" dirty="0" err="1"/>
                  <a:t>een</a:t>
                </a:r>
                <a:r>
                  <a:rPr lang="nl-NL" dirty="0"/>
                  <a:t> </a:t>
                </a:r>
                <a:r>
                  <a:rPr lang="nl-NL" dirty="0" err="1"/>
                  <a:t>constante</a:t>
                </a:r>
                <a:r>
                  <a:rPr lang="nl-NL" dirty="0"/>
                  <a:t> </a:t>
                </a:r>
                <a:r>
                  <a:rPr lang="nl-NL" dirty="0" err="1"/>
                  <a:t>verhouding</a:t>
                </a:r>
                <a:r>
                  <a:rPr lang="nl-NL" dirty="0"/>
                  <a:t>:</a:t>
                </a: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04</m:t>
                    </m:r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06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03</m:t>
                    </m:r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04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08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02</m:t>
                    </m:r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03</m:t>
                    </m:r>
                  </m:oMath>
                </a14:m>
                <a:endParaRPr lang="ar-AE"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NL" b="1" dirty="0" err="1"/>
                  <a:t>Conclusie</a:t>
                </a:r>
                <a:r>
                  <a:rPr lang="nl-NL" b="1" dirty="0"/>
                  <a:t>:</a:t>
                </a:r>
              </a:p>
              <a:p>
                <a:pPr marL="0" lvl="0" indent="0">
                  <a:buNone/>
                </a:pPr>
                <a:r>
                  <a:rPr lang="nl-NL" dirty="0"/>
                  <a:t>De </a:t>
                </a:r>
                <a:r>
                  <a:rPr lang="nl-NL" dirty="0" err="1"/>
                  <a:t>verhouding</a:t>
                </a:r>
                <a:r>
                  <a:rPr lang="nl-NL" dirty="0"/>
                  <a:t> is constant, wat </a:t>
                </a:r>
                <a:r>
                  <a:rPr lang="nl-NL" dirty="0" err="1"/>
                  <a:t>bevestigt</a:t>
                </a:r>
                <a:r>
                  <a:rPr lang="nl-NL" dirty="0"/>
                  <a:t> </a:t>
                </a:r>
                <a:r>
                  <a:rPr lang="nl-NL" dirty="0" err="1"/>
                  <a:t>dat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een</a:t>
                </a:r>
                <a:r>
                  <a:rPr lang="nl-NL" dirty="0"/>
                  <a:t> </a:t>
                </a:r>
                <a:r>
                  <a:rPr lang="nl-NL" dirty="0" err="1"/>
                  <a:t>wortelfunctie</a:t>
                </a:r>
                <a:r>
                  <a:rPr lang="nl-NL" dirty="0"/>
                  <a:t> </a:t>
                </a:r>
                <a:r>
                  <a:rPr lang="nl-NL" dirty="0" err="1"/>
                  <a:t>verband</a:t>
                </a:r>
                <a:r>
                  <a:rPr lang="nl-NL" dirty="0"/>
                  <a:t> </a:t>
                </a:r>
                <a:r>
                  <a:rPr lang="nl-NL" dirty="0" err="1"/>
                  <a:t>hebben</a:t>
                </a:r>
                <a:r>
                  <a:rPr lang="nl-NL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57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8154D56A-D7FD-555C-9BE7-8CDDEE07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51" y="1946333"/>
            <a:ext cx="6007522" cy="359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90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1A0BE-A4F0-8FC1-A9AB-723D18AB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18/3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9A2584-75FE-C4AD-7195-538677C03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5700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nl-BE" dirty="0"/>
              <a:t>C</a:t>
            </a:r>
            <a:r>
              <a:rPr dirty="0" err="1"/>
              <a:t>onclusie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Het </a:t>
                </a:r>
                <a:r>
                  <a:rPr dirty="0" err="1"/>
                  <a:t>verband</a:t>
                </a:r>
                <a:r>
                  <a:rPr dirty="0"/>
                  <a:t> </a:t>
                </a:r>
                <a:r>
                  <a:rPr dirty="0" err="1"/>
                  <a:t>tussen</a:t>
                </a:r>
                <a:r>
                  <a:rPr dirty="0"/>
                  <a:t> de </a:t>
                </a:r>
                <a:r>
                  <a:rPr dirty="0" err="1"/>
                  <a:t>periode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de </a:t>
                </a:r>
                <a:r>
                  <a:rPr dirty="0" err="1"/>
                  <a:t>lengte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slinger is </a:t>
                </a:r>
                <a:r>
                  <a:rPr dirty="0" err="1"/>
                  <a:t>een</a:t>
                </a:r>
                <a:r>
                  <a:rPr dirty="0"/>
                  <a:t> </a:t>
                </a:r>
                <a:r>
                  <a:rPr dirty="0" err="1"/>
                  <a:t>wortelfunctie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NL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ra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Dit</a:t>
                </a:r>
                <a:r>
                  <a:rPr dirty="0"/>
                  <a:t> </a:t>
                </a:r>
                <a:r>
                  <a:rPr dirty="0" err="1"/>
                  <a:t>betekent</a:t>
                </a:r>
                <a:r>
                  <a:rPr dirty="0"/>
                  <a:t> </a:t>
                </a:r>
                <a:r>
                  <a:rPr dirty="0" err="1"/>
                  <a:t>dat</a:t>
                </a:r>
                <a:r>
                  <a:rPr dirty="0"/>
                  <a:t> de </a:t>
                </a:r>
                <a:r>
                  <a:rPr dirty="0" err="1"/>
                  <a:t>periode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slinger </a:t>
                </a:r>
                <a:r>
                  <a:rPr dirty="0" err="1"/>
                  <a:t>recht</a:t>
                </a:r>
                <a:r>
                  <a:rPr dirty="0"/>
                  <a:t> </a:t>
                </a:r>
                <a:r>
                  <a:rPr dirty="0" err="1"/>
                  <a:t>evenredig</a:t>
                </a:r>
                <a:r>
                  <a:rPr dirty="0"/>
                  <a:t> is met de </a:t>
                </a:r>
                <a:r>
                  <a:rPr dirty="0" err="1"/>
                  <a:t>vierkantswortel</a:t>
                </a:r>
                <a:r>
                  <a:rPr dirty="0"/>
                  <a:t> van de </a:t>
                </a:r>
                <a:r>
                  <a:rPr dirty="0" err="1"/>
                  <a:t>lengte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844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Onderzoek van de slingerwetten bij een wiskundige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18499" y="1858973"/>
            <a:ext cx="11609798" cy="5272739"/>
          </a:xfrm>
        </p:spPr>
        <p:txBody>
          <a:bodyPr/>
          <a:lstStyle/>
          <a:p>
            <a:r>
              <a:rPr lang="nl-BE" dirty="0"/>
              <a:t>Verband tussen de periode en de slingerlengte.</a:t>
            </a:r>
          </a:p>
          <a:p>
            <a:endParaRPr lang="nl-BE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5601" y="2708921"/>
            <a:ext cx="7342187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7" y="5301209"/>
            <a:ext cx="8313737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4120" y="1343818"/>
                <a:ext cx="11873501" cy="5272739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Hoe </a:t>
                </a:r>
                <a:r>
                  <a:rPr dirty="0" err="1"/>
                  <a:t>hangt</a:t>
                </a:r>
                <a:r>
                  <a:rPr dirty="0"/>
                  <a:t> de </a:t>
                </a:r>
                <a:r>
                  <a:rPr dirty="0" err="1"/>
                  <a:t>periode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van </a:t>
                </a:r>
                <a:r>
                  <a:rPr dirty="0" err="1"/>
                  <a:t>een</a:t>
                </a:r>
                <a:r>
                  <a:rPr dirty="0"/>
                  <a:t> slinger </a:t>
                </a:r>
                <a:r>
                  <a:rPr dirty="0" err="1"/>
                  <a:t>af</a:t>
                </a:r>
                <a:r>
                  <a:rPr dirty="0"/>
                  <a:t> van de </a:t>
                </a:r>
                <a:r>
                  <a:rPr lang="nl-BE" dirty="0"/>
                  <a:t>zwaarteveldsterkte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dirty="0"/>
                  <a:t>?</a:t>
                </a:r>
              </a:p>
              <a:p>
                <a:pPr marL="0" lvl="0" indent="0">
                  <a:buNone/>
                </a:pPr>
                <a:r>
                  <a:rPr dirty="0"/>
                  <a:t>We </a:t>
                </a:r>
                <a:r>
                  <a:rPr dirty="0" err="1"/>
                  <a:t>onderzoeken</a:t>
                </a:r>
                <a:r>
                  <a:rPr dirty="0"/>
                  <a:t> vier </a:t>
                </a:r>
                <a:r>
                  <a:rPr dirty="0" err="1"/>
                  <a:t>mogelijke</a:t>
                </a:r>
                <a:r>
                  <a:rPr dirty="0"/>
                  <a:t> </a:t>
                </a:r>
                <a:r>
                  <a:rPr dirty="0" err="1"/>
                  <a:t>verbanden</a:t>
                </a:r>
                <a:r>
                  <a:rPr dirty="0"/>
                  <a:t>: </a:t>
                </a:r>
                <a:endParaRPr lang="nl-BE" dirty="0"/>
              </a:p>
              <a:p>
                <a:pPr marL="0" lvl="0" indent="0">
                  <a:buNone/>
                </a:pPr>
                <a:r>
                  <a:rPr lang="nl-NL" dirty="0"/>
                  <a:t>We onderzoeken vier mogelijke verbanden: 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nl-NL" dirty="0"/>
                  <a:t>Recht evenredig verband?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nl-NL" dirty="0"/>
                  <a:t>Omgekeerd evenredig verband?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nl-NL" dirty="0"/>
                  <a:t>T omgekeerd evenredig verband met vierkantswortel van g?</a:t>
                </a:r>
              </a:p>
              <a:p>
                <a:pPr marL="971550" lvl="1" indent="-514350">
                  <a:buFont typeface="+mj-lt"/>
                  <a:buAutoNum type="arabicPeriod"/>
                </a:pPr>
                <a:endParaRPr lang="nl-NL" dirty="0"/>
              </a:p>
              <a:p>
                <a:pPr marL="0" lvl="0" indent="0">
                  <a:buNone/>
                </a:pPr>
                <a:r>
                  <a:rPr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120" y="1343818"/>
                <a:ext cx="11873501" cy="52727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1B2B56C-2563-9DE0-DA5A-B4E910982C8C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221939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0" kern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nl-NL" dirty="0"/>
              <a:t>Onderzoeksvraag 2 applet slinger Walter </a:t>
            </a:r>
            <a:r>
              <a:rPr lang="nl-NL" dirty="0" err="1"/>
              <a:t>Fendt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9447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499" y="18255"/>
            <a:ext cx="11609798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nl-BE" dirty="0"/>
              <a:t>Mogelijkheid 1</a:t>
            </a:r>
            <a:r>
              <a:rPr dirty="0"/>
              <a:t>: Recht </a:t>
            </a:r>
            <a:r>
              <a:rPr dirty="0" err="1"/>
              <a:t>Evenredig</a:t>
            </a:r>
            <a:r>
              <a:rPr dirty="0"/>
              <a:t> </a:t>
            </a:r>
            <a:r>
              <a:rPr dirty="0" err="1"/>
              <a:t>Verband</a:t>
            </a:r>
            <a:r>
              <a:rPr lang="nl-BE" dirty="0"/>
              <a:t>?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lang="nl-NL" dirty="0"/>
                  <a:t>Als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recht</a:t>
                </a:r>
                <a:r>
                  <a:rPr lang="nl-NL" dirty="0"/>
                  <a:t> </a:t>
                </a:r>
                <a:r>
                  <a:rPr lang="nl-NL" dirty="0" err="1"/>
                  <a:t>evenredig</a:t>
                </a:r>
                <a:r>
                  <a:rPr lang="nl-NL" dirty="0"/>
                  <a:t> </a:t>
                </a:r>
                <a:r>
                  <a:rPr lang="nl-NL" dirty="0" err="1"/>
                  <a:t>zijn</a:t>
                </a:r>
                <a:r>
                  <a:rPr lang="nl-NL" dirty="0"/>
                  <a:t>, </a:t>
                </a:r>
                <a:r>
                  <a:rPr lang="nl-NL" dirty="0" err="1"/>
                  <a:t>moet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nl-NL" dirty="0"/>
                  <a:t>constant </a:t>
                </a:r>
                <a:r>
                  <a:rPr lang="nl-NL" dirty="0" err="1"/>
                  <a:t>zijn</a:t>
                </a:r>
                <a:r>
                  <a:rPr lang="nl-NL" dirty="0"/>
                  <a:t>.</a:t>
                </a:r>
              </a:p>
              <a:p>
                <a:pPr marL="0" lvl="0" indent="0">
                  <a:buNone/>
                </a:pPr>
                <a:r>
                  <a:rPr lang="nl-NL" dirty="0" err="1"/>
                  <a:t>Berekening</a:t>
                </a:r>
                <a:r>
                  <a:rPr lang="nl-NL" dirty="0"/>
                  <a:t> van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nl-NL" dirty="0"/>
                  <a:t>voor verschillende waarden:</a:t>
                </a: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93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lang="ar-AE" dirty="0"/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nl-BE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>
                        <a:latin typeface="Cambria Math" panose="02040503050406030204" pitchFamily="18" charset="0"/>
                      </a:rPr>
                      <m:t>2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lang="ar-AE"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NL" b="1" dirty="0"/>
                  <a:t>Conclusie: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en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dirty="0"/>
                  <a:t> zijn niet recht evenredig, omdat de verhoudingen niet constant zijn.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4BD0F86F-3F6B-354E-415A-756CDC1DD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69381"/>
            <a:ext cx="5280931" cy="291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6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 err="1">
                <a:solidFill>
                  <a:schemeClr val="tx1"/>
                </a:solidFill>
              </a:rPr>
              <a:t>Mogelijkheid</a:t>
            </a:r>
            <a:r>
              <a:rPr dirty="0">
                <a:solidFill>
                  <a:schemeClr val="tx1"/>
                </a:solidFill>
              </a:rPr>
              <a:t> 2: </a:t>
            </a:r>
            <a:r>
              <a:rPr dirty="0" err="1">
                <a:solidFill>
                  <a:schemeClr val="tx1"/>
                </a:solidFill>
              </a:rPr>
              <a:t>Omgekeerd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Evenredig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Verband</a:t>
            </a:r>
            <a:r>
              <a:rPr lang="nl-BE" dirty="0">
                <a:solidFill>
                  <a:schemeClr val="tx1"/>
                </a:solidFill>
              </a:rPr>
              <a:t>?</a:t>
            </a:r>
            <a:endParaRPr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lang="nl-NL" sz="2800" dirty="0"/>
                  <a:t>Als </a:t>
                </a:r>
                <a14:m>
                  <m:oMath xmlns:m="http://schemas.openxmlformats.org/officeDocument/2006/math">
                    <m:r>
                      <a:rPr lang="nl-NL" sz="28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sz="2800" dirty="0"/>
                  <a:t> </a:t>
                </a:r>
                <a:r>
                  <a:rPr lang="nl-NL" sz="2800" dirty="0" err="1"/>
                  <a:t>omgekeerd</a:t>
                </a:r>
                <a:r>
                  <a:rPr lang="nl-NL" sz="2800" dirty="0"/>
                  <a:t> </a:t>
                </a:r>
                <a:r>
                  <a:rPr lang="nl-NL" sz="2800" dirty="0" err="1"/>
                  <a:t>evenredig</a:t>
                </a:r>
                <a:r>
                  <a:rPr lang="nl-NL" sz="2800" dirty="0"/>
                  <a:t> is met </a:t>
                </a:r>
                <a14:m>
                  <m:oMath xmlns:m="http://schemas.openxmlformats.org/officeDocument/2006/math">
                    <m:r>
                      <a:rPr lang="nl-NL" sz="28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sz="2800" dirty="0"/>
                  <a:t>, </a:t>
                </a:r>
                <a:r>
                  <a:rPr lang="nl-NL" sz="2800" dirty="0" err="1"/>
                  <a:t>geldt</a:t>
                </a:r>
                <a:r>
                  <a:rPr lang="nl-NL" sz="2800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 sz="280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NL" sz="2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nl-BE" sz="2800" b="0" i="1" smtClean="0">
                              <a:latin typeface="Cambria Math" panose="02040503050406030204" pitchFamily="18" charset="0"/>
                            </a:rPr>
                            <m:t>𝑡𝑒</m:t>
                          </m:r>
                        </m:num>
                        <m:den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ar-AE" sz="2800" dirty="0"/>
              </a:p>
              <a:p>
                <a:pPr marL="0" lvl="0" indent="0">
                  <a:buNone/>
                </a:pPr>
                <a:r>
                  <a:rPr lang="nl-NL" sz="2800" dirty="0" err="1"/>
                  <a:t>Waarbij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BE" sz="2800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nl-NL" sz="2800" dirty="0"/>
                  <a:t> een constante is.</a:t>
                </a:r>
              </a:p>
              <a:p>
                <a:pPr marL="0" lvl="0" indent="0">
                  <a:buNone/>
                </a:pPr>
                <a:endParaRPr lang="nl-NL" sz="28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 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.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93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.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.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81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. 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nl-NL" sz="2800"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NL" sz="2800" b="1" dirty="0" err="1"/>
                  <a:t>Observatie</a:t>
                </a:r>
                <a:r>
                  <a:rPr lang="nl-NL" sz="2800" b="1" dirty="0"/>
                  <a:t>:</a:t>
                </a:r>
              </a:p>
              <a:p>
                <a:pPr marL="0" lvl="0" indent="0">
                  <a:buNone/>
                </a:pPr>
                <a:r>
                  <a:rPr lang="nl-NL" sz="2800" dirty="0"/>
                  <a:t>De </a:t>
                </a:r>
                <a:r>
                  <a:rPr lang="nl-NL" sz="2800" dirty="0" err="1"/>
                  <a:t>waarden</a:t>
                </a:r>
                <a:r>
                  <a:rPr lang="nl-NL" sz="2800" dirty="0"/>
                  <a:t> van </a:t>
                </a:r>
                <a14:m>
                  <m:oMath xmlns:m="http://schemas.openxmlformats.org/officeDocument/2006/math">
                    <m:r>
                      <a:rPr lang="nl-NL" sz="28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sz="2800" dirty="0"/>
                  <a:t> </a:t>
                </a:r>
                <a:r>
                  <a:rPr lang="nl-NL" sz="2800" dirty="0" err="1"/>
                  <a:t>nemen</a:t>
                </a:r>
                <a:r>
                  <a:rPr lang="nl-NL" sz="2800" dirty="0"/>
                  <a:t> </a:t>
                </a:r>
                <a:r>
                  <a:rPr lang="nl-NL" sz="2800" dirty="0" err="1"/>
                  <a:t>af</a:t>
                </a:r>
                <a:r>
                  <a:rPr lang="nl-NL" sz="2800" dirty="0"/>
                  <a:t> </a:t>
                </a:r>
                <a:r>
                  <a:rPr lang="nl-NL" sz="2800" dirty="0" err="1"/>
                  <a:t>wanneer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r>
                      <a:rPr lang="nl-NL" sz="28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sz="2800" dirty="0"/>
                  <a:t> toeneemt, maar de relatie is niet precies omgekeerd evenredig, want T . g is niet </a:t>
                </a:r>
                <a:r>
                  <a:rPr lang="nl-NL" sz="2800" dirty="0" err="1"/>
                  <a:t>cte</a:t>
                </a:r>
                <a:r>
                  <a:rPr lang="nl-NL" sz="2800" dirty="0"/>
                  <a:t>.</a:t>
                </a:r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NL" sz="2800" b="1" dirty="0" err="1"/>
                  <a:t>Conclusie</a:t>
                </a:r>
                <a:r>
                  <a:rPr lang="nl-NL" sz="2800" b="1" dirty="0"/>
                  <a:t>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nl-NL" sz="280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sz="2800" dirty="0"/>
                  <a:t> </a:t>
                </a:r>
                <a:r>
                  <a:rPr lang="nl-NL" sz="2800" dirty="0" err="1"/>
                  <a:t>en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r>
                      <a:rPr lang="nl-NL" sz="280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sz="2800" dirty="0"/>
                  <a:t> </a:t>
                </a:r>
                <a:r>
                  <a:rPr lang="nl-NL" sz="2800" dirty="0" err="1"/>
                  <a:t>zijn</a:t>
                </a:r>
                <a:r>
                  <a:rPr lang="nl-NL" sz="2800" dirty="0"/>
                  <a:t> </a:t>
                </a:r>
                <a:r>
                  <a:rPr lang="nl-NL" sz="2800" dirty="0" err="1"/>
                  <a:t>niet</a:t>
                </a:r>
                <a:r>
                  <a:rPr lang="nl-NL" sz="2800" dirty="0"/>
                  <a:t> </a:t>
                </a:r>
                <a:r>
                  <a:rPr lang="nl-NL" sz="2800" dirty="0" err="1"/>
                  <a:t>omgekeerd</a:t>
                </a:r>
                <a:r>
                  <a:rPr lang="nl-NL" sz="2800" dirty="0"/>
                  <a:t> </a:t>
                </a:r>
                <a:r>
                  <a:rPr lang="nl-NL" sz="2800" dirty="0" err="1"/>
                  <a:t>evenredig</a:t>
                </a:r>
                <a:r>
                  <a:rPr lang="nl-NL" sz="2800" dirty="0"/>
                  <a:t>.</a:t>
                </a:r>
                <a:endParaRPr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EC29128E-8237-980C-A5A8-43090798B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67" y="806656"/>
            <a:ext cx="4400334" cy="24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596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598" y="313632"/>
            <a:ext cx="10515600" cy="1325563"/>
          </a:xfrm>
        </p:spPr>
        <p:txBody>
          <a:bodyPr>
            <a:normAutofit fontScale="90000"/>
          </a:bodyPr>
          <a:lstStyle/>
          <a:p>
            <a:r>
              <a:rPr dirty="0" err="1"/>
              <a:t>Mogelijkheid</a:t>
            </a:r>
            <a:r>
              <a:rPr dirty="0"/>
              <a:t> 3: </a:t>
            </a:r>
            <a:r>
              <a:rPr lang="nl-NL" dirty="0"/>
              <a:t>T omgekeerd evenredig verband met vierkantswortel van g?</a:t>
            </a:r>
            <a:br>
              <a:rPr lang="nl-NL" dirty="0"/>
            </a:b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nl-NL" dirty="0"/>
                  <a:t>Als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een</a:t>
                </a:r>
                <a:r>
                  <a:rPr lang="nl-NL" dirty="0"/>
                  <a:t> </a:t>
                </a:r>
                <a:r>
                  <a:rPr lang="nl-NL" dirty="0" err="1"/>
                  <a:t>wortelfunctie</a:t>
                </a:r>
                <a:r>
                  <a:rPr lang="nl-NL" dirty="0"/>
                  <a:t> is van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dirty="0"/>
                  <a:t>, dan </a:t>
                </a:r>
                <a:r>
                  <a:rPr lang="nl-NL" dirty="0" err="1"/>
                  <a:t>geldt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NL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NL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te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NL" dirty="0"/>
                  <a:t>of equivalent: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te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NL" dirty="0" err="1"/>
                  <a:t>Waarbij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een</a:t>
                </a:r>
                <a:r>
                  <a:rPr lang="nl-NL" dirty="0"/>
                  <a:t> </a:t>
                </a:r>
                <a:r>
                  <a:rPr lang="nl-NL" dirty="0" err="1"/>
                  <a:t>constante</a:t>
                </a:r>
                <a:r>
                  <a:rPr lang="nl-NL" dirty="0"/>
                  <a:t> is.</a:t>
                </a:r>
              </a:p>
              <a:p>
                <a:pPr marL="0" lvl="0" indent="0">
                  <a:buNone/>
                </a:pPr>
                <a:r>
                  <a:rPr lang="nl-NL" dirty="0"/>
                  <a:t>					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nl-BE" dirty="0"/>
                  <a:t>te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95FFEDE6-7FB7-B609-588D-A7AECF21D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276" y="2401002"/>
            <a:ext cx="47720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63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nl-NL" dirty="0"/>
              <a:t>Mogelijkheid 3: T omgekeerd evenredig verband met vierkantswortel van g?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nl-NL" dirty="0"/>
                  <a:t>Berekening van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ar-AE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te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nl-NL" dirty="0"/>
                  <a:t>om </a:t>
                </a:r>
                <a:r>
                  <a:rPr lang="nl-NL" dirty="0" err="1"/>
                  <a:t>te</a:t>
                </a:r>
                <a:r>
                  <a:rPr lang="nl-NL" dirty="0"/>
                  <a:t> </a:t>
                </a:r>
                <a:r>
                  <a:rPr lang="nl-NL" dirty="0" err="1"/>
                  <a:t>controleren</a:t>
                </a:r>
                <a:r>
                  <a:rPr lang="nl-NL" dirty="0"/>
                  <a:t> op </a:t>
                </a:r>
                <a:r>
                  <a:rPr lang="nl-NL" dirty="0" err="1"/>
                  <a:t>een</a:t>
                </a:r>
                <a:r>
                  <a:rPr lang="nl-NL" dirty="0"/>
                  <a:t> </a:t>
                </a:r>
                <a:r>
                  <a:rPr lang="nl-NL" dirty="0" err="1"/>
                  <a:t>constante</a:t>
                </a:r>
                <a:r>
                  <a:rPr lang="nl-NL" dirty="0"/>
                  <a:t> </a:t>
                </a:r>
                <a:r>
                  <a:rPr lang="nl-NL" dirty="0" err="1"/>
                  <a:t>verhouding</a:t>
                </a:r>
                <a:r>
                  <a:rPr lang="nl-NL" dirty="0"/>
                  <a:t>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196</m:t>
                    </m:r>
                    <m:r>
                      <a:rPr lang="nl-NL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00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>
                        <a:latin typeface="Cambria Math" panose="02040503050406030204" pitchFamily="18" charset="0"/>
                      </a:rPr>
                      <m:t>1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00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≈</m:t>
                    </m:r>
                    <m:r>
                      <a:rPr lang="nl-NL"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endParaRPr lang="nl-NL" dirty="0"/>
              </a:p>
              <a:p>
                <a:pPr lvl="0"/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98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60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>
                        <a:latin typeface="Cambria Math" panose="02040503050406030204" pitchFamily="18" charset="0"/>
                      </a:rPr>
                      <m:t>2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00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≈</m:t>
                    </m:r>
                    <m:r>
                      <a:rPr lang="nl-NL">
                        <a:latin typeface="Cambria Math" panose="02040503050406030204" pitchFamily="18" charset="0"/>
                      </a:rPr>
                      <m:t>197</m:t>
                    </m:r>
                  </m:oMath>
                </a14:m>
                <a:endParaRPr lang="nl-NL" dirty="0"/>
              </a:p>
              <a:p>
                <a:pPr lvl="0"/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65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77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⋅</m:t>
                    </m:r>
                    <m:r>
                      <a:rPr lang="nl-NL">
                        <a:latin typeface="Cambria Math" panose="02040503050406030204" pitchFamily="18" charset="0"/>
                      </a:rPr>
                      <m:t>3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NL">
                        <a:latin typeface="Cambria Math" panose="02040503050406030204" pitchFamily="18" charset="0"/>
                      </a:rPr>
                      <m:t>00</m:t>
                    </m:r>
                    <m:r>
                      <a:rPr lang="nl-NL">
                        <a:latin typeface="Cambria Math" panose="02040503050406030204" pitchFamily="18" charset="0"/>
                      </a:rPr>
                      <m:t>≈</m:t>
                    </m:r>
                    <m:r>
                      <a:rPr lang="nl-NL">
                        <a:latin typeface="Cambria Math" panose="02040503050406030204" pitchFamily="18" charset="0"/>
                      </a:rPr>
                      <m:t>197</m:t>
                    </m:r>
                  </m:oMath>
                </a14:m>
                <a:endParaRPr lang="nl-NL"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lang="nl-NL" b="1" dirty="0" err="1"/>
                  <a:t>Conclusie</a:t>
                </a:r>
                <a:r>
                  <a:rPr lang="nl-NL" b="1" dirty="0"/>
                  <a:t>:</a:t>
                </a:r>
              </a:p>
              <a:p>
                <a:pPr marL="0" lvl="0" indent="0">
                  <a:buNone/>
                </a:pPr>
                <a:r>
                  <a:rPr lang="nl-NL" dirty="0"/>
                  <a:t>De verhouding is vrijwel constant, wat bevestigt dat T een omgekeerd evenredig verband heeft met vierkantswortel van g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82FAE0F9-C6FA-CE9B-1473-360AE3C54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044" y="2593507"/>
            <a:ext cx="47720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2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nl-BE" dirty="0"/>
              <a:t>C</a:t>
            </a:r>
            <a:r>
              <a:rPr dirty="0" err="1"/>
              <a:t>onclusie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nl-BE" dirty="0"/>
                  <a:t>Het </a:t>
                </a:r>
                <a:r>
                  <a:rPr lang="nl-BE" dirty="0" err="1"/>
                  <a:t>verband</a:t>
                </a:r>
                <a:r>
                  <a:rPr lang="nl-BE" dirty="0"/>
                  <a:t> </a:t>
                </a:r>
                <a:r>
                  <a:rPr lang="nl-BE" dirty="0" err="1"/>
                  <a:t>tussen</a:t>
                </a:r>
                <a:r>
                  <a:rPr lang="nl-BE" dirty="0"/>
                  <a:t> de </a:t>
                </a:r>
                <a:r>
                  <a:rPr lang="nl-BE" dirty="0" err="1"/>
                  <a:t>periode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en</a:t>
                </a:r>
                <a:r>
                  <a:rPr lang="nl-BE" dirty="0"/>
                  <a:t> de zwaarteveldsterkte</a:t>
                </a:r>
                <a14:m>
                  <m:oMath xmlns:m="http://schemas.openxmlformats.org/officeDocument/2006/math">
                    <m:r>
                      <a:rPr lang="nl-B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 err="1"/>
                  <a:t>bij</a:t>
                </a:r>
                <a:r>
                  <a:rPr lang="nl-BE" dirty="0"/>
                  <a:t> </a:t>
                </a:r>
                <a:r>
                  <a:rPr lang="nl-BE" dirty="0" err="1"/>
                  <a:t>een</a:t>
                </a:r>
                <a:r>
                  <a:rPr lang="nl-BE" dirty="0"/>
                  <a:t> slinger is </a:t>
                </a:r>
                <a:r>
                  <a:rPr lang="nl-BE" dirty="0" err="1"/>
                  <a:t>een</a:t>
                </a:r>
                <a:r>
                  <a:rPr lang="nl-BE" dirty="0"/>
                  <a:t> </a:t>
                </a:r>
                <a:r>
                  <a:rPr lang="nl-BE" dirty="0" err="1"/>
                  <a:t>wortelfunctie</a:t>
                </a:r>
                <a:r>
                  <a:rPr lang="nl-B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nl-BE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BE" dirty="0" err="1"/>
                  <a:t>Dit</a:t>
                </a:r>
                <a:r>
                  <a:rPr lang="nl-BE" dirty="0"/>
                  <a:t> </a:t>
                </a:r>
                <a:r>
                  <a:rPr lang="nl-BE" dirty="0" err="1"/>
                  <a:t>betekent</a:t>
                </a:r>
                <a:r>
                  <a:rPr lang="nl-BE" dirty="0"/>
                  <a:t> </a:t>
                </a:r>
                <a:r>
                  <a:rPr lang="nl-BE" dirty="0" err="1"/>
                  <a:t>dat</a:t>
                </a:r>
                <a:r>
                  <a:rPr lang="nl-BE" dirty="0"/>
                  <a:t> de </a:t>
                </a:r>
                <a:r>
                  <a:rPr lang="nl-BE" dirty="0" err="1"/>
                  <a:t>periode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nl-BE" dirty="0"/>
                  <a:t> van </a:t>
                </a:r>
                <a:r>
                  <a:rPr lang="nl-BE" dirty="0" err="1"/>
                  <a:t>een</a:t>
                </a:r>
                <a:r>
                  <a:rPr lang="nl-BE" dirty="0"/>
                  <a:t> slinger </a:t>
                </a:r>
                <a:r>
                  <a:rPr lang="nl-BE" dirty="0" err="1"/>
                  <a:t>omgekeerd</a:t>
                </a:r>
                <a:r>
                  <a:rPr lang="nl-BE" dirty="0"/>
                  <a:t> </a:t>
                </a:r>
                <a:r>
                  <a:rPr lang="nl-BE" dirty="0" err="1"/>
                  <a:t>evenredig</a:t>
                </a:r>
                <a:r>
                  <a:rPr lang="nl-BE" dirty="0"/>
                  <a:t> is met de </a:t>
                </a:r>
                <a:r>
                  <a:rPr lang="nl-BE" dirty="0" err="1"/>
                  <a:t>vierkantswortel</a:t>
                </a:r>
                <a:r>
                  <a:rPr lang="nl-BE" dirty="0"/>
                  <a:t> van de zwaarteveldsterkte </a:t>
                </a:r>
                <a14:m>
                  <m:oMath xmlns:m="http://schemas.openxmlformats.org/officeDocument/2006/math">
                    <m:r>
                      <a:rPr lang="nl-BE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931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Onderzoek van de slingerwetten bij een wiskundige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Verband tussen de periode en g.</a:t>
            </a:r>
          </a:p>
          <a:p>
            <a:pPr lvl="1"/>
            <a:r>
              <a:rPr lang="nl-BE" dirty="0"/>
              <a:t>Kan enkel gesimuleerd worden, aangezien g in een schoollabo niet aangepast kan worden.</a:t>
            </a:r>
          </a:p>
          <a:p>
            <a:endParaRPr lang="nl-BE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733" y="3773639"/>
            <a:ext cx="10562899" cy="1025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274336"/>
            <a:ext cx="11582400" cy="1143000"/>
          </a:xfrm>
        </p:spPr>
        <p:txBody>
          <a:bodyPr>
            <a:normAutofit fontScale="90000"/>
          </a:bodyPr>
          <a:lstStyle/>
          <a:p>
            <a:r>
              <a:rPr lang="nl-BE" dirty="0"/>
              <a:t>Onderzoek van de slingerwetten bij een wiskundige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809720" y="1533513"/>
            <a:ext cx="8540750" cy="4108446"/>
          </a:xfrm>
        </p:spPr>
        <p:txBody>
          <a:bodyPr/>
          <a:lstStyle/>
          <a:p>
            <a:r>
              <a:rPr lang="nl-BE" dirty="0"/>
              <a:t>BESLUIT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52794" y="2183495"/>
            <a:ext cx="5098712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83832" y="5157192"/>
            <a:ext cx="3207467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Potentiële energie en kinetische energie bij een slinger</a:t>
            </a:r>
          </a:p>
        </p:txBody>
      </p:sp>
      <p:pic>
        <p:nvPicPr>
          <p:cNvPr id="5" name="Tijdelijke aanduiding voor inhoud 4" descr="pendulum-energy-changes_thumb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19537" y="1556792"/>
            <a:ext cx="2760307" cy="4968552"/>
          </a:xfr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 l="19372" t="21840" r="58421" b="5921"/>
          <a:stretch>
            <a:fillRect/>
          </a:stretch>
        </p:blipFill>
        <p:spPr bwMode="auto">
          <a:xfrm>
            <a:off x="4871864" y="1556792"/>
            <a:ext cx="2736304" cy="5006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 l="16065" t="22680" r="61728" b="5081"/>
          <a:stretch>
            <a:fillRect/>
          </a:stretch>
        </p:blipFill>
        <p:spPr bwMode="auto">
          <a:xfrm>
            <a:off x="7752184" y="1556793"/>
            <a:ext cx="2736304" cy="5006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Potentiële energie en kinetische energie bij een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 l="27877" t="25200" r="29126" b="33641"/>
          <a:stretch>
            <a:fillRect/>
          </a:stretch>
        </p:blipFill>
        <p:spPr bwMode="auto">
          <a:xfrm>
            <a:off x="1775520" y="1628800"/>
            <a:ext cx="8692394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/>
              <a:t>Potentiële energie en kinetische energie bij een slinger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7877" t="25200" r="28653" b="33641"/>
          <a:stretch>
            <a:fillRect/>
          </a:stretch>
        </p:blipFill>
        <p:spPr bwMode="auto">
          <a:xfrm>
            <a:off x="1775520" y="1700808"/>
            <a:ext cx="8712968" cy="4640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6ADE4-B235-4C68-BAC8-F3295223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916EA4-FDA6-445C-AAF3-84989CAB4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3" y="1600201"/>
            <a:ext cx="8856983" cy="4498975"/>
          </a:xfrm>
        </p:spPr>
        <p:txBody>
          <a:bodyPr/>
          <a:lstStyle/>
          <a:p>
            <a:r>
              <a:rPr lang="nl-BE" dirty="0"/>
              <a:t>Bereken de periode van een slingerbeweging op de maan </a:t>
            </a:r>
            <a:r>
              <a:rPr lang="nl-BE" i="1" dirty="0"/>
              <a:t>(g opzoeken) </a:t>
            </a:r>
            <a:r>
              <a:rPr lang="nl-BE" dirty="0"/>
              <a:t>als de slingerlengte 0,75 m bedraagt.</a:t>
            </a:r>
          </a:p>
        </p:txBody>
      </p:sp>
    </p:spTree>
    <p:extLst>
      <p:ext uri="{BB962C8B-B14F-4D97-AF65-F5344CB8AC3E}">
        <p14:creationId xmlns:p14="http://schemas.microsoft.com/office/powerpoint/2010/main" val="799505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6ADE4-B235-4C68-BAC8-F3295223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1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916EA4-FDA6-445C-AAF3-84989CAB4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3" y="1600201"/>
            <a:ext cx="8964487" cy="4498975"/>
          </a:xfrm>
        </p:spPr>
        <p:txBody>
          <a:bodyPr/>
          <a:lstStyle/>
          <a:p>
            <a:r>
              <a:rPr lang="nl-BE" dirty="0"/>
              <a:t>Bereken de periode van een slingerbeweging op de maan </a:t>
            </a:r>
            <a:r>
              <a:rPr lang="nl-BE" i="1" dirty="0"/>
              <a:t>(g opzoeken) </a:t>
            </a:r>
            <a:r>
              <a:rPr lang="nl-BE" dirty="0"/>
              <a:t>als de slingerlengte 0,75 m bedraagt.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hoek 3">
                <a:extLst>
                  <a:ext uri="{FF2B5EF4-FFF2-40B4-BE49-F238E27FC236}">
                    <a16:creationId xmlns:a16="http://schemas.microsoft.com/office/drawing/2014/main" id="{FF4A1706-31F5-4B5B-9933-DFD7633A0371}"/>
                  </a:ext>
                </a:extLst>
              </p:cNvPr>
              <p:cNvSpPr/>
              <p:nvPr/>
            </p:nvSpPr>
            <p:spPr>
              <a:xfrm>
                <a:off x="2860884" y="3573017"/>
                <a:ext cx="4176656" cy="15473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32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nl-BE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.</m:t>
                      </m:r>
                      <m:rad>
                        <m:radPr>
                          <m:degHide m:val="on"/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nl-BE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0,75</m:t>
                              </m:r>
                            </m:num>
                            <m:den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1,62</m:t>
                              </m:r>
                            </m:den>
                          </m:f>
                        </m:e>
                      </m:rad>
                      <m:r>
                        <a:rPr lang="nl-BE" sz="3200" i="1">
                          <a:latin typeface="Cambria Math" panose="02040503050406030204" pitchFamily="18" charset="0"/>
                        </a:rPr>
                        <m:t>=4,3 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nl-BE" sz="3200" dirty="0"/>
              </a:p>
            </p:txBody>
          </p:sp>
        </mc:Choice>
        <mc:Fallback xmlns="">
          <p:sp>
            <p:nvSpPr>
              <p:cNvPr id="4" name="Rechthoek 3">
                <a:extLst>
                  <a:ext uri="{FF2B5EF4-FFF2-40B4-BE49-F238E27FC236}">
                    <a16:creationId xmlns:a16="http://schemas.microsoft.com/office/drawing/2014/main" id="{FF4A1706-31F5-4B5B-9933-DFD7633A0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884" y="3573017"/>
                <a:ext cx="4176656" cy="15473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456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D81C5-EE25-4CC4-9759-2A505667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6567F5-CA40-4152-AC2E-5906C8CA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536" y="1628801"/>
            <a:ext cx="8540750" cy="4498975"/>
          </a:xfrm>
        </p:spPr>
        <p:txBody>
          <a:bodyPr/>
          <a:lstStyle/>
          <a:p>
            <a:r>
              <a:rPr lang="nl-BE" dirty="0"/>
              <a:t>Hoeveel cyclussen voert een slinger met een lengte van 20 m uit per minuut?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152437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D81C5-EE25-4CC4-9759-2A505667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36567F5-CA40-4152-AC2E-5906C8CA22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19536" y="1628801"/>
                <a:ext cx="8540750" cy="4498975"/>
              </a:xfrm>
            </p:spPr>
            <p:txBody>
              <a:bodyPr/>
              <a:lstStyle/>
              <a:p>
                <a:r>
                  <a:rPr lang="nl-BE" dirty="0"/>
                  <a:t>Hoeveel cyclussen voert een slinger met een lengte van 20 m uit per minuut?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.</m:t>
                      </m:r>
                      <m:rad>
                        <m:radPr>
                          <m:deg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81</m:t>
                              </m:r>
                            </m:num>
                            <m:den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rad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m:rPr>
                          <m:sty m:val="p"/>
                        </m:rPr>
                        <a:rPr lang="nl-BE" b="0" i="0" smtClean="0">
                          <a:latin typeface="Cambria Math" panose="02040503050406030204" pitchFamily="18" charset="0"/>
                        </a:rPr>
                        <m:t>Hz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7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36567F5-CA40-4152-AC2E-5906C8CA22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536" y="1628801"/>
                <a:ext cx="8540750" cy="44989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04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21A42-4C3C-4F49-AD20-A08BC3B6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3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A84D002-2367-4878-A5C0-F2A6BAD4D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Hoe lang is een slinger die in dezelfde tijd 5,0 keer zoveel cyclussen uitvoert als een slinger met een lengte van 1,0 m?</a:t>
            </a:r>
          </a:p>
        </p:txBody>
      </p:sp>
    </p:spTree>
    <p:extLst>
      <p:ext uri="{BB962C8B-B14F-4D97-AF65-F5344CB8AC3E}">
        <p14:creationId xmlns:p14="http://schemas.microsoft.com/office/powerpoint/2010/main" val="108210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21A42-4C3C-4F49-AD20-A08BC3B6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A84D002-2367-4878-A5C0-F2A6BAD4D8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dirty="0"/>
                  <a:t>Hoe lang is een slinger die in dezelfde tijd 5,0 keer zoveel cyclussen uitvoert als een slinger met een lengte van 1,0 m?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BE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nl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nl-BE" i="1">
                        <a:latin typeface="Cambria Math" panose="02040503050406030204" pitchFamily="18" charset="0"/>
                      </a:rPr>
                      <m:t>.</m:t>
                    </m:r>
                    <m:rad>
                      <m:radPr>
                        <m:degHide m:val="on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rad>
                    <m:r>
                      <a:rPr lang="nl-BE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nl-BE" b="0" i="0" smtClean="0">
                        <a:latin typeface="Cambria Math" panose="02040503050406030204" pitchFamily="18" charset="0"/>
                      </a:rPr>
                      <m:t>Hz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nl-BE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nl-B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 .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𝐻𝑧</m:t>
                    </m:r>
                  </m:oMath>
                </a14:m>
                <a:endParaRPr lang="nl-BE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nl-BE" i="1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nl-B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nl-B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B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040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A84D002-2367-4878-A5C0-F2A6BAD4D8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1" t="-203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2477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F886-B490-86C3-D557-401BAFDF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CBAB-E42A-AFEB-8892-B2C957D3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nl-BE" dirty="0"/>
              <a:t>Andere </a:t>
            </a:r>
            <a:r>
              <a:rPr dirty="0" err="1"/>
              <a:t>Oplossing</a:t>
            </a:r>
            <a:r>
              <a:rPr dirty="0"/>
              <a:t> </a:t>
            </a:r>
            <a:r>
              <a:rPr lang="nl-BE" dirty="0"/>
              <a:t>Oefening 3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F2E45-975C-62F7-40CD-517C52D84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nl-NL" dirty="0"/>
                  <a:t>Omdat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nl-NL" dirty="0" err="1"/>
                  <a:t>geldt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NL" dirty="0" err="1"/>
                  <a:t>Vereenvoudig</a:t>
                </a:r>
                <a:r>
                  <a:rPr lang="nl-NL" dirty="0"/>
                  <a:t> door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nl-NL" dirty="0" err="1"/>
                  <a:t>en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aan</a:t>
                </a:r>
                <a:r>
                  <a:rPr lang="nl-NL" dirty="0"/>
                  <a:t> </a:t>
                </a:r>
                <a:r>
                  <a:rPr lang="nl-NL" dirty="0" err="1"/>
                  <a:t>beide</a:t>
                </a:r>
                <a:r>
                  <a:rPr lang="nl-NL" dirty="0"/>
                  <a:t> </a:t>
                </a:r>
                <a:r>
                  <a:rPr lang="nl-NL" dirty="0" err="1"/>
                  <a:t>kanten</a:t>
                </a:r>
                <a:r>
                  <a:rPr lang="nl-NL" dirty="0"/>
                  <a:t> </a:t>
                </a:r>
                <a:r>
                  <a:rPr lang="nl-NL" dirty="0" err="1"/>
                  <a:t>weg</a:t>
                </a:r>
                <a:r>
                  <a:rPr lang="nl-NL" dirty="0"/>
                  <a:t> </a:t>
                </a:r>
                <a:r>
                  <a:rPr lang="nl-NL" dirty="0" err="1"/>
                  <a:t>te</a:t>
                </a:r>
                <a:r>
                  <a:rPr lang="nl-NL" dirty="0"/>
                  <a:t> laten: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3F2E45-975C-62F7-40CD-517C52D84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344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ED0A-7959-B5BC-B224-329631B5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EA0A8-66A3-28A0-9DBA-2A710D23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Oplossing</a:t>
            </a:r>
            <a:r>
              <a:rPr dirty="0"/>
              <a:t> </a:t>
            </a:r>
            <a:r>
              <a:rPr lang="nl-BE" dirty="0"/>
              <a:t>Oefening 3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59252F-51C6-5E24-25F8-5CB10E6D37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nl-NL" dirty="0"/>
                  <a:t>Kwadrateer </a:t>
                </a:r>
                <a:r>
                  <a:rPr lang="nl-NL" dirty="0" err="1"/>
                  <a:t>beide</a:t>
                </a:r>
                <a:r>
                  <a:rPr lang="nl-NL" dirty="0"/>
                  <a:t> </a:t>
                </a:r>
                <a:r>
                  <a:rPr lang="nl-NL" dirty="0" err="1"/>
                  <a:t>zijden</a:t>
                </a:r>
                <a:r>
                  <a:rPr lang="nl-NL" dirty="0"/>
                  <a:t> van de </a:t>
                </a:r>
                <a:r>
                  <a:rPr lang="nl-NL" dirty="0" err="1"/>
                  <a:t>vergelijking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NL" dirty="0" err="1"/>
                  <a:t>Herformuleer</a:t>
                </a:r>
                <a:r>
                  <a:rPr lang="nl-NL" dirty="0"/>
                  <a:t> </a:t>
                </a:r>
                <a:r>
                  <a:rPr lang="nl-NL" dirty="0" err="1"/>
                  <a:t>naar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nl-BE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pPr marL="0" lvl="0" indent="0">
                  <a:buNone/>
                </a:pPr>
                <a:r>
                  <a:rPr lang="nl-NL" dirty="0" err="1"/>
                  <a:t>Invullen</a:t>
                </a:r>
                <a:r>
                  <a:rPr lang="nl-NL" dirty="0"/>
                  <a:t> van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  <m:r>
                      <a:rPr lang="nl-BE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nl-NL"/>
                      <m:t>m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geeft</a:t>
                </a:r>
                <a:r>
                  <a:rPr lang="nl-NL"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nl-BE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nl-BE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BE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040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 </m:t>
                      </m:r>
                      <m:r>
                        <m:rPr>
                          <m:nor/>
                        </m:rPr>
                        <a:rPr lang="nl-NL"/>
                        <m:t>m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59252F-51C6-5E24-25F8-5CB10E6D3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331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D169D-93EF-410E-B77F-F38F6599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Slinger van </a:t>
            </a:r>
            <a:r>
              <a:rPr lang="nl-BE" dirty="0" err="1"/>
              <a:t>Foucault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4B35247-E322-4A55-A449-83DC2DBAD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hlinkClick r:id="rId2"/>
              </a:rPr>
              <a:t>https://www.youtube.com/watch?v=se84vG6bzoA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70952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Op de </a:t>
            </a:r>
            <a:r>
              <a:rPr dirty="0" err="1"/>
              <a:t>volgende</a:t>
            </a:r>
            <a:r>
              <a:rPr dirty="0"/>
              <a:t> slide </a:t>
            </a:r>
            <a:r>
              <a:rPr dirty="0" err="1"/>
              <a:t>staat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checklist die je </a:t>
            </a:r>
            <a:r>
              <a:rPr dirty="0" err="1"/>
              <a:t>helpt</a:t>
            </a:r>
            <a:r>
              <a:rPr dirty="0"/>
              <a:t> </a:t>
            </a:r>
            <a:r>
              <a:rPr dirty="0" err="1"/>
              <a:t>inschatten</a:t>
            </a:r>
            <a:r>
              <a:rPr dirty="0"/>
              <a:t> in </a:t>
            </a:r>
            <a:r>
              <a:rPr dirty="0" err="1"/>
              <a:t>welke</a:t>
            </a:r>
            <a:r>
              <a:rPr dirty="0"/>
              <a:t> mate je de </a:t>
            </a:r>
            <a:r>
              <a:rPr dirty="0" err="1"/>
              <a:t>leerstof</a:t>
            </a:r>
            <a:r>
              <a:rPr dirty="0"/>
              <a:t> </a:t>
            </a:r>
            <a:r>
              <a:rPr dirty="0" err="1"/>
              <a:t>beheerst</a:t>
            </a:r>
            <a:r>
              <a:rPr dirty="0"/>
              <a:t>.</a:t>
            </a:r>
            <a:br>
              <a:rPr dirty="0"/>
            </a:br>
            <a:r>
              <a:rPr dirty="0" err="1"/>
              <a:t>Gebruik</a:t>
            </a:r>
            <a:r>
              <a:rPr dirty="0"/>
              <a:t> de checklist: </a:t>
            </a:r>
            <a:endParaRPr lang="nl-BE" dirty="0"/>
          </a:p>
          <a:p>
            <a:pPr marL="0" lvl="0" indent="0">
              <a:buNone/>
            </a:pPr>
            <a:r>
              <a:rPr dirty="0"/>
              <a:t>- </a:t>
            </a:r>
            <a:r>
              <a:rPr b="1" dirty="0" err="1"/>
              <a:t>Tijdens</a:t>
            </a:r>
            <a:r>
              <a:rPr b="1" dirty="0"/>
              <a:t> het </a:t>
            </a:r>
            <a:r>
              <a:rPr b="1" dirty="0" err="1"/>
              <a:t>studeren</a:t>
            </a:r>
            <a:r>
              <a:rPr b="1" dirty="0"/>
              <a:t>:</a:t>
            </a:r>
            <a:r>
              <a:rPr dirty="0"/>
              <a:t> om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zien</a:t>
            </a:r>
            <a:r>
              <a:rPr dirty="0"/>
              <a:t> </a:t>
            </a:r>
            <a:r>
              <a:rPr dirty="0" err="1"/>
              <a:t>welke</a:t>
            </a:r>
            <a:r>
              <a:rPr dirty="0"/>
              <a:t> </a:t>
            </a:r>
            <a:r>
              <a:rPr dirty="0" err="1"/>
              <a:t>onderdelen</a:t>
            </a:r>
            <a:r>
              <a:rPr dirty="0"/>
              <a:t> je al </a:t>
            </a:r>
            <a:r>
              <a:rPr dirty="0" err="1"/>
              <a:t>begrijpt</a:t>
            </a:r>
            <a:r>
              <a:rPr dirty="0"/>
              <a:t>.</a:t>
            </a:r>
            <a:br>
              <a:rPr dirty="0"/>
            </a:br>
            <a:r>
              <a:rPr dirty="0"/>
              <a:t>- </a:t>
            </a:r>
            <a:r>
              <a:rPr b="1" dirty="0"/>
              <a:t>Na </a:t>
            </a:r>
            <a:r>
              <a:rPr b="1" dirty="0" err="1"/>
              <a:t>een</a:t>
            </a:r>
            <a:r>
              <a:rPr b="1" dirty="0"/>
              <a:t> </a:t>
            </a:r>
            <a:r>
              <a:rPr b="1" dirty="0" err="1"/>
              <a:t>toets</a:t>
            </a:r>
            <a:r>
              <a:rPr b="1" dirty="0"/>
              <a:t>:</a:t>
            </a:r>
            <a:r>
              <a:rPr dirty="0"/>
              <a:t> om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controleren</a:t>
            </a:r>
            <a:r>
              <a:rPr dirty="0"/>
              <a:t> </a:t>
            </a:r>
            <a:r>
              <a:rPr dirty="0" err="1"/>
              <a:t>welke</a:t>
            </a:r>
            <a:r>
              <a:rPr dirty="0"/>
              <a:t> </a:t>
            </a:r>
            <a:r>
              <a:rPr dirty="0" err="1"/>
              <a:t>doelen</a:t>
            </a:r>
            <a:r>
              <a:rPr dirty="0"/>
              <a:t> </a:t>
            </a:r>
            <a:r>
              <a:rPr dirty="0" err="1"/>
              <a:t>nog</a:t>
            </a:r>
            <a:r>
              <a:rPr dirty="0"/>
              <a:t> </a:t>
            </a:r>
            <a:r>
              <a:rPr dirty="0" err="1"/>
              <a:t>versterking</a:t>
            </a:r>
            <a:r>
              <a:rPr dirty="0"/>
              <a:t> </a:t>
            </a:r>
            <a:r>
              <a:rPr dirty="0" err="1"/>
              <a:t>nodig</a:t>
            </a:r>
            <a:r>
              <a:rPr dirty="0"/>
              <a:t> </a:t>
            </a:r>
            <a:r>
              <a:rPr dirty="0" err="1"/>
              <a:t>hebben</a:t>
            </a:r>
            <a:r>
              <a:rPr dirty="0"/>
              <a:t>.</a:t>
            </a:r>
            <a:br>
              <a:rPr dirty="0"/>
            </a:br>
            <a:r>
              <a:rPr dirty="0"/>
              <a:t>- </a:t>
            </a:r>
            <a:r>
              <a:rPr b="1" dirty="0"/>
              <a:t>Voor </a:t>
            </a:r>
            <a:r>
              <a:rPr b="1" dirty="0" err="1"/>
              <a:t>een</a:t>
            </a:r>
            <a:r>
              <a:rPr b="1" dirty="0"/>
              <a:t> examen:</a:t>
            </a:r>
            <a:r>
              <a:rPr dirty="0"/>
              <a:t> om </a:t>
            </a:r>
            <a:r>
              <a:rPr dirty="0" err="1"/>
              <a:t>jezelf</a:t>
            </a:r>
            <a:r>
              <a:rPr dirty="0"/>
              <a:t> </a:t>
            </a:r>
            <a:r>
              <a:rPr dirty="0" err="1"/>
              <a:t>systematisch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controleren</a:t>
            </a:r>
            <a:r>
              <a:rPr dirty="0"/>
              <a:t> op alle </a:t>
            </a:r>
            <a:r>
              <a:rPr dirty="0" err="1"/>
              <a:t>doelen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9398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Checklist (studeren – toets – examen)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522202"/>
              </p:ext>
            </p:extLst>
          </p:nvPr>
        </p:nvGraphicFramePr>
        <p:xfrm>
          <a:off x="317500" y="1333500"/>
          <a:ext cx="115951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7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3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Ik kan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uitleggen wat een slinger is en hoe de beweging ontstaat.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het verschil uitleggen tussen een wiskundige en een fysische slinger.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toelichten waarom kleine uitwijkingen leiden tot een harmonische trilling.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de invloed van slingerlengte op de periode bepalen en grafieken interpreteren.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beschrijven dat massa geen invloed heeft op de periode bij kleine hoeken.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uitleggen hoe hoekamplitude de nauwkeurigheid van de benadering beïnvloedt.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verbanden beoordelen via tabellen, grafieken en berekeningen.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uitleggen hoe de zwaarteveldsterkte g de periode T beïnvloedt.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potentieel- en kinetische energieverloop in een slinger beschrijven.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toepassingen zoals de Foucaultslinger interpreteren.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periode, frequentie en lengte berekenen in reële situaties.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41745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and Content 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</TotalTime>
  <Words>1748</Words>
  <Application>Microsoft Office PowerPoint</Application>
  <PresentationFormat>Breedbeeld</PresentationFormat>
  <Paragraphs>238</Paragraphs>
  <Slides>41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41</vt:i4>
      </vt:variant>
    </vt:vector>
  </HeadingPairs>
  <TitlesOfParts>
    <vt:vector size="46" baseType="lpstr">
      <vt:lpstr>Aptos</vt:lpstr>
      <vt:lpstr>Arial</vt:lpstr>
      <vt:lpstr>Cambria Math</vt:lpstr>
      <vt:lpstr>Corbel</vt:lpstr>
      <vt:lpstr>Title and Content </vt:lpstr>
      <vt:lpstr>De slinger</vt:lpstr>
      <vt:lpstr>Lesdoelen van de volledige presentatie</vt:lpstr>
      <vt:lpstr>Structuur van de PowerPoint</vt:lpstr>
      <vt:lpstr>De slinger</vt:lpstr>
      <vt:lpstr>Wiskundige slinger ↔ fysische slinger</vt:lpstr>
      <vt:lpstr>Onderzoek van de slingerwetten bij een wiskundige slinger</vt:lpstr>
      <vt:lpstr>Onderzoek van de slingerwetten bij een wiskundige slinger</vt:lpstr>
      <vt:lpstr>Onderzoek van de slingerwetten bij een wiskundige slinger</vt:lpstr>
      <vt:lpstr>Applet</vt:lpstr>
      <vt:lpstr>Onderzoeksvraag 1 applet slinger Walter Fendt</vt:lpstr>
      <vt:lpstr>Verband tussen periode T en lengte l van een slinger</vt:lpstr>
      <vt:lpstr>Mogelijkheid 1: Recht Evenredig Verband ?</vt:lpstr>
      <vt:lpstr>Mogelijkheid 2: Omgekeerd Evenredig Verband?</vt:lpstr>
      <vt:lpstr>Mogelijkheid 3: Kwadratisch verband tussen T en l?</vt:lpstr>
      <vt:lpstr>Mogelijkheid 4: Rechtevenredig verband tussen T en vierkantswortel van l?</vt:lpstr>
      <vt:lpstr>Mogelijkheid 3: Rechtevenredig verband tussen T en vierkantswortel van l?</vt:lpstr>
      <vt:lpstr>Einde 18/3</vt:lpstr>
      <vt:lpstr>Conclusie</vt:lpstr>
      <vt:lpstr>Onderzoek van de slingerwetten bij een wiskundige slinger</vt:lpstr>
      <vt:lpstr>PowerPoint-presentatie</vt:lpstr>
      <vt:lpstr>Mogelijkheid 1: Recht Evenredig Verband?</vt:lpstr>
      <vt:lpstr>Mogelijkheid 2: Omgekeerd Evenredig Verband?</vt:lpstr>
      <vt:lpstr>Mogelijkheid 3: T omgekeerd evenredig verband met vierkantswortel van g? </vt:lpstr>
      <vt:lpstr>Mogelijkheid 3: T omgekeerd evenredig verband met vierkantswortel van g?</vt:lpstr>
      <vt:lpstr>Conclusie</vt:lpstr>
      <vt:lpstr>Onderzoek van de slingerwetten bij een wiskundige slinger</vt:lpstr>
      <vt:lpstr>Onderzoek van de slingerwetten bij een wiskundige slinger</vt:lpstr>
      <vt:lpstr>Potentiële energie en kinetische energie bij een slinger</vt:lpstr>
      <vt:lpstr>Potentiële energie en kinetische energie bij een slinger</vt:lpstr>
      <vt:lpstr>Potentiële energie en kinetische energie bij een slinger</vt:lpstr>
      <vt:lpstr>Oefening 1</vt:lpstr>
      <vt:lpstr>Oefening 1</vt:lpstr>
      <vt:lpstr>Oefening 2</vt:lpstr>
      <vt:lpstr>Oefening 2</vt:lpstr>
      <vt:lpstr>Oefening 3</vt:lpstr>
      <vt:lpstr>Oefening 3</vt:lpstr>
      <vt:lpstr>Andere Oplossing Oefening 3</vt:lpstr>
      <vt:lpstr>Oplossing Oefening 3</vt:lpstr>
      <vt:lpstr>Slinger van Foucault</vt:lpstr>
      <vt:lpstr>Toetsdoelen</vt:lpstr>
      <vt:lpstr>Checklist (studeren – toets – examen)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Diepte</Template>
  <TotalTime>1645</TotalTime>
  <Words>32</Words>
  <Application>Microsoft Office PowerPoint</Application>
  <PresentationFormat>Breedbeeld</PresentationFormat>
  <Paragraphs>11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Corbel</vt:lpstr>
      <vt:lpstr>Title and Content </vt:lpstr>
      <vt:lpstr>Title Slide</vt:lpstr>
      <vt:lpstr>Section Header</vt:lpstr>
      <vt:lpstr>Title and Content</vt:lpstr>
      <vt:lpstr>Two Content</vt:lpstr>
      <vt:lpstr>Comparison Slide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Koen DE BELIE</dc:creator>
  <cp:keywords/>
  <cp:lastModifiedBy>Koen DE BELIE</cp:lastModifiedBy>
  <cp:revision>3</cp:revision>
  <dcterms:created xsi:type="dcterms:W3CDTF">2024-11-13T19:17:05Z</dcterms:created>
  <dcterms:modified xsi:type="dcterms:W3CDTF">2026-03-18T20:31:11Z</dcterms:modified>
</cp:coreProperties>
</file>