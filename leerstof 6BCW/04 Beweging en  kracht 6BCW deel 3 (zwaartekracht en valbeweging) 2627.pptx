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34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416" r:id="rId11"/>
    <p:sldId id="417" r:id="rId12"/>
    <p:sldId id="418" r:id="rId13"/>
    <p:sldId id="422" r:id="rId14"/>
    <p:sldId id="420" r:id="rId15"/>
    <p:sldId id="269" r:id="rId16"/>
    <p:sldId id="421" r:id="rId17"/>
    <p:sldId id="276" r:id="rId18"/>
    <p:sldId id="277" r:id="rId19"/>
    <p:sldId id="278" r:id="rId20"/>
    <p:sldId id="397" r:id="rId21"/>
    <p:sldId id="270" r:id="rId22"/>
    <p:sldId id="424" r:id="rId23"/>
    <p:sldId id="425" r:id="rId24"/>
    <p:sldId id="281" r:id="rId25"/>
    <p:sldId id="346" r:id="rId26"/>
    <p:sldId id="347" r:id="rId27"/>
    <p:sldId id="348" r:id="rId28"/>
    <p:sldId id="349" r:id="rId29"/>
    <p:sldId id="352" r:id="rId30"/>
    <p:sldId id="353" r:id="rId31"/>
    <p:sldId id="289" r:id="rId32"/>
    <p:sldId id="290" r:id="rId33"/>
    <p:sldId id="280" r:id="rId34"/>
    <p:sldId id="426" r:id="rId35"/>
    <p:sldId id="282" r:id="rId36"/>
    <p:sldId id="286" r:id="rId37"/>
    <p:sldId id="295" r:id="rId38"/>
    <p:sldId id="296" r:id="rId39"/>
    <p:sldId id="297" r:id="rId40"/>
    <p:sldId id="427" r:id="rId41"/>
    <p:sldId id="428" r:id="rId42"/>
    <p:sldId id="291" r:id="rId43"/>
    <p:sldId id="301" r:id="rId44"/>
    <p:sldId id="302" r:id="rId45"/>
    <p:sldId id="351" r:id="rId46"/>
    <p:sldId id="354" r:id="rId47"/>
    <p:sldId id="398" r:id="rId48"/>
    <p:sldId id="355" r:id="rId49"/>
    <p:sldId id="356" r:id="rId50"/>
    <p:sldId id="357" r:id="rId51"/>
    <p:sldId id="358" r:id="rId52"/>
    <p:sldId id="310" r:id="rId53"/>
    <p:sldId id="311" r:id="rId54"/>
    <p:sldId id="400" r:id="rId55"/>
    <p:sldId id="401" r:id="rId56"/>
    <p:sldId id="403" r:id="rId57"/>
    <p:sldId id="429" r:id="rId58"/>
    <p:sldId id="40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419" r:id="rId68"/>
    <p:sldId id="307" r:id="rId69"/>
    <p:sldId id="327" r:id="rId70"/>
    <p:sldId id="328" r:id="rId71"/>
    <p:sldId id="329" r:id="rId72"/>
    <p:sldId id="360" r:id="rId73"/>
    <p:sldId id="331" r:id="rId74"/>
    <p:sldId id="362" r:id="rId75"/>
    <p:sldId id="333" r:id="rId76"/>
    <p:sldId id="364" r:id="rId77"/>
    <p:sldId id="335" r:id="rId78"/>
    <p:sldId id="405" r:id="rId79"/>
    <p:sldId id="337" r:id="rId80"/>
    <p:sldId id="338" r:id="rId81"/>
    <p:sldId id="410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6F806-BDEE-4A58-A0BB-114CEED2CBD4}" v="16" dt="2026-10-08T20:37:23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44" d="100"/>
          <a:sy n="44" d="100"/>
        </p:scale>
        <p:origin x="1005" y="7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modSld">
      <pc:chgData name="Koen DE BELIE" userId="0b604c76-dc05-41eb-aae4-58be6ad353f8" providerId="ADAL" clId="{A0CAB841-4192-4D5A-AB98-8769508D3B25}" dt="2026-10-08T20:37:36.131" v="34" actId="27636"/>
      <pc:docMkLst>
        <pc:docMk/>
      </pc:docMkLst>
      <pc:sldChg chg="modSp mod">
        <pc:chgData name="Koen DE BELIE" userId="0b604c76-dc05-41eb-aae4-58be6ad353f8" providerId="ADAL" clId="{A0CAB841-4192-4D5A-AB98-8769508D3B25}" dt="2026-10-08T20:37:36.131" v="34" actId="27636"/>
        <pc:sldMkLst>
          <pc:docMk/>
          <pc:sldMk cId="3294277849" sldId="353"/>
        </pc:sldMkLst>
        <pc:spChg chg="mod">
          <ac:chgData name="Koen DE BELIE" userId="0b604c76-dc05-41eb-aae4-58be6ad353f8" providerId="ADAL" clId="{A0CAB841-4192-4D5A-AB98-8769508D3B25}" dt="2026-10-08T20:37:33.130" v="32" actId="1076"/>
          <ac:spMkLst>
            <pc:docMk/>
            <pc:sldMk cId="3294277849" sldId="353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10-08T20:37:36.131" v="34" actId="27636"/>
          <ac:spMkLst>
            <pc:docMk/>
            <pc:sldMk cId="3294277849" sldId="35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vtihasselt-my.sharepoint.com/:v:/g/personal/koen_debelie_leraar_campushast_be/EfS1_jKUHXJMna51TCIlzb0BXL_NHrfXPZh0kgk6WTjDTw?nav=eyJyZWZlcnJhbEluZm8iOnsicmVmZXJyYWxBcHAiOiJPbmVEcml2ZUZvckJ1c2luZXNzIiwicmVmZXJyYWxBcHBQbGF0Zm9ybSI6IldlYiIsInJlZmVycmFsTW9kZSI6InZpZXciLCJyZWZlcnJhbFZpZXciOiJNeUZpbGVzTGlua0NvcHkifX0&amp;e=ZlfyzQ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org&amp;utm_campaign=parser&amp;utm_content=thumbnai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1CABC-D232-B7AB-A4DA-D40A1CF7B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Beweging en kracht D3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6C4BDE2-55C7-BFC7-04A7-88ABE28728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Zwaartekracht, valbeweging en impuls</a:t>
            </a:r>
          </a:p>
        </p:txBody>
      </p:sp>
    </p:spTree>
    <p:extLst>
      <p:ext uri="{BB962C8B-B14F-4D97-AF65-F5344CB8AC3E}">
        <p14:creationId xmlns:p14="http://schemas.microsoft.com/office/powerpoint/2010/main" val="256913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94687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Lesdoelen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864296"/>
                <a:ext cx="11609798" cy="5993704"/>
              </a:xfrm>
            </p:spPr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Na </a:t>
                </a:r>
                <a:r>
                  <a:rPr b="1" dirty="0" err="1"/>
                  <a:t>dit</a:t>
                </a:r>
                <a:r>
                  <a:rPr b="1" dirty="0"/>
                  <a:t> </a:t>
                </a:r>
                <a:r>
                  <a:rPr b="1" dirty="0" err="1"/>
                  <a:t>hoofdstuk</a:t>
                </a:r>
                <a:r>
                  <a:rPr b="1" dirty="0"/>
                  <a:t> </a:t>
                </a:r>
                <a:r>
                  <a:rPr b="1" dirty="0" err="1"/>
                  <a:t>kan</a:t>
                </a:r>
                <a:r>
                  <a:rPr b="1" dirty="0"/>
                  <a:t> je:</a:t>
                </a:r>
              </a:p>
              <a:p>
                <a:pPr lvl="0"/>
                <a:r>
                  <a:rPr dirty="0" err="1"/>
                  <a:t>uitleggen</a:t>
                </a:r>
                <a:r>
                  <a:rPr dirty="0"/>
                  <a:t> wat de </a:t>
                </a:r>
                <a:r>
                  <a:rPr dirty="0" err="1"/>
                  <a:t>valversnelling</a:t>
                </a:r>
                <a:r>
                  <a:rPr dirty="0"/>
                  <a:t> is </a:t>
                </a:r>
                <a:r>
                  <a:rPr dirty="0" err="1"/>
                  <a:t>en</a:t>
                </a:r>
                <a:r>
                  <a:rPr dirty="0"/>
                  <a:t> hoe die </a:t>
                </a:r>
                <a:r>
                  <a:rPr dirty="0" err="1"/>
                  <a:t>zich</a:t>
                </a:r>
                <a:r>
                  <a:rPr dirty="0"/>
                  <a:t> </a:t>
                </a:r>
                <a:r>
                  <a:rPr dirty="0" err="1"/>
                  <a:t>gedraagt</a:t>
                </a:r>
                <a:r>
                  <a:rPr dirty="0"/>
                  <a:t> in </a:t>
                </a:r>
                <a:r>
                  <a:rPr dirty="0" err="1"/>
                  <a:t>vacuüm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in </a:t>
                </a:r>
                <a:r>
                  <a:rPr dirty="0" err="1"/>
                  <a:t>lucht</a:t>
                </a:r>
                <a:r>
                  <a:rPr dirty="0"/>
                  <a:t> of </a:t>
                </a:r>
                <a:r>
                  <a:rPr dirty="0" err="1"/>
                  <a:t>vloeistof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beschrijven</a:t>
                </a:r>
                <a:r>
                  <a:rPr dirty="0"/>
                  <a:t> </a:t>
                </a:r>
                <a:r>
                  <a:rPr dirty="0" err="1"/>
                  <a:t>dat</a:t>
                </a:r>
                <a:r>
                  <a:rPr dirty="0"/>
                  <a:t> alle </a:t>
                </a:r>
                <a:r>
                  <a:rPr dirty="0" err="1"/>
                  <a:t>voorwerpen</a:t>
                </a:r>
                <a:r>
                  <a:rPr dirty="0"/>
                  <a:t> in </a:t>
                </a:r>
                <a:r>
                  <a:rPr dirty="0" err="1"/>
                  <a:t>vacuüm</a:t>
                </a:r>
                <a:r>
                  <a:rPr dirty="0"/>
                  <a:t> met </a:t>
                </a:r>
                <a:r>
                  <a:rPr dirty="0" err="1"/>
                  <a:t>dezelfde</a:t>
                </a:r>
                <a:r>
                  <a:rPr dirty="0"/>
                  <a:t> </a:t>
                </a:r>
                <a:r>
                  <a:rPr dirty="0" err="1"/>
                  <a:t>valversnelling</a:t>
                </a:r>
                <a:r>
                  <a:rPr dirty="0"/>
                  <a:t> </a:t>
                </a:r>
                <a:r>
                  <a:rPr dirty="0" err="1"/>
                  <a:t>vallen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de </a:t>
                </a:r>
                <a:r>
                  <a:rPr dirty="0" err="1"/>
                  <a:t>invloed</a:t>
                </a:r>
                <a:r>
                  <a:rPr dirty="0"/>
                  <a:t> van </a:t>
                </a:r>
                <a:r>
                  <a:rPr dirty="0" err="1"/>
                  <a:t>hoogte</a:t>
                </a:r>
                <a:r>
                  <a:rPr dirty="0"/>
                  <a:t>, </a:t>
                </a:r>
                <a:r>
                  <a:rPr dirty="0" err="1"/>
                  <a:t>breedtegraad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ondergrond</a:t>
                </a:r>
                <a:r>
                  <a:rPr dirty="0"/>
                  <a:t> op de </a:t>
                </a:r>
                <a:r>
                  <a:rPr dirty="0" err="1"/>
                  <a:t>valversnelling</a:t>
                </a:r>
                <a:r>
                  <a:rPr dirty="0"/>
                  <a:t> </a:t>
                </a:r>
                <a:r>
                  <a:rPr dirty="0" err="1"/>
                  <a:t>verklaren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de </a:t>
                </a:r>
                <a:r>
                  <a:rPr dirty="0" err="1"/>
                  <a:t>valversnelling</a:t>
                </a:r>
                <a:r>
                  <a:rPr dirty="0"/>
                  <a:t> op </a:t>
                </a:r>
                <a:r>
                  <a:rPr dirty="0" err="1"/>
                  <a:t>aarde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op de </a:t>
                </a:r>
                <a:r>
                  <a:rPr dirty="0" err="1"/>
                  <a:t>maan</a:t>
                </a:r>
                <a:r>
                  <a:rPr dirty="0"/>
                  <a:t> </a:t>
                </a:r>
                <a:r>
                  <a:rPr dirty="0" err="1"/>
                  <a:t>vergelijken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de </a:t>
                </a:r>
                <a:r>
                  <a:rPr dirty="0" err="1"/>
                  <a:t>valbeweging</a:t>
                </a:r>
                <a:r>
                  <a:rPr dirty="0"/>
                  <a:t> </a:t>
                </a:r>
                <a:r>
                  <a:rPr dirty="0" err="1"/>
                  <a:t>beschrijven</a:t>
                </a:r>
                <a:r>
                  <a:rPr dirty="0"/>
                  <a:t> </a:t>
                </a:r>
                <a:r>
                  <a:rPr dirty="0" err="1"/>
                  <a:t>als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EVRB </a:t>
                </a:r>
                <a:r>
                  <a:rPr dirty="0" err="1"/>
                  <a:t>en</a:t>
                </a:r>
                <a:r>
                  <a:rPr dirty="0"/>
                  <a:t> de </a:t>
                </a:r>
                <a:r>
                  <a:rPr dirty="0" err="1"/>
                  <a:t>plaats</a:t>
                </a:r>
                <a:r>
                  <a:rPr dirty="0"/>
                  <a:t>-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snelheidsvergelijking</a:t>
                </a:r>
                <a:r>
                  <a:rPr dirty="0"/>
                  <a:t> </a:t>
                </a:r>
                <a:r>
                  <a:rPr dirty="0" err="1"/>
                  <a:t>toepassen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berekeningen</a:t>
                </a:r>
                <a:r>
                  <a:rPr dirty="0"/>
                  <a:t> </a:t>
                </a:r>
                <a:r>
                  <a:rPr dirty="0" err="1"/>
                  <a:t>uitvoeren</a:t>
                </a:r>
                <a:r>
                  <a:rPr dirty="0"/>
                  <a:t> </a:t>
                </a:r>
                <a:r>
                  <a:rPr dirty="0" err="1"/>
                  <a:t>voor</a:t>
                </a:r>
                <a:r>
                  <a:rPr dirty="0"/>
                  <a:t> </a:t>
                </a:r>
                <a:r>
                  <a:rPr dirty="0" err="1"/>
                  <a:t>vrije</a:t>
                </a:r>
                <a:r>
                  <a:rPr dirty="0"/>
                  <a:t> </a:t>
                </a:r>
                <a:r>
                  <a:rPr dirty="0" err="1"/>
                  <a:t>val</a:t>
                </a:r>
                <a:r>
                  <a:rPr dirty="0"/>
                  <a:t>,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omhoog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naar</a:t>
                </a:r>
                <a:r>
                  <a:rPr dirty="0"/>
                  <a:t> </a:t>
                </a:r>
                <a:r>
                  <a:rPr dirty="0" err="1"/>
                  <a:t>beneden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stijgtijd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maximale</a:t>
                </a:r>
                <a:r>
                  <a:rPr dirty="0"/>
                  <a:t> </a:t>
                </a:r>
                <a:r>
                  <a:rPr dirty="0" err="1"/>
                  <a:t>hoogte</a:t>
                </a:r>
                <a:r>
                  <a:rPr dirty="0"/>
                  <a:t> </a:t>
                </a:r>
                <a:r>
                  <a:rPr dirty="0" err="1"/>
                  <a:t>bij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verticale</a:t>
                </a:r>
                <a:r>
                  <a:rPr dirty="0"/>
                  <a:t>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berekenen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het </a:t>
                </a:r>
                <a:r>
                  <a:rPr dirty="0" err="1"/>
                  <a:t>onafhankelijkheidsprincipe</a:t>
                </a:r>
                <a:r>
                  <a:rPr dirty="0"/>
                  <a:t> </a:t>
                </a:r>
                <a:r>
                  <a:rPr dirty="0" err="1"/>
                  <a:t>toepassen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de </a:t>
                </a:r>
                <a:r>
                  <a:rPr dirty="0" err="1"/>
                  <a:t>bewegingsvergelijkingen</a:t>
                </a:r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horizontale</a:t>
                </a:r>
                <a:r>
                  <a:rPr dirty="0"/>
                  <a:t>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opstellen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de </a:t>
                </a:r>
                <a:r>
                  <a:rPr dirty="0" err="1"/>
                  <a:t>baanvergelijking</a:t>
                </a:r>
                <a:r>
                  <a:rPr dirty="0"/>
                  <a:t> </a:t>
                </a:r>
                <a:r>
                  <a:rPr dirty="0" err="1"/>
                  <a:t>afleiden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herkennen</a:t>
                </a:r>
                <a:r>
                  <a:rPr dirty="0"/>
                  <a:t> </a:t>
                </a:r>
                <a:r>
                  <a:rPr dirty="0" err="1"/>
                  <a:t>als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parabool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plaats</a:t>
                </a:r>
                <a:r>
                  <a:rPr dirty="0"/>
                  <a:t>-, </a:t>
                </a:r>
                <a:r>
                  <a:rPr dirty="0" err="1"/>
                  <a:t>snelheids</a:t>
                </a:r>
                <a:r>
                  <a:rPr dirty="0"/>
                  <a:t>-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versnellingsvector</a:t>
                </a:r>
                <a:r>
                  <a:rPr dirty="0"/>
                  <a:t> </a:t>
                </a:r>
                <a:r>
                  <a:rPr dirty="0" err="1"/>
                  <a:t>bij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horizontale</a:t>
                </a:r>
                <a:r>
                  <a:rPr dirty="0"/>
                  <a:t>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berekenen</a:t>
                </a:r>
                <a:r>
                  <a:rPr dirty="0"/>
                  <a:t>;</a:t>
                </a:r>
              </a:p>
              <a:p>
                <a:pPr lvl="0"/>
                <a:r>
                  <a:rPr dirty="0"/>
                  <a:t>de </a:t>
                </a:r>
                <a:r>
                  <a:rPr dirty="0" err="1"/>
                  <a:t>invloed</a:t>
                </a:r>
                <a:r>
                  <a:rPr dirty="0"/>
                  <a:t>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 op het </a:t>
                </a:r>
                <a:r>
                  <a:rPr dirty="0" err="1"/>
                  <a:t>bereik</a:t>
                </a:r>
                <a:r>
                  <a:rPr dirty="0"/>
                  <a:t> </a:t>
                </a:r>
                <a:r>
                  <a:rPr dirty="0" err="1"/>
                  <a:t>verklaren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impuls</a:t>
                </a:r>
                <a:r>
                  <a:rPr dirty="0"/>
                  <a:t> </a:t>
                </a:r>
                <a:r>
                  <a:rPr dirty="0" err="1"/>
                  <a:t>definiëren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de </a:t>
                </a:r>
                <a:r>
                  <a:rPr dirty="0" err="1"/>
                  <a:t>tweede</a:t>
                </a:r>
                <a:r>
                  <a:rPr dirty="0"/>
                  <a:t> wet van Newton in </a:t>
                </a:r>
                <a:r>
                  <a:rPr dirty="0" err="1"/>
                  <a:t>algemene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klassieke</a:t>
                </a:r>
                <a:r>
                  <a:rPr dirty="0"/>
                  <a:t> </a:t>
                </a:r>
                <a:r>
                  <a:rPr dirty="0" err="1"/>
                  <a:t>vorm</a:t>
                </a:r>
                <a:r>
                  <a:rPr dirty="0"/>
                  <a:t> </a:t>
                </a:r>
                <a:r>
                  <a:rPr dirty="0" err="1"/>
                  <a:t>toepassen</a:t>
                </a:r>
                <a:r>
                  <a:rPr dirty="0"/>
                  <a:t>;</a:t>
                </a:r>
              </a:p>
              <a:p>
                <a:pPr lvl="0"/>
                <a:r>
                  <a:rPr dirty="0" err="1"/>
                  <a:t>verklaren</a:t>
                </a:r>
                <a:r>
                  <a:rPr dirty="0"/>
                  <a:t> </a:t>
                </a:r>
                <a:r>
                  <a:rPr dirty="0" err="1"/>
                  <a:t>waarom</a:t>
                </a:r>
                <a:r>
                  <a:rPr dirty="0"/>
                  <a:t> de </a:t>
                </a:r>
                <a:r>
                  <a:rPr dirty="0" err="1"/>
                  <a:t>valversnelling</a:t>
                </a:r>
                <a:r>
                  <a:rPr dirty="0"/>
                  <a:t> </a:t>
                </a:r>
                <a:r>
                  <a:rPr dirty="0" err="1"/>
                  <a:t>onafhankelijk</a:t>
                </a:r>
                <a:r>
                  <a:rPr dirty="0"/>
                  <a:t> is van de </a:t>
                </a:r>
                <a:r>
                  <a:rPr dirty="0" err="1"/>
                  <a:t>massa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864296"/>
                <a:ext cx="11609798" cy="59937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Leerlijn — waar zit dit hoofdstuk?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H1</a:t>
                </a:r>
                <a:r>
                  <a:t> gaf je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t> 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t>. </a:t>
                </a:r>
                <a:r>
                  <a:rPr b="1"/>
                  <a:t>H2</a:t>
                </a:r>
                <a:r>
                  <a:t> gaf je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t> en de eerste wet. </a:t>
                </a:r>
                <a:r>
                  <a:rPr b="1"/>
                  <a:t>Nu (H3)</a:t>
                </a:r>
                <a:r>
                  <a:t> komt de zwaartekracht als concrete kracht.</a:t>
                </a:r>
              </a:p>
              <a:p>
                <a:pPr lvl="0"/>
                <a:r>
                  <a:t>Val en verticale worp = EVRB 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(alle formules van H2 blijven geldig).</a:t>
                </a:r>
              </a:p>
              <a:p>
                <a:pPr lvl="0"/>
                <a:r>
                  <a:t>Horizontale worp = </a:t>
                </a:r>
                <a:r>
                  <a:rPr b="1"/>
                  <a:t>superpositie</a:t>
                </a:r>
                <a:r>
                  <a:t> (H2): ERB horizontaal + EVRB verticaal.</a:t>
                </a:r>
              </a:p>
              <a:p>
                <a:pPr lvl="0"/>
                <a:r>
                  <a:t>Impuls en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𝑑𝑝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t> veralgemenen de tweede wet — dezelfde keten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Inhoudsopgave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t>Valversnelling en vrije val</a:t>
            </a:r>
          </a:p>
          <a:p>
            <a:pPr marL="457200" lvl="0" indent="-457200">
              <a:buAutoNum type="arabicPeriod"/>
            </a:pPr>
            <a:r>
              <a:t>De verticale worp</a:t>
            </a:r>
          </a:p>
          <a:p>
            <a:pPr marL="457200" lvl="0" indent="-457200">
              <a:buAutoNum type="arabicPeriod"/>
            </a:pPr>
            <a:r>
              <a:t>De horizontale worp</a:t>
            </a:r>
          </a:p>
          <a:p>
            <a:pPr marL="457200" lvl="0" indent="-457200">
              <a:buAutoNum type="arabicPeriod"/>
            </a:pPr>
            <a:r>
              <a:t>Impuls en de tweede wet van Newton</a:t>
            </a:r>
          </a:p>
          <a:p>
            <a:pPr marL="457200" lvl="0" indent="-457200">
              <a:buAutoNum type="arabicPeriod"/>
            </a:pPr>
            <a:r>
              <a:t>Toetsdoelen — checklists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 · Valversnelling en vrije 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Waarom valt alles even snel in vacuüm?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Versnelling bij een valbeweging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Eerste wet van Newton: geen nettokracht → geen versnelling.</a:t>
            </a:r>
          </a:p>
          <a:p>
            <a:pPr lvl="0"/>
            <a:r>
              <a:t>Versnelling = verandering van snelheid (grootte, richting of zin).</a:t>
            </a:r>
          </a:p>
          <a:p>
            <a:pPr lvl="0"/>
            <a:r>
              <a:t>Bij een valbeweging neemt de snelheid toe ⇒ er werkt een nettokracht (de zwaartekracht) en is er een constante versnelling: de </a:t>
            </a:r>
            <a:r>
              <a:rPr b="1"/>
              <a:t>valversnelling</a:t>
            </a:r>
            <a: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Constante valversnelling in vacuüm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 vacuüm vallen </a:t>
            </a:r>
            <a:r>
              <a:rPr b="1"/>
              <a:t>alle</a:t>
            </a:r>
            <a:r>
              <a:t> voorwerpen met dezelfde versnelling — veer en hamer vallen er even snel.</a:t>
            </a:r>
          </a:p>
          <a:p>
            <a:pPr lvl="0"/>
            <a:r>
              <a:t>Geen invloed van massa, vorm of grootte.</a:t>
            </a:r>
          </a:p>
          <a:p>
            <a:pPr lvl="0"/>
            <a:r>
              <a:t>Voor een constante valversnelling moet het experiment dus in vacuüm gebeuren; in lucht verstoort de weerstand het beeld.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Invloed van de omgeving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 lucht of een vloeistof:</a:t>
            </a:r>
          </a:p>
          <a:p>
            <a:pPr lvl="1"/>
            <a:r>
              <a:rPr b="1"/>
              <a:t>lichte</a:t>
            </a:r>
            <a:r>
              <a:t> voorwerpen vallen al snel met constante snelheid (wrijving compenseert de zwaartekracht: eindsnelheid);</a:t>
            </a:r>
          </a:p>
          <a:p>
            <a:pPr lvl="1"/>
            <a:r>
              <a:rPr b="1"/>
              <a:t>zware</a:t>
            </a:r>
            <a:r>
              <a:t> voorwerpen versnellen eerst en bereiken pas later een constante eindsnelheid.</a:t>
            </a:r>
          </a:p>
          <a:p>
            <a:pPr lvl="0"/>
            <a:r>
              <a:t>Luchtweerstand bepaalt dus mee hoe een val er </a:t>
            </a:r>
            <a:r>
              <a:rPr i="1"/>
              <a:t>in de praktijk</a:t>
            </a:r>
            <a:r>
              <a:t> uitziet — maar ze is niet de oorzaak van het vallen.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Valversnelling op aarde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De valversnelling varieert (licht) met:</a:t>
                </a:r>
              </a:p>
              <a:p>
                <a:pPr lvl="1"/>
                <a:r>
                  <a:rPr b="1"/>
                  <a:t>hoogte</a:t>
                </a:r>
                <a:r>
                  <a:t> boven zeeniveau: hoe hoger, hoe kleiner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;</a:t>
                </a:r>
              </a:p>
              <a:p>
                <a:pPr lvl="1"/>
                <a:r>
                  <a:rPr b="1"/>
                  <a:t>breedtegraad</a:t>
                </a:r>
                <a:r>
                  <a:t> (aan de polen iets groter dan aan de evenaar);</a:t>
                </a:r>
              </a:p>
              <a:p>
                <a:pPr lvl="1"/>
                <a:r>
                  <a:t>de </a:t>
                </a:r>
                <a:r>
                  <a:rPr b="1"/>
                  <a:t>ondergrond</a:t>
                </a:r>
                <a:r>
                  <a:t> (dichtheid van het materiaal onder je).</a:t>
                </a:r>
              </a:p>
              <a:p>
                <a:pPr lvl="0"/>
                <a:r>
                  <a:t>Daarom spreken we van “in onze streken”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≈9,81</m:t>
                    </m:r>
                  </m:oMath>
                </a14:m>
                <a:r>
                  <a:t> m/s².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DBBB1-09C6-BA26-C4F2-9604F6A7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Valexperiment op de maan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EE18545-03EF-3A05-B0BF-333B341B1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6705756" cy="5272739"/>
              </a:xfrm>
            </p:spPr>
            <p:txBody>
              <a:bodyPr/>
              <a:lstStyle/>
              <a:p>
                <a:pPr lvl="0"/>
                <a:r>
                  <a:rPr lang="nl-BE" sz="2800" dirty="0"/>
                  <a:t>De </a:t>
                </a:r>
                <a:r>
                  <a:rPr lang="nl-BE" sz="2800" dirty="0" err="1"/>
                  <a:t>maan</a:t>
                </a:r>
                <a:r>
                  <a:rPr lang="nl-BE" sz="2800" dirty="0"/>
                  <a:t> </a:t>
                </a:r>
                <a:r>
                  <a:rPr lang="nl-BE" sz="2800" dirty="0" err="1"/>
                  <a:t>heeft</a:t>
                </a:r>
                <a:r>
                  <a:rPr lang="nl-BE" sz="2800" dirty="0"/>
                  <a:t> </a:t>
                </a:r>
                <a:r>
                  <a:rPr lang="nl-BE" sz="2800" dirty="0" err="1"/>
                  <a:t>bijna</a:t>
                </a:r>
                <a:r>
                  <a:rPr lang="nl-BE" sz="2800" dirty="0"/>
                  <a:t> </a:t>
                </a:r>
                <a:r>
                  <a:rPr lang="nl-BE" sz="2800" dirty="0" err="1"/>
                  <a:t>geen</a:t>
                </a:r>
                <a:r>
                  <a:rPr lang="nl-BE" sz="2800" dirty="0"/>
                  <a:t> </a:t>
                </a:r>
                <a:r>
                  <a:rPr lang="nl-BE" sz="2800" dirty="0" err="1"/>
                  <a:t>atmosfeer</a:t>
                </a:r>
                <a:r>
                  <a:rPr lang="nl-BE" sz="2800" dirty="0"/>
                  <a:t> ⇒ </a:t>
                </a:r>
                <a:r>
                  <a:rPr lang="nl-BE" sz="2800" dirty="0" err="1"/>
                  <a:t>ideaal</a:t>
                </a:r>
                <a:r>
                  <a:rPr lang="nl-BE" sz="2800" dirty="0"/>
                  <a:t> </a:t>
                </a:r>
                <a:r>
                  <a:rPr lang="nl-BE" sz="2800" dirty="0" err="1"/>
                  <a:t>vacuüm</a:t>
                </a:r>
                <a:r>
                  <a:rPr lang="nl-BE" sz="2800" dirty="0"/>
                  <a:t>.</a:t>
                </a:r>
              </a:p>
              <a:p>
                <a:pPr lvl="0"/>
                <a:r>
                  <a:rPr lang="nl-BE" sz="2800" dirty="0"/>
                  <a:t>Apollo 15 (1971): </a:t>
                </a:r>
                <a:r>
                  <a:rPr lang="nl-BE" sz="2800" dirty="0" err="1"/>
                  <a:t>hamer</a:t>
                </a:r>
                <a:r>
                  <a:rPr lang="nl-BE" sz="2800" dirty="0"/>
                  <a:t> </a:t>
                </a:r>
                <a:r>
                  <a:rPr lang="nl-BE" sz="2800" dirty="0" err="1"/>
                  <a:t>en</a:t>
                </a:r>
                <a:r>
                  <a:rPr lang="nl-BE" sz="2800" dirty="0"/>
                  <a:t> veer </a:t>
                </a:r>
                <a:r>
                  <a:rPr lang="nl-BE" sz="2800" dirty="0" err="1"/>
                  <a:t>vallen</a:t>
                </a:r>
                <a:r>
                  <a:rPr lang="nl-BE" sz="2800" dirty="0"/>
                  <a:t> er </a:t>
                </a:r>
                <a:r>
                  <a:rPr lang="nl-BE" sz="2800" b="1" dirty="0" err="1"/>
                  <a:t>tegelijk</a:t>
                </a:r>
                <a:r>
                  <a:rPr lang="nl-BE" sz="2800" dirty="0"/>
                  <a:t> — live op tv.</a:t>
                </a:r>
              </a:p>
              <a:p>
                <a:pPr lvl="0"/>
                <a:r>
                  <a:rPr lang="nl-BE" sz="2800" dirty="0" err="1"/>
                  <a:t>Valversnelling</a:t>
                </a:r>
                <a:r>
                  <a:rPr lang="nl-BE" sz="2800" dirty="0"/>
                  <a:t> op de </a:t>
                </a:r>
                <a:r>
                  <a:rPr lang="nl-BE" sz="2800" dirty="0" err="1"/>
                  <a:t>maan</a:t>
                </a:r>
                <a:r>
                  <a:rPr lang="nl-BE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BE" sz="2800">
                            <a:latin typeface="Cambria Math" panose="02040503050406030204" pitchFamily="18" charset="0"/>
                          </a:rPr>
                          <m:t>maan</m:t>
                        </m:r>
                      </m:sub>
                    </m:sSub>
                    <m:r>
                      <a:rPr lang="ar-AE" sz="2800">
                        <a:latin typeface="Cambria Math" panose="02040503050406030204" pitchFamily="18" charset="0"/>
                      </a:rPr>
                      <m:t>≈1,62</m:t>
                    </m:r>
                  </m:oMath>
                </a14:m>
                <a:r>
                  <a:rPr lang="ar-AE" sz="2800" dirty="0"/>
                  <a:t> </a:t>
                </a:r>
                <a:r>
                  <a:rPr lang="nl-BE" sz="2800" dirty="0"/>
                  <a:t>m/s² (± 6× </a:t>
                </a:r>
                <a:r>
                  <a:rPr lang="nl-BE" sz="2800" dirty="0" err="1"/>
                  <a:t>kleiner</a:t>
                </a:r>
                <a:r>
                  <a:rPr lang="nl-BE" sz="2800" dirty="0"/>
                  <a:t> dan op </a:t>
                </a:r>
                <a:r>
                  <a:rPr lang="nl-BE" sz="2800" dirty="0" err="1"/>
                  <a:t>aarde</a:t>
                </a:r>
                <a:r>
                  <a:rPr lang="nl-BE" sz="2800" dirty="0"/>
                  <a:t>).</a:t>
                </a:r>
              </a:p>
              <a:p>
                <a:pPr lvl="0"/>
                <a:r>
                  <a:rPr lang="nl-BE" sz="2800" dirty="0"/>
                  <a:t>Ook op de </a:t>
                </a:r>
                <a:r>
                  <a:rPr lang="nl-BE" sz="2800" dirty="0" err="1"/>
                  <a:t>maan</a:t>
                </a:r>
                <a:r>
                  <a:rPr lang="nl-BE" sz="2800" dirty="0"/>
                  <a:t> </a:t>
                </a:r>
                <a:r>
                  <a:rPr lang="nl-BE" sz="2800" dirty="0" err="1"/>
                  <a:t>hangt</a:t>
                </a:r>
                <a:r>
                  <a:rPr lang="nl-BE" sz="2800" dirty="0"/>
                  <a:t> </a:t>
                </a:r>
                <a14:m>
                  <m:oMath xmlns:m="http://schemas.openxmlformats.org/officeDocument/2006/math">
                    <m:r>
                      <a:rPr lang="nl-BE" sz="28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sz="2800" dirty="0"/>
                  <a:t> </a:t>
                </a:r>
                <a:r>
                  <a:rPr lang="nl-BE" sz="2800" dirty="0" err="1"/>
                  <a:t>af</a:t>
                </a:r>
                <a:r>
                  <a:rPr lang="nl-BE" sz="2800" dirty="0"/>
                  <a:t> van </a:t>
                </a:r>
                <a:r>
                  <a:rPr lang="nl-BE" sz="2800" dirty="0" err="1"/>
                  <a:t>hoogte</a:t>
                </a:r>
                <a:r>
                  <a:rPr lang="nl-BE" sz="2800" dirty="0"/>
                  <a:t> </a:t>
                </a:r>
                <a:r>
                  <a:rPr lang="nl-BE" sz="2800" dirty="0" err="1"/>
                  <a:t>en</a:t>
                </a:r>
                <a:r>
                  <a:rPr lang="nl-BE" sz="2800" dirty="0"/>
                  <a:t> </a:t>
                </a:r>
                <a:r>
                  <a:rPr lang="nl-BE" sz="2800" dirty="0" err="1"/>
                  <a:t>ondergrond</a:t>
                </a:r>
                <a:r>
                  <a:rPr lang="nl-BE" sz="2800" dirty="0"/>
                  <a:t> — </a:t>
                </a:r>
                <a:r>
                  <a:rPr lang="nl-BE" sz="2800" dirty="0" err="1"/>
                  <a:t>hetzelfde</a:t>
                </a:r>
                <a:r>
                  <a:rPr lang="nl-BE" sz="2800" dirty="0"/>
                  <a:t> </a:t>
                </a:r>
                <a:r>
                  <a:rPr lang="nl-BE" sz="2800" dirty="0" err="1"/>
                  <a:t>principe</a:t>
                </a:r>
                <a:r>
                  <a:rPr lang="nl-BE" sz="2800" dirty="0"/>
                  <a:t>, </a:t>
                </a:r>
                <a:r>
                  <a:rPr lang="nl-BE" sz="2800" dirty="0" err="1"/>
                  <a:t>andere</a:t>
                </a:r>
                <a:r>
                  <a:rPr lang="nl-BE" sz="2800" dirty="0"/>
                  <a:t> </a:t>
                </a:r>
                <a:r>
                  <a:rPr lang="nl-BE" sz="2800" dirty="0" err="1"/>
                  <a:t>waarde</a:t>
                </a:r>
                <a:r>
                  <a:rPr lang="nl-BE" sz="2800" dirty="0"/>
                  <a:t>.</a:t>
                </a:r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EE18545-03EF-3A05-B0BF-333B341B1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6705756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" descr="web/maan.jpg">
            <a:extLst>
              <a:ext uri="{FF2B5EF4-FFF2-40B4-BE49-F238E27FC236}">
                <a16:creationId xmlns:a16="http://schemas.microsoft.com/office/drawing/2014/main" id="{68C6F4AB-7B29-92CE-B3B0-CC8C4BEED41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758545" y="2187863"/>
            <a:ext cx="3723410" cy="24822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1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EF479-06AF-998B-4DDA-B2A9ED35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Vrije val = EVRB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E237AE7-DACE-C049-4759-EAA8B347B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8035792" cy="5272739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00000"/>
                  </a:lnSpc>
                </a:pPr>
                <a:r>
                  <a:rPr lang="nl-BE" sz="2400" dirty="0"/>
                  <a:t>Een </a:t>
                </a:r>
                <a:r>
                  <a:rPr lang="nl-BE" sz="2400" dirty="0" err="1"/>
                  <a:t>valbeweging</a:t>
                </a:r>
                <a:r>
                  <a:rPr lang="nl-BE" sz="2400" dirty="0"/>
                  <a:t> in </a:t>
                </a:r>
                <a:r>
                  <a:rPr lang="nl-BE" sz="2400" dirty="0" err="1"/>
                  <a:t>vacuüm</a:t>
                </a:r>
                <a:r>
                  <a:rPr lang="nl-BE" sz="2400" dirty="0"/>
                  <a:t> is </a:t>
                </a:r>
                <a:r>
                  <a:rPr lang="nl-BE" sz="2400" dirty="0" err="1"/>
                  <a:t>een</a:t>
                </a:r>
                <a:r>
                  <a:rPr lang="nl-BE" sz="2400" dirty="0"/>
                  <a:t> </a:t>
                </a:r>
                <a:r>
                  <a:rPr lang="nl-BE" sz="2400" b="1" dirty="0" err="1"/>
                  <a:t>eenparig</a:t>
                </a:r>
                <a:r>
                  <a:rPr lang="nl-BE" sz="2400" b="1" dirty="0"/>
                  <a:t> </a:t>
                </a:r>
                <a:r>
                  <a:rPr lang="nl-BE" sz="2400" b="1" dirty="0" err="1"/>
                  <a:t>versnelde</a:t>
                </a:r>
                <a:r>
                  <a:rPr lang="nl-BE" sz="2400" b="1" dirty="0"/>
                  <a:t> </a:t>
                </a:r>
                <a:r>
                  <a:rPr lang="nl-BE" sz="2400" b="1" dirty="0" err="1"/>
                  <a:t>rechtlijnige</a:t>
                </a:r>
                <a:r>
                  <a:rPr lang="nl-BE" sz="2400" b="1" dirty="0"/>
                  <a:t> </a:t>
                </a:r>
                <a:r>
                  <a:rPr lang="nl-BE" sz="2400" b="1" dirty="0" err="1"/>
                  <a:t>beweging</a:t>
                </a:r>
                <a:r>
                  <a:rPr lang="nl-BE" sz="2400" b="1" dirty="0"/>
                  <a:t> (EVRB)</a:t>
                </a:r>
                <a:r>
                  <a:rPr lang="nl-BE" sz="2400" dirty="0"/>
                  <a:t>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nl-BE" sz="2400" dirty="0" err="1"/>
                  <a:t>Valversnelling</a:t>
                </a:r>
                <a:r>
                  <a:rPr lang="nl-BE" sz="2400" dirty="0"/>
                  <a:t>: </a:t>
                </a:r>
                <a14:m>
                  <m:oMath xmlns:m="http://schemas.openxmlformats.org/officeDocument/2006/math">
                    <m:r>
                      <a:rPr lang="nl-BE" sz="2400">
                        <a:latin typeface="Cambria Math" panose="02040503050406030204" pitchFamily="18" charset="0"/>
                      </a:rPr>
                      <m:t>𝑔</m:t>
                    </m:r>
                    <m:r>
                      <a:rPr lang="nl-BE" sz="2400">
                        <a:latin typeface="Cambria Math" panose="02040503050406030204" pitchFamily="18" charset="0"/>
                      </a:rPr>
                      <m:t>≈9,81</m:t>
                    </m:r>
                  </m:oMath>
                </a14:m>
                <a:r>
                  <a:rPr lang="nl-BE" sz="2400" dirty="0"/>
                  <a:t> m/s², </a:t>
                </a:r>
                <a:r>
                  <a:rPr lang="nl-BE" sz="2400" dirty="0" err="1"/>
                  <a:t>symbool</a:t>
                </a:r>
                <a:r>
                  <a:rPr lang="nl-BE" sz="2400" dirty="0"/>
                  <a:t> </a:t>
                </a:r>
                <a14:m>
                  <m:oMath xmlns:m="http://schemas.openxmlformats.org/officeDocument/2006/math">
                    <m:r>
                      <a:rPr lang="nl-BE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sz="2400" dirty="0"/>
                  <a:t>, </a:t>
                </a:r>
                <a:r>
                  <a:rPr lang="nl-BE" sz="2400" dirty="0" err="1"/>
                  <a:t>richting</a:t>
                </a:r>
                <a:r>
                  <a:rPr lang="nl-BE" sz="2400" dirty="0"/>
                  <a:t> </a:t>
                </a:r>
                <a:r>
                  <a:rPr lang="nl-BE" sz="2400" dirty="0" err="1"/>
                  <a:t>verticaal</a:t>
                </a:r>
                <a:r>
                  <a:rPr lang="nl-BE" sz="2400" dirty="0"/>
                  <a:t> </a:t>
                </a:r>
                <a:r>
                  <a:rPr lang="nl-BE" sz="2400" dirty="0" err="1"/>
                  <a:t>naar</a:t>
                </a:r>
                <a:r>
                  <a:rPr lang="nl-BE" sz="2400" dirty="0"/>
                  <a:t> </a:t>
                </a:r>
                <a:r>
                  <a:rPr lang="nl-BE" sz="2400" dirty="0" err="1"/>
                  <a:t>beneden</a:t>
                </a:r>
                <a:r>
                  <a:rPr lang="nl-BE" sz="2400" dirty="0"/>
                  <a:t>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nl-BE" sz="2400" dirty="0"/>
                  <a:t>Op de </a:t>
                </a:r>
                <a:r>
                  <a:rPr lang="nl-BE" sz="2400" dirty="0" err="1"/>
                  <a:t>foto</a:t>
                </a:r>
                <a:r>
                  <a:rPr lang="nl-BE" sz="2400" dirty="0"/>
                  <a:t> </a:t>
                </a:r>
                <a:r>
                  <a:rPr lang="nl-BE" sz="2400" dirty="0" err="1"/>
                  <a:t>groeien</a:t>
                </a:r>
                <a:r>
                  <a:rPr lang="nl-BE" sz="2400" dirty="0"/>
                  <a:t> de </a:t>
                </a:r>
                <a:r>
                  <a:rPr lang="nl-BE" sz="2400" dirty="0" err="1"/>
                  <a:t>afstanden</a:t>
                </a:r>
                <a:r>
                  <a:rPr lang="nl-BE" sz="2400" dirty="0"/>
                  <a:t> </a:t>
                </a:r>
                <a:r>
                  <a:rPr lang="nl-BE" sz="2400" dirty="0" err="1"/>
                  <a:t>vanaf</a:t>
                </a:r>
                <a:r>
                  <a:rPr lang="nl-BE" sz="2400" dirty="0"/>
                  <a:t> de start </a:t>
                </a:r>
                <a:r>
                  <a:rPr lang="nl-BE" sz="2400" dirty="0" err="1"/>
                  <a:t>als</a:t>
                </a:r>
                <a:r>
                  <a:rPr lang="nl-BE" sz="2400" dirty="0"/>
                  <a:t> 1 : 4 : 9 : 16 … — </a:t>
                </a:r>
                <a:r>
                  <a:rPr lang="nl-BE" sz="2400" b="1" dirty="0" err="1"/>
                  <a:t>kwadratisch</a:t>
                </a:r>
                <a:r>
                  <a:rPr lang="nl-BE" sz="2400" dirty="0"/>
                  <a:t>, </a:t>
                </a:r>
                <a:r>
                  <a:rPr lang="nl-BE" sz="2400" dirty="0" err="1"/>
                  <a:t>precies</a:t>
                </a:r>
                <a:r>
                  <a:rPr lang="nl-BE" sz="2400" dirty="0"/>
                  <a:t> </a:t>
                </a:r>
                <a:r>
                  <a:rPr lang="nl-BE" sz="2400" dirty="0" err="1"/>
                  <a:t>zoals</a:t>
                </a:r>
                <a:r>
                  <a:rPr lang="nl-BE" sz="2400" dirty="0"/>
                  <a:t> </a:t>
                </a:r>
                <a14:m>
                  <m:oMath xmlns:m="http://schemas.openxmlformats.org/officeDocument/2006/math">
                    <m:r>
                      <a:rPr lang="nl-BE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𝑔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 </a:t>
                </a:r>
                <a:r>
                  <a:rPr lang="nl-BE" sz="2400" dirty="0" err="1"/>
                  <a:t>voorspelt</a:t>
                </a:r>
                <a:r>
                  <a:rPr lang="nl-BE" sz="2400" dirty="0"/>
                  <a:t>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nl-BE" sz="2400" dirty="0"/>
                  <a:t>Alle EVRB-formules </a:t>
                </a:r>
                <a:r>
                  <a:rPr lang="nl-BE" sz="2400" dirty="0" err="1"/>
                  <a:t>uit</a:t>
                </a:r>
                <a:r>
                  <a:rPr lang="nl-BE" sz="2400" dirty="0"/>
                  <a:t> </a:t>
                </a:r>
                <a:r>
                  <a:rPr lang="nl-BE" sz="2400" dirty="0" err="1"/>
                  <a:t>hoofdstuk</a:t>
                </a:r>
                <a:r>
                  <a:rPr lang="nl-BE" sz="2400" dirty="0"/>
                  <a:t> 2 </a:t>
                </a:r>
                <a:r>
                  <a:rPr lang="nl-BE" sz="2400" dirty="0" err="1"/>
                  <a:t>blijven</a:t>
                </a:r>
                <a:r>
                  <a:rPr lang="nl-BE" sz="2400" dirty="0"/>
                  <a:t> </a:t>
                </a:r>
                <a:r>
                  <a:rPr lang="nl-BE" sz="2400" dirty="0" err="1"/>
                  <a:t>gelden</a:t>
                </a:r>
                <a:r>
                  <a:rPr lang="nl-BE" sz="2400" dirty="0"/>
                  <a:t>, met </a:t>
                </a:r>
                <a14:m>
                  <m:oMath xmlns:m="http://schemas.openxmlformats.org/officeDocument/2006/math">
                    <m:r>
                      <a:rPr lang="nl-BE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B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sz="2400" dirty="0"/>
                  <a:t> — er komt dus géén nieuwe formule bij!</a:t>
                </a:r>
              </a:p>
              <a:p>
                <a:pPr>
                  <a:lnSpc>
                    <a:spcPct val="100000"/>
                  </a:lnSpc>
                </a:pPr>
                <a:r>
                  <a:rPr lang="nl-BE" sz="2400" dirty="0"/>
                  <a:t>Stroboscopische foto: afstanden 0, 1, 4, 9, 16, …</a:t>
                </a:r>
              </a:p>
              <a:p>
                <a:pPr lvl="0"/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E237AE7-DACE-C049-4759-EAA8B347B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8035792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" descr="web/vrijeval.jpg">
            <a:extLst>
              <a:ext uri="{FF2B5EF4-FFF2-40B4-BE49-F238E27FC236}">
                <a16:creationId xmlns:a16="http://schemas.microsoft.com/office/drawing/2014/main" id="{470FA91E-9374-7424-5A6A-978E24F25693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171708" y="18255"/>
            <a:ext cx="1962177" cy="65983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924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Plaatsvergelijking</a:t>
            </a:r>
            <a:r>
              <a:rPr dirty="0"/>
              <a:t> EVRB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Voor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vallend</a:t>
                </a:r>
                <a:r>
                  <a:rPr dirty="0"/>
                  <a:t> </a:t>
                </a:r>
                <a:r>
                  <a:rPr dirty="0" err="1"/>
                  <a:t>voorwerp</a:t>
                </a:r>
                <a:r>
                  <a:rPr dirty="0"/>
                  <a:t> in </a:t>
                </a:r>
                <a:r>
                  <a:rPr dirty="0" err="1"/>
                  <a:t>vacuüm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Met: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 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lang="nl-NL" dirty="0"/>
                  <a:t>          </a:t>
                </a:r>
                <a:r>
                  <a:rPr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:r>
                  <a:rPr dirty="0" err="1"/>
                  <a:t>beginhoogte</a:t>
                </a:r>
                <a:r>
                  <a:rPr dirty="0"/>
                  <a:t> 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lang="nl-NL" dirty="0"/>
                  <a:t>          </a:t>
                </a:r>
                <a:r>
                  <a:rPr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:r>
                  <a:rPr dirty="0" err="1"/>
                  <a:t>beginsnelheid</a:t>
                </a:r>
                <a:r>
                  <a:rPr dirty="0"/>
                  <a:t> 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          </a:t>
                </a:r>
                <a:r>
                  <a:rPr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:r>
                  <a:rPr dirty="0" err="1"/>
                  <a:t>starttijd</a:t>
                </a:r>
                <a:endParaRPr lang="nl-BE" dirty="0"/>
              </a:p>
              <a:p>
                <a:r>
                  <a:rPr lang="nl-NL" dirty="0"/>
                  <a:t>Teken eerst altijd je assenstelsel en noteer dan pas de tekens — dat voorkomt 90% van de fouten.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765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646EC-1FC4-7BD0-9501-802CB1948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Plaatsvergelijking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960C2F-BA04-B0A2-B5BD-024E238A4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1C420B5-38F8-4FE8-FBAD-074EB53FF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21"/>
          <a:stretch>
            <a:fillRect/>
          </a:stretch>
        </p:blipFill>
        <p:spPr>
          <a:xfrm>
            <a:off x="1645198" y="1079025"/>
            <a:ext cx="8956399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0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BE" b="1" dirty="0"/>
                  <a:t>Plaatsvergelijking: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b="1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:r>
                  <a:rPr dirty="0" err="1"/>
                  <a:t>beginhoogte</a:t>
                </a:r>
                <a:endParaRPr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dirty="0"/>
                  <a:t>: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omhoog</a:t>
                </a:r>
                <a:endParaRPr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: </a:t>
                </a:r>
                <a:r>
                  <a:rPr dirty="0" err="1"/>
                  <a:t>vrije</a:t>
                </a:r>
                <a:r>
                  <a:rPr dirty="0"/>
                  <a:t> </a:t>
                </a:r>
                <a:r>
                  <a:rPr dirty="0" err="1"/>
                  <a:t>val</a:t>
                </a:r>
                <a:r>
                  <a:rPr dirty="0"/>
                  <a:t> </a:t>
                </a:r>
                <a:r>
                  <a:rPr dirty="0" err="1"/>
                  <a:t>vanuit</a:t>
                </a:r>
                <a:r>
                  <a:rPr dirty="0"/>
                  <a:t> rust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dirty="0"/>
                  <a:t>: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naar</a:t>
                </a:r>
                <a:r>
                  <a:rPr dirty="0"/>
                  <a:t> </a:t>
                </a:r>
                <a:r>
                  <a:rPr dirty="0" err="1"/>
                  <a:t>beneden</a:t>
                </a:r>
                <a:endParaRPr dirty="0"/>
              </a:p>
              <a:p>
                <a:pPr lvl="0"/>
                <a:r>
                  <a:rPr lang="nl-BE" dirty="0">
                    <a:solidFill>
                      <a:schemeClr val="tx1"/>
                    </a:solidFill>
                  </a:rPr>
                  <a:t>In </a:t>
                </a:r>
                <a:r>
                  <a:rPr lang="nl-BE" b="1" dirty="0">
                    <a:solidFill>
                      <a:schemeClr val="tx1"/>
                    </a:solidFill>
                  </a:rPr>
                  <a:t>alle</a:t>
                </a:r>
                <a:r>
                  <a:rPr lang="nl-BE" dirty="0">
                    <a:solidFill>
                      <a:schemeClr val="tx1"/>
                    </a:solidFill>
                  </a:rPr>
                  <a:t> </a:t>
                </a:r>
                <a:r>
                  <a:rPr lang="nl-BE" dirty="0" err="1">
                    <a:solidFill>
                      <a:schemeClr val="tx1"/>
                    </a:solidFill>
                  </a:rPr>
                  <a:t>gevallen</a:t>
                </a:r>
                <a:r>
                  <a:rPr lang="nl-BE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, </a:t>
                </a:r>
                <a:endParaRPr lang="nl-BE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nl-BE" dirty="0">
                    <a:solidFill>
                      <a:schemeClr val="tx1"/>
                    </a:solidFill>
                  </a:rPr>
                  <a:t>want de valversnelling wijst altijd naar beneden, tegengesteld aan de </a:t>
                </a:r>
                <a14:m>
                  <m:oMath xmlns:m="http://schemas.openxmlformats.org/officeDocument/2006/math">
                    <m:r>
                      <a:rPr lang="nl-B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l-BE" dirty="0">
                    <a:solidFill>
                      <a:schemeClr val="tx1"/>
                    </a:solidFill>
                  </a:rPr>
                  <a:t>-as.</a:t>
                </a:r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0" b="-150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4F19524-A34B-EABD-F00D-4DE0A2EE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733" y="131377"/>
            <a:ext cx="10515600" cy="1325563"/>
          </a:xfrm>
        </p:spPr>
        <p:txBody>
          <a:bodyPr>
            <a:normAutofit fontScale="90000"/>
          </a:bodyPr>
          <a:lstStyle/>
          <a:p>
            <a:pPr lvl="0">
              <a:spcBef>
                <a:spcPts val="3000"/>
              </a:spcBef>
            </a:pPr>
            <a:r>
              <a:rPr lang="nl-BE" dirty="0"/>
              <a:t>Interpretatie van de </a:t>
            </a:r>
            <a:r>
              <a:rPr lang="nl-BE" dirty="0" err="1"/>
              <a:t>plaatsvergelijking</a:t>
            </a:r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262D2AD-D3F9-D43A-081B-6B303FC32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234" y="2967086"/>
            <a:ext cx="4086225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Snelheidsvergelijking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𝑔𝑡</m:t>
                      </m:r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Opmerking: Op het toppunt van een worp omhoog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ar-AE" dirty="0"/>
                  <a:t>, </a:t>
                </a:r>
                <a:r>
                  <a:rPr lang="nl-BE" dirty="0"/>
                  <a:t>maar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ar-AE" dirty="0"/>
                  <a:t> </a:t>
                </a:r>
                <a:r>
                  <a:rPr lang="nl-BE" dirty="0"/>
                  <a:t>blijft gelden, de versnelling is er níet nul!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Bij </a:t>
                </a:r>
                <a:r>
                  <a:rPr b="1" dirty="0" err="1"/>
                  <a:t>vrije</a:t>
                </a:r>
                <a:r>
                  <a:rPr b="1" dirty="0"/>
                  <a:t> </a:t>
                </a:r>
                <a:r>
                  <a:rPr b="1" dirty="0" err="1"/>
                  <a:t>val</a:t>
                </a:r>
                <a:r>
                  <a:rPr b="1" dirty="0"/>
                  <a:t> </a:t>
                </a:r>
                <a:r>
                  <a:rPr b="1" dirty="0" err="1"/>
                  <a:t>vanuit</a:t>
                </a:r>
                <a:r>
                  <a:rPr b="1" dirty="0"/>
                  <a:t> rust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𝑔𝑡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375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64251-59B7-4642-2BDD-0EAC27D7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733" y="131377"/>
            <a:ext cx="10515600" cy="1325563"/>
          </a:xfrm>
        </p:spPr>
        <p:txBody>
          <a:bodyPr>
            <a:normAutofit fontScale="90000"/>
          </a:bodyPr>
          <a:lstStyle/>
          <a:p>
            <a:pPr lvl="0">
              <a:spcBef>
                <a:spcPts val="3000"/>
              </a:spcBef>
            </a:pPr>
            <a:r>
              <a:rPr lang="nl-BE" dirty="0"/>
              <a:t>Gemiddelde valversnelling op planeten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4E1F4E4-1B79-0257-9FA9-3A53DCC94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6" t="2440" b="1602"/>
          <a:stretch>
            <a:fillRect/>
          </a:stretch>
        </p:blipFill>
        <p:spPr>
          <a:xfrm>
            <a:off x="3688498" y="1343818"/>
            <a:ext cx="4815004" cy="50535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Werkwijze bij een val-vraagstuk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1.</a:t>
                </a:r>
                <a:r>
                  <a:t> Teken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t>-as (meest naar boven gericht) en noteer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rPr b="1"/>
                  <a:t>2.</a:t>
                </a:r>
                <a:r>
                  <a:t> Gegeven/gevraagd met eenheid en teken;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bij “loslaten”,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op de grond.</a:t>
                </a:r>
              </a:p>
              <a:p>
                <a:pPr lvl="0"/>
                <a:r>
                  <a:rPr b="1"/>
                  <a:t>3.</a:t>
                </a:r>
                <a:r>
                  <a:t> Kies de plaats- of snelheidsvergelijking (of de tijdonafhankelijke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−2⋅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t>).</a:t>
                </a:r>
              </a:p>
              <a:p>
                <a:pPr lvl="0"/>
                <a:r>
                  <a:rPr b="1"/>
                  <a:t>4.</a:t>
                </a:r>
                <a:r>
                  <a:t> Symbolisch oplossen, dan pas invullen; afronden op het einde.</a:t>
                </a:r>
              </a:p>
              <a:p>
                <a:pPr lvl="0"/>
                <a:r>
                  <a:rPr b="1"/>
                  <a:t>5.</a:t>
                </a:r>
                <a:r>
                  <a:t> Controle: klopt teken (omlaag = negatief) en orde van grootte?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Voorbeeld — vrije val vanuit rust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Vraag</a:t>
                </a:r>
                <a:r>
                  <a:t>: hoelang duurt de vrije val van een bal vanaf 20 m hoogte?</a:t>
                </a:r>
              </a:p>
              <a:p>
                <a:pPr lvl="0"/>
                <a:r>
                  <a:t>Gegeven: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t> m;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m;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Plaatsvergelijking: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0=20−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⋅9,81⋅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2⋅20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/9,81≈4,08</m:t>
                    </m:r>
                  </m:oMath>
                </a14:m>
                <a:r>
                  <a:t> 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≈2,02</m:t>
                    </m:r>
                  </m:oMath>
                </a14:m>
                <a:r>
                  <a:t> s</a:t>
                </a:r>
              </a:p>
              <a:p>
                <a:pPr lvl="0"/>
                <a:r>
                  <a:t>Controle-orde: 2 s vallen is ongeveer 20 m — klopt met de vuistregel “5 m per eerste seconde, ×4 na 2 s”.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 · De verticale worp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Omhoog en naar beneden — steeds a = −g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53B1E085-6C30-4FBA-8641-96BBF94BAD3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847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De verticale worp omhoog</a:t>
            </a:r>
            <a:endParaRPr lang="nl-NL"/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058C590B-BF50-4EFA-AE80-FEBD891660B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414779" y="1524001"/>
            <a:ext cx="7768785" cy="507365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nl-NL" dirty="0"/>
              <a:t>Een lichaam wordt met beginsnelheid 𝑣_0 verticaal vanop de grond omhoog geworpen.</a:t>
            </a:r>
          </a:p>
          <a:p>
            <a:pPr>
              <a:defRPr/>
            </a:pPr>
            <a:r>
              <a:rPr lang="nl-NL" dirty="0"/>
              <a:t>De valversnelling heeft tegengestelde zin: 𝑎_𝑦=−𝑔 ⇒ het voorwerp vertraagt tijdens het stijgen.</a:t>
            </a:r>
          </a:p>
          <a:p>
            <a:pPr>
              <a:defRPr/>
            </a:pPr>
            <a:r>
              <a:rPr lang="nl-NL" dirty="0"/>
              <a:t>Opmerking: bij alle opdrachten over de verticale worp wordt de luchtweerstand verwaarloosd.</a:t>
            </a:r>
          </a:p>
          <a:p>
            <a:pPr>
              <a:defRPr/>
            </a:pPr>
            <a:endParaRPr lang="nl-NL" dirty="0"/>
          </a:p>
          <a:p>
            <a:pPr marL="0" indent="0" eaLnBrk="1" hangingPunct="1">
              <a:buNone/>
              <a:defRPr/>
            </a:pPr>
            <a:r>
              <a:rPr lang="nl-BE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nl-NL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3E3D8E6-4375-3EDA-BD5A-75852B22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861" y="1036265"/>
            <a:ext cx="2338310" cy="55613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Afleiding</a:t>
            </a:r>
            <a:r>
              <a:rPr dirty="0"/>
              <a:t> </a:t>
            </a:r>
            <a:r>
              <a:rPr dirty="0" err="1"/>
              <a:t>stijgtijd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maximale</a:t>
            </a:r>
            <a:r>
              <a:rPr dirty="0"/>
              <a:t> </a:t>
            </a:r>
            <a:r>
              <a:rPr dirty="0" err="1"/>
              <a:t>hoogte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11609798" cy="5495927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Bij </a:t>
                </a:r>
                <a:r>
                  <a:rPr dirty="0" err="1"/>
                  <a:t>worp</a:t>
                </a:r>
                <a:r>
                  <a:rPr dirty="0"/>
                  <a:t> </a:t>
                </a:r>
                <a:r>
                  <a:rPr dirty="0" err="1"/>
                  <a:t>omhoog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op </a:t>
                </a:r>
                <a:r>
                  <a:rPr dirty="0" err="1"/>
                  <a:t>hoogste</a:t>
                </a:r>
                <a:r>
                  <a:rPr dirty="0"/>
                  <a:t> punt: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Invullen</a:t>
                </a:r>
                <a:r>
                  <a:rPr dirty="0"/>
                  <a:t> in </a:t>
                </a:r>
                <a:r>
                  <a:rPr dirty="0" err="1"/>
                  <a:t>plaatsvergelijking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b="1" dirty="0" err="1"/>
                  <a:t>Maximale</a:t>
                </a:r>
                <a:r>
                  <a:rPr b="1" dirty="0"/>
                  <a:t> </a:t>
                </a:r>
                <a:r>
                  <a:rPr b="1" dirty="0" err="1"/>
                  <a:t>hoogte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max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r>
                  <a:rPr lang="nl-NL" dirty="0"/>
                  <a:t>Merk op: dubbele worpsnelheid ⇒ 4× zo hoog (kwadratisch verband).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11609798" cy="54959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Voorbeeldoefening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Je </a:t>
                </a:r>
                <a:r>
                  <a:rPr dirty="0" err="1"/>
                  <a:t>gooit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bal</a:t>
                </a:r>
                <a:r>
                  <a:rPr dirty="0"/>
                  <a:t> </a:t>
                </a:r>
                <a:r>
                  <a:rPr dirty="0" err="1"/>
                  <a:t>verticaal</a:t>
                </a:r>
                <a:r>
                  <a:rPr dirty="0"/>
                  <a:t> </a:t>
                </a:r>
                <a:r>
                  <a:rPr dirty="0" err="1"/>
                  <a:t>omhoog</a:t>
                </a:r>
                <a:r>
                  <a:rPr dirty="0"/>
                  <a:t> </a:t>
                </a:r>
                <a:r>
                  <a:rPr dirty="0" err="1"/>
                  <a:t>vanop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toren</a:t>
                </a:r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- </a:t>
                </a:r>
                <a:r>
                  <a:rPr dirty="0" err="1"/>
                  <a:t>Torenhoogte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20 </m:t>
                    </m:r>
                    <m:r>
                      <m:rPr>
                        <m:nor/>
                      </m:rPr>
                      <a:rPr i="0"/>
                      <m:t>m</m:t>
                    </m:r>
                  </m:oMath>
                </a14:m>
                <a:br>
                  <a:rPr dirty="0"/>
                </a:br>
                <a:r>
                  <a:rPr dirty="0"/>
                  <a:t>- Dak: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8,0 </m:t>
                    </m:r>
                    <m:r>
                      <m:rPr>
                        <m:nor/>
                      </m:rPr>
                      <a:rPr i="0"/>
                      <m:t>m</m:t>
                    </m:r>
                  </m:oMath>
                </a14:m>
                <a:br>
                  <a:rPr dirty="0"/>
                </a:br>
                <a:r>
                  <a:rPr dirty="0"/>
                  <a:t>- </a:t>
                </a:r>
                <a:r>
                  <a:rPr dirty="0" err="1"/>
                  <a:t>Beginsnelheid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=10 </m:t>
                    </m:r>
                    <m:r>
                      <m:rPr>
                        <m:nor/>
                      </m:rPr>
                      <a:rPr i="0"/>
                      <m:t>m/s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b="1" dirty="0" err="1"/>
                  <a:t>Gegeven</a:t>
                </a:r>
                <a:r>
                  <a:rPr b="1" dirty="0"/>
                  <a:t>:</a:t>
                </a:r>
                <a:br>
                  <a:rPr dirty="0"/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=20 </m:t>
                      </m:r>
                      <m:r>
                        <m:rPr>
                          <m:nor/>
                        </m:rPr>
                        <a:rPr i="0"/>
                        <m:t>m</m:t>
                      </m:r>
                    </m:oMath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=8,0 </m:t>
                      </m:r>
                      <m:r>
                        <m:rPr>
                          <m:nor/>
                        </m:rPr>
                        <a:rPr i="0"/>
                        <m:t>m</m:t>
                      </m:r>
                    </m:oMath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Gevraagd: t = ? v = ?</a:t>
                </a:r>
                <a:endParaRPr dirty="0"/>
              </a:p>
              <a:p>
                <a:pPr marL="0" lvl="0" indent="0">
                  <a:buNone/>
                </a:pPr>
                <a:r>
                  <a:rPr b="1" dirty="0" err="1"/>
                  <a:t>Plaatsvergelijking</a:t>
                </a:r>
                <a:r>
                  <a:rPr b="1" dirty="0"/>
                  <a:t>: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8=20+10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9,81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BE" dirty="0"/>
              <a:t>Voorbeeld</a:t>
            </a:r>
            <a:r>
              <a:rPr dirty="0" err="1"/>
              <a:t>oefening</a:t>
            </a:r>
            <a:r>
              <a:rPr lang="nl-BE" dirty="0"/>
              <a:t>: Oplossing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 err="1"/>
                  <a:t>Kwadratische</a:t>
                </a:r>
                <a:r>
                  <a:rPr dirty="0"/>
                  <a:t> </a:t>
                </a:r>
                <a:r>
                  <a:rPr dirty="0" err="1"/>
                  <a:t>vergelijking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−4,905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+12=0</m:t>
                      </m:r>
                    </m:oMath>
                  </m:oMathPara>
                </a14:m>
                <a:endParaRPr dirty="0"/>
              </a:p>
              <a:p>
                <a:r>
                  <a:rPr lang="nl-NL" dirty="0"/>
                  <a:t>Oplossen met de </a:t>
                </a:r>
                <a:r>
                  <a:rPr lang="nl-NL" b="1" dirty="0" err="1"/>
                  <a:t>abc-formule</a:t>
                </a:r>
                <a:r>
                  <a:rPr lang="nl-NL" b="1" dirty="0"/>
                  <a:t> (discriminant)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≈−0,848 </m:t>
                      </m:r>
                      <m:r>
                        <m:rPr>
                          <m:nor/>
                        </m:rPr>
                        <a:rPr i="0"/>
                        <m:t>s (niet fysisch)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≈2,886 </m:t>
                      </m:r>
                      <m:r>
                        <m:rPr>
                          <m:nor/>
                        </m:rPr>
                        <a:rPr i="0"/>
                        <m:t>s (zinvol)</m:t>
                      </m:r>
                    </m:oMath>
                  </m:oMathPara>
                </a14:m>
                <a:endParaRPr dirty="0"/>
              </a:p>
              <a:p>
                <a:r>
                  <a:rPr lang="nl-BE" dirty="0"/>
                  <a:t>Snelheid </a:t>
                </a:r>
                <a:r>
                  <a:rPr lang="nl-BE" dirty="0" err="1"/>
                  <a:t>bij</a:t>
                </a:r>
                <a:r>
                  <a:rPr lang="nl-BE" dirty="0"/>
                  <a:t> het dak: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=10−9,81⋅2,886≈−18 </m:t>
                      </m:r>
                      <m:r>
                        <m:rPr>
                          <m:nor/>
                        </m:rPr>
                        <a:rPr i="0"/>
                        <m:t>m/s</m:t>
                      </m:r>
                    </m:oMath>
                  </m:oMathPara>
                </a14:m>
                <a:endParaRPr b="1" dirty="0"/>
              </a:p>
              <a:p>
                <a:r>
                  <a:rPr lang="nl-NL" dirty="0"/>
                  <a:t>Negatief ⇒ de bal beweegt naar beneden wanneer ze het dak passeert (op de terugweg).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Voorbeeld — worp omhoog vanop een toren (opstelling)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Je gooit een bal verticaal omhoog vanop een toren (torenhoogte 20 m; dak op 8,0 m).</a:t>
                </a:r>
              </a:p>
              <a:p>
                <a:pPr lvl="0"/>
                <a:r>
                  <a:t>Beginsnelheid: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t> m/s.</a:t>
                </a:r>
              </a:p>
              <a:p>
                <a:pPr lvl="0"/>
                <a:r>
                  <a:t>Gegeven: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t> m;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=8,0</m:t>
                    </m:r>
                  </m:oMath>
                </a14:m>
                <a:r>
                  <a:t> m;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. Gevraagd: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t> en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/>
              </a:p>
              <a:p>
                <a:pPr lvl="0"/>
                <a:r>
                  <a:t>Plaatsvergelijking: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8=20+10⋅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9,81⋅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nl-NL" i="1" dirty="0"/>
                  <a:t>Inleidend: geen tijd gegeven én niet gevraagd ⇒ gebruik de tijdonafhankelijke formule; let op het teken van v.</a:t>
                </a:r>
              </a:p>
              <a:p>
                <a:pPr marL="0" lvl="0" indent="0">
                  <a:buNone/>
                </a:pPr>
                <a:r>
                  <a:rPr dirty="0"/>
                  <a:t>Een </a:t>
                </a:r>
                <a:r>
                  <a:rPr dirty="0" err="1"/>
                  <a:t>bal</a:t>
                </a:r>
                <a:r>
                  <a:rPr dirty="0"/>
                  <a:t> </a:t>
                </a:r>
                <a:r>
                  <a:rPr dirty="0" err="1"/>
                  <a:t>wordt</a:t>
                </a:r>
                <a:r>
                  <a:rPr dirty="0"/>
                  <a:t> </a:t>
                </a:r>
                <a:r>
                  <a:rPr dirty="0" err="1"/>
                  <a:t>verticaal</a:t>
                </a:r>
                <a:r>
                  <a:rPr dirty="0"/>
                  <a:t> </a:t>
                </a:r>
                <a:r>
                  <a:rPr dirty="0" err="1"/>
                  <a:t>omhoog</a:t>
                </a:r>
                <a:r>
                  <a:rPr dirty="0"/>
                  <a:t> </a:t>
                </a:r>
                <a:r>
                  <a:rPr dirty="0" err="1"/>
                  <a:t>geworpen</a:t>
                </a:r>
                <a:r>
                  <a:rPr dirty="0"/>
                  <a:t> met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snelheid</a:t>
                </a:r>
                <a:r>
                  <a:rPr dirty="0"/>
                  <a:t> van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=30 </m:t>
                      </m:r>
                      <m:r>
                        <m:rPr>
                          <m:nor/>
                        </m:rPr>
                        <a:rPr i="0"/>
                        <m:t>m/s</m:t>
                      </m:r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br>
                  <a:rPr dirty="0"/>
                </a:b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Welke </a:t>
                </a:r>
                <a:r>
                  <a:rPr dirty="0" err="1"/>
                  <a:t>hoogte</a:t>
                </a:r>
                <a:r>
                  <a:rPr dirty="0"/>
                  <a:t> </a:t>
                </a:r>
                <a:r>
                  <a:rPr dirty="0" err="1"/>
                  <a:t>heeft</a:t>
                </a:r>
                <a:r>
                  <a:rPr dirty="0"/>
                  <a:t> de </a:t>
                </a:r>
                <a:r>
                  <a:rPr dirty="0" err="1"/>
                  <a:t>bal</a:t>
                </a:r>
                <a:r>
                  <a:rPr dirty="0"/>
                  <a:t> </a:t>
                </a:r>
                <a:r>
                  <a:rPr dirty="0" err="1"/>
                  <a:t>wanneer</a:t>
                </a:r>
                <a:r>
                  <a:rPr dirty="0"/>
                  <a:t> </a:t>
                </a:r>
                <a:r>
                  <a:rPr dirty="0" err="1"/>
                  <a:t>hij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snelheid</a:t>
                </a:r>
                <a:r>
                  <a:rPr dirty="0"/>
                  <a:t> van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=10 </m:t>
                    </m:r>
                    <m:r>
                      <m:rPr>
                        <m:nor/>
                      </m:rPr>
                      <a:rPr i="0"/>
                      <m:t>m/s</m:t>
                    </m:r>
                  </m:oMath>
                </a14:m>
                <a:r>
                  <a:rPr lang="nl-BE" dirty="0"/>
                  <a:t> </a:t>
                </a:r>
                <a:r>
                  <a:rPr dirty="0" err="1"/>
                  <a:t>naar</a:t>
                </a:r>
                <a:r>
                  <a:rPr dirty="0"/>
                  <a:t> </a:t>
                </a:r>
                <a:r>
                  <a:rPr dirty="0" err="1"/>
                  <a:t>beneden</a:t>
                </a:r>
                <a:r>
                  <a:rPr dirty="0"/>
                  <a:t> </a:t>
                </a:r>
                <a:r>
                  <a:rPr dirty="0" err="1"/>
                  <a:t>gericht</a:t>
                </a:r>
                <a:r>
                  <a:rPr dirty="0"/>
                  <a:t> </a:t>
                </a:r>
                <a:r>
                  <a:rPr dirty="0" err="1"/>
                  <a:t>heeft</a:t>
                </a:r>
                <a:r>
                  <a:rPr dirty="0"/>
                  <a:t>?</a:t>
                </a:r>
              </a:p>
              <a:p>
                <a:pPr marL="0" lvl="0" indent="0">
                  <a:buNone/>
                </a:pPr>
                <a:r>
                  <a:rPr b="1" dirty="0" err="1"/>
                  <a:t>Keuze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a) 2</a:t>
                </a:r>
                <a:r>
                  <a:rPr lang="nl-BE" dirty="0"/>
                  <a:t>1</a:t>
                </a:r>
                <a:r>
                  <a:rPr dirty="0"/>
                  <a:t> m</a:t>
                </a:r>
                <a:br>
                  <a:rPr dirty="0"/>
                </a:br>
                <a:r>
                  <a:rPr dirty="0"/>
                  <a:t>b) 4</a:t>
                </a:r>
                <a:r>
                  <a:rPr lang="nl-BE" dirty="0"/>
                  <a:t>1</a:t>
                </a:r>
                <a:r>
                  <a:rPr dirty="0"/>
                  <a:t> m</a:t>
                </a:r>
                <a:br>
                  <a:rPr dirty="0"/>
                </a:br>
                <a:r>
                  <a:rPr dirty="0"/>
                  <a:t>c) 60 m</a:t>
                </a:r>
                <a:br>
                  <a:rPr dirty="0"/>
                </a:br>
                <a:r>
                  <a:rPr dirty="0"/>
                  <a:t>d) 120 m</a:t>
                </a:r>
                <a:endParaRPr lang="nl-BE" dirty="0"/>
              </a:p>
              <a:p>
                <a:r>
                  <a:rPr lang="nl-BE" dirty="0"/>
                  <a:t>Tip: “</a:t>
                </a:r>
                <a:r>
                  <a:rPr lang="nl-BE" dirty="0" err="1"/>
                  <a:t>naar</a:t>
                </a:r>
                <a:r>
                  <a:rPr lang="nl-BE" dirty="0"/>
                  <a:t> </a:t>
                </a:r>
                <a:r>
                  <a:rPr lang="nl-BE" dirty="0" err="1"/>
                  <a:t>beneden</a:t>
                </a:r>
                <a:r>
                  <a:rPr lang="nl-BE" dirty="0"/>
                  <a:t>” </a:t>
                </a:r>
                <a:r>
                  <a:rPr lang="nl-BE" dirty="0" err="1"/>
                  <a:t>betekent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𝑣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r>
                  <a:rPr lang="nl-BE" dirty="0"/>
                  <a:t> m/s;  gebruik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−2⋅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ar-AE" dirty="0"/>
                  <a:t>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20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51" y="-307422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tx1"/>
                </a:solidFill>
              </a:rPr>
              <a:t>Oplossing</a:t>
            </a:r>
            <a:r>
              <a:rPr dirty="0">
                <a:solidFill>
                  <a:schemeClr val="tx1"/>
                </a:solidFill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8" y="826718"/>
                <a:ext cx="11873501" cy="6031282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50000"/>
                  </a:lnSpc>
                  <a:buNone/>
                </a:pPr>
                <a:r>
                  <a:rPr lang="nl-BE" sz="1800" dirty="0"/>
                  <a:t>Gegeven:</a:t>
                </a:r>
                <a:br>
                  <a:rPr lang="nl-BE" sz="1800" dirty="0"/>
                </a:br>
                <a:endParaRPr lang="nl-BE" sz="1800" dirty="0"/>
              </a:p>
              <a:p>
                <a:pPr marL="0" lvl="0" indent="0">
                  <a:lnSpc>
                    <a:spcPct val="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>
                          <a:latin typeface="Cambria Math" panose="02040503050406030204" pitchFamily="18" charset="0"/>
                        </a:rPr>
                        <m:t>=30 </m:t>
                      </m:r>
                      <m:r>
                        <m:rPr>
                          <m:nor/>
                        </m:rPr>
                        <a:rPr lang="nl-BE" sz="1800" i="0"/>
                        <m:t>m/s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=−10 </m:t>
                      </m:r>
                      <m:r>
                        <m:rPr>
                          <m:nor/>
                        </m:rPr>
                        <a:rPr lang="nl-BE" sz="1800" i="0"/>
                        <m:t>m/s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=9,81 </m:t>
                      </m:r>
                      <m:sSup>
                        <m:sSupPr>
                          <m:ctrlPr>
                            <a:rPr lang="nl-BE" sz="1800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nl-BE" sz="1800" i="0"/>
                            <m:t>m/s</m:t>
                          </m:r>
                        </m:e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50000"/>
                  </a:lnSpc>
                  <a:buNone/>
                </a:pPr>
                <a:r>
                  <a:rPr lang="nl-BE" sz="1800" dirty="0"/>
                  <a:t>Opl.: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 sz="1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𝑔𝑡</m:t>
                      </m:r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nl-BE" sz="1800" dirty="0"/>
                  <a:t>Uit de </a:t>
                </a:r>
                <a:r>
                  <a:rPr lang="nl-BE" sz="1800" dirty="0" err="1"/>
                  <a:t>tweede</a:t>
                </a:r>
                <a:r>
                  <a:rPr lang="nl-BE" sz="1800" dirty="0"/>
                  <a:t> </a:t>
                </a:r>
                <a:r>
                  <a:rPr lang="nl-BE" sz="1800" dirty="0" err="1"/>
                  <a:t>vergelijking</a:t>
                </a:r>
                <a:r>
                  <a:rPr lang="nl-BE" sz="1800" dirty="0"/>
                  <a:t> </a:t>
                </a:r>
                <a:r>
                  <a:rPr lang="nl-BE" sz="1800" dirty="0" err="1"/>
                  <a:t>volgt</a:t>
                </a:r>
                <a:r>
                  <a:rPr lang="nl-BE" sz="1800" dirty="0"/>
                  <a:t>: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 sz="18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30−</m:t>
                          </m:r>
                          <m:d>
                            <m:d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e>
                          </m:d>
                        </m:num>
                        <m:den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9,81</m:t>
                          </m:r>
                        </m:den>
                      </m:f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≈4,08 </m:t>
                      </m:r>
                      <m:r>
                        <m:rPr>
                          <m:nor/>
                        </m:rPr>
                        <a:rPr lang="nl-BE" sz="1800" i="0"/>
                        <m:t>s</m:t>
                      </m:r>
                    </m:oMath>
                  </m:oMathPara>
                </a14:m>
                <a:endParaRPr lang="nl-B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nl-BE" sz="1800" dirty="0"/>
                  <a:t>Invullen in de </a:t>
                </a:r>
                <a:r>
                  <a:rPr lang="nl-BE" sz="1800" dirty="0" err="1"/>
                  <a:t>plaatsvergelijking</a:t>
                </a:r>
                <a:r>
                  <a:rPr lang="nl-BE" sz="1800" dirty="0"/>
                  <a:t> 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ar-AE" sz="1800" dirty="0"/>
                  <a:t> </a:t>
                </a:r>
                <a:r>
                  <a:rPr lang="nl-BE" sz="1800" dirty="0" err="1"/>
                  <a:t>en</a:t>
                </a:r>
                <a:r>
                  <a:rPr lang="nl-B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BE" sz="1800" dirty="0">
                    <a:latin typeface="Cambria Math" panose="02040503050406030204" pitchFamily="18" charset="0"/>
                  </a:rPr>
                  <a:t>:</a:t>
                </a:r>
                <a:endParaRPr lang="ar-AE" sz="1800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=30⋅4,08−</m:t>
                      </m:r>
                      <m:f>
                        <m:f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⋅9,81⋅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4,08</m:t>
                              </m:r>
                            </m:e>
                          </m:d>
                        </m:e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≈122,3−81,5</m:t>
                      </m:r>
                    </m:oMath>
                  </m:oMathPara>
                </a14:m>
                <a:endParaRPr lang="ar-AE" sz="18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≈40,8 </m:t>
                      </m:r>
                      <m:r>
                        <m:rPr>
                          <m:nor/>
                        </m:rPr>
                        <a:rPr lang="nl-BE" sz="1800" i="0"/>
                        <m:t>m</m:t>
                      </m:r>
                      <m:r>
                        <m:rPr>
                          <m:nor/>
                        </m:rPr>
                        <a:rPr lang="nl-BE" sz="1800" b="0" i="0" smtClean="0"/>
                        <m:t>, dus B</m:t>
                      </m:r>
                    </m:oMath>
                  </m:oMathPara>
                </a14:m>
                <a:endParaRPr lang="nl-BE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8" y="826718"/>
                <a:ext cx="11873501" cy="6031282"/>
              </a:xfrm>
              <a:blipFill>
                <a:blip r:embed="rId2"/>
                <a:stretch>
                  <a:fillRect t="-20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413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nl-NL" i="1" dirty="0"/>
                  <a:t>Inleidend: vrije val vanuit rust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dirty="0"/>
                  <a:t>Een </a:t>
                </a:r>
                <a:r>
                  <a:rPr dirty="0" err="1"/>
                  <a:t>voorwerp</a:t>
                </a:r>
                <a:r>
                  <a:rPr dirty="0"/>
                  <a:t> </a:t>
                </a:r>
                <a:r>
                  <a:rPr dirty="0" err="1"/>
                  <a:t>valt</a:t>
                </a:r>
                <a:r>
                  <a:rPr dirty="0"/>
                  <a:t> </a:t>
                </a:r>
                <a:r>
                  <a:rPr dirty="0" err="1"/>
                  <a:t>langs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raam</a:t>
                </a:r>
                <a:r>
                  <a:rPr dirty="0"/>
                  <a:t>. Het </a:t>
                </a:r>
                <a:r>
                  <a:rPr dirty="0" err="1"/>
                  <a:t>werd</a:t>
                </a:r>
                <a:r>
                  <a:rPr dirty="0"/>
                  <a:t> </a:t>
                </a:r>
                <a:r>
                  <a:rPr dirty="0" err="1"/>
                  <a:t>losgelaten</a:t>
                </a:r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hoogte</a:t>
                </a:r>
                <a:r>
                  <a:rPr dirty="0"/>
                  <a:t> van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=20 </m:t>
                    </m:r>
                    <m:r>
                      <m:rPr>
                        <m:nor/>
                      </m:rPr>
                      <a:rPr i="0"/>
                      <m:t>m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br>
                  <a:rPr dirty="0"/>
                </a:b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Met </a:t>
                </a:r>
                <a:r>
                  <a:rPr dirty="0" err="1"/>
                  <a:t>welke</a:t>
                </a:r>
                <a:r>
                  <a:rPr lang="nl-BE" dirty="0"/>
                  <a:t> grootte van de</a:t>
                </a:r>
                <a:r>
                  <a:rPr dirty="0"/>
                  <a:t> </a:t>
                </a:r>
                <a:r>
                  <a:rPr dirty="0" err="1"/>
                  <a:t>snelheid</a:t>
                </a:r>
                <a:r>
                  <a:rPr dirty="0"/>
                  <a:t> </a:t>
                </a:r>
                <a:r>
                  <a:rPr dirty="0" err="1"/>
                  <a:t>passeert</a:t>
                </a:r>
                <a:r>
                  <a:rPr dirty="0"/>
                  <a:t> het </a:t>
                </a:r>
                <a:r>
                  <a:rPr dirty="0" err="1"/>
                  <a:t>voorwerp</a:t>
                </a:r>
                <a:r>
                  <a:rPr dirty="0"/>
                  <a:t> het </a:t>
                </a:r>
                <a:r>
                  <a:rPr dirty="0" err="1"/>
                  <a:t>raam</a:t>
                </a:r>
                <a:r>
                  <a:rPr dirty="0"/>
                  <a:t>?</a:t>
                </a:r>
              </a:p>
              <a:p>
                <a:pPr marL="0" lvl="0" indent="0">
                  <a:buNone/>
                </a:pPr>
                <a:r>
                  <a:rPr b="1" dirty="0" err="1"/>
                  <a:t>Keuze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a) 10 m/s</a:t>
                </a:r>
                <a:br>
                  <a:rPr dirty="0"/>
                </a:br>
                <a:r>
                  <a:rPr dirty="0"/>
                  <a:t>b) 13 m/s</a:t>
                </a:r>
                <a:br>
                  <a:rPr dirty="0"/>
                </a:br>
                <a:r>
                  <a:rPr dirty="0"/>
                  <a:t>c) 15 m/s</a:t>
                </a:r>
                <a:br>
                  <a:rPr dirty="0"/>
                </a:br>
                <a:r>
                  <a:rPr dirty="0"/>
                  <a:t>d) 20 m/s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76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244792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tx1"/>
                </a:solidFill>
              </a:rPr>
              <a:t>Oplossing</a:t>
            </a:r>
            <a:r>
              <a:rPr dirty="0">
                <a:solidFill>
                  <a:schemeClr val="tx1"/>
                </a:solidFill>
              </a:rPr>
              <a:t>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789140"/>
                <a:ext cx="11609798" cy="6068860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dirty="0" err="1"/>
                  <a:t>Gegeven</a:t>
                </a:r>
                <a:r>
                  <a:rPr dirty="0"/>
                  <a:t>: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=20 </m:t>
                      </m:r>
                      <m:r>
                        <m:rPr>
                          <m:nor/>
                        </m:rPr>
                        <a:rPr i="0"/>
                        <m:t>m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=9,81 </m:t>
                      </m:r>
                      <m:sSup>
                        <m:sSupPr>
                          <m:ctrlPr>
                            <a:rPr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i="0"/>
                            <m:t>m/s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lang="nl-BE" dirty="0"/>
                  <a:t>Opl.</a:t>
                </a:r>
                <a:r>
                  <a:rPr dirty="0"/>
                  <a:t>: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Invullen</a:t>
                </a:r>
                <a:r>
                  <a:rPr lang="nl-BE" dirty="0"/>
                  <a:t> </a:t>
                </a:r>
                <a:r>
                  <a:rPr lang="nl-BE" dirty="0" err="1"/>
                  <a:t>geeft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0=20−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⋅9,81⋅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4,905 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4,905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≈2,02 </m:t>
                      </m:r>
                      <m:r>
                        <m:rPr>
                          <m:nor/>
                        </m:rPr>
                        <a:rPr lang="nl-BE" i="0"/>
                        <m:t>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Gebruik</a:t>
                </a:r>
                <a:r>
                  <a:rPr lang="nl-BE" dirty="0"/>
                  <a:t> </a:t>
                </a:r>
                <a:r>
                  <a:rPr lang="nl-BE" dirty="0" err="1"/>
                  <a:t>daarna</a:t>
                </a:r>
                <a:r>
                  <a:rPr lang="nl-BE" dirty="0"/>
                  <a:t> de </a:t>
                </a:r>
                <a:r>
                  <a:rPr lang="nl-BE" dirty="0" err="1"/>
                  <a:t>snelheidsvergelijking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𝑔𝑡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=0−9,81⋅2,02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≈−19,8 </m:t>
                      </m:r>
                      <m:r>
                        <m:rPr>
                          <m:nor/>
                        </m:rPr>
                        <a:rPr lang="nl-BE" i="0"/>
                        <m:t>m/s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De </a:t>
                </a:r>
                <a:r>
                  <a:rPr lang="nl-BE" dirty="0" err="1"/>
                  <a:t>gevraagde</a:t>
                </a:r>
                <a:r>
                  <a:rPr lang="nl-BE" dirty="0"/>
                  <a:t> </a:t>
                </a:r>
                <a:r>
                  <a:rPr lang="nl-BE" dirty="0" err="1"/>
                  <a:t>grootte</a:t>
                </a:r>
                <a:r>
                  <a:rPr lang="nl-BE" dirty="0"/>
                  <a:t> van de </a:t>
                </a:r>
                <a:r>
                  <a:rPr lang="nl-BE" dirty="0" err="1"/>
                  <a:t>snelheid</a:t>
                </a:r>
                <a:r>
                  <a:rPr lang="nl-BE" dirty="0"/>
                  <a:t>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≈19,8 </m:t>
                      </m:r>
                      <m:r>
                        <m:rPr>
                          <m:nor/>
                        </m:rPr>
                        <a:rPr lang="nl-BE" i="0"/>
                        <m:t>m/s</m:t>
                      </m:r>
                      <m:r>
                        <m:rPr>
                          <m:nor/>
                        </m:rPr>
                        <a:rPr lang="nl-BE" b="0" i="0" smtClean="0"/>
                        <m:t>, dus D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789140"/>
                <a:ext cx="11609798" cy="60688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888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Oefening</a:t>
            </a:r>
            <a:r>
              <a:rPr dirty="0"/>
              <a:t> </a:t>
            </a:r>
            <a:r>
              <a:rPr lang="nl-BE" dirty="0"/>
              <a:t>3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i="1" dirty="0"/>
                  <a:t>Inleidend: worp naar beneden betekent v₀ ≠ 0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dirty="0"/>
                  <a:t>Een </a:t>
                </a:r>
                <a:r>
                  <a:rPr dirty="0" err="1"/>
                  <a:t>steen</a:t>
                </a:r>
                <a:r>
                  <a:rPr dirty="0"/>
                  <a:t> </a:t>
                </a:r>
                <a:r>
                  <a:rPr dirty="0" err="1"/>
                  <a:t>wordt</a:t>
                </a:r>
                <a:r>
                  <a:rPr dirty="0"/>
                  <a:t> </a:t>
                </a:r>
                <a:r>
                  <a:rPr dirty="0" err="1"/>
                  <a:t>verticaal</a:t>
                </a:r>
                <a:r>
                  <a:rPr dirty="0"/>
                  <a:t> </a:t>
                </a:r>
                <a:r>
                  <a:rPr dirty="0" err="1"/>
                  <a:t>naar</a:t>
                </a:r>
                <a:r>
                  <a:rPr dirty="0"/>
                  <a:t> </a:t>
                </a:r>
                <a:r>
                  <a:rPr dirty="0" err="1"/>
                  <a:t>beneden</a:t>
                </a:r>
                <a:r>
                  <a:rPr dirty="0"/>
                  <a:t> </a:t>
                </a:r>
                <a:r>
                  <a:rPr dirty="0" err="1"/>
                  <a:t>geworpen</a:t>
                </a:r>
                <a:r>
                  <a:rPr dirty="0"/>
                  <a:t> met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=5 </m:t>
                    </m:r>
                    <m:r>
                      <m:rPr>
                        <m:nor/>
                      </m:rPr>
                      <a:rPr i="0"/>
                      <m:t>m/s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vanuit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hoogte</a:t>
                </a:r>
                <a:r>
                  <a:rPr dirty="0"/>
                  <a:t> van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=25 </m:t>
                    </m:r>
                    <m:r>
                      <m:rPr>
                        <m:nor/>
                      </m:rPr>
                      <a:rPr i="0"/>
                      <m:t>m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br>
                  <a:rPr dirty="0"/>
                </a:b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/>
                  <a:t>Met </a:t>
                </a:r>
                <a:r>
                  <a:rPr dirty="0" err="1"/>
                  <a:t>welke</a:t>
                </a:r>
                <a:r>
                  <a:rPr dirty="0"/>
                  <a:t> </a:t>
                </a:r>
                <a:r>
                  <a:rPr lang="nl-BE" dirty="0"/>
                  <a:t>grootte van de </a:t>
                </a:r>
                <a:r>
                  <a:rPr dirty="0" err="1"/>
                  <a:t>snelheid</a:t>
                </a:r>
                <a:r>
                  <a:rPr dirty="0"/>
                  <a:t> </a:t>
                </a:r>
                <a:r>
                  <a:rPr dirty="0" err="1"/>
                  <a:t>raakt</a:t>
                </a:r>
                <a:r>
                  <a:rPr dirty="0"/>
                  <a:t> </a:t>
                </a:r>
                <a:r>
                  <a:rPr dirty="0" err="1"/>
                  <a:t>hij</a:t>
                </a:r>
                <a:r>
                  <a:rPr dirty="0"/>
                  <a:t> de </a:t>
                </a:r>
                <a:r>
                  <a:rPr dirty="0" err="1"/>
                  <a:t>grond</a:t>
                </a:r>
                <a:r>
                  <a:rPr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686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999" y="-282370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lang="nl-BE" dirty="0"/>
              <a:t>3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043194"/>
                <a:ext cx="11609798" cy="5796552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Gegeven:	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=25 </m:t>
                    </m:r>
                    <m:r>
                      <m:rPr>
                        <m:nor/>
                      </m:rPr>
                      <a:rPr lang="nl-BE"/>
                      <m:t>m</m:t>
                    </m:r>
                  </m:oMath>
                </a14:m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=−5 </m:t>
                      </m:r>
                      <m:r>
                        <m:rPr>
                          <m:nor/>
                        </m:rPr>
                        <a:rPr lang="nl-BE"/>
                        <m:t>m/s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=0 </m:t>
                      </m:r>
                      <m:r>
                        <m:rPr>
                          <m:nor/>
                        </m:rPr>
                        <a:rPr lang="nl-BE"/>
                        <m:t>m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=9,81 </m:t>
                      </m:r>
                      <m:sSup>
                        <m:sSupPr>
                          <m:ctrlPr>
                            <a:rPr lang="nl-BE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nl-BE"/>
                            <m:t>m/s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Opl.: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0=25−5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⋅9,81⋅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4,905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−25=0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−5+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−4⋅4,905⋅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−25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2⋅4,905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≈1,80 </m:t>
                      </m:r>
                      <m:r>
                        <m:rPr>
                          <m:nor/>
                        </m:rPr>
                        <a:rPr lang="nl-BE"/>
                        <m:t>s</m:t>
                      </m:r>
                    </m:oMath>
                  </m:oMathPara>
                </a14:m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𝑔𝑡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=−5−9,81⋅1,80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≈−22,7 </m:t>
                      </m:r>
                      <m:r>
                        <m:rPr>
                          <m:nor/>
                        </m:rPr>
                        <a:rPr lang="nl-BE"/>
                        <m:t>m/s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≈23 </m:t>
                      </m:r>
                      <m:r>
                        <m:rPr>
                          <m:nor/>
                        </m:rPr>
                        <a:rPr lang="nl-BE"/>
                        <m:t>m/s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ar-AE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043194"/>
                <a:ext cx="11609798" cy="57965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277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 · De horizontale worp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ERB + vrije val, onafhankelijk van elkaar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Horizontale worp = twee bewegingen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Een horizontale worp is de combinatie van:</a:t>
            </a:r>
          </a:p>
          <a:p>
            <a:pPr lvl="1"/>
            <a:r>
              <a:rPr b="1"/>
              <a:t>horizontaal</a:t>
            </a:r>
            <a:r>
              <a:t>: eenparige rechtlijnige beweging (ERB) — geen horizontale kracht;</a:t>
            </a:r>
          </a:p>
          <a:p>
            <a:pPr lvl="1"/>
            <a:r>
              <a:rPr b="1"/>
              <a:t>verticaal</a:t>
            </a:r>
            <a:r>
              <a:t>: vrije val (EVRB) — alleen de zwaartekracht werkt.</a:t>
            </a:r>
          </a:p>
          <a:p>
            <a:pPr lvl="0"/>
            <a:r>
              <a:t>De baan is daardoor een </a:t>
            </a:r>
            <a:r>
              <a:rPr b="1"/>
              <a:t>parabool</a:t>
            </a:r>
            <a: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Onafhankelijkheidsprincipe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101" y="1343818"/>
            <a:ext cx="11609798" cy="5272739"/>
          </a:xfrm>
        </p:spPr>
        <p:txBody>
          <a:bodyPr/>
          <a:lstStyle/>
          <a:p>
            <a:pPr lvl="0"/>
            <a:r>
              <a:rPr lang="nl-NL" dirty="0"/>
              <a:t>Horizontale en verticale beweging </a:t>
            </a:r>
            <a:r>
              <a:rPr lang="nl-NL" b="1" dirty="0"/>
              <a:t>beïnvloeden elkaar niet</a:t>
            </a:r>
            <a:r>
              <a:rPr lang="nl-NL" dirty="0"/>
              <a:t>.</a:t>
            </a:r>
          </a:p>
          <a:p>
            <a:pPr lvl="0"/>
            <a:r>
              <a:rPr lang="nl-NL" dirty="0"/>
              <a:t>Demo: twee bollen vallen van dezelfde hoogte; één bol krijgt een extra horizontale snelheid.</a:t>
            </a:r>
          </a:p>
          <a:p>
            <a:pPr lvl="0"/>
            <a:r>
              <a:rPr lang="nl-NL" b="1" dirty="0"/>
              <a:t>Beide raken tegelijk de grond</a:t>
            </a:r>
            <a:r>
              <a:rPr lang="nl-NL" dirty="0"/>
              <a:t> (demonstratieproef/film in de klas).</a:t>
            </a:r>
          </a:p>
          <a:p>
            <a:pPr lvl="0"/>
            <a:r>
              <a:rPr lang="nl-NL" dirty="0"/>
              <a:t>Consequentie: de valtijd hangt niet af van hoe hard je horizontaal gooit.</a:t>
            </a:r>
          </a:p>
          <a:p>
            <a:pPr lvl="1"/>
            <a:endParaRPr lang="nl-NL" dirty="0"/>
          </a:p>
          <a:p>
            <a:pPr marL="0" indent="0">
              <a:buNone/>
            </a:pPr>
            <a:r>
              <a:rPr lang="nl-NL" dirty="0"/>
              <a:t>Filmpje: </a:t>
            </a:r>
            <a:endParaRPr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2237F8C-E7EB-FE07-71FA-F33FB5232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577" y="4598673"/>
            <a:ext cx="331311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8B3F285-8D63-040F-4B23-932109B4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528" y="57775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gelijktijdige val.mpg</a:t>
            </a: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Bewegingsvergelijkingen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24048"/>
                <a:ext cx="11609798" cy="5272739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b="1" dirty="0" err="1"/>
                  <a:t>Horizontale</a:t>
                </a:r>
                <a:r>
                  <a:rPr b="1" dirty="0"/>
                  <a:t> </a:t>
                </a:r>
                <a:r>
                  <a:rPr b="1" dirty="0" err="1"/>
                  <a:t>richting</a:t>
                </a:r>
                <a:r>
                  <a:rPr b="1" dirty="0"/>
                  <a:t> (x-as):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b="1" dirty="0" err="1"/>
                  <a:t>Verticale</a:t>
                </a:r>
                <a:r>
                  <a:rPr b="1" dirty="0"/>
                  <a:t> </a:t>
                </a:r>
                <a:r>
                  <a:rPr b="1" dirty="0" err="1"/>
                  <a:t>richting</a:t>
                </a:r>
                <a:r>
                  <a:rPr b="1" dirty="0"/>
                  <a:t> (y-as):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r>
                  <a:rPr lang="nl-NL" dirty="0"/>
                  <a:t>Beide </a:t>
                </a:r>
                <a:r>
                  <a:rPr lang="nl-NL" dirty="0" err="1"/>
                  <a:t>vergelijkingen</a:t>
                </a:r>
                <a:r>
                  <a:rPr lang="nl-NL" dirty="0"/>
                  <a:t> </a:t>
                </a:r>
                <a:r>
                  <a:rPr lang="nl-NL" dirty="0" err="1"/>
                  <a:t>delen</a:t>
                </a:r>
                <a:r>
                  <a:rPr lang="nl-NL" dirty="0"/>
                  <a:t> </a:t>
                </a:r>
                <a:r>
                  <a:rPr lang="nl-NL" dirty="0" err="1"/>
                  <a:t>dezelfde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l-NL" dirty="0"/>
                  <a:t>: de </a:t>
                </a:r>
                <a:r>
                  <a:rPr lang="nl-NL" dirty="0" err="1"/>
                  <a:t>tijd</a:t>
                </a:r>
                <a:r>
                  <a:rPr lang="nl-NL" dirty="0"/>
                  <a:t> is de </a:t>
                </a:r>
                <a:r>
                  <a:rPr lang="nl-NL" dirty="0" err="1"/>
                  <a:t>brug</a:t>
                </a:r>
                <a:r>
                  <a:rPr lang="nl-NL" dirty="0"/>
                  <a:t> </a:t>
                </a:r>
                <a:r>
                  <a:rPr lang="nl-NL" dirty="0" err="1"/>
                  <a:t>tussen</a:t>
                </a:r>
                <a:r>
                  <a:rPr lang="nl-NL" dirty="0"/>
                  <a:t> de twee </a:t>
                </a:r>
                <a:r>
                  <a:rPr lang="nl-NL" dirty="0" err="1"/>
                  <a:t>richtingen</a:t>
                </a:r>
                <a:r>
                  <a:rPr lang="nl-NL" dirty="0"/>
                  <a:t>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24048"/>
                <a:ext cx="1160979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3" y="18255"/>
            <a:ext cx="11609798" cy="1325563"/>
          </a:xfrm>
        </p:spPr>
        <p:txBody>
          <a:bodyPr>
            <a:normAutofit fontScale="90000"/>
          </a:bodyPr>
          <a:lstStyle/>
          <a:p>
            <a:pPr lvl="0"/>
            <a:r>
              <a:rPr dirty="0" err="1"/>
              <a:t>Valtijd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bereik</a:t>
            </a:r>
            <a:r>
              <a:rPr lang="nl-BE" dirty="0"/>
              <a:t> van een horizontale worp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0"/>
                <a:r>
                  <a:rPr lang="nl-BE" dirty="0"/>
                  <a:t>Valtijd t en bereik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BE" dirty="0"/>
                  <a:t> hangen </a:t>
                </a:r>
                <a:r>
                  <a:rPr lang="nl-BE" dirty="0" err="1"/>
                  <a:t>af</a:t>
                </a:r>
                <a:r>
                  <a:rPr lang="nl-BE" dirty="0"/>
                  <a:t> van:</a:t>
                </a:r>
              </a:p>
              <a:p>
                <a:pPr lvl="1"/>
                <a:r>
                  <a:rPr lang="nl-BE" b="1" dirty="0" err="1"/>
                  <a:t>Beginsnelheid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nl-BE" b="1" dirty="0" err="1"/>
                  <a:t>Beginhoogte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nl-BE" b="1" dirty="0" err="1"/>
                  <a:t>Valversnelling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nl-BE" dirty="0"/>
              </a:p>
              <a:p>
                <a:pPr marL="0" lvl="0" indent="0">
                  <a:buNone/>
                </a:pPr>
                <a:r>
                  <a:rPr dirty="0" err="1"/>
                  <a:t>Valtijd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Bereik</a:t>
                </a:r>
                <a:r>
                  <a:rPr dirty="0"/>
                  <a:t> (</a:t>
                </a:r>
                <a:r>
                  <a:rPr dirty="0" err="1"/>
                  <a:t>reikwijdte</a:t>
                </a:r>
                <a:r>
                  <a:rPr dirty="0"/>
                  <a:t>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nl-BE" dirty="0"/>
              </a:p>
              <a:p>
                <a:r>
                  <a:rPr lang="nl-NL" dirty="0"/>
                  <a:t>Denkwijze: eerst verticaal de tijd bepalen, dan horizontaal de afstand.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Invloed</a:t>
            </a:r>
            <a:r>
              <a:rPr dirty="0"/>
              <a:t> van </a:t>
            </a:r>
            <a:r>
              <a:rPr dirty="0" err="1"/>
              <a:t>factoren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0"/>
                <a:r>
                  <a:rPr lang="nl-BE" b="1" dirty="0"/>
                  <a:t>Beginsnelheid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nl-BE" dirty="0" err="1"/>
                  <a:t>Bereik</a:t>
                </a:r>
                <a:r>
                  <a:rPr lang="nl-BE" dirty="0"/>
                  <a:t> 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nl-BE" dirty="0" err="1"/>
                  <a:t>Verdubbel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 → </a:t>
                </a:r>
                <a:r>
                  <a:rPr lang="nl-BE" dirty="0" err="1"/>
                  <a:t>bereik</a:t>
                </a:r>
                <a:r>
                  <a:rPr lang="nl-BE" dirty="0"/>
                  <a:t> </a:t>
                </a:r>
                <a:r>
                  <a:rPr lang="nl-BE" dirty="0" err="1"/>
                  <a:t>verdubbelt</a:t>
                </a:r>
                <a:endParaRPr lang="nl-BE" dirty="0"/>
              </a:p>
              <a:p>
                <a:pPr lvl="0"/>
                <a:r>
                  <a:rPr lang="nl-BE" b="1" dirty="0" err="1"/>
                  <a:t>Beginhoogte</a:t>
                </a:r>
                <a:r>
                  <a:rPr lang="nl-BE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nl-BE" dirty="0" err="1"/>
                  <a:t>Bereik</a:t>
                </a:r>
                <a:r>
                  <a:rPr lang="nl-BE" dirty="0"/>
                  <a:t> ∼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endParaRPr lang="ar-AE" dirty="0"/>
              </a:p>
              <a:p>
                <a:pPr lvl="1"/>
                <a:r>
                  <a:rPr lang="nl-BE" dirty="0" err="1"/>
                  <a:t>Verviervoudig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 → </a:t>
                </a:r>
                <a:r>
                  <a:rPr lang="nl-BE" dirty="0" err="1"/>
                  <a:t>bereik</a:t>
                </a:r>
                <a:r>
                  <a:rPr lang="nl-BE" dirty="0"/>
                  <a:t> </a:t>
                </a:r>
                <a:r>
                  <a:rPr lang="nl-BE" dirty="0" err="1"/>
                  <a:t>verdubbelt</a:t>
                </a:r>
                <a:endParaRPr lang="nl-BE" dirty="0"/>
              </a:p>
              <a:p>
                <a:pPr lvl="0"/>
                <a:r>
                  <a:rPr lang="nl-BE" b="1" dirty="0" err="1"/>
                  <a:t>Valversnelling</a:t>
                </a:r>
                <a:r>
                  <a:rPr lang="nl-BE" b="1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:</a:t>
                </a:r>
              </a:p>
              <a:p>
                <a:pPr lvl="1"/>
                <a:r>
                  <a:rPr lang="nl-BE" dirty="0"/>
                  <a:t>Bereik ∼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nl-BE" dirty="0" err="1"/>
                  <a:t>Grotere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 → kleiner bereik</a:t>
                </a:r>
              </a:p>
              <a:p>
                <a:r>
                  <a:rPr lang="nl-NL" dirty="0"/>
                  <a:t>Op de </a:t>
                </a:r>
                <a:r>
                  <a:rPr lang="nl-NL" dirty="0" err="1"/>
                  <a:t>maan</a:t>
                </a:r>
                <a:r>
                  <a:rPr lang="nl-NL" dirty="0"/>
                  <a:t> (</a:t>
                </a:r>
                <a:r>
                  <a:rPr lang="nl-NL" dirty="0" err="1"/>
                  <a:t>kleinere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dirty="0"/>
                  <a:t>) vliegt een horizontaal geworpen voorwerp dus veel verder.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750A7927-3E31-CFFE-0974-E09F2DF42D0C}"/>
                  </a:ext>
                </a:extLst>
              </p:cNvPr>
              <p:cNvSpPr txBox="1"/>
              <p:nvPr/>
            </p:nvSpPr>
            <p:spPr>
              <a:xfrm>
                <a:off x="6261103" y="1343818"/>
                <a:ext cx="6094428" cy="1547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32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32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sz="3200"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32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3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ar-AE" sz="3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32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3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sz="32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750A7927-3E31-CFFE-0974-E09F2DF4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103" y="1343818"/>
                <a:ext cx="6094428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Denkvoorbeeld — pijl en roos (vraag)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Een boogschutter schiet een pijl horizontaal naar een roos.</a:t>
            </a:r>
          </a:p>
          <a:p>
            <a:pPr lvl="0"/>
            <a:r>
              <a:t>Op het moment dat de pijl vertrekt, </a:t>
            </a:r>
            <a:r>
              <a:rPr b="1"/>
              <a:t>valt de roos</a:t>
            </a:r>
            <a:r>
              <a:t>.</a:t>
            </a:r>
          </a:p>
          <a:p>
            <a:pPr lvl="0"/>
            <a:r>
              <a:t>Waar komt de pijl terecht: boven de roos, in de roos, of onder de roos?</a:t>
            </a:r>
          </a:p>
          <a:p>
            <a:pPr lvl="0"/>
            <a:r>
              <a:t>Denk na vóór je verder gaat: beide voorwerpen ondergaan dezelfde verticale val.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Denkvoorbeeld — pijl en roos (besluit)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 pijl </a:t>
            </a:r>
            <a:r>
              <a:rPr b="1"/>
              <a:t>treft de roos</a:t>
            </a:r>
            <a:r>
              <a:t>.</a:t>
            </a:r>
          </a:p>
          <a:p>
            <a:pPr lvl="0"/>
            <a:r>
              <a:t>Pijl én roos zakken op elk moment even ver onder hun “rechte-lijnpositie” ⇒ onafhankelijkheidsprincipe bevestigd.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nl-BE" dirty="0"/>
              <a:t>Horizontale worp: </a:t>
            </a:r>
            <a:r>
              <a:rPr dirty="0" err="1"/>
              <a:t>invloed</a:t>
            </a:r>
            <a:r>
              <a:rPr dirty="0"/>
              <a:t> van y₀ </a:t>
            </a:r>
            <a:r>
              <a:rPr dirty="0" err="1"/>
              <a:t>en</a:t>
            </a:r>
            <a:r>
              <a:rPr dirty="0"/>
              <a:t> v₀ₓ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Twee ballen met dezelfde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t> maar verschillende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: hogere start → langere valtijd → groter bereik.</a:t>
                </a:r>
              </a:p>
              <a:p>
                <a:pPr lvl="0"/>
                <a:r>
                  <a:t>Twee ballen met dezelfde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 maar verschillende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t>: snellere start → groter bereik (zelfde valtijd!).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Baanvergelijking</a:t>
            </a:r>
            <a:r>
              <a:rPr dirty="0"/>
              <a:t> </a:t>
            </a:r>
            <a:r>
              <a:rPr dirty="0" err="1"/>
              <a:t>horizontale</a:t>
            </a:r>
            <a:r>
              <a:rPr dirty="0"/>
              <a:t> </a:t>
            </a:r>
            <a:r>
              <a:rPr dirty="0" err="1"/>
              <a:t>worp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7562758" cy="5272739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spcBef>
                    <a:spcPts val="600"/>
                  </a:spcBef>
                  <a:buNone/>
                </a:pPr>
                <a:r>
                  <a:rPr dirty="0" err="1"/>
                  <a:t>Horizontale</a:t>
                </a:r>
                <a:r>
                  <a:rPr dirty="0"/>
                  <a:t> </a:t>
                </a:r>
                <a:r>
                  <a:rPr dirty="0" err="1"/>
                  <a:t>beweging</a:t>
                </a:r>
                <a:r>
                  <a:rPr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dirty="0" err="1"/>
                  <a:t>Verticale</a:t>
                </a:r>
                <a:r>
                  <a:rPr dirty="0"/>
                  <a:t> </a:t>
                </a:r>
                <a:r>
                  <a:rPr dirty="0" err="1"/>
                  <a:t>beweging</a:t>
                </a:r>
                <a:r>
                  <a:rPr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dirty="0" err="1"/>
                  <a:t>Elimineer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dirty="0" err="1"/>
                  <a:t>Invullen</a:t>
                </a:r>
                <a:r>
                  <a:rPr dirty="0"/>
                  <a:t>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b="1" dirty="0" err="1"/>
                  <a:t>Baanvergelijking</a:t>
                </a:r>
                <a:r>
                  <a:rPr b="1"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b="1" dirty="0"/>
              </a:p>
              <a:p>
                <a:pPr lvl="0"/>
                <a:r>
                  <a:rPr lang="nl-BE" dirty="0"/>
                  <a:t>Vorm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 ⇒ </a:t>
                </a:r>
                <a:r>
                  <a:rPr lang="nl-BE" dirty="0"/>
                  <a:t>een </a:t>
                </a:r>
                <a:r>
                  <a:rPr lang="nl-BE" b="1" dirty="0"/>
                  <a:t>parabool</a:t>
                </a:r>
                <a:r>
                  <a:rPr lang="nl-BE" dirty="0"/>
                  <a:t>,</a:t>
                </a:r>
                <a:br>
                  <a:rPr lang="nl-BE" dirty="0"/>
                </a:br>
                <a:r>
                  <a:rPr lang="nl-BE" dirty="0"/>
                  <a:t>de typische worpbaan.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756275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421FBB31-71AE-1014-32B9-628C5653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92" y="1153205"/>
            <a:ext cx="5591175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Plaatsvector</a:t>
            </a:r>
            <a:r>
              <a:rPr lang="nl-BE" dirty="0"/>
              <a:t> horizontale worp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764" y="1345219"/>
                <a:ext cx="6486146" cy="5272739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nl-BE" dirty="0"/>
                  <a:t>Horizontale </a:t>
                </a:r>
                <a:r>
                  <a:rPr lang="nl-BE" dirty="0" err="1"/>
                  <a:t>beweging</a:t>
                </a:r>
                <a:r>
                  <a:rPr lang="nl-BE"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nl-BE" dirty="0" err="1"/>
                  <a:t>Verticale</a:t>
                </a:r>
                <a:r>
                  <a:rPr lang="nl-BE" dirty="0"/>
                  <a:t> </a:t>
                </a:r>
                <a:r>
                  <a:rPr lang="nl-BE" dirty="0" err="1"/>
                  <a:t>beweging</a:t>
                </a:r>
                <a:r>
                  <a:rPr lang="nl-BE" dirty="0"/>
                  <a:t>:</a:t>
                </a:r>
              </a:p>
              <a:p>
                <a:pPr marL="0" lv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r>
                  <a:rPr lang="nl-NL" dirty="0" err="1"/>
                  <a:t>Plaatsvector</a:t>
                </a:r>
                <a:r>
                  <a:rPr lang="nl-NL" dirty="0"/>
                  <a:t> horizontale worp:</a:t>
                </a:r>
              </a:p>
              <a:p>
                <a:pPr marL="0" lvl="0" indent="0">
                  <a:buNone/>
                </a:pPr>
                <a:endParaRPr lang="nl-NL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Met: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r>
                  <a:rPr lang="nl-NL" dirty="0"/>
                  <a:t>De </a:t>
                </a:r>
                <a:r>
                  <a:rPr lang="nl-NL" dirty="0" err="1"/>
                  <a:t>plaatsvector</a:t>
                </a:r>
                <a:r>
                  <a:rPr lang="nl-NL" dirty="0"/>
                  <a:t> “</a:t>
                </a:r>
                <a:r>
                  <a:rPr lang="nl-NL" dirty="0" err="1"/>
                  <a:t>loopt</a:t>
                </a:r>
                <a:r>
                  <a:rPr lang="nl-NL" dirty="0"/>
                  <a:t>” de </a:t>
                </a:r>
                <a:r>
                  <a:rPr lang="nl-NL" dirty="0" err="1"/>
                  <a:t>parabool</a:t>
                </a:r>
                <a:r>
                  <a:rPr lang="nl-NL" dirty="0"/>
                  <a:t> </a:t>
                </a:r>
                <a:r>
                  <a:rPr lang="nl-NL" dirty="0" err="1"/>
                  <a:t>af</a:t>
                </a:r>
                <a:r>
                  <a:rPr lang="nl-NL" dirty="0"/>
                  <a:t> </a:t>
                </a:r>
                <a:r>
                  <a:rPr lang="nl-NL" dirty="0" err="1"/>
                  <a:t>naarmate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groeit</a:t>
                </a:r>
                <a:r>
                  <a:rPr lang="nl-NL" dirty="0"/>
                  <a:t>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64" y="1345219"/>
                <a:ext cx="6486146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8249A992-AB76-F1FB-B3AC-F0A4233BF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629" y="1312860"/>
            <a:ext cx="5362608" cy="503372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BE"/>
              <a:t>Snelheidsvector horizontale worp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Horizontale component: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 </m:t>
                      </m:r>
                      <m:d>
                        <m:dPr>
                          <m:ctrlPr>
                            <a:rPr lang="nl-BE" i="0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nl-BE" i="0"/>
                            <m:t>constant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/>
                  <a:t>Verticale component:</a:t>
                </a:r>
              </a:p>
              <a:p>
                <a:pPr marL="0" indent="0">
                  <a:buNone/>
                </a:pPr>
                <a:r>
                  <a:rPr lang="nl-BE" dirty="0"/>
                  <a:t>			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𝑔𝑡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nl-BE" dirty="0"/>
                  <a:t>        </a:t>
                </a:r>
                <a:br>
                  <a:rPr lang="nl-BE" dirty="0"/>
                </a:br>
                <a:r>
                  <a:rPr lang="nl-BE" dirty="0"/>
                  <a:t>      			(lineair groeiend naar beneden).</a:t>
                </a:r>
              </a:p>
              <a:p>
                <a:pPr marL="0" lvl="0" indent="0">
                  <a:buNone/>
                </a:pPr>
                <a:endParaRPr lang="ar-AE" dirty="0"/>
              </a:p>
              <a:p>
                <a:pPr marL="0" lvl="0" indent="0">
                  <a:buNone/>
                </a:pPr>
                <a:r>
                  <a:rPr lang="nl-BE" b="1" dirty="0"/>
                  <a:t>Vectorvorm: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𝑔𝑡</m:t>
                      </m:r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ar-AE" b="1" dirty="0"/>
              </a:p>
              <a:p>
                <a:pPr marL="0" lvl="0" indent="0">
                  <a:buNone/>
                </a:pPr>
                <a:r>
                  <a:rPr lang="nl-BE" b="1" dirty="0"/>
                  <a:t>Grootte: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𝑔𝑡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nl-BE" b="1" dirty="0"/>
              </a:p>
              <a:p>
                <a:pPr marL="0" indent="0">
                  <a:buNone/>
                </a:pPr>
                <a:r>
                  <a:rPr lang="nl-NL" dirty="0"/>
                  <a:t>De snelheidsvector kantelt dus steeds meer naar beneden tijdens de val.</a:t>
                </a:r>
              </a:p>
              <a:p>
                <a:pPr marL="0" lvl="0" indent="0">
                  <a:buNone/>
                </a:pPr>
                <a:endParaRPr lang="ar-AE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E7526FBF-9F25-4184-9DF5-62A51DE63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15" y="1312860"/>
            <a:ext cx="3845722" cy="36098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Versnellingsvector bij een horizontale worp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lvl="0"/>
                <a:r>
                  <a:t>Geen horizontale component; de verticale component is de constante valversnelling.</a:t>
                </a:r>
              </a:p>
              <a:p>
                <a:pPr lvl="0"/>
                <a:r>
                  <a:t>Daarom blijft de horizontale snelheid behouden en is de baan een parabool.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4 — pijl vanop een toren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i="1"/>
                  <a:t>Inleidend: twee stappen — eerst de valtijd uit de hoogte, dan de horizontale afstand met x = v₀ₓ·t.</a:t>
                </a:r>
              </a:p>
              <a:p>
                <a:pPr lvl="0"/>
                <a:r>
                  <a:t>Een pijl wordt horizontaal afgeschoten vanop een hoogte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t> m 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t> m/s.</a:t>
                </a:r>
              </a:p>
              <a:p>
                <a:pPr lvl="0"/>
                <a:r>
                  <a:rPr b="1"/>
                  <a:t>Vraag</a:t>
                </a:r>
                <a:r>
                  <a:t>: hoe ver van de voet van de toren komt de pijl neer?</a:t>
                </a:r>
              </a:p>
              <a:p>
                <a:pPr lvl="0"/>
                <a:r>
                  <a:t>Aanpak: eerst valtijd uit de verticale vergelijking, dan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6963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lang="nl-BE" dirty="0"/>
              <a:t>4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039660"/>
                <a:ext cx="11609798" cy="5576897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Verticale </a:t>
                </a:r>
                <a:r>
                  <a:rPr lang="nl-BE" dirty="0" err="1"/>
                  <a:t>vergelijking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/>
                  <a:t>De </a:t>
                </a:r>
                <a:r>
                  <a:rPr lang="nl-BE" dirty="0" err="1"/>
                  <a:t>pijl</a:t>
                </a:r>
                <a:r>
                  <a:rPr lang="nl-BE" dirty="0"/>
                  <a:t> </a:t>
                </a:r>
                <a:r>
                  <a:rPr lang="nl-BE" dirty="0" err="1"/>
                  <a:t>raakt</a:t>
                </a:r>
                <a:r>
                  <a:rPr lang="nl-BE" dirty="0"/>
                  <a:t> de </a:t>
                </a:r>
                <a:r>
                  <a:rPr lang="nl-BE" dirty="0" err="1"/>
                  <a:t>grond</a:t>
                </a:r>
                <a:r>
                  <a:rPr lang="nl-BE" dirty="0"/>
                  <a:t> </a:t>
                </a:r>
                <a:r>
                  <a:rPr lang="nl-BE" dirty="0" err="1"/>
                  <a:t>als</a:t>
                </a: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Valtijd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2⋅20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9,81</m:t>
                              </m:r>
                            </m:den>
                          </m:f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≈2,02 </m:t>
                      </m:r>
                      <m:r>
                        <m:rPr>
                          <m:nor/>
                        </m:rPr>
                        <a:rPr lang="nl-BE" i="0"/>
                        <m:t>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Horizontale</a:t>
                </a:r>
                <a:r>
                  <a:rPr lang="nl-BE" dirty="0"/>
                  <a:t> </a:t>
                </a:r>
                <a:r>
                  <a:rPr lang="nl-BE" dirty="0" err="1"/>
                  <a:t>afstand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=15⋅2,02=30, 3</m:t>
                    </m:r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≈30 </m:t>
                    </m:r>
                    <m:r>
                      <m:rPr>
                        <m:nor/>
                      </m:rPr>
                      <a:rPr lang="nl-BE" i="0"/>
                      <m:t>m</m:t>
                    </m:r>
                  </m:oMath>
                </a14:m>
                <a:r>
                  <a:rPr lang="nl-BE" dirty="0"/>
                  <a:t> </a:t>
                </a:r>
              </a:p>
              <a:p>
                <a:pPr marL="0" lvl="0" indent="0">
                  <a:buNone/>
                </a:pPr>
                <a:r>
                  <a:rPr lang="nl-BE" b="1" dirty="0"/>
                  <a:t>Antwoord:</a:t>
                </a:r>
                <a:r>
                  <a:rPr lang="nl-BE" dirty="0"/>
                  <a:t> </a:t>
                </a:r>
                <a:r>
                  <a:rPr lang="nl-BE" dirty="0" err="1"/>
                  <a:t>ongeveer</a:t>
                </a:r>
                <a:r>
                  <a:rPr lang="nl-BE" dirty="0"/>
                  <a:t> 30 m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039660"/>
                <a:ext cx="11609798" cy="557689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2009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99" y="1343818"/>
            <a:ext cx="11763254" cy="5495927"/>
          </a:xfrm>
        </p:spPr>
        <p:txBody>
          <a:bodyPr>
            <a:normAutofit fontScale="77500" lnSpcReduction="2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dirty="0"/>
              <a:t>Een </a:t>
            </a:r>
            <a:r>
              <a:rPr dirty="0" err="1"/>
              <a:t>pijl</a:t>
            </a:r>
            <a:r>
              <a:rPr dirty="0"/>
              <a:t>, die je </a:t>
            </a:r>
            <a:r>
              <a:rPr dirty="0" err="1"/>
              <a:t>horizontaal</a:t>
            </a:r>
            <a:r>
              <a:rPr dirty="0"/>
              <a:t> </a:t>
            </a:r>
            <a:r>
              <a:rPr dirty="0" err="1"/>
              <a:t>afschiet</a:t>
            </a:r>
            <a:r>
              <a:rPr dirty="0"/>
              <a:t> </a:t>
            </a:r>
            <a:r>
              <a:rPr dirty="0" err="1"/>
              <a:t>vanuit</a:t>
            </a:r>
            <a:r>
              <a:rPr dirty="0"/>
              <a:t> punt P, </a:t>
            </a:r>
            <a:r>
              <a:rPr dirty="0" err="1"/>
              <a:t>treft</a:t>
            </a:r>
            <a:r>
              <a:rPr dirty="0"/>
              <a:t> punt </a:t>
            </a:r>
            <a:r>
              <a:rPr lang="nl-BE" dirty="0"/>
              <a:t>1</a:t>
            </a:r>
            <a:r>
              <a:rPr dirty="0"/>
              <a:t> op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verticale</a:t>
            </a:r>
            <a:r>
              <a:rPr dirty="0"/>
              <a:t> wand.</a:t>
            </a:r>
            <a:r>
              <a:rPr lang="nl-BE" dirty="0"/>
              <a:t> 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dirty="0"/>
              <a:t>Je </a:t>
            </a:r>
            <a:r>
              <a:rPr dirty="0" err="1"/>
              <a:t>verdubbelt</a:t>
            </a:r>
            <a:r>
              <a:rPr dirty="0"/>
              <a:t> de </a:t>
            </a:r>
            <a:r>
              <a:rPr dirty="0" err="1"/>
              <a:t>vertreksnelheid</a:t>
            </a:r>
            <a:r>
              <a:rPr dirty="0"/>
              <a:t> van de </a:t>
            </a:r>
            <a:r>
              <a:rPr dirty="0" err="1"/>
              <a:t>pijl</a:t>
            </a:r>
            <a:r>
              <a:rPr dirty="0"/>
              <a:t>.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b="1" dirty="0" err="1"/>
              <a:t>Vraag</a:t>
            </a:r>
            <a:r>
              <a:rPr b="1" dirty="0"/>
              <a:t>:</a:t>
            </a:r>
            <a:br>
              <a:rPr dirty="0"/>
            </a:br>
            <a:r>
              <a:rPr dirty="0" err="1"/>
              <a:t>Waar</a:t>
            </a:r>
            <a:r>
              <a:rPr dirty="0"/>
              <a:t> </a:t>
            </a:r>
            <a:r>
              <a:rPr dirty="0" err="1"/>
              <a:t>treft</a:t>
            </a:r>
            <a:r>
              <a:rPr dirty="0"/>
              <a:t> de </a:t>
            </a:r>
            <a:r>
              <a:rPr dirty="0" err="1"/>
              <a:t>pijl</a:t>
            </a:r>
            <a:r>
              <a:rPr dirty="0"/>
              <a:t> de wand nu?</a:t>
            </a:r>
          </a:p>
          <a:p>
            <a:pPr marL="457200" lvl="0" indent="-457200">
              <a:buAutoNum type="alphaLcParenR"/>
            </a:pPr>
            <a:r>
              <a:rPr dirty="0"/>
              <a:t>punt </a:t>
            </a:r>
            <a:r>
              <a:rPr lang="nl-BE" dirty="0"/>
              <a:t>1</a:t>
            </a:r>
            <a:br>
              <a:rPr dirty="0"/>
            </a:br>
            <a:endParaRPr dirty="0"/>
          </a:p>
          <a:p>
            <a:pPr marL="457200" lvl="0" indent="-457200">
              <a:buAutoNum type="alphaLcParenR"/>
            </a:pPr>
            <a:r>
              <a:rPr dirty="0"/>
              <a:t>punt </a:t>
            </a:r>
            <a:r>
              <a:rPr lang="nl-BE" dirty="0"/>
              <a:t>2</a:t>
            </a:r>
            <a:br>
              <a:rPr dirty="0"/>
            </a:br>
            <a:endParaRPr dirty="0"/>
          </a:p>
          <a:p>
            <a:pPr marL="457200" lvl="0" indent="-457200">
              <a:buAutoNum type="alphaLcParenR"/>
            </a:pPr>
            <a:r>
              <a:rPr dirty="0"/>
              <a:t>punt </a:t>
            </a:r>
            <a:r>
              <a:rPr lang="nl-BE" dirty="0"/>
              <a:t>3</a:t>
            </a:r>
            <a:br>
              <a:rPr dirty="0"/>
            </a:br>
            <a:endParaRPr dirty="0"/>
          </a:p>
          <a:p>
            <a:pPr marL="457200" lvl="0" indent="-457200">
              <a:buAutoNum type="alphaLcParenR"/>
            </a:pPr>
            <a:r>
              <a:rPr dirty="0"/>
              <a:t>punt </a:t>
            </a:r>
            <a:r>
              <a:rPr lang="nl-BE" dirty="0"/>
              <a:t>4</a:t>
            </a:r>
            <a:endParaRPr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A3FB236-EA1D-1D1F-1FE9-06795AFD1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504" y="3137580"/>
            <a:ext cx="5706257" cy="237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8314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30E2E-C7E3-9C29-1D98-F9ABC38A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B3D8-F4E2-841C-6445-42C22107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</a:t>
            </a:r>
            <a:r>
              <a:rPr lang="nl-BE" dirty="0" err="1"/>
              <a:t>plossing</a:t>
            </a:r>
            <a:r>
              <a:rPr dirty="0"/>
              <a:t>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1DCAC6-9DED-178B-8648-76915A8A7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11763254" cy="5495927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dirty="0"/>
                  <a:t>Een </a:t>
                </a:r>
                <a:r>
                  <a:rPr dirty="0" err="1"/>
                  <a:t>pijl</a:t>
                </a:r>
                <a:r>
                  <a:rPr dirty="0"/>
                  <a:t>, die je </a:t>
                </a:r>
                <a:r>
                  <a:rPr dirty="0" err="1"/>
                  <a:t>horizontaal</a:t>
                </a:r>
                <a:r>
                  <a:rPr dirty="0"/>
                  <a:t> </a:t>
                </a:r>
                <a:r>
                  <a:rPr dirty="0" err="1"/>
                  <a:t>afschiet</a:t>
                </a:r>
                <a:r>
                  <a:rPr dirty="0"/>
                  <a:t> </a:t>
                </a:r>
                <a:r>
                  <a:rPr dirty="0" err="1"/>
                  <a:t>vanuit</a:t>
                </a:r>
                <a:r>
                  <a:rPr dirty="0"/>
                  <a:t> punt P, </a:t>
                </a:r>
                <a:r>
                  <a:rPr dirty="0" err="1"/>
                  <a:t>treft</a:t>
                </a:r>
                <a:r>
                  <a:rPr dirty="0"/>
                  <a:t> punt </a:t>
                </a:r>
                <a:r>
                  <a:rPr lang="nl-BE" dirty="0"/>
                  <a:t>O</a:t>
                </a:r>
                <a:r>
                  <a:rPr dirty="0"/>
                  <a:t> op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verticale</a:t>
                </a:r>
                <a:r>
                  <a:rPr dirty="0"/>
                  <a:t> wand.</a:t>
                </a:r>
                <a:r>
                  <a:rPr lang="nl-BE" dirty="0"/>
                  <a:t>  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dirty="0"/>
                  <a:t>Je </a:t>
                </a:r>
                <a:r>
                  <a:rPr dirty="0" err="1"/>
                  <a:t>verdubbelt</a:t>
                </a:r>
                <a:r>
                  <a:rPr dirty="0"/>
                  <a:t> de </a:t>
                </a:r>
                <a:r>
                  <a:rPr dirty="0" err="1"/>
                  <a:t>vertreksnelheid</a:t>
                </a:r>
                <a:r>
                  <a:rPr dirty="0"/>
                  <a:t> van de </a:t>
                </a:r>
                <a:r>
                  <a:rPr dirty="0" err="1"/>
                  <a:t>pijl</a:t>
                </a:r>
                <a:r>
                  <a:rPr dirty="0"/>
                  <a:t>.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 err="1"/>
                  <a:t>Waar</a:t>
                </a:r>
                <a:r>
                  <a:rPr dirty="0"/>
                  <a:t> </a:t>
                </a:r>
                <a:r>
                  <a:rPr dirty="0" err="1"/>
                  <a:t>treft</a:t>
                </a:r>
                <a:r>
                  <a:rPr dirty="0"/>
                  <a:t> de </a:t>
                </a:r>
                <a:r>
                  <a:rPr dirty="0" err="1"/>
                  <a:t>pijl</a:t>
                </a:r>
                <a:r>
                  <a:rPr dirty="0"/>
                  <a:t> de wand nu?</a:t>
                </a:r>
              </a:p>
              <a:p>
                <a:pPr marL="457200" lvl="0" indent="-457200">
                  <a:lnSpc>
                    <a:spcPct val="120000"/>
                  </a:lnSpc>
                  <a:spcBef>
                    <a:spcPts val="0"/>
                  </a:spcBef>
                  <a:buAutoNum type="alphaLcParenR"/>
                </a:pPr>
                <a:r>
                  <a:rPr dirty="0"/>
                  <a:t>punt </a:t>
                </a:r>
                <a:r>
                  <a:rPr lang="nl-BE" dirty="0"/>
                  <a:t>1</a:t>
                </a:r>
              </a:p>
              <a:p>
                <a:pPr marL="457200" lvl="0" indent="-457200">
                  <a:lnSpc>
                    <a:spcPct val="120000"/>
                  </a:lnSpc>
                  <a:spcBef>
                    <a:spcPts val="0"/>
                  </a:spcBef>
                  <a:buAutoNum type="alphaLcParenR"/>
                </a:pPr>
                <a:r>
                  <a:rPr dirty="0"/>
                  <a:t>punt </a:t>
                </a:r>
                <a:r>
                  <a:rPr lang="nl-BE" dirty="0"/>
                  <a:t>2</a:t>
                </a:r>
                <a:endParaRPr dirty="0"/>
              </a:p>
              <a:p>
                <a:pPr marL="457200" lvl="0" indent="-457200">
                  <a:lnSpc>
                    <a:spcPct val="120000"/>
                  </a:lnSpc>
                  <a:spcBef>
                    <a:spcPts val="0"/>
                  </a:spcBef>
                  <a:buAutoNum type="alphaLcParenR"/>
                </a:pPr>
                <a:r>
                  <a:rPr dirty="0"/>
                  <a:t>punt </a:t>
                </a:r>
                <a:r>
                  <a:rPr lang="nl-BE" dirty="0"/>
                  <a:t>3</a:t>
                </a:r>
                <a:endParaRPr dirty="0"/>
              </a:p>
              <a:p>
                <a:pPr marL="457200" lvl="0" indent="-457200">
                  <a:lnSpc>
                    <a:spcPct val="120000"/>
                  </a:lnSpc>
                  <a:spcBef>
                    <a:spcPts val="0"/>
                  </a:spcBef>
                  <a:buAutoNum type="alphaLcParenR"/>
                </a:pPr>
                <a:r>
                  <a:rPr dirty="0"/>
                  <a:t>punt </a:t>
                </a:r>
                <a:r>
                  <a:rPr lang="nl-BE" dirty="0"/>
                  <a:t>4</a:t>
                </a:r>
              </a:p>
              <a:p>
                <a:pPr marL="457200" lvl="0" indent="-457200">
                  <a:lnSpc>
                    <a:spcPct val="120000"/>
                  </a:lnSpc>
                  <a:spcBef>
                    <a:spcPts val="0"/>
                  </a:spcBef>
                  <a:buAutoNum type="alphaLcParenR"/>
                </a:pPr>
                <a:endParaRPr lang="nl-BE" dirty="0"/>
              </a:p>
              <a:p>
                <a:pPr lvl="0"/>
                <a:r>
                  <a:rPr lang="nl-BE" dirty="0"/>
                  <a:t>De </a:t>
                </a:r>
                <a:r>
                  <a:rPr lang="nl-BE" dirty="0" err="1"/>
                  <a:t>horizontale</a:t>
                </a:r>
                <a:r>
                  <a:rPr lang="nl-BE" dirty="0"/>
                  <a:t> </a:t>
                </a:r>
                <a:r>
                  <a:rPr lang="nl-BE" dirty="0" err="1"/>
                  <a:t>afstand</a:t>
                </a:r>
                <a:r>
                  <a:rPr lang="nl-BE" dirty="0"/>
                  <a:t> tot de wand </a:t>
                </a:r>
                <a:r>
                  <a:rPr lang="nl-BE" dirty="0" err="1"/>
                  <a:t>blijft</a:t>
                </a:r>
                <a:r>
                  <a:rPr lang="nl-BE" dirty="0"/>
                  <a:t> </a:t>
                </a:r>
                <a:r>
                  <a:rPr lang="nl-BE" dirty="0" err="1"/>
                  <a:t>dezelfde</a:t>
                </a:r>
                <a:r>
                  <a:rPr lang="nl-BE" dirty="0"/>
                  <a:t>; </a:t>
                </a:r>
                <a:r>
                  <a:rPr lang="nl-BE" dirty="0" err="1"/>
                  <a:t>bij</a:t>
                </a:r>
                <a:r>
                  <a:rPr lang="nl-BE" dirty="0"/>
                  <a:t> </a:t>
                </a:r>
                <a:r>
                  <a:rPr lang="nl-BE" dirty="0" err="1"/>
                  <a:t>dubbele</a:t>
                </a:r>
                <a:r>
                  <a:rPr lang="nl-BE" dirty="0"/>
                  <a:t> </a:t>
                </a:r>
                <a:r>
                  <a:rPr lang="nl-BE" dirty="0" err="1"/>
                  <a:t>snelheid</a:t>
                </a:r>
                <a:r>
                  <a:rPr lang="nl-BE" dirty="0"/>
                  <a:t> is de </a:t>
                </a:r>
                <a:r>
                  <a:rPr lang="nl-BE" dirty="0" err="1"/>
                  <a:t>vliegtijd</a:t>
                </a:r>
                <a:r>
                  <a:rPr lang="nl-BE" dirty="0"/>
                  <a:t> </a:t>
                </a:r>
                <a:r>
                  <a:rPr lang="nl-BE" dirty="0" err="1"/>
                  <a:t>dus</a:t>
                </a:r>
                <a:r>
                  <a:rPr lang="nl-BE" dirty="0"/>
                  <a:t> </a:t>
                </a:r>
                <a:r>
                  <a:rPr lang="nl-BE" b="1" dirty="0" err="1"/>
                  <a:t>gehalveerd</a:t>
                </a:r>
                <a:r>
                  <a:rPr lang="nl-BE" dirty="0"/>
                  <a:t>.</a:t>
                </a:r>
              </a:p>
              <a:p>
                <a:pPr lvl="0"/>
                <a:r>
                  <a:rPr lang="nl-BE" dirty="0"/>
                  <a:t>De </a:t>
                </a:r>
                <a:r>
                  <a:rPr lang="nl-BE" dirty="0" err="1"/>
                  <a:t>val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nl-BE" dirty="0" err="1"/>
                  <a:t>wordt</a:t>
                </a:r>
                <a:r>
                  <a:rPr lang="nl-BE" dirty="0"/>
                  <a:t> dan </a:t>
                </a:r>
                <a:r>
                  <a:rPr lang="nl-BE" b="1" dirty="0"/>
                  <a:t>4× </a:t>
                </a:r>
                <a:r>
                  <a:rPr lang="nl-BE" b="1" dirty="0" err="1"/>
                  <a:t>kleiner</a:t>
                </a:r>
                <a:r>
                  <a:rPr lang="nl-BE" dirty="0"/>
                  <a:t> (</a:t>
                </a:r>
                <a:r>
                  <a:rPr lang="nl-BE" dirty="0" err="1"/>
                  <a:t>kwadratisch</a:t>
                </a:r>
                <a:r>
                  <a:rPr lang="nl-BE" dirty="0"/>
                  <a:t>!).</a:t>
                </a:r>
              </a:p>
              <a:p>
                <a:pPr lvl="0"/>
                <a:r>
                  <a:rPr lang="nl-BE" dirty="0"/>
                  <a:t>De </a:t>
                </a:r>
                <a:r>
                  <a:rPr lang="nl-BE" dirty="0" err="1"/>
                  <a:t>pijl</a:t>
                </a:r>
                <a:r>
                  <a:rPr lang="nl-BE" dirty="0"/>
                  <a:t> </a:t>
                </a:r>
                <a:r>
                  <a:rPr lang="nl-BE" dirty="0" err="1"/>
                  <a:t>treft</a:t>
                </a:r>
                <a:r>
                  <a:rPr lang="nl-BE" dirty="0"/>
                  <a:t> de wand </a:t>
                </a:r>
                <a:r>
                  <a:rPr lang="nl-BE" dirty="0" err="1"/>
                  <a:t>dus</a:t>
                </a:r>
                <a:r>
                  <a:rPr lang="nl-BE" dirty="0"/>
                  <a:t> op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kwart</a:t>
                </a:r>
                <a:r>
                  <a:rPr lang="nl-BE" dirty="0"/>
                  <a:t> van de </a:t>
                </a:r>
                <a:r>
                  <a:rPr lang="nl-BE" dirty="0" err="1"/>
                  <a:t>oorspronkelijke</a:t>
                </a:r>
                <a:r>
                  <a:rPr lang="nl-BE" dirty="0"/>
                  <a:t> </a:t>
                </a:r>
                <a:r>
                  <a:rPr lang="nl-BE" dirty="0" err="1"/>
                  <a:t>zakking</a:t>
                </a:r>
                <a:r>
                  <a:rPr lang="nl-BE" dirty="0"/>
                  <a:t> — in de </a:t>
                </a:r>
                <a:r>
                  <a:rPr lang="nl-BE" dirty="0" err="1"/>
                  <a:t>figuur</a:t>
                </a:r>
                <a:r>
                  <a:rPr lang="nl-BE" dirty="0"/>
                  <a:t> is </a:t>
                </a:r>
                <a:r>
                  <a:rPr lang="nl-BE" dirty="0" err="1"/>
                  <a:t>dat</a:t>
                </a:r>
                <a:r>
                  <a:rPr lang="nl-BE" dirty="0"/>
                  <a:t> </a:t>
                </a:r>
                <a:r>
                  <a:rPr lang="nl-BE" b="1" dirty="0"/>
                  <a:t>punt 3</a:t>
                </a:r>
                <a:r>
                  <a:rPr lang="nl-BE" dirty="0"/>
                  <a:t>.</a:t>
                </a:r>
              </a:p>
              <a:p>
                <a:pPr lvl="0"/>
                <a:r>
                  <a:rPr lang="nl-BE" b="1" dirty="0"/>
                  <a:t>Antwoord: c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1DCAC6-9DED-178B-8648-76915A8A7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11763254" cy="54959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>
            <a:extLst>
              <a:ext uri="{FF2B5EF4-FFF2-40B4-BE49-F238E27FC236}">
                <a16:creationId xmlns:a16="http://schemas.microsoft.com/office/drawing/2014/main" id="{CB32E5EF-9A16-E52C-FDBA-A5DAF988A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19027"/>
            <a:ext cx="5706257" cy="237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652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nl-NL" i="1" dirty="0"/>
                  <a:t>Inleidend: een zeer snelle kogel heeft een korte vliegtijd — reken maar na hoeveel hij dan nog zakt.</a:t>
                </a:r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r>
                  <a:rPr dirty="0"/>
                  <a:t>Je </a:t>
                </a:r>
                <a:r>
                  <a:rPr dirty="0" err="1"/>
                  <a:t>schiet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kogel</a:t>
                </a:r>
                <a:r>
                  <a:rPr dirty="0"/>
                  <a:t> </a:t>
                </a:r>
                <a:r>
                  <a:rPr dirty="0" err="1"/>
                  <a:t>af</a:t>
                </a:r>
                <a:r>
                  <a:rPr dirty="0"/>
                  <a:t> met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snelheid</a:t>
                </a:r>
                <a:r>
                  <a:rPr dirty="0"/>
                  <a:t> van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=200 </m:t>
                    </m:r>
                    <m:r>
                      <m:rPr>
                        <m:nor/>
                      </m:rPr>
                      <a:rPr i="0"/>
                      <m:t>m/s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160 m </a:t>
                </a:r>
                <a:r>
                  <a:rPr dirty="0" err="1"/>
                  <a:t>verder</a:t>
                </a:r>
                <a:r>
                  <a:rPr dirty="0"/>
                  <a:t> </a:t>
                </a:r>
                <a:r>
                  <a:rPr dirty="0" err="1"/>
                  <a:t>slaat</a:t>
                </a:r>
                <a:r>
                  <a:rPr dirty="0"/>
                  <a:t> </a:t>
                </a:r>
                <a:r>
                  <a:rPr dirty="0" err="1"/>
                  <a:t>hij</a:t>
                </a:r>
                <a:r>
                  <a:rPr dirty="0"/>
                  <a:t> in </a:t>
                </a:r>
                <a:r>
                  <a:rPr dirty="0" err="1"/>
                  <a:t>tegen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muur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b="1" dirty="0" err="1"/>
                  <a:t>Vraag</a:t>
                </a:r>
                <a:r>
                  <a:rPr b="1" dirty="0"/>
                  <a:t>:</a:t>
                </a:r>
                <a:br>
                  <a:rPr dirty="0"/>
                </a:br>
                <a:r>
                  <a:rPr dirty="0" err="1"/>
                  <a:t>Hoeveel</a:t>
                </a:r>
                <a:r>
                  <a:rPr dirty="0"/>
                  <a:t> is de </a:t>
                </a:r>
                <a:r>
                  <a:rPr dirty="0" err="1"/>
                  <a:t>kogel</a:t>
                </a:r>
                <a:r>
                  <a:rPr dirty="0"/>
                  <a:t> </a:t>
                </a:r>
                <a:r>
                  <a:rPr dirty="0" err="1"/>
                  <a:t>gezakt</a:t>
                </a:r>
                <a:r>
                  <a:rPr dirty="0"/>
                  <a:t> </a:t>
                </a:r>
                <a:r>
                  <a:rPr dirty="0" err="1"/>
                  <a:t>als</a:t>
                </a:r>
                <a:r>
                  <a:rPr dirty="0"/>
                  <a:t> </a:t>
                </a:r>
                <a:r>
                  <a:rPr dirty="0" err="1"/>
                  <a:t>hij</a:t>
                </a:r>
                <a:r>
                  <a:rPr dirty="0"/>
                  <a:t> </a:t>
                </a:r>
                <a:r>
                  <a:rPr dirty="0" err="1"/>
                  <a:t>tegen</a:t>
                </a:r>
                <a:r>
                  <a:rPr dirty="0"/>
                  <a:t> de </a:t>
                </a:r>
                <a:r>
                  <a:rPr dirty="0" err="1"/>
                  <a:t>muur</a:t>
                </a:r>
                <a:r>
                  <a:rPr dirty="0"/>
                  <a:t> </a:t>
                </a:r>
                <a:r>
                  <a:rPr dirty="0" err="1"/>
                  <a:t>belandt</a:t>
                </a:r>
                <a:r>
                  <a:rPr dirty="0"/>
                  <a:t>?</a:t>
                </a:r>
              </a:p>
              <a:p>
                <a:pPr marL="457200" lvl="0" indent="-457200">
                  <a:buAutoNum type="alphaLcParenR"/>
                </a:pPr>
                <a:r>
                  <a:rPr dirty="0"/>
                  <a:t>0,80 m</a:t>
                </a:r>
                <a:br>
                  <a:rPr dirty="0"/>
                </a:br>
                <a:endParaRPr dirty="0"/>
              </a:p>
              <a:p>
                <a:pPr marL="457200" lvl="0" indent="-457200">
                  <a:buAutoNum type="alphaLcParenR"/>
                </a:pPr>
                <a:r>
                  <a:rPr dirty="0"/>
                  <a:t>1,60 m</a:t>
                </a:r>
                <a:br>
                  <a:rPr dirty="0"/>
                </a:br>
                <a:endParaRPr dirty="0"/>
              </a:p>
              <a:p>
                <a:pPr marL="457200" lvl="0" indent="-457200">
                  <a:buAutoNum type="alphaLcParenR"/>
                </a:pPr>
                <a:r>
                  <a:rPr dirty="0"/>
                  <a:t>3,</a:t>
                </a:r>
                <a:r>
                  <a:rPr lang="nl-BE" dirty="0"/>
                  <a:t>14</a:t>
                </a:r>
                <a:r>
                  <a:rPr dirty="0"/>
                  <a:t> m</a:t>
                </a:r>
                <a:br>
                  <a:rPr dirty="0"/>
                </a:br>
                <a:endParaRPr dirty="0"/>
              </a:p>
              <a:p>
                <a:pPr marL="457200" lvl="0" indent="-457200">
                  <a:buAutoNum type="alphaLcParenR"/>
                </a:pPr>
                <a:r>
                  <a:rPr dirty="0"/>
                  <a:t>5,00 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117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44583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180980"/>
                <a:ext cx="11609798" cy="5677020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Gegeven: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=200 </m:t>
                      </m:r>
                      <m:r>
                        <m:rPr>
                          <m:nor/>
                        </m:rPr>
                        <a:rPr lang="nl-BE" i="0"/>
                        <m:t>m/s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=160 </m:t>
                      </m:r>
                      <m:r>
                        <m:rPr>
                          <m:nor/>
                        </m:rPr>
                        <a:rPr lang="nl-BE" i="0"/>
                        <m:t>m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=9,81 </m:t>
                      </m:r>
                      <m:sSup>
                        <m:sSupPr>
                          <m:ctrlPr>
                            <a:rPr lang="nl-BE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nl-BE" i="0"/>
                            <m:t>m/s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Horizontale</a:t>
                </a:r>
                <a:r>
                  <a:rPr lang="nl-BE" dirty="0"/>
                  <a:t> </a:t>
                </a:r>
                <a:r>
                  <a:rPr lang="nl-BE" dirty="0" err="1"/>
                  <a:t>beweging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160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=0,800 </m:t>
                      </m:r>
                      <m:r>
                        <m:rPr>
                          <m:nor/>
                        </m:rPr>
                        <a:rPr lang="nl-BE" i="0"/>
                        <m:t>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Verticale</a:t>
                </a:r>
                <a:r>
                  <a:rPr lang="nl-BE" dirty="0"/>
                  <a:t> </a:t>
                </a:r>
                <a:r>
                  <a:rPr lang="nl-BE" dirty="0" err="1"/>
                  <a:t>beweging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⋅9,81⋅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0,80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≈−3,14 </m:t>
                      </m:r>
                      <m:r>
                        <m:rPr>
                          <m:nor/>
                        </m:rPr>
                        <a:rPr lang="nl-BE" i="0"/>
                        <m:t>m</m:t>
                      </m:r>
                    </m:oMath>
                  </m:oMathPara>
                </a14:m>
                <a:endParaRPr lang="nl-BE" dirty="0"/>
              </a:p>
              <a:p>
                <a:r>
                  <a:rPr lang="nl-BE" b="1" dirty="0"/>
                  <a:t>Antwoord:</a:t>
                </a:r>
                <a:r>
                  <a:rPr lang="nl-BE" dirty="0"/>
                  <a:t> c) 3,14 m, dus </a:t>
                </a:r>
                <a:r>
                  <a:rPr lang="nl-NL" dirty="0"/>
                  <a:t>ook een snelle kogel zakt merkbaar!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180980"/>
                <a:ext cx="11609798" cy="56770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983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34" y="-143780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Oefening</a:t>
            </a:r>
            <a:r>
              <a:rPr dirty="0"/>
              <a:t> 7</a:t>
            </a:r>
            <a:r>
              <a:rPr lang="nl-BE" dirty="0"/>
              <a:t>: botsende bal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500" y="1215828"/>
                <a:ext cx="8161622" cy="564570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nl-NL" i="1" dirty="0"/>
                  <a:t>Inleidend: combinatie van relatieve beweging (horizontaal) en vrije val (verticaal).</a:t>
                </a:r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Je schiet bal U horizontaal af vanaf een hoogte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nl-BE" dirty="0"/>
                  <a:t> met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snelheid</a:t>
                </a:r>
                <a:r>
                  <a:rPr lang="nl-BE" dirty="0"/>
                  <a:t>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=100 </m:t>
                    </m:r>
                    <m:r>
                      <m:rPr>
                        <m:nor/>
                      </m:rPr>
                      <a:rPr lang="nl-BE" i="0"/>
                      <m:t>m/s</m:t>
                    </m:r>
                    <m:r>
                      <a:rPr lang="nl-B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BE" dirty="0"/>
              </a:p>
              <a:p>
                <a:pPr marL="0" lvl="0" indent="0">
                  <a:buNone/>
                </a:pPr>
                <a:br>
                  <a:rPr lang="nl-BE" dirty="0"/>
                </a:br>
                <a:r>
                  <a:rPr lang="nl-BE" dirty="0"/>
                  <a:t>Bal G </a:t>
                </a:r>
                <a:r>
                  <a:rPr lang="nl-BE" dirty="0" err="1"/>
                  <a:t>beweegt</a:t>
                </a:r>
                <a:r>
                  <a:rPr lang="nl-BE" dirty="0"/>
                  <a:t> </a:t>
                </a:r>
                <a:r>
                  <a:rPr lang="nl-BE" dirty="0" err="1"/>
                  <a:t>horizontaal</a:t>
                </a:r>
                <a:r>
                  <a:rPr lang="nl-BE" dirty="0"/>
                  <a:t> </a:t>
                </a:r>
                <a:r>
                  <a:rPr lang="nl-BE" dirty="0" err="1"/>
                  <a:t>langs</a:t>
                </a:r>
                <a:r>
                  <a:rPr lang="nl-BE" dirty="0"/>
                  <a:t> de </a:t>
                </a:r>
                <a:r>
                  <a:rPr lang="nl-BE" dirty="0" err="1"/>
                  <a:t>grond</a:t>
                </a:r>
                <a:r>
                  <a:rPr lang="nl-BE" dirty="0"/>
                  <a:t> 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=20 </m:t>
                    </m:r>
                    <m:r>
                      <m:rPr>
                        <m:nor/>
                      </m:rPr>
                      <a:rPr lang="nl-BE" i="0"/>
                      <m:t>m/s</m:t>
                    </m:r>
                    <m:r>
                      <a:rPr lang="nl-B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BE" dirty="0"/>
              </a:p>
              <a:p>
                <a:pPr marL="0" lvl="0" indent="0">
                  <a:buNone/>
                </a:pPr>
                <a:br>
                  <a:rPr lang="nl-BE" dirty="0"/>
                </a:br>
                <a:r>
                  <a:rPr lang="nl-BE" dirty="0"/>
                  <a:t>Bal G is al 480 m </a:t>
                </a:r>
                <a:r>
                  <a:rPr lang="nl-BE" dirty="0" err="1"/>
                  <a:t>verder</a:t>
                </a:r>
                <a:r>
                  <a:rPr lang="nl-BE" dirty="0"/>
                  <a:t> dan </a:t>
                </a:r>
                <a:r>
                  <a:rPr lang="nl-BE" dirty="0" err="1"/>
                  <a:t>bal</a:t>
                </a:r>
                <a:r>
                  <a:rPr lang="nl-BE" dirty="0"/>
                  <a:t> U.</a:t>
                </a:r>
              </a:p>
              <a:p>
                <a:pPr marL="0" lvl="0" indent="0">
                  <a:buNone/>
                </a:pPr>
                <a:r>
                  <a:rPr lang="nl-BE" b="1" dirty="0" err="1"/>
                  <a:t>Vraag</a:t>
                </a:r>
                <a:r>
                  <a:rPr lang="nl-BE" b="1" dirty="0"/>
                  <a:t>:</a:t>
                </a:r>
                <a:br>
                  <a:rPr lang="nl-BE" dirty="0"/>
                </a:br>
                <a:r>
                  <a:rPr lang="nl-BE" dirty="0" err="1"/>
                  <a:t>Vanaf</a:t>
                </a:r>
                <a:r>
                  <a:rPr lang="nl-BE" dirty="0"/>
                  <a:t> </a:t>
                </a:r>
                <a:r>
                  <a:rPr lang="nl-BE" dirty="0" err="1"/>
                  <a:t>welke</a:t>
                </a:r>
                <a:r>
                  <a:rPr lang="nl-BE" dirty="0"/>
                  <a:t> </a:t>
                </a:r>
                <a:r>
                  <a:rPr lang="nl-BE" dirty="0" err="1"/>
                  <a:t>hoogte</a:t>
                </a:r>
                <a:r>
                  <a:rPr lang="nl-BE" dirty="0"/>
                  <a:t> </a:t>
                </a:r>
                <a:r>
                  <a:rPr lang="nl-BE" dirty="0" err="1"/>
                  <a:t>moet</a:t>
                </a:r>
                <a:r>
                  <a:rPr lang="nl-BE" dirty="0"/>
                  <a:t> je </a:t>
                </a:r>
                <a:r>
                  <a:rPr lang="nl-BE" dirty="0" err="1"/>
                  <a:t>bal</a:t>
                </a:r>
                <a:r>
                  <a:rPr lang="nl-BE" dirty="0"/>
                  <a:t> U </a:t>
                </a:r>
                <a:r>
                  <a:rPr lang="nl-BE" dirty="0" err="1"/>
                  <a:t>afschieten</a:t>
                </a:r>
                <a:r>
                  <a:rPr lang="nl-BE" dirty="0"/>
                  <a:t> </a:t>
                </a:r>
                <a:r>
                  <a:rPr lang="nl-BE" dirty="0" err="1"/>
                  <a:t>zodat</a:t>
                </a:r>
                <a:r>
                  <a:rPr lang="nl-BE" dirty="0"/>
                  <a:t> ze </a:t>
                </a:r>
                <a:r>
                  <a:rPr lang="nl-BE" dirty="0" err="1"/>
                  <a:t>botsen</a:t>
                </a:r>
                <a:r>
                  <a:rPr lang="nl-BE" dirty="0"/>
                  <a:t>?</a:t>
                </a:r>
              </a:p>
              <a:p>
                <a:pPr marL="457200" lvl="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1,0⋅</m:t>
                    </m:r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nl-BE" i="0"/>
                      <m:t>m</m:t>
                    </m:r>
                  </m:oMath>
                </a14:m>
                <a:br>
                  <a:rPr lang="nl-BE" dirty="0"/>
                </a:br>
                <a:endParaRPr lang="nl-BE" dirty="0"/>
              </a:p>
              <a:p>
                <a:pPr marL="457200" lvl="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1,8⋅</m:t>
                    </m:r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nl-BE" i="0"/>
                      <m:t>m</m:t>
                    </m:r>
                  </m:oMath>
                </a14:m>
                <a:endParaRPr lang="nl-BE" dirty="0"/>
              </a:p>
              <a:p>
                <a:pPr marL="457200" lvl="0" indent="-457200">
                  <a:buAutoNum type="alphaLcParenR"/>
                </a:pPr>
                <a:r>
                  <a:rPr lang="nl-NL" dirty="0"/>
                  <a:t>82 m</a:t>
                </a:r>
              </a:p>
              <a:p>
                <a:pPr marL="457200" lvl="0" indent="-457200">
                  <a:buAutoNum type="alphaLcParenR"/>
                </a:pPr>
                <a:r>
                  <a:rPr lang="nl-NL" dirty="0"/>
                  <a:t>123 m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500" y="1215828"/>
                <a:ext cx="8161622" cy="564570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4FB04B78-43BF-8CBC-ADF3-2BABA9137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704" y="1215828"/>
            <a:ext cx="3910079" cy="26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64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tx1"/>
                </a:solidFill>
              </a:rPr>
              <a:t>Oplossing</a:t>
            </a:r>
            <a:r>
              <a:rPr dirty="0">
                <a:solidFill>
                  <a:schemeClr val="tx1"/>
                </a:solidFill>
              </a:rPr>
              <a:t>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Relatieve </a:t>
                </a:r>
                <a:r>
                  <a:rPr lang="nl-BE" dirty="0" err="1"/>
                  <a:t>snelheid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=100−20=80 </m:t>
                      </m:r>
                      <m:r>
                        <m:rPr>
                          <m:nor/>
                        </m:rPr>
                        <a:rPr lang="nl-BE" i="0"/>
                        <m:t>m/s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Tijd</a:t>
                </a:r>
                <a:r>
                  <a:rPr lang="nl-BE" dirty="0"/>
                  <a:t> tot </a:t>
                </a:r>
                <a:r>
                  <a:rPr lang="nl-BE" dirty="0" err="1"/>
                  <a:t>botsing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480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nl-BE" i="0"/>
                        <m:t>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Valhoogte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⋅9,81⋅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=4,905⋅36=176,6 </m:t>
                      </m:r>
                      <m:r>
                        <m:rPr>
                          <m:nor/>
                        </m:rPr>
                        <a:rPr lang="nl-BE" i="0"/>
                        <m:t>m</m:t>
                      </m:r>
                      <m:r>
                        <m:rPr>
                          <m:nor/>
                        </m:rPr>
                        <a:rPr lang="nl-BE" b="0" i="0" smtClean="0"/>
                        <m:t> =  1,8 . 10² m : B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2D3FF645-7DF0-F33B-5B91-6D60B9304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713" y="317090"/>
            <a:ext cx="3019787" cy="205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05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4 · Impuls en de tweede wet van Newton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F = dp/dt en F = m·a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Impuls — definitie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Impuls</a:t>
                </a:r>
                <a:r>
                  <a:t> = product van de massa en de snelheid van een voorwerp: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t> — eenheid: kg·m/s.</a:t>
                </a:r>
              </a:p>
              <a:p>
                <a:pPr lvl="0"/>
                <a:r>
                  <a:t>Impuls is een </a:t>
                </a:r>
                <a:r>
                  <a:rPr b="1"/>
                  <a:t>vectoriële</a:t>
                </a:r>
                <a:r>
                  <a:t> grootheid: richting en zin = die van de snelheid.</a:t>
                </a:r>
              </a:p>
              <a:p>
                <a:pPr lvl="0"/>
                <a:r>
                  <a:t>Intuïtief: impuls zegt hoe “moeilijk” het is om een beweging te stoppen.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Voorbeeld: impuls vergelijken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nl-NL" dirty="0"/>
                  <a:t>Auto: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=1200 </m:t>
                    </m:r>
                    <m:r>
                      <m:rPr>
                        <m:nor/>
                      </m:rPr>
                      <a:rPr lang="nl-NL" i="0"/>
                      <m:t>kg</m:t>
                    </m:r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𝑣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=20 </m:t>
                    </m:r>
                    <m:r>
                      <m:rPr>
                        <m:nor/>
                      </m:rPr>
                      <a:rPr lang="nl-NL" i="0"/>
                      <m:t>m/s</m:t>
                    </m:r>
                  </m:oMath>
                </a14:m>
                <a:br>
                  <a:rPr lang="nl-NL" dirty="0"/>
                </a:b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=1200⋅20=24 000 </m:t>
                    </m:r>
                    <m:r>
                      <m:rPr>
                        <m:nor/>
                      </m:rPr>
                      <a:rPr lang="nl-NL" i="0"/>
                      <m:t>kg·m/s</m:t>
                    </m:r>
                  </m:oMath>
                </a14:m>
                <a:r>
                  <a:rPr lang="nl-NL" dirty="0"/>
                  <a:t> =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10³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nl-NL" i="0"/>
                      <m:t>kg·m/s</m:t>
                    </m:r>
                  </m:oMath>
                </a14:m>
                <a:r>
                  <a:rPr lang="nl-NL" dirty="0"/>
                  <a:t> </a:t>
                </a:r>
              </a:p>
              <a:p>
                <a:pPr lvl="0"/>
                <a:endParaRPr lang="nl-NL" dirty="0"/>
              </a:p>
              <a:p>
                <a:pPr lvl="0"/>
                <a:r>
                  <a:rPr lang="nl-NL" dirty="0" err="1"/>
                  <a:t>Fiets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=80 </m:t>
                    </m:r>
                    <m:r>
                      <m:rPr>
                        <m:nor/>
                      </m:rPr>
                      <a:rPr lang="nl-NL" i="0"/>
                      <m:t>kg</m:t>
                    </m:r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𝑣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=20 </m:t>
                    </m:r>
                    <m:r>
                      <m:rPr>
                        <m:nor/>
                      </m:rPr>
                      <a:rPr lang="nl-NL" i="0"/>
                      <m:t>m/s</m:t>
                    </m:r>
                  </m:oMath>
                </a14:m>
                <a:endParaRPr lang="nl-NL" dirty="0"/>
              </a:p>
              <a:p>
                <a:pPr marL="0" indent="0">
                  <a:buNone/>
                </a:pPr>
                <a:r>
                  <a:rPr lang="nl-NL" dirty="0"/>
                  <a:t>  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=80⋅20=1 600 </m:t>
                    </m:r>
                    <m:r>
                      <m:rPr>
                        <m:nor/>
                      </m:rPr>
                      <a:rPr lang="nl-NL" i="0"/>
                      <m:t>kg·m/s</m:t>
                    </m:r>
                  </m:oMath>
                </a14:m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=1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6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.10³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nl-NL" i="0"/>
                      <m:t>kg·m/s</m:t>
                    </m:r>
                  </m:oMath>
                </a14:m>
                <a:endParaRPr lang="nl-NL" dirty="0"/>
              </a:p>
              <a:p>
                <a:pPr marL="0" lvl="0" indent="0">
                  <a:buNone/>
                </a:pPr>
                <a:endParaRPr lang="nl-NL" dirty="0"/>
              </a:p>
              <a:p>
                <a:r>
                  <a:rPr lang="nl-NL" b="1" dirty="0"/>
                  <a:t>Conclusie</a:t>
                </a:r>
                <a:r>
                  <a:rPr lang="nl-NL" dirty="0"/>
                  <a:t>:</a:t>
                </a:r>
                <a:br>
                  <a:rPr lang="nl-NL" dirty="0"/>
                </a:br>
                <a:r>
                  <a:rPr lang="nl-NL" dirty="0"/>
                  <a:t>bij gelijke snelheid heeft de auto </a:t>
                </a:r>
                <a:r>
                  <a:rPr lang="nl-NL" b="1" dirty="0"/>
                  <a:t>15× meer impuls</a:t>
                </a:r>
                <a:r>
                  <a:rPr lang="nl-NL" dirty="0"/>
                  <a:t> ⇒ veel moeilijker te stoppen.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Waarom impuls?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Newton </a:t>
                </a:r>
                <a:r>
                  <a:rPr dirty="0" err="1"/>
                  <a:t>definieerde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niet</a:t>
                </a:r>
                <a:r>
                  <a:rPr dirty="0"/>
                  <a:t> </a:t>
                </a:r>
                <a:r>
                  <a:rPr dirty="0" err="1"/>
                  <a:t>als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dirty="0"/>
                  <a:t>, maar via </a:t>
                </a:r>
                <a:r>
                  <a:rPr dirty="0" err="1"/>
                  <a:t>impuls</a:t>
                </a:r>
                <a:r>
                  <a:rPr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dirty="0"/>
              </a:p>
              <a:p>
                <a:r>
                  <a:rPr lang="nl-NL" dirty="0"/>
                  <a:t>Interpretatie: een kracht </a:t>
                </a:r>
                <a:r>
                  <a:rPr lang="nl-NL" b="1" dirty="0"/>
                  <a:t>veroorzaakt een verandering van impuls</a:t>
                </a:r>
                <a:r>
                  <a:rPr lang="nl-NL" dirty="0"/>
                  <a:t>.</a:t>
                </a:r>
              </a:p>
              <a:p>
                <a:r>
                  <a:rPr lang="nl-NL" dirty="0"/>
                  <a:t>Hoe sneller de impuls verandert, hoe groter de kracht — daarom doet een botsing in korte tijd zo’n schade.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Belang van impuls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99" y="1343818"/>
            <a:ext cx="8382156" cy="5272739"/>
          </a:xfrm>
        </p:spPr>
        <p:txBody>
          <a:bodyPr>
            <a:normAutofit lnSpcReduction="10000"/>
          </a:bodyPr>
          <a:lstStyle/>
          <a:p>
            <a:pPr lvl="0"/>
            <a:r>
              <a:rPr lang="nl-NL" dirty="0"/>
              <a:t>Impuls is fundamenteel in </a:t>
            </a:r>
            <a:r>
              <a:rPr lang="nl-NL" b="1" dirty="0"/>
              <a:t>behoudswetten</a:t>
            </a:r>
            <a:r>
              <a:rPr lang="nl-NL" dirty="0"/>
              <a:t> (botsingen, explosies, raketten).</a:t>
            </a:r>
          </a:p>
          <a:p>
            <a:pPr lvl="0"/>
            <a:r>
              <a:rPr lang="nl-NL" dirty="0"/>
              <a:t>Een raket versnelt doordat hij massa (verbrandingsgas) naar achteren uitstoot: de impuls van het gas verandert, dus verandert ook die van de raket.</a:t>
            </a:r>
          </a:p>
          <a:p>
            <a:pPr lvl="0"/>
            <a:r>
              <a:rPr lang="nl-NL" dirty="0"/>
              <a:t>Kracht is afgeleid van impuls.</a:t>
            </a:r>
          </a:p>
          <a:p>
            <a:pPr lvl="0"/>
            <a:r>
              <a:rPr lang="nl-NL" dirty="0"/>
              <a:t>In veel situaties is redeneren met impuls makkelijker, zeker als de massa verandert (raketbeweging: massa neemt af door brandstof).</a:t>
            </a:r>
          </a:p>
        </p:txBody>
      </p:sp>
      <p:pic>
        <p:nvPicPr>
          <p:cNvPr id="5" name="Picture 1" descr="web/raket.jpg">
            <a:extLst>
              <a:ext uri="{FF2B5EF4-FFF2-40B4-BE49-F238E27FC236}">
                <a16:creationId xmlns:a16="http://schemas.microsoft.com/office/drawing/2014/main" id="{A07FA278-7EF1-E5D4-3709-BC4F73FD3DF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977901" y="977900"/>
            <a:ext cx="28956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3BFECCE0-B926-99CE-77F1-40E648B15F68}"/>
              </a:ext>
            </a:extLst>
          </p:cNvPr>
          <p:cNvSpPr txBox="1"/>
          <p:nvPr/>
        </p:nvSpPr>
        <p:spPr>
          <a:xfrm>
            <a:off x="7339601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Foto: NASA (publiek domein)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nl-BE" dirty="0"/>
              <a:t>Afleiding t</a:t>
            </a:r>
            <a:r>
              <a:rPr dirty="0" err="1"/>
              <a:t>weede</a:t>
            </a:r>
            <a:r>
              <a:rPr dirty="0"/>
              <a:t> wet van Newton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lvl="0"/>
                <a:r>
                  <a:rPr dirty="0" err="1"/>
                  <a:t>Algemeen</a:t>
                </a:r>
                <a:r>
                  <a:rPr dirty="0"/>
                  <a:t>: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Uitwerken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nl-BE" dirty="0"/>
                  <a:t>Voor </a:t>
                </a:r>
                <a:r>
                  <a:rPr lang="nl-BE" b="1" dirty="0"/>
                  <a:t>constante massa</a:t>
                </a:r>
                <a:r>
                  <a:rPr lang="nl-NL" dirty="0"/>
                  <a:t> (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𝑑𝑚</m:t>
                    </m:r>
                    <m:r>
                      <a:rPr lang="nl-NL">
                        <a:latin typeface="Cambria Math" panose="02040503050406030204" pitchFamily="18" charset="0"/>
                      </a:rPr>
                      <m:t>/</m:t>
                    </m:r>
                    <m:r>
                      <a:rPr lang="nl-NL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nl-NL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NL" dirty="0"/>
                  <a:t>) </a:t>
                </a:r>
                <a:r>
                  <a:rPr lang="nl-NL" dirty="0" err="1"/>
                  <a:t>valt</a:t>
                </a:r>
                <a:r>
                  <a:rPr lang="nl-NL" dirty="0"/>
                  <a:t> de </a:t>
                </a:r>
                <a:r>
                  <a:rPr lang="nl-NL" dirty="0" err="1"/>
                  <a:t>tweede</a:t>
                </a:r>
                <a:r>
                  <a:rPr lang="nl-NL" dirty="0"/>
                  <a:t> term </a:t>
                </a:r>
                <a:r>
                  <a:rPr lang="nl-NL" dirty="0" err="1"/>
                  <a:t>weg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ar-AE" dirty="0"/>
              </a:p>
              <a:p>
                <a:pPr lvl="0"/>
                <a:r>
                  <a:rPr dirty="0" err="1"/>
                  <a:t>Interpretatie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Nettokracht</a:t>
                </a:r>
                <a:r>
                  <a:rPr dirty="0"/>
                  <a:t> </a:t>
                </a:r>
                <a:r>
                  <a:rPr dirty="0" err="1"/>
                  <a:t>bepaalt</a:t>
                </a:r>
                <a:r>
                  <a:rPr dirty="0"/>
                  <a:t> de </a:t>
                </a:r>
                <a:r>
                  <a:rPr dirty="0" err="1"/>
                  <a:t>versnelling</a:t>
                </a:r>
                <a:r>
                  <a:rPr dirty="0"/>
                  <a:t>.</a:t>
                </a:r>
              </a:p>
              <a:p>
                <a:pPr lvl="1"/>
                <a:r>
                  <a:rPr dirty="0" err="1"/>
                  <a:t>Richting</a:t>
                </a:r>
                <a:r>
                  <a:rPr dirty="0"/>
                  <a:t> van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dirty="0"/>
                  <a:t> = </a:t>
                </a:r>
                <a:r>
                  <a:rPr dirty="0" err="1"/>
                  <a:t>richting</a:t>
                </a:r>
                <a:r>
                  <a:rPr dirty="0"/>
                  <a:t> van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Rectangle 3"/>
              <p:cNvSpPr>
                <a:spLocks noGrp="1" noRot="1" noChangeArrowheads="1"/>
              </p:cNvSpPr>
              <p:nvPr>
                <p:ph type="body" idx="1"/>
              </p:nvPr>
            </p:nvSpPr>
            <p:spPr>
              <a:xfrm>
                <a:off x="457200" y="1341439"/>
                <a:ext cx="11459183" cy="4498975"/>
              </a:xfrm>
            </p:spPr>
            <p:txBody>
              <a:bodyPr/>
              <a:lstStyle/>
              <a:p>
                <a:pPr>
                  <a:defRPr/>
                </a:pPr>
                <a:r>
                  <a:rPr lang="nl-BE" dirty="0"/>
                  <a:t>2</a:t>
                </a:r>
                <a:r>
                  <a:rPr lang="nl-BE" baseline="30000" dirty="0"/>
                  <a:t>e</a:t>
                </a:r>
                <a:r>
                  <a:rPr lang="nl-BE" dirty="0"/>
                  <a:t> beginsel van Newton </a:t>
                </a:r>
                <a:r>
                  <a:rPr lang="nl-BE" dirty="0">
                    <a:sym typeface="Wingdings" pitchFamily="2" charset="2"/>
                  </a:rPr>
                  <a:t> </a:t>
                </a:r>
                <a:r>
                  <a:rPr lang="nl-BE" dirty="0"/>
                  <a:t>F = resultante van alle inwerkende krachten op massa.</a:t>
                </a: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∑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ar-AE" dirty="0"/>
              </a:p>
              <a:p>
                <a:pPr>
                  <a:defRPr/>
                </a:pPr>
                <a:r>
                  <a:rPr lang="nl-BE" dirty="0"/>
                  <a:t>Massa heeft bij A en B zelfde versnelling (fysisch gelijkwaardig):</a:t>
                </a:r>
                <a:endParaRPr lang="nl-NL" dirty="0"/>
              </a:p>
            </p:txBody>
          </p:sp>
        </mc:Choice>
        <mc:Fallback xmlns="">
          <p:sp>
            <p:nvSpPr>
              <p:cNvPr id="573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41439"/>
                <a:ext cx="11459183" cy="44989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48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1825625" y="44450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sz="4000"/>
              <a:t>Onafhankelijkheid van gelijktijdig inwerkende krachten</a:t>
            </a:r>
            <a:endParaRPr lang="nl-NL" sz="4000"/>
          </a:p>
        </p:txBody>
      </p:sp>
      <p:pic>
        <p:nvPicPr>
          <p:cNvPr id="3789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222" y="3697322"/>
            <a:ext cx="6300415" cy="290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Krachtsamenstelling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versnelling</a:t>
            </a:r>
            <a:r>
              <a:rPr lang="nl-BE" dirty="0"/>
              <a:t>: geen rechte hoek</a:t>
            </a:r>
            <a:endParaRPr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2803DD64-2C73-DE7D-0692-5A7375C64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014" y="1666690"/>
            <a:ext cx="7059971" cy="4746809"/>
          </a:xfr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Experiment tweede wet — hypothese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Hypothese: een voorwerp waarop een constante kracht inwerkt (massa constant), versnelt.</a:t>
            </a:r>
          </a:p>
          <a:p>
            <a:pPr lvl="1"/>
            <a:r>
              <a:t>de versnelling is </a:t>
            </a:r>
            <a:r>
              <a:rPr b="1"/>
              <a:t>recht evenredig</a:t>
            </a:r>
            <a:r>
              <a:t> met de kracht (bij constante massa);</a:t>
            </a:r>
          </a:p>
          <a:p>
            <a:pPr lvl="1"/>
            <a:r>
              <a:t>de versnelling is </a:t>
            </a:r>
            <a:r>
              <a:rPr b="1"/>
              <a:t>omgekeerd evenredig</a:t>
            </a:r>
            <a:r>
              <a:t> met de massa (bij constante kracht).</a:t>
            </a:r>
          </a:p>
          <a:p>
            <a:pPr lvl="0"/>
            <a:r>
              <a:t>Dit gaan we in het experiment hierna testen.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Experiment tweede wet — opstelling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Wagen op een horizontale baan; constante kracht via:</a:t>
            </a:r>
          </a:p>
          <a:p>
            <a:pPr lvl="1"/>
            <a:r>
              <a:t>een dynamometer (moeilijk constant te houden);</a:t>
            </a:r>
          </a:p>
          <a:p>
            <a:pPr lvl="1"/>
            <a:r>
              <a:rPr b="1"/>
              <a:t>beter</a:t>
            </a:r>
            <a:r>
              <a:t>: een hangend gewicht aan een touw via een katrol → de zwaartekracht zorgt voor een constante kracht.</a:t>
            </a:r>
          </a:p>
          <a:p>
            <a:pPr lvl="0"/>
            <a:r>
              <a:t>Constante totale massa: de massa die niet valt, wordt op het wagentje geplaatst.</a:t>
            </a:r>
          </a:p>
          <a:p>
            <a:pPr lvl="0"/>
            <a:r>
              <a:t>Totale massa = massa van wagen + massa van touw + massa van hangend gewicht.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Tweede beginsel — verband tussen F, m en a</a:t>
            </a:r>
          </a:p>
        </p:txBody>
      </p:sp>
      <p:pic>
        <p:nvPicPr>
          <p:cNvPr id="3" name="Picture 1" descr="figs/fig_u206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828800"/>
            <a:ext cx="11607800" cy="429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Verband tussen versnelling en kracht (m = cte.)</a:t>
            </a:r>
          </a:p>
        </p:txBody>
      </p:sp>
      <p:pic>
        <p:nvPicPr>
          <p:cNvPr id="3" name="Picture 1" descr="figs/fig_u207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333500"/>
            <a:ext cx="7505700" cy="527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Verband tussen versnelling en massa (F = cte.)</a:t>
            </a:r>
          </a:p>
        </p:txBody>
      </p:sp>
      <p:pic>
        <p:nvPicPr>
          <p:cNvPr id="3" name="Picture 1" descr="figs/fig_u208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333500"/>
            <a:ext cx="7734300" cy="527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Besluit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Hoe </a:t>
                </a:r>
                <a:r>
                  <a:rPr dirty="0" err="1"/>
                  <a:t>groter</a:t>
                </a:r>
                <a:r>
                  <a:rPr dirty="0"/>
                  <a:t> de </a:t>
                </a:r>
                <a:r>
                  <a:rPr dirty="0" err="1"/>
                  <a:t>kracht</a:t>
                </a:r>
                <a:r>
                  <a:rPr dirty="0"/>
                  <a:t>, hoe </a:t>
                </a:r>
                <a:r>
                  <a:rPr dirty="0" err="1"/>
                  <a:t>groter</a:t>
                </a:r>
                <a:r>
                  <a:rPr dirty="0"/>
                  <a:t> de </a:t>
                </a:r>
                <a:r>
                  <a:rPr dirty="0" err="1"/>
                  <a:t>versnelling</a:t>
                </a:r>
                <a:r>
                  <a:rPr dirty="0"/>
                  <a:t> (</a:t>
                </a:r>
                <a:r>
                  <a:rPr dirty="0" err="1"/>
                  <a:t>bij</a:t>
                </a:r>
                <a:r>
                  <a:rPr dirty="0"/>
                  <a:t> </a:t>
                </a:r>
                <a:r>
                  <a:rPr dirty="0" err="1"/>
                  <a:t>constante</a:t>
                </a:r>
                <a:r>
                  <a:rPr dirty="0"/>
                  <a:t> </a:t>
                </a:r>
                <a:r>
                  <a:rPr dirty="0" err="1"/>
                  <a:t>massa</a:t>
                </a:r>
                <a:r>
                  <a:rPr dirty="0"/>
                  <a:t>) — </a:t>
                </a:r>
                <a:r>
                  <a:rPr dirty="0" err="1"/>
                  <a:t>recht</a:t>
                </a:r>
                <a:r>
                  <a:rPr dirty="0"/>
                  <a:t> </a:t>
                </a:r>
                <a:r>
                  <a:rPr dirty="0" err="1"/>
                  <a:t>evenredig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Hoe </a:t>
                </a:r>
                <a:r>
                  <a:rPr dirty="0" err="1"/>
                  <a:t>groter</a:t>
                </a:r>
                <a:r>
                  <a:rPr dirty="0"/>
                  <a:t> de </a:t>
                </a:r>
                <a:r>
                  <a:rPr dirty="0" err="1"/>
                  <a:t>massa</a:t>
                </a:r>
                <a:r>
                  <a:rPr dirty="0"/>
                  <a:t>, hoe </a:t>
                </a:r>
                <a:r>
                  <a:rPr dirty="0" err="1"/>
                  <a:t>kleiner</a:t>
                </a:r>
                <a:r>
                  <a:rPr dirty="0"/>
                  <a:t> de </a:t>
                </a:r>
                <a:r>
                  <a:rPr dirty="0" err="1"/>
                  <a:t>versnelling</a:t>
                </a:r>
                <a:r>
                  <a:rPr dirty="0"/>
                  <a:t> (</a:t>
                </a:r>
                <a:r>
                  <a:rPr dirty="0" err="1"/>
                  <a:t>bij</a:t>
                </a:r>
                <a:r>
                  <a:rPr dirty="0"/>
                  <a:t> </a:t>
                </a:r>
                <a:r>
                  <a:rPr dirty="0" err="1"/>
                  <a:t>constante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) — </a:t>
                </a:r>
                <a:r>
                  <a:rPr dirty="0" err="1"/>
                  <a:t>omgekeerd</a:t>
                </a:r>
                <a:r>
                  <a:rPr dirty="0"/>
                  <a:t> </a:t>
                </a:r>
                <a:r>
                  <a:rPr dirty="0" err="1"/>
                  <a:t>evenredig</a:t>
                </a:r>
                <a:r>
                  <a:rPr dirty="0"/>
                  <a:t>.</a:t>
                </a:r>
                <a:endParaRPr lang="nl-BE" dirty="0"/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endParaRPr dirty="0"/>
              </a:p>
              <a:p>
                <a:pPr lvl="0"/>
                <a:r>
                  <a:rPr dirty="0"/>
                  <a:t>Tweede wet van Newton </a:t>
                </a:r>
                <a:r>
                  <a:rPr dirty="0" err="1"/>
                  <a:t>bevestigd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3D42211-38C5-6673-35A1-64F1CF59ED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831" r="-645" b="75127"/>
          <a:stretch>
            <a:fillRect/>
          </a:stretch>
        </p:blipFill>
        <p:spPr bwMode="auto">
          <a:xfrm>
            <a:off x="2583351" y="3696515"/>
            <a:ext cx="6397812" cy="1643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Zwaartekracht als oorzaak van de valbeweging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 err="1"/>
                  <a:t>Valbeweging</a:t>
                </a:r>
                <a:r>
                  <a:rPr dirty="0"/>
                  <a:t> in </a:t>
                </a:r>
                <a:r>
                  <a:rPr dirty="0" err="1"/>
                  <a:t>vacuüm</a:t>
                </a:r>
                <a:r>
                  <a:rPr dirty="0"/>
                  <a:t> ⇒ </a:t>
                </a:r>
                <a:r>
                  <a:rPr dirty="0" err="1"/>
                  <a:t>constante</a:t>
                </a:r>
                <a:r>
                  <a:rPr dirty="0"/>
                  <a:t> </a:t>
                </a:r>
                <a:r>
                  <a:rPr dirty="0" err="1"/>
                  <a:t>versnelling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. </a:t>
                </a:r>
                <a:endParaRPr lang="nl-BE" dirty="0"/>
              </a:p>
              <a:p>
                <a:pPr lvl="0"/>
                <a:r>
                  <a:rPr dirty="0" err="1"/>
                  <a:t>Oorzaak</a:t>
                </a:r>
                <a:r>
                  <a:rPr dirty="0"/>
                  <a:t>: de </a:t>
                </a:r>
                <a:r>
                  <a:rPr dirty="0" err="1"/>
                  <a:t>zwaartekracht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Voor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massa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dirty="0"/>
                  <a:t>: 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 </a:t>
                </a:r>
                <a:endParaRPr lang="nl-BE" dirty="0"/>
              </a:p>
              <a:p>
                <a:pPr lvl="0"/>
                <a:r>
                  <a:rPr dirty="0"/>
                  <a:t>constante </a:t>
                </a:r>
                <a:r>
                  <a:rPr dirty="0" err="1"/>
                  <a:t>kracht</a:t>
                </a:r>
                <a:r>
                  <a:rPr dirty="0"/>
                  <a:t> ⇒ </a:t>
                </a:r>
                <a:r>
                  <a:rPr dirty="0" err="1"/>
                  <a:t>constante</a:t>
                </a:r>
                <a:r>
                  <a:rPr dirty="0"/>
                  <a:t> </a:t>
                </a:r>
                <a:r>
                  <a:rPr dirty="0" err="1"/>
                  <a:t>versnelling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web/galileo.jpg">
            <a:extLst>
              <a:ext uri="{FF2B5EF4-FFF2-40B4-BE49-F238E27FC236}">
                <a16:creationId xmlns:a16="http://schemas.microsoft.com/office/drawing/2014/main" id="{419D03B6-C042-B37B-6DB2-C99C8848443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5622" r="8480"/>
          <a:stretch>
            <a:fillRect/>
          </a:stretch>
        </p:blipFill>
        <p:spPr bwMode="auto">
          <a:xfrm>
            <a:off x="7552944" y="10"/>
            <a:ext cx="4639056" cy="6857990"/>
          </a:xfrm>
          <a:prstGeom prst="rect">
            <a:avLst/>
          </a:prstGeom>
          <a:noFill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C69E172-10DB-F16C-B2C5-CCE5DDA0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361590" cy="1325563"/>
          </a:xfrm>
        </p:spPr>
        <p:txBody>
          <a:bodyPr>
            <a:normAutofit fontScale="90000"/>
          </a:bodyPr>
          <a:lstStyle/>
          <a:p>
            <a:r>
              <a:rPr lang="nl-NL" sz="4200" dirty="0"/>
              <a:t>Waarom valt alles even snel? </a:t>
            </a:r>
            <a:br>
              <a:rPr lang="nl-NL" sz="4200" dirty="0"/>
            </a:br>
            <a:r>
              <a:rPr lang="nl-NL" sz="4200" dirty="0"/>
              <a:t>Galilei</a:t>
            </a:r>
            <a:endParaRPr lang="nl-BE" sz="42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3C9C2CB-4FA0-A042-E999-48C0CC05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6079791" cy="4351338"/>
          </a:xfrm>
        </p:spPr>
        <p:txBody>
          <a:bodyPr>
            <a:normAutofit/>
          </a:bodyPr>
          <a:lstStyle/>
          <a:p>
            <a:pPr lvl="0"/>
            <a:r>
              <a:rPr lang="nl-NL" sz="2500"/>
              <a:t>Stel dat een zware massa sneller valt dan een lichte.</a:t>
            </a:r>
          </a:p>
          <a:p>
            <a:pPr lvl="0"/>
            <a:r>
              <a:rPr lang="nl-NL" sz="2500"/>
              <a:t>Verbind beide met een touw: samen zouden ze sneller moeten vallen dan de zwaarste alleen…</a:t>
            </a:r>
          </a:p>
          <a:p>
            <a:pPr lvl="0"/>
            <a:r>
              <a:rPr lang="nl-NL" sz="2500"/>
              <a:t>…maar de lichte massa zou de zware juist </a:t>
            </a:r>
            <a:r>
              <a:rPr lang="nl-NL" sz="2500" b="1"/>
              <a:t>afremmen</a:t>
            </a:r>
            <a:r>
              <a:rPr lang="nl-NL" sz="2500"/>
              <a:t>. Tegenstrijdigheid ⇒ de aanname is onmogelijk.</a:t>
            </a:r>
          </a:p>
          <a:p>
            <a:pPr lvl="0"/>
            <a:r>
              <a:rPr lang="nl-NL" sz="2500"/>
              <a:t>Conclusie: de valversnelling is </a:t>
            </a:r>
            <a:r>
              <a:rPr lang="nl-NL" sz="2500" b="1"/>
              <a:t>onafhankelijk van de massa</a:t>
            </a:r>
            <a:r>
              <a:rPr lang="nl-NL" sz="2500"/>
              <a:t>.</a:t>
            </a:r>
          </a:p>
          <a:p>
            <a:endParaRPr lang="nl-BE" sz="2500"/>
          </a:p>
        </p:txBody>
      </p:sp>
    </p:spTree>
    <p:extLst>
      <p:ext uri="{BB962C8B-B14F-4D97-AF65-F5344CB8AC3E}">
        <p14:creationId xmlns:p14="http://schemas.microsoft.com/office/powerpoint/2010/main" val="13861939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l-NL" dirty="0"/>
              <a:t>Waarom valt alles even snel? </a:t>
            </a:r>
            <a:br>
              <a:rPr lang="nl-NL" dirty="0"/>
            </a:br>
            <a:r>
              <a:rPr dirty="0"/>
              <a:t>Newtons </a:t>
            </a:r>
            <a:r>
              <a:rPr dirty="0" err="1"/>
              <a:t>verklaring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343818"/>
                <a:ext cx="8396010" cy="5272739"/>
              </a:xfrm>
            </p:spPr>
            <p:txBody>
              <a:bodyPr/>
              <a:lstStyle/>
              <a:p>
                <a:pPr lvl="0"/>
                <a:r>
                  <a:rPr dirty="0" err="1"/>
                  <a:t>Zwaartekracht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Tweede wet: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Invullen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dirty="0"/>
              </a:p>
              <a:p>
                <a:r>
                  <a:rPr lang="nl-NL" sz="2800" dirty="0"/>
                  <a:t>De massa valt weg: ze bepaalt zowel de trekkende kracht als de traagheid, en die twee effecten heffen elkaar precies op.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343818"/>
                <a:ext cx="8396010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 descr="Portret van Isaac NewtonNewton als 46-jarige, mogelijk een geïdealiseerd en geromantiseerd portret.1689, Godfrey Kneller, Isaac Newton Institute (Cambridge)">
            <a:extLst>
              <a:ext uri="{FF2B5EF4-FFF2-40B4-BE49-F238E27FC236}">
                <a16:creationId xmlns:a16="http://schemas.microsoft.com/office/drawing/2014/main" id="{0DDAD067-056F-3BE4-C06A-3C71356E8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509" y="1343818"/>
            <a:ext cx="3143250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Controlevragen (juist / fout)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0" indent="-457200">
                  <a:buAutoNum type="arabicPeriod"/>
                </a:pPr>
                <a:r>
                  <a:t>Overal op aarde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=9,81</m:t>
                    </m:r>
                  </m:oMath>
                </a14:m>
                <a:r>
                  <a:t> m/s².</a:t>
                </a:r>
              </a:p>
              <a:p>
                <a:pPr marL="457200" lvl="0" indent="-457200">
                  <a:buAutoNum type="arabicPeriod"/>
                </a:pPr>
                <a:r>
                  <a:t>Bij een verticale worp naar boven verandert de versnelling.</a:t>
                </a:r>
              </a:p>
              <a:p>
                <a:pPr marL="457200" lvl="0" indent="-457200">
                  <a:buAutoNum type="arabicPeriod"/>
                </a:pPr>
                <a:r>
                  <a:t>Kracht is de afgeleide van impuls naar de tijd.</a:t>
                </a:r>
              </a:p>
              <a:p>
                <a:pPr marL="457200" lvl="0" indent="-457200">
                  <a:buAutoNum type="arabicPeriod"/>
                </a:pPr>
                <a:r>
                  <a:t>De reikwijdte van een horizontale worp hangt af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t> en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.</a:t>
                </a:r>
              </a:p>
              <a:p>
                <a:pPr marL="457200" lvl="0" indent="-457200">
                  <a:buAutoNum type="arabicPeriod"/>
                </a:pPr>
                <a:r>
                  <a:t>De snelheidsvector bij een horizontale worp is constant in grootte.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Controlevragen — antwoorden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0" indent="-457200">
                  <a:buAutoNum type="arabicPeriod"/>
                </a:pPr>
                <a:r>
                  <a:rPr lang="nl-BE" b="1" dirty="0"/>
                  <a:t>Fout</a:t>
                </a:r>
                <a:r>
                  <a:rPr lang="nl-BE" dirty="0"/>
                  <a:t> —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varieert</a:t>
                </a:r>
                <a:r>
                  <a:rPr lang="nl-BE" dirty="0"/>
                  <a:t> met </a:t>
                </a:r>
                <a:r>
                  <a:rPr lang="nl-BE" dirty="0" err="1"/>
                  <a:t>hoogte</a:t>
                </a:r>
                <a:r>
                  <a:rPr lang="nl-BE" dirty="0"/>
                  <a:t>, </a:t>
                </a:r>
                <a:r>
                  <a:rPr lang="nl-BE" dirty="0" err="1"/>
                  <a:t>breedtegraad</a:t>
                </a:r>
                <a:r>
                  <a:rPr lang="nl-BE" dirty="0"/>
                  <a:t> </a:t>
                </a:r>
                <a:r>
                  <a:rPr lang="nl-BE" dirty="0" err="1"/>
                  <a:t>en</a:t>
                </a:r>
                <a:r>
                  <a:rPr lang="nl-BE" dirty="0"/>
                  <a:t> </a:t>
                </a:r>
                <a:r>
                  <a:rPr lang="nl-BE" dirty="0" err="1"/>
                  <a:t>ondergrond</a:t>
                </a:r>
                <a:r>
                  <a:rPr lang="nl-BE" dirty="0"/>
                  <a:t>.</a:t>
                </a:r>
              </a:p>
              <a:p>
                <a:pPr marL="457200" lvl="0" indent="-457200">
                  <a:buAutoNum type="arabicPeriod"/>
                </a:pPr>
                <a:r>
                  <a:rPr lang="nl-BE" b="1" dirty="0"/>
                  <a:t>Fout</a:t>
                </a:r>
                <a:r>
                  <a:rPr lang="nl-BE" dirty="0"/>
                  <a:t> — de </a:t>
                </a:r>
                <a:r>
                  <a:rPr lang="nl-BE" dirty="0" err="1"/>
                  <a:t>versnelling</a:t>
                </a:r>
                <a:r>
                  <a:rPr lang="nl-BE" dirty="0"/>
                  <a:t> </a:t>
                </a:r>
                <a:r>
                  <a:rPr lang="nl-BE" dirty="0" err="1"/>
                  <a:t>blijft</a:t>
                </a:r>
                <a:r>
                  <a:rPr lang="nl-BE" dirty="0"/>
                  <a:t> steeds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, ook op het toppunt.</a:t>
                </a:r>
              </a:p>
              <a:p>
                <a:pPr marL="457200" lvl="0" indent="-457200">
                  <a:buAutoNum type="arabicPeriod"/>
                </a:pPr>
                <a:r>
                  <a:rPr lang="nl-BE" b="1" dirty="0"/>
                  <a:t>Juist</a:t>
                </a:r>
                <a:r>
                  <a:rPr lang="nl-BE" dirty="0"/>
                  <a:t> — Kracht is de afgeleide van impuls naar de tijd.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ar-AE" dirty="0"/>
                  <a:t> </a:t>
                </a:r>
                <a:r>
                  <a:rPr lang="nl-BE" dirty="0"/>
                  <a:t>is Newtons oorspronkelijke formulering.</a:t>
                </a:r>
              </a:p>
              <a:p>
                <a:pPr marL="457200" lvl="0" indent="-457200">
                  <a:buAutoNum type="arabicPeriod"/>
                </a:pPr>
                <a:r>
                  <a:rPr lang="nl-BE" b="1" dirty="0"/>
                  <a:t>Juist</a:t>
                </a:r>
                <a:r>
                  <a:rPr lang="nl-BE" dirty="0"/>
                  <a:t> —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2⋅</m:t>
                            </m:r>
                            <m:sSub>
                              <m:sSub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rad>
                  </m:oMath>
                </a14:m>
                <a:r>
                  <a:rPr lang="ar-AE" dirty="0"/>
                  <a:t>. </a:t>
                </a:r>
                <a:r>
                  <a:rPr lang="nl-BE" dirty="0"/>
                  <a:t>De reikwijdte van een horizontale worp hangt dus af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nl-BE" dirty="0" err="1"/>
                  <a:t>en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.</a:t>
                </a:r>
              </a:p>
              <a:p>
                <a:pPr marL="457200" lvl="0" indent="-457200">
                  <a:buAutoNum type="arabicPeriod"/>
                </a:pPr>
                <a:r>
                  <a:rPr lang="nl-BE" b="1" dirty="0"/>
                  <a:t>Fout</a:t>
                </a:r>
                <a:r>
                  <a:rPr lang="nl-BE" dirty="0"/>
                  <a:t> — de </a:t>
                </a:r>
                <a:r>
                  <a:rPr lang="nl-BE" dirty="0" err="1"/>
                  <a:t>verticale</a:t>
                </a:r>
                <a:r>
                  <a:rPr lang="nl-BE" dirty="0"/>
                  <a:t>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ar-AE" dirty="0"/>
                  <a:t> </a:t>
                </a:r>
                <a:r>
                  <a:rPr lang="nl-BE" dirty="0" err="1"/>
                  <a:t>groeit</a:t>
                </a:r>
                <a:r>
                  <a:rPr lang="nl-BE" dirty="0"/>
                  <a:t> ⇒ de </a:t>
                </a:r>
                <a:r>
                  <a:rPr lang="nl-BE" dirty="0" err="1"/>
                  <a:t>grootte</a:t>
                </a:r>
                <a:r>
                  <a:rPr lang="nl-BE" dirty="0"/>
                  <a:t> </a:t>
                </a:r>
                <a:r>
                  <a:rPr lang="nl-BE" dirty="0" err="1"/>
                  <a:t>neemt</a:t>
                </a:r>
                <a:r>
                  <a:rPr lang="nl-BE" dirty="0"/>
                  <a:t> toe.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8 — denkvraag botsing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 dirty="0" err="1"/>
              <a:t>Inleidend</a:t>
            </a:r>
            <a:r>
              <a:rPr i="1" dirty="0"/>
              <a:t>: </a:t>
            </a:r>
            <a:r>
              <a:rPr i="1" dirty="0" err="1"/>
              <a:t>geen</a:t>
            </a:r>
            <a:r>
              <a:rPr i="1" dirty="0"/>
              <a:t> </a:t>
            </a:r>
            <a:r>
              <a:rPr i="1" dirty="0" err="1"/>
              <a:t>rekenwerk</a:t>
            </a:r>
            <a:r>
              <a:rPr i="1" dirty="0"/>
              <a:t> — </a:t>
            </a:r>
            <a:r>
              <a:rPr i="1" dirty="0" err="1"/>
              <a:t>redeneer</a:t>
            </a:r>
            <a:r>
              <a:rPr i="1" dirty="0"/>
              <a:t> </a:t>
            </a:r>
            <a:r>
              <a:rPr i="1" dirty="0" err="1"/>
              <a:t>kwalitatief</a:t>
            </a:r>
            <a:r>
              <a:rPr i="1" dirty="0"/>
              <a:t> met p = </a:t>
            </a:r>
            <a:r>
              <a:rPr i="1" dirty="0" err="1"/>
              <a:t>m·v</a:t>
            </a:r>
            <a:r>
              <a:rPr i="1" dirty="0"/>
              <a:t> </a:t>
            </a:r>
            <a:br>
              <a:rPr lang="nl-BE" i="1" dirty="0"/>
            </a:br>
            <a:r>
              <a:rPr i="1" dirty="0" err="1"/>
              <a:t>en</a:t>
            </a:r>
            <a:r>
              <a:rPr i="1" dirty="0"/>
              <a:t> F = </a:t>
            </a:r>
            <a:r>
              <a:rPr i="1" dirty="0" err="1"/>
              <a:t>Δp</a:t>
            </a:r>
            <a:r>
              <a:rPr i="1" dirty="0"/>
              <a:t>/</a:t>
            </a:r>
            <a:r>
              <a:rPr i="1" dirty="0" err="1"/>
              <a:t>Δt</a:t>
            </a:r>
            <a:r>
              <a:rPr i="1" dirty="0"/>
              <a:t>.</a:t>
            </a:r>
          </a:p>
          <a:p>
            <a:pPr lvl="0"/>
            <a:r>
              <a:rPr dirty="0" err="1"/>
              <a:t>Waarom</a:t>
            </a:r>
            <a:r>
              <a:rPr dirty="0"/>
              <a:t> </a:t>
            </a:r>
            <a:r>
              <a:rPr dirty="0" err="1"/>
              <a:t>voelt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botsing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vrachtwagen</a:t>
            </a:r>
            <a:r>
              <a:rPr dirty="0"/>
              <a:t> </a:t>
            </a:r>
            <a:r>
              <a:rPr dirty="0" err="1"/>
              <a:t>gevaarlijker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dan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fiets</a:t>
            </a:r>
            <a:r>
              <a:rPr dirty="0"/>
              <a:t>, </a:t>
            </a:r>
            <a:r>
              <a:rPr dirty="0" err="1"/>
              <a:t>ook</a:t>
            </a:r>
            <a:r>
              <a:rPr dirty="0"/>
              <a:t> al </a:t>
            </a:r>
            <a:r>
              <a:rPr dirty="0" err="1"/>
              <a:t>rijden</a:t>
            </a:r>
            <a:r>
              <a:rPr dirty="0"/>
              <a:t> </a:t>
            </a:r>
            <a:r>
              <a:rPr dirty="0" err="1"/>
              <a:t>beide</a:t>
            </a:r>
            <a:r>
              <a:rPr dirty="0"/>
              <a:t> met </a:t>
            </a:r>
            <a:r>
              <a:rPr dirty="0" err="1"/>
              <a:t>dezelfde</a:t>
            </a:r>
            <a:r>
              <a:rPr dirty="0"/>
              <a:t> </a:t>
            </a:r>
            <a:r>
              <a:rPr dirty="0" err="1"/>
              <a:t>snelheid</a:t>
            </a:r>
            <a:r>
              <a:rPr dirty="0"/>
              <a:t>?</a:t>
            </a:r>
          </a:p>
          <a:p>
            <a:pPr lvl="0"/>
            <a:r>
              <a:rPr dirty="0"/>
              <a:t>Leg </a:t>
            </a:r>
            <a:r>
              <a:rPr dirty="0" err="1"/>
              <a:t>uit</a:t>
            </a:r>
            <a:r>
              <a:rPr dirty="0"/>
              <a:t> met </a:t>
            </a:r>
            <a:r>
              <a:rPr dirty="0" err="1"/>
              <a:t>behulp</a:t>
            </a:r>
            <a:r>
              <a:rPr dirty="0"/>
              <a:t> van de </a:t>
            </a:r>
            <a:r>
              <a:rPr dirty="0" err="1"/>
              <a:t>begrippen</a:t>
            </a:r>
            <a:r>
              <a:rPr dirty="0"/>
              <a:t> </a:t>
            </a:r>
            <a:r>
              <a:rPr b="1" dirty="0" err="1"/>
              <a:t>impuls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b="1" dirty="0" err="1"/>
              <a:t>kracht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tx1"/>
                </a:solidFill>
              </a:rPr>
              <a:t>Oplossing</a:t>
            </a:r>
            <a:r>
              <a:rPr dirty="0">
                <a:solidFill>
                  <a:schemeClr val="tx1"/>
                </a:solidFill>
              </a:rPr>
              <a:t>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lvl="0"/>
                <a:r>
                  <a:rPr dirty="0" err="1"/>
                  <a:t>Impuls</a:t>
                </a:r>
                <a:r>
                  <a:rPr dirty="0"/>
                  <a:t>: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Vrachtwagen</a:t>
                </a:r>
                <a:r>
                  <a:rPr dirty="0"/>
                  <a:t> </a:t>
                </a:r>
                <a:r>
                  <a:rPr dirty="0" err="1"/>
                  <a:t>heeft</a:t>
                </a:r>
                <a:r>
                  <a:rPr dirty="0"/>
                  <a:t> </a:t>
                </a:r>
                <a:r>
                  <a:rPr dirty="0" err="1"/>
                  <a:t>veel</a:t>
                </a:r>
                <a:r>
                  <a:rPr dirty="0"/>
                  <a:t> </a:t>
                </a:r>
                <a:r>
                  <a:rPr dirty="0" err="1"/>
                  <a:t>grotere</a:t>
                </a:r>
                <a:r>
                  <a:rPr dirty="0"/>
                  <a:t> </a:t>
                </a:r>
                <a:r>
                  <a:rPr dirty="0" err="1"/>
                  <a:t>massa</a:t>
                </a:r>
                <a:r>
                  <a:rPr dirty="0"/>
                  <a:t> → </a:t>
                </a:r>
                <a:r>
                  <a:rPr dirty="0" err="1"/>
                  <a:t>veel</a:t>
                </a:r>
                <a:r>
                  <a:rPr dirty="0"/>
                  <a:t> </a:t>
                </a:r>
                <a:r>
                  <a:rPr dirty="0" err="1"/>
                  <a:t>grotere</a:t>
                </a:r>
                <a:r>
                  <a:rPr dirty="0"/>
                  <a:t> </a:t>
                </a:r>
                <a:r>
                  <a:rPr dirty="0" err="1"/>
                  <a:t>impuls</a:t>
                </a:r>
                <a:r>
                  <a:rPr dirty="0"/>
                  <a:t>.</a:t>
                </a:r>
                <a:br>
                  <a:rPr dirty="0"/>
                </a:br>
                <a:endParaRPr dirty="0"/>
              </a:p>
              <a:p>
                <a:pPr lvl="0"/>
                <a:r>
                  <a:rPr dirty="0"/>
                  <a:t>Bij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botsing</a:t>
                </a:r>
                <a:r>
                  <a:rPr dirty="0"/>
                  <a:t> </a:t>
                </a:r>
                <a:r>
                  <a:rPr dirty="0" err="1"/>
                  <a:t>moet</a:t>
                </a:r>
                <a:r>
                  <a:rPr dirty="0"/>
                  <a:t> die </a:t>
                </a:r>
                <a:r>
                  <a:rPr dirty="0" err="1"/>
                  <a:t>impuls</a:t>
                </a:r>
                <a:r>
                  <a:rPr dirty="0"/>
                  <a:t> in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korte</a:t>
                </a:r>
                <a:r>
                  <a:rPr dirty="0"/>
                  <a:t> </a:t>
                </a:r>
                <a:r>
                  <a:rPr dirty="0" err="1"/>
                  <a:t>tijd</a:t>
                </a:r>
                <a:r>
                  <a:rPr dirty="0"/>
                  <a:t> </a:t>
                </a:r>
                <a:r>
                  <a:rPr dirty="0" err="1"/>
                  <a:t>worden</a:t>
                </a:r>
                <a:r>
                  <a:rPr dirty="0"/>
                  <a:t> </a:t>
                </a:r>
                <a:r>
                  <a:rPr dirty="0" err="1"/>
                  <a:t>veranderd</a:t>
                </a:r>
                <a:r>
                  <a:rPr dirty="0"/>
                  <a:t>:</a:t>
                </a:r>
                <a:br>
                  <a:rPr dirty="0"/>
                </a:b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Grote </a:t>
                </a:r>
                <a:r>
                  <a:rPr dirty="0" err="1"/>
                  <a:t>impuls</a:t>
                </a:r>
                <a:r>
                  <a:rPr dirty="0"/>
                  <a:t> → </a:t>
                </a:r>
                <a:r>
                  <a:rPr dirty="0" err="1"/>
                  <a:t>grote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nodig</a:t>
                </a:r>
                <a:r>
                  <a:rPr dirty="0"/>
                  <a:t> om tot </a:t>
                </a:r>
                <a:r>
                  <a:rPr dirty="0" err="1"/>
                  <a:t>stilstand</a:t>
                </a:r>
                <a:r>
                  <a:rPr dirty="0"/>
                  <a:t> </a:t>
                </a:r>
                <a:r>
                  <a:rPr dirty="0" err="1"/>
                  <a:t>te</a:t>
                </a:r>
                <a:r>
                  <a:rPr dirty="0"/>
                  <a:t> </a:t>
                </a:r>
                <a:r>
                  <a:rPr dirty="0" err="1"/>
                  <a:t>komen</a:t>
                </a:r>
                <a:r>
                  <a:rPr dirty="0"/>
                  <a:t> → </a:t>
                </a:r>
                <a:r>
                  <a:rPr dirty="0" err="1"/>
                  <a:t>grotere</a:t>
                </a:r>
                <a:r>
                  <a:rPr dirty="0"/>
                  <a:t> </a:t>
                </a:r>
                <a:r>
                  <a:rPr dirty="0" err="1"/>
                  <a:t>schade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b="1" dirty="0" err="1"/>
                  <a:t>Conclusie</a:t>
                </a:r>
                <a:r>
                  <a:rPr b="1" dirty="0"/>
                  <a:t>:</a:t>
                </a:r>
                <a:r>
                  <a:rPr dirty="0"/>
                  <a:t> </a:t>
                </a:r>
                <a:r>
                  <a:rPr dirty="0" err="1"/>
                  <a:t>Niet</a:t>
                </a:r>
                <a:r>
                  <a:rPr dirty="0"/>
                  <a:t> de </a:t>
                </a:r>
                <a:r>
                  <a:rPr dirty="0" err="1"/>
                  <a:t>snelheid</a:t>
                </a:r>
                <a:r>
                  <a:rPr dirty="0"/>
                  <a:t> </a:t>
                </a:r>
                <a:r>
                  <a:rPr dirty="0" err="1"/>
                  <a:t>alleen</a:t>
                </a:r>
                <a:r>
                  <a:rPr dirty="0"/>
                  <a:t>, maar </a:t>
                </a:r>
                <a:r>
                  <a:rPr dirty="0" err="1"/>
                  <a:t>vooral</a:t>
                </a:r>
                <a:r>
                  <a:rPr dirty="0"/>
                  <a:t> de </a:t>
                </a:r>
                <a:r>
                  <a:rPr dirty="0" err="1"/>
                  <a:t>massa</a:t>
                </a:r>
                <a:r>
                  <a:rPr dirty="0"/>
                  <a:t> </a:t>
                </a:r>
                <a:r>
                  <a:rPr dirty="0" err="1"/>
                  <a:t>bepaalt</a:t>
                </a:r>
                <a:r>
                  <a:rPr dirty="0"/>
                  <a:t> de </a:t>
                </a:r>
                <a:r>
                  <a:rPr dirty="0" err="1"/>
                  <a:t>ernst</a:t>
                </a:r>
                <a:r>
                  <a:rPr dirty="0"/>
                  <a:t> van de </a:t>
                </a:r>
                <a:r>
                  <a:rPr dirty="0" err="1"/>
                  <a:t>botsing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9 — slee op sneeuw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Een slee van 40 kg wordt op een horizontale sneeuwvlakte voortgetrokken met een constante kracht van 50 N.</a:t>
            </a:r>
          </a:p>
          <a:p>
            <a:pPr lvl="0"/>
            <a:r>
              <a:rPr dirty="0"/>
              <a:t>De </a:t>
            </a:r>
            <a:r>
              <a:rPr dirty="0" err="1"/>
              <a:t>wrijvingskracht</a:t>
            </a:r>
            <a:r>
              <a:rPr dirty="0"/>
              <a:t> </a:t>
            </a:r>
            <a:r>
              <a:rPr dirty="0" err="1"/>
              <a:t>bedraagt</a:t>
            </a:r>
            <a:r>
              <a:rPr dirty="0"/>
              <a:t> 10 N.</a:t>
            </a:r>
          </a:p>
          <a:p>
            <a:pPr lvl="0"/>
            <a:r>
              <a:rPr b="1" dirty="0" err="1"/>
              <a:t>Vraag</a:t>
            </a:r>
            <a:r>
              <a:rPr dirty="0"/>
              <a:t>: </a:t>
            </a:r>
            <a:r>
              <a:rPr dirty="0" err="1"/>
              <a:t>bereken</a:t>
            </a:r>
            <a:r>
              <a:rPr dirty="0"/>
              <a:t> de </a:t>
            </a:r>
            <a:r>
              <a:rPr dirty="0" err="1"/>
              <a:t>versnelling</a:t>
            </a:r>
            <a:r>
              <a:rPr dirty="0"/>
              <a:t> van de </a:t>
            </a:r>
            <a:r>
              <a:rPr dirty="0" err="1"/>
              <a:t>slee</a:t>
            </a:r>
            <a:r>
              <a:rPr dirty="0"/>
              <a:t>.</a:t>
            </a:r>
          </a:p>
          <a:p>
            <a:pPr lvl="0"/>
            <a:r>
              <a:rPr dirty="0"/>
              <a:t>Tip: </a:t>
            </a:r>
            <a:r>
              <a:rPr dirty="0" err="1"/>
              <a:t>werk</a:t>
            </a:r>
            <a:r>
              <a:rPr dirty="0"/>
              <a:t> </a:t>
            </a:r>
            <a:r>
              <a:rPr dirty="0" err="1"/>
              <a:t>eerst</a:t>
            </a:r>
            <a:r>
              <a:rPr dirty="0"/>
              <a:t> de </a:t>
            </a:r>
            <a:r>
              <a:rPr i="1" dirty="0" err="1"/>
              <a:t>resulterende</a:t>
            </a:r>
            <a:r>
              <a:rPr dirty="0"/>
              <a:t> </a:t>
            </a:r>
            <a:r>
              <a:rPr dirty="0" err="1"/>
              <a:t>kracht</a:t>
            </a:r>
            <a:r>
              <a:rPr dirty="0"/>
              <a:t> </a:t>
            </a:r>
            <a:r>
              <a:rPr dirty="0" err="1"/>
              <a:t>uit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Oplossing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Gegeven: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=40 </m:t>
                      </m:r>
                      <m:r>
                        <m:rPr>
                          <m:nor/>
                        </m:rPr>
                        <a:rPr lang="nl-BE" i="0"/>
                        <m:t>kg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 i="0"/>
                            <m:t>trek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=50 </m:t>
                      </m:r>
                      <m:r>
                        <m:rPr>
                          <m:nor/>
                        </m:rPr>
                        <a:rPr lang="nl-BE" i="0"/>
                        <m:t>N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 i="0"/>
                            <m:t>wrijving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=10 </m:t>
                      </m:r>
                      <m:r>
                        <m:rPr>
                          <m:nor/>
                        </m:rPr>
                        <a:rPr lang="nl-BE" i="0"/>
                        <m:t>N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 err="1"/>
                  <a:t>Resulterende</a:t>
                </a:r>
                <a:r>
                  <a:rPr lang="nl-BE" dirty="0"/>
                  <a:t> </a:t>
                </a:r>
                <a:r>
                  <a:rPr lang="nl-BE" dirty="0" err="1"/>
                  <a:t>kracht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 i="0"/>
                            <m:t>res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 i="0"/>
                            <m:t>trek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 i="0"/>
                            <m:t>wrijving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=50−10=40 </m:t>
                      </m:r>
                      <m:r>
                        <m:rPr>
                          <m:nor/>
                        </m:rPr>
                        <a:rPr lang="nl-BE" i="0"/>
                        <m:t>N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Tweede wet van Newton: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nl-BE" i="0"/>
                                <m:t>res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nl-BE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nl-BE" i="0"/>
                            <m:t>m/s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b="1" dirty="0"/>
                  <a:t>Antwoord:</a:t>
                </a:r>
                <a:br>
                  <a:rPr lang="nl-BE" dirty="0"/>
                </a:br>
                <a:r>
                  <a:rPr lang="nl-BE" dirty="0"/>
                  <a:t>De slee versnelt met </a:t>
                </a:r>
                <a:r>
                  <a:rPr lang="nl-BE" b="1" dirty="0"/>
                  <a:t>1,0 m/s²</a:t>
                </a:r>
                <a:r>
                  <a:rPr lang="nl-B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Oefening 10 — auto versnelt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Een auto van 1200 kg </a:t>
            </a:r>
            <a:r>
              <a:rPr dirty="0" err="1"/>
              <a:t>versnelt</a:t>
            </a:r>
            <a:r>
              <a:rPr dirty="0"/>
              <a:t> van 0 </a:t>
            </a:r>
            <a:r>
              <a:rPr dirty="0" err="1"/>
              <a:t>naar</a:t>
            </a:r>
            <a:r>
              <a:rPr dirty="0"/>
              <a:t> 72 km/h in 10 s.</a:t>
            </a:r>
          </a:p>
          <a:p>
            <a:pPr lvl="0"/>
            <a:r>
              <a:rPr b="1" dirty="0" err="1"/>
              <a:t>Vraag</a:t>
            </a:r>
            <a:r>
              <a:rPr dirty="0"/>
              <a:t>: a) </a:t>
            </a:r>
            <a:r>
              <a:rPr dirty="0" err="1"/>
              <a:t>bereken</a:t>
            </a:r>
            <a:r>
              <a:rPr dirty="0"/>
              <a:t> de </a:t>
            </a:r>
            <a:r>
              <a:rPr dirty="0" err="1"/>
              <a:t>gemiddelde</a:t>
            </a:r>
            <a:r>
              <a:rPr dirty="0"/>
              <a:t> </a:t>
            </a:r>
            <a:r>
              <a:rPr dirty="0" err="1"/>
              <a:t>versnelling</a:t>
            </a:r>
            <a:r>
              <a:rPr dirty="0"/>
              <a:t>; b) </a:t>
            </a:r>
            <a:r>
              <a:rPr dirty="0" err="1"/>
              <a:t>bereken</a:t>
            </a:r>
            <a:r>
              <a:rPr dirty="0"/>
              <a:t> de </a:t>
            </a:r>
            <a:r>
              <a:rPr dirty="0" err="1"/>
              <a:t>resulterende</a:t>
            </a:r>
            <a:r>
              <a:rPr dirty="0"/>
              <a:t> </a:t>
            </a:r>
            <a:r>
              <a:rPr dirty="0" err="1"/>
              <a:t>kracht</a:t>
            </a:r>
            <a:r>
              <a:rPr dirty="0"/>
              <a:t> op de auto.</a:t>
            </a:r>
          </a:p>
          <a:p>
            <a:pPr lvl="0"/>
            <a:r>
              <a:rPr dirty="0"/>
              <a:t>Tip: </a:t>
            </a:r>
            <a:r>
              <a:rPr dirty="0" err="1"/>
              <a:t>zet</a:t>
            </a:r>
            <a:r>
              <a:rPr dirty="0"/>
              <a:t> 72 km/h </a:t>
            </a:r>
            <a:r>
              <a:rPr dirty="0" err="1"/>
              <a:t>eerst</a:t>
            </a:r>
            <a:r>
              <a:rPr dirty="0"/>
              <a:t> om </a:t>
            </a:r>
            <a:r>
              <a:rPr dirty="0" err="1"/>
              <a:t>naar</a:t>
            </a:r>
            <a:r>
              <a:rPr dirty="0"/>
              <a:t> m/s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Oplossing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Gegeven: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=1200 </m:t>
                      </m:r>
                      <m:r>
                        <m:rPr>
                          <m:nor/>
                        </m:rPr>
                        <a:rPr lang="nl-BE" i="0"/>
                        <m:t>kg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=72 </m:t>
                      </m:r>
                      <m:r>
                        <m:rPr>
                          <m:nor/>
                        </m:rPr>
                        <a:rPr lang="nl-BE" i="0"/>
                        <m:t>km/h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=20 </m:t>
                      </m:r>
                      <m:r>
                        <m:rPr>
                          <m:nor/>
                        </m:rPr>
                        <a:rPr lang="nl-BE" i="0"/>
                        <m:t>m/s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=10 </m:t>
                      </m:r>
                      <m:r>
                        <m:rPr>
                          <m:nor/>
                        </m:rPr>
                        <a:rPr lang="nl-BE" i="0"/>
                        <m:t>s</m:t>
                      </m:r>
                    </m:oMath>
                  </m:oMathPara>
                </a14:m>
                <a:endParaRPr lang="nl-BE" dirty="0"/>
              </a:p>
              <a:p>
                <a:pPr marL="0" lvl="0" indent="0">
                  <a:buNone/>
                </a:pPr>
                <a:r>
                  <a:rPr lang="nl-BE" dirty="0"/>
                  <a:t>Opl.:</a:t>
                </a:r>
              </a:p>
              <a:p>
                <a:pPr marL="457200" lvl="0" indent="-457200">
                  <a:buAutoNum type="alphaLcParenR"/>
                </a:pPr>
                <a:r>
                  <a:rPr lang="nl-BE" dirty="0" err="1"/>
                  <a:t>Versnelling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20−0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,0</m:t>
                      </m:r>
                      <m:sSup>
                        <m:sSupPr>
                          <m:ctrlPr>
                            <a:rPr lang="nl-BE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nl-BE" i="0"/>
                            <m:t>m/s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/>
                  <a:t>b)  </a:t>
                </a:r>
                <a:r>
                  <a:rPr lang="nl-BE" dirty="0" err="1"/>
                  <a:t>Resulterende</a:t>
                </a:r>
                <a:r>
                  <a:rPr lang="nl-BE" dirty="0"/>
                  <a:t> </a:t>
                </a:r>
                <a:r>
                  <a:rPr lang="nl-BE" dirty="0" err="1"/>
                  <a:t>kracht</a:t>
                </a:r>
                <a:r>
                  <a:rPr lang="nl-BE" dirty="0"/>
                  <a:t>:</a:t>
                </a:r>
                <a:br>
                  <a:rPr lang="nl-BE" dirty="0"/>
                </a:br>
                <a:endParaRPr lang="nl-BE" dirty="0"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𝐹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BE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BE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=1200⋅2=2400 </m:t>
                    </m:r>
                    <m:r>
                      <m:rPr>
                        <m:nor/>
                      </m:rPr>
                      <a:rPr lang="nl-BE" i="0"/>
                      <m:t>N</m:t>
                    </m:r>
                  </m:oMath>
                </a14:m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=2,4.10³ </m:t>
                    </m:r>
                    <m:r>
                      <m:rPr>
                        <m:nor/>
                      </m:rPr>
                      <a:rPr lang="nl-BE" i="0"/>
                      <m:t>N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240" y="18255"/>
            <a:ext cx="11609798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Oefening</a:t>
            </a:r>
            <a:r>
              <a:rPr dirty="0"/>
              <a:t> 11 </a:t>
            </a:r>
            <a:r>
              <a:rPr lang="nl-BE" dirty="0"/>
              <a:t>:</a:t>
            </a:r>
            <a:r>
              <a:rPr dirty="0"/>
              <a:t> </a:t>
            </a:r>
            <a:r>
              <a:rPr dirty="0" err="1"/>
              <a:t>impuls</a:t>
            </a:r>
            <a:r>
              <a:rPr dirty="0"/>
              <a:t> </a:t>
            </a:r>
            <a:r>
              <a:rPr dirty="0" err="1"/>
              <a:t>vrachtwagen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auto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i="1" dirty="0" err="1"/>
                  <a:t>Inleidend</a:t>
                </a:r>
                <a:r>
                  <a:rPr i="1" dirty="0"/>
                  <a:t>: </a:t>
                </a:r>
                <a:r>
                  <a:rPr i="1" dirty="0" err="1"/>
                  <a:t>vergelijk</a:t>
                </a:r>
                <a:r>
                  <a:rPr i="1" dirty="0"/>
                  <a:t> de </a:t>
                </a:r>
                <a:r>
                  <a:rPr i="1" dirty="0" err="1"/>
                  <a:t>impuls</a:t>
                </a:r>
                <a:r>
                  <a:rPr i="1" dirty="0"/>
                  <a:t> p = </a:t>
                </a:r>
                <a:r>
                  <a:rPr i="1" dirty="0" err="1"/>
                  <a:t>m·v</a:t>
                </a:r>
                <a:r>
                  <a:rPr i="1" dirty="0"/>
                  <a:t> van twee </a:t>
                </a:r>
                <a:r>
                  <a:rPr i="1" dirty="0" err="1"/>
                  <a:t>voertuigen</a:t>
                </a:r>
                <a:r>
                  <a:rPr i="1" dirty="0"/>
                  <a:t> — </a:t>
                </a:r>
                <a:r>
                  <a:rPr i="1" dirty="0" err="1"/>
                  <a:t>massa</a:t>
                </a:r>
                <a:r>
                  <a:rPr i="1" dirty="0"/>
                  <a:t> </a:t>
                </a:r>
                <a:r>
                  <a:rPr i="1" dirty="0" err="1"/>
                  <a:t>en</a:t>
                </a:r>
                <a:r>
                  <a:rPr i="1" dirty="0"/>
                  <a:t> </a:t>
                </a:r>
                <a:r>
                  <a:rPr i="1" dirty="0" err="1"/>
                  <a:t>snelheid</a:t>
                </a:r>
                <a:r>
                  <a:rPr i="1" dirty="0"/>
                  <a:t> </a:t>
                </a:r>
                <a:r>
                  <a:rPr i="1" dirty="0" err="1"/>
                  <a:t>spelen</a:t>
                </a:r>
                <a:r>
                  <a:rPr i="1" dirty="0"/>
                  <a:t> </a:t>
                </a:r>
                <a:r>
                  <a:rPr i="1" dirty="0" err="1"/>
                  <a:t>beide</a:t>
                </a:r>
                <a:r>
                  <a:rPr i="1" dirty="0"/>
                  <a:t> mee.</a:t>
                </a:r>
              </a:p>
              <a:p>
                <a:pPr lvl="0"/>
                <a:r>
                  <a:rPr dirty="0"/>
                  <a:t>Een </a:t>
                </a:r>
                <a:r>
                  <a:rPr dirty="0" err="1"/>
                  <a:t>vrachtwagen</a:t>
                </a:r>
                <a:r>
                  <a:rPr dirty="0"/>
                  <a:t> (</a:t>
                </a:r>
                <a:r>
                  <a:rPr dirty="0" err="1"/>
                  <a:t>massa</a:t>
                </a:r>
                <a:r>
                  <a:rPr dirty="0"/>
                  <a:t> 10 000 kg) </a:t>
                </a:r>
                <a:r>
                  <a:rPr dirty="0" err="1"/>
                  <a:t>rijdt</a:t>
                </a:r>
                <a:r>
                  <a:rPr dirty="0"/>
                  <a:t> met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dirty="0"/>
                  <a:t> m/s.</a:t>
                </a:r>
              </a:p>
              <a:p>
                <a:pPr lvl="0"/>
                <a:r>
                  <a:rPr dirty="0" err="1"/>
                  <a:t>Bereken</a:t>
                </a:r>
                <a:r>
                  <a:rPr dirty="0"/>
                  <a:t> </a:t>
                </a:r>
                <a:r>
                  <a:rPr dirty="0" err="1"/>
                  <a:t>zijn</a:t>
                </a:r>
                <a:r>
                  <a:rPr dirty="0"/>
                  <a:t> </a:t>
                </a:r>
                <a:r>
                  <a:rPr dirty="0" err="1"/>
                  <a:t>impuls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vergelijk</a:t>
                </a:r>
                <a:r>
                  <a:rPr dirty="0"/>
                  <a:t> met </a:t>
                </a:r>
                <a:r>
                  <a:rPr dirty="0" err="1"/>
                  <a:t>een</a:t>
                </a:r>
                <a:r>
                  <a:rPr dirty="0"/>
                  <a:t> auto van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=1200</m:t>
                    </m:r>
                  </m:oMath>
                </a14:m>
                <a:r>
                  <a:rPr dirty="0"/>
                  <a:t> kg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dirty="0"/>
                  <a:t> m/s.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lang="nl-BE" dirty="0"/>
              <a:t>11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 err="1"/>
                  <a:t>Vrachtwagen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=10 000⋅15=150 000 </m:t>
                    </m:r>
                    <m:r>
                      <m:rPr>
                        <m:nor/>
                      </m:rPr>
                      <a:rPr i="0"/>
                      <m:t>kg·m/s</m:t>
                    </m:r>
                  </m:oMath>
                </a14:m>
                <a:r>
                  <a:rPr lang="nl-BE" dirty="0"/>
                  <a:t> = 1,5 .10^5 kg . m/s (of </a:t>
                </a:r>
                <a:r>
                  <a:rPr lang="nl-BE" dirty="0" err="1"/>
                  <a:t>N.s</a:t>
                </a:r>
                <a:r>
                  <a:rPr lang="nl-BE" dirty="0"/>
                  <a:t>)</a:t>
                </a:r>
                <a:endParaRPr dirty="0"/>
              </a:p>
              <a:p>
                <a:pPr lvl="0"/>
                <a:r>
                  <a:rPr dirty="0"/>
                  <a:t>Auto: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=1200⋅25=30 000 </m:t>
                    </m:r>
                    <m:r>
                      <m:rPr>
                        <m:nor/>
                      </m:rPr>
                      <a:rPr i="0"/>
                      <m:t>kg·m/s</m:t>
                    </m:r>
                  </m:oMath>
                </a14:m>
                <a:r>
                  <a:rPr lang="nl-BE" dirty="0"/>
                  <a:t> = 3,0 . 10^4 </a:t>
                </a:r>
                <a:r>
                  <a:rPr lang="en-US" dirty="0"/>
                  <a:t>kg . m/s (of N.s)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r>
                  <a:rPr b="1" dirty="0" err="1"/>
                  <a:t>Conclusie</a:t>
                </a:r>
                <a:r>
                  <a:rPr dirty="0"/>
                  <a:t>:</a:t>
                </a:r>
                <a:br>
                  <a:rPr dirty="0"/>
                </a:br>
                <a:r>
                  <a:rPr dirty="0"/>
                  <a:t>De </a:t>
                </a:r>
                <a:r>
                  <a:rPr dirty="0" err="1"/>
                  <a:t>vrachtwagen</a:t>
                </a:r>
                <a:r>
                  <a:rPr dirty="0"/>
                  <a:t> </a:t>
                </a:r>
                <a:r>
                  <a:rPr dirty="0" err="1"/>
                  <a:t>heeft</a:t>
                </a:r>
                <a:r>
                  <a:rPr dirty="0"/>
                  <a:t> </a:t>
                </a:r>
                <a:r>
                  <a:rPr b="1" dirty="0"/>
                  <a:t>5 </a:t>
                </a:r>
                <a:r>
                  <a:rPr b="1" dirty="0" err="1"/>
                  <a:t>keer</a:t>
                </a:r>
                <a:r>
                  <a:rPr b="1" dirty="0"/>
                  <a:t> </a:t>
                </a:r>
                <a:r>
                  <a:rPr b="1" dirty="0" err="1"/>
                  <a:t>meer</a:t>
                </a:r>
                <a:r>
                  <a:rPr b="1" dirty="0"/>
                  <a:t> </a:t>
                </a:r>
                <a:r>
                  <a:rPr b="1" dirty="0" err="1"/>
                  <a:t>impuls</a:t>
                </a:r>
                <a:r>
                  <a:rPr dirty="0"/>
                  <a:t> → </a:t>
                </a:r>
                <a:r>
                  <a:rPr dirty="0" err="1"/>
                  <a:t>veel</a:t>
                </a:r>
                <a:r>
                  <a:rPr dirty="0"/>
                  <a:t> </a:t>
                </a:r>
                <a:r>
                  <a:rPr dirty="0" err="1"/>
                  <a:t>moeilijker</a:t>
                </a:r>
                <a:r>
                  <a:rPr dirty="0"/>
                  <a:t> </a:t>
                </a:r>
                <a:r>
                  <a:rPr dirty="0" err="1"/>
                  <a:t>te</a:t>
                </a:r>
                <a:r>
                  <a:rPr dirty="0"/>
                  <a:t> </a:t>
                </a:r>
                <a:r>
                  <a:rPr dirty="0" err="1"/>
                  <a:t>stoppen</a:t>
                </a:r>
                <a:r>
                  <a:rPr lang="nl-BE" dirty="0"/>
                  <a:t>, </a:t>
                </a:r>
                <a:r>
                  <a:rPr lang="nl-NL" dirty="0"/>
                  <a:t>ook al rijdt hij trager.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4196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Toetsdoelen — kinematica en valbeweging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106840"/>
              </p:ext>
            </p:extLst>
          </p:nvPr>
        </p:nvGraphicFramePr>
        <p:xfrm>
          <a:off x="317500" y="1333500"/>
          <a:ext cx="11582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Ik kan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uitleggen wat een valversnelling is en hoe die zich gedraagt in vacuüm en in lucht of vloeistof;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beschrijven dat alle voorwerpen in vacuüm met dezelfde valversnelling vallen, onafhankelijk van massa, vorm of grootte;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invloed van hoogte, breedtegraad en ondergrond op de valversnelling verklaren;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valversnelling op aarde en op de maan vergelijken;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valbeweging beschrijven als een eenparig versnelde rechtlijnige beweging (EVRB);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plaatsvergelijking en snelheidsvergelijking van een EVRB afleiden en toepassen op valbewegingen;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berekeningen uitvoeren voor vrije val vanuit rust, worp naar boven en worp naar beneden;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stijgtijd en maximale hoogte bij een verticale worp berekenen.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 — horizontale worp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846997"/>
              </p:ext>
            </p:extLst>
          </p:nvPr>
        </p:nvGraphicFramePr>
        <p:xfrm>
          <a:off x="317500" y="1333500"/>
          <a:ext cx="11582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Ik kan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uitleggen wat een horizontale worp is en het onafhankelijkheidsprincipe toepassen;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bewegingsvergelijkingen voor horizontale en verticale componenten opstellen;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baanvergelijking van een horizontale worp afleiden en herkennen als een parabool;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plaatsvector, snelheidsvector en versnellingsvector bij een horizontale worp beschrijven en berekenen;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invloed van beginsnelheid, beginhoogte en valversnelling op het bereik verklaren;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berekeningen uitvoeren voor valtijd, bereik en snelheid bij een horizontale worp.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Toetsdoelen – Tweede wet van Newton en impuls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17500" y="1934749"/>
          <a:ext cx="11607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Ik kan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uitleggen wat impuls is, inclusief definitie, formule, eenheid en vectorieel karakter.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voorbeelden geven van situaties waarin impuls belangrijk is (botsingen, raketten).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tweede wet van Newton formuleren in de algemene vorm </a:t>
                      </a:r>
                      <a:r>
                        <a:rPr b="1"/>
                        <a:t>F⃗ = d p⃗ / d t</a:t>
                      </a:r>
                      <a:r>
                        <a:t> en afleiden naar de klassieke vorm </a:t>
                      </a:r>
                      <a:r>
                        <a:rPr b="1"/>
                        <a:t>F⃗ = m ⋅ a⃗</a:t>
                      </a:r>
                      <a:r>
                        <a:t> voor constante massa.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interpreteren dat kracht de verandering van impuls per tijdseenheid 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het verband tussen kracht, massa en versnelling experimenteel en theoretisch verklaren.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berekeningen uitvoeren met de tweede wet van Newton in één en twee dimensies.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verklaren waarom valversnelling onafhankelijk is van massa (Galilei en Newtons verklaring).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5045</Words>
  <Application>Microsoft Office PowerPoint</Application>
  <PresentationFormat>Breedbeeld</PresentationFormat>
  <Paragraphs>615</Paragraphs>
  <Slides>81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81</vt:i4>
      </vt:variant>
    </vt:vector>
  </HeadingPairs>
  <TitlesOfParts>
    <vt:vector size="86" baseType="lpstr">
      <vt:lpstr>Arial</vt:lpstr>
      <vt:lpstr>Cambria Math</vt:lpstr>
      <vt:lpstr>Corbel</vt:lpstr>
      <vt:lpstr>Wingdings</vt:lpstr>
      <vt:lpstr>Title and Content </vt:lpstr>
      <vt:lpstr>Beweging en kracht D3</vt:lpstr>
      <vt:lpstr>Lesdoelen</vt:lpstr>
      <vt:lpstr>Leerlijn — waar zit dit hoofdstuk?</vt:lpstr>
      <vt:lpstr>Inhoudsopgave</vt:lpstr>
      <vt:lpstr>1 · Valversnelling en vrije val</vt:lpstr>
      <vt:lpstr>Versnelling bij een valbeweging</vt:lpstr>
      <vt:lpstr>Constante valversnelling in vacuüm</vt:lpstr>
      <vt:lpstr>Invloed van de omgeving</vt:lpstr>
      <vt:lpstr>Valversnelling op aarde</vt:lpstr>
      <vt:lpstr>Valexperiment op de maan</vt:lpstr>
      <vt:lpstr>Vrije val = EVRB</vt:lpstr>
      <vt:lpstr>Plaatsvergelijking EVRB</vt:lpstr>
      <vt:lpstr>Plaatsvergelijking</vt:lpstr>
      <vt:lpstr>Interpretatie van de plaatsvergelijking</vt:lpstr>
      <vt:lpstr>Snelheidsvergelijking</vt:lpstr>
      <vt:lpstr>Gemiddelde valversnelling op planeten</vt:lpstr>
      <vt:lpstr>Werkwijze bij een val-vraagstuk</vt:lpstr>
      <vt:lpstr>Voorbeeld — vrije val vanuit rust</vt:lpstr>
      <vt:lpstr>2 · De verticale worp</vt:lpstr>
      <vt:lpstr>De verticale worp omhoog</vt:lpstr>
      <vt:lpstr>Afleiding stijgtijd en maximale hoogte</vt:lpstr>
      <vt:lpstr>Voorbeeldoefening</vt:lpstr>
      <vt:lpstr>Voorbeeldoefening: Oplossing</vt:lpstr>
      <vt:lpstr>Voorbeeld — worp omhoog vanop een toren (opstelling)</vt:lpstr>
      <vt:lpstr>Oefening 1</vt:lpstr>
      <vt:lpstr>Oplossing 1</vt:lpstr>
      <vt:lpstr>Oefening 2</vt:lpstr>
      <vt:lpstr>Oplossing 2</vt:lpstr>
      <vt:lpstr>Oefening 3</vt:lpstr>
      <vt:lpstr>Oplossing 3</vt:lpstr>
      <vt:lpstr>3 · De horizontale worp</vt:lpstr>
      <vt:lpstr>Horizontale worp = twee bewegingen</vt:lpstr>
      <vt:lpstr>Onafhankelijkheidsprincipe</vt:lpstr>
      <vt:lpstr>Bewegingsvergelijkingen</vt:lpstr>
      <vt:lpstr>Valtijd en bereik van een horizontale worp</vt:lpstr>
      <vt:lpstr>Invloed van factoren</vt:lpstr>
      <vt:lpstr>Denkvoorbeeld — pijl en roos (vraag)</vt:lpstr>
      <vt:lpstr>Denkvoorbeeld — pijl en roos (besluit)</vt:lpstr>
      <vt:lpstr>Horizontale worp: invloed van y₀ en v₀ₓ</vt:lpstr>
      <vt:lpstr>Baanvergelijking horizontale worp</vt:lpstr>
      <vt:lpstr>Plaatsvector horizontale worp</vt:lpstr>
      <vt:lpstr>Snelheidsvector horizontale worp</vt:lpstr>
      <vt:lpstr>Versnellingsvector bij een horizontale worp</vt:lpstr>
      <vt:lpstr>Oefening 4 — pijl vanop een toren</vt:lpstr>
      <vt:lpstr>Oplossing 4</vt:lpstr>
      <vt:lpstr>Oefening 5</vt:lpstr>
      <vt:lpstr>Oplossing 5</vt:lpstr>
      <vt:lpstr>Oefening 6</vt:lpstr>
      <vt:lpstr>Oplossing 6</vt:lpstr>
      <vt:lpstr>Oefening 7: botsende bal</vt:lpstr>
      <vt:lpstr>Oplossing 7</vt:lpstr>
      <vt:lpstr>4 · Impuls en de tweede wet van Newton</vt:lpstr>
      <vt:lpstr>Impuls — definitie</vt:lpstr>
      <vt:lpstr>Voorbeeld: impuls vergelijken</vt:lpstr>
      <vt:lpstr>Waarom impuls?</vt:lpstr>
      <vt:lpstr>Belang van impuls</vt:lpstr>
      <vt:lpstr>Afleiding tweede wet van Newton</vt:lpstr>
      <vt:lpstr>Onafhankelijkheid van gelijktijdig inwerkende krachten</vt:lpstr>
      <vt:lpstr>Krachtsamenstelling en versnelling: geen rechte hoek</vt:lpstr>
      <vt:lpstr>Experiment tweede wet — hypothese</vt:lpstr>
      <vt:lpstr>Experiment tweede wet — opstelling</vt:lpstr>
      <vt:lpstr>Tweede beginsel — verband tussen F, m en a</vt:lpstr>
      <vt:lpstr>Verband tussen versnelling en kracht (m = cte.)</vt:lpstr>
      <vt:lpstr>Verband tussen versnelling en massa (F = cte.)</vt:lpstr>
      <vt:lpstr>Besluit experiment</vt:lpstr>
      <vt:lpstr>Zwaartekracht als oorzaak van de valbeweging</vt:lpstr>
      <vt:lpstr>Waarom valt alles even snel?  Galilei</vt:lpstr>
      <vt:lpstr>Waarom valt alles even snel?  Newtons verklaring</vt:lpstr>
      <vt:lpstr>Controlevragen (juist / fout)</vt:lpstr>
      <vt:lpstr>Controlevragen — antwoorden</vt:lpstr>
      <vt:lpstr>Oefening 8 — denkvraag botsing</vt:lpstr>
      <vt:lpstr>Oplossing 8</vt:lpstr>
      <vt:lpstr>Oefening 9 — slee op sneeuw</vt:lpstr>
      <vt:lpstr>Oplossing 9</vt:lpstr>
      <vt:lpstr>Oefening 10 — auto versnelt</vt:lpstr>
      <vt:lpstr>Oplossing 10</vt:lpstr>
      <vt:lpstr>Oefening 11 : impuls vrachtwagen en auto</vt:lpstr>
      <vt:lpstr>Oplossing 11</vt:lpstr>
      <vt:lpstr>Toetsdoelen — kinematica en valbeweging</vt:lpstr>
      <vt:lpstr>Toetsdoelen — horizontale worp</vt:lpstr>
      <vt:lpstr>Toetsdoelen – Tweede wet van Newton en impuls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1</cp:revision>
  <dcterms:created xsi:type="dcterms:W3CDTF">2026-10-08T16:06:17Z</dcterms:created>
  <dcterms:modified xsi:type="dcterms:W3CDTF">2026-10-08T20:37:50Z</dcterms:modified>
</cp:coreProperties>
</file>