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1034B1-7E40-4772-8B84-EE04E21BD3E8}" v="18" dt="2025-09-24T12:23:43.3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8" d="100"/>
          <a:sy n="58" d="100"/>
        </p:scale>
        <p:origin x="435" y="3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en DE BELIE" userId="0b604c76-dc05-41eb-aae4-58be6ad353f8" providerId="ADAL" clId="{A0CAB841-4192-4D5A-AB98-8769508D3B25}"/>
    <pc:docChg chg="custSel delSld modSld">
      <pc:chgData name="Koen DE BELIE" userId="0b604c76-dc05-41eb-aae4-58be6ad353f8" providerId="ADAL" clId="{A0CAB841-4192-4D5A-AB98-8769508D3B25}" dt="2025-09-24T12:24:18.202" v="47" actId="47"/>
      <pc:docMkLst>
        <pc:docMk/>
      </pc:docMkLst>
      <pc:sldChg chg="addSp modSp mod">
        <pc:chgData name="Koen DE BELIE" userId="0b604c76-dc05-41eb-aae4-58be6ad353f8" providerId="ADAL" clId="{A0CAB841-4192-4D5A-AB98-8769508D3B25}" dt="2025-09-24T12:23:03.569" v="21" actId="27636"/>
        <pc:sldMkLst>
          <pc:docMk/>
          <pc:sldMk cId="0" sldId="258"/>
        </pc:sldMkLst>
        <pc:spChg chg="mod">
          <ac:chgData name="Koen DE BELIE" userId="0b604c76-dc05-41eb-aae4-58be6ad353f8" providerId="ADAL" clId="{A0CAB841-4192-4D5A-AB98-8769508D3B25}" dt="2025-09-24T12:23:03.569" v="21" actId="27636"/>
          <ac:spMkLst>
            <pc:docMk/>
            <pc:sldMk cId="0" sldId="258"/>
            <ac:spMk id="3" creationId="{00000000-0000-0000-0000-000000000000}"/>
          </ac:spMkLst>
        </pc:spChg>
        <pc:spChg chg="add mod">
          <ac:chgData name="Koen DE BELIE" userId="0b604c76-dc05-41eb-aae4-58be6ad353f8" providerId="ADAL" clId="{A0CAB841-4192-4D5A-AB98-8769508D3B25}" dt="2025-09-24T12:22:14.613" v="6"/>
          <ac:spMkLst>
            <pc:docMk/>
            <pc:sldMk cId="0" sldId="258"/>
            <ac:spMk id="4" creationId="{122092CA-1F9C-CD69-FB79-8698B0B31ADB}"/>
          </ac:spMkLst>
        </pc:spChg>
        <pc:picChg chg="add mod">
          <ac:chgData name="Koen DE BELIE" userId="0b604c76-dc05-41eb-aae4-58be6ad353f8" providerId="ADAL" clId="{A0CAB841-4192-4D5A-AB98-8769508D3B25}" dt="2025-09-24T12:22:08.529" v="5" actId="1076"/>
          <ac:picMkLst>
            <pc:docMk/>
            <pc:sldMk cId="0" sldId="258"/>
            <ac:picMk id="2" creationId="{47C93936-1F53-2816-F90B-07FFA7887F33}"/>
          </ac:picMkLst>
        </pc:picChg>
      </pc:sldChg>
      <pc:sldChg chg="modSp mod">
        <pc:chgData name="Koen DE BELIE" userId="0b604c76-dc05-41eb-aae4-58be6ad353f8" providerId="ADAL" clId="{A0CAB841-4192-4D5A-AB98-8769508D3B25}" dt="2025-09-24T12:24:11.347" v="46" actId="114"/>
        <pc:sldMkLst>
          <pc:docMk/>
          <pc:sldMk cId="0" sldId="259"/>
        </pc:sldMkLst>
        <pc:spChg chg="mod">
          <ac:chgData name="Koen DE BELIE" userId="0b604c76-dc05-41eb-aae4-58be6ad353f8" providerId="ADAL" clId="{A0CAB841-4192-4D5A-AB98-8769508D3B25}" dt="2025-09-24T12:24:11.347" v="46" actId="114"/>
          <ac:spMkLst>
            <pc:docMk/>
            <pc:sldMk cId="0" sldId="259"/>
            <ac:spMk id="2" creationId="{00000000-0000-0000-0000-000000000000}"/>
          </ac:spMkLst>
        </pc:spChg>
        <pc:spChg chg="mod">
          <ac:chgData name="Koen DE BELIE" userId="0b604c76-dc05-41eb-aae4-58be6ad353f8" providerId="ADAL" clId="{A0CAB841-4192-4D5A-AB98-8769508D3B25}" dt="2025-09-24T12:23:43.327" v="30" actId="20577"/>
          <ac:spMkLst>
            <pc:docMk/>
            <pc:sldMk cId="0" sldId="259"/>
            <ac:spMk id="3" creationId="{00000000-0000-0000-0000-000000000000}"/>
          </ac:spMkLst>
        </pc:spChg>
      </pc:sldChg>
      <pc:sldChg chg="del">
        <pc:chgData name="Koen DE BELIE" userId="0b604c76-dc05-41eb-aae4-58be6ad353f8" providerId="ADAL" clId="{A0CAB841-4192-4D5A-AB98-8769508D3B25}" dt="2025-09-24T12:23:56.339" v="31" actId="47"/>
        <pc:sldMkLst>
          <pc:docMk/>
          <pc:sldMk cId="0" sldId="260"/>
        </pc:sldMkLst>
      </pc:sldChg>
      <pc:sldChg chg="del">
        <pc:chgData name="Koen DE BELIE" userId="0b604c76-dc05-41eb-aae4-58be6ad353f8" providerId="ADAL" clId="{A0CAB841-4192-4D5A-AB98-8769508D3B25}" dt="2025-09-24T12:24:18.202" v="47" actId="47"/>
        <pc:sldMkLst>
          <pc:docMk/>
          <pc:sldMk cId="0" sldId="26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944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112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846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957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984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820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038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036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sche 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457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3243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eraat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46795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amkaart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540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nl-NL"/>
              <a:t>Klikken om de tekststijl van het model te bewerken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nl-NL"/>
              <a:t>Klikken om de tekststijl van het model te bewerken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9403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Afbeelding-ko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645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8070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42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5733" y="1825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8499" y="1343818"/>
            <a:ext cx="11609798" cy="5272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650191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32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Constante </a:t>
            </a:r>
            <a:r>
              <a:rPr dirty="0" err="1"/>
              <a:t>snelheid</a:t>
            </a:r>
            <a:r>
              <a:rPr dirty="0"/>
              <a:t> </a:t>
            </a:r>
            <a:r>
              <a:rPr dirty="0" err="1"/>
              <a:t>langs</a:t>
            </a:r>
            <a:r>
              <a:rPr dirty="0"/>
              <a:t> de x-as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Een voorwerp beweegt met </a:t>
            </a:r>
            <a:r>
              <a:rPr b="1"/>
              <a:t>constante snelheid</a:t>
            </a:r>
            <a:r>
              <a:t> </a:t>
            </a:r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𝑣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𝑥</m:t>
                    </m:r>
                  </m:sub>
                </m:sSub>
              </m:oMath>
            </a14:m>
            <a:r>
              <a:t>.</a:t>
            </a:r>
          </a:p>
          <a:p>
            <a:pPr lvl="0"/>
            <a:r>
              <a:t>In het </a:t>
            </a:r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𝑣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𝑥</m:t>
                    </m:r>
                  </m:sub>
                </m:sSub>
                <m:d>
                  <m:dPr>
                    <m:ctrlPr>
                      <a:rPr i="1">
                        <a:latin typeface="Cambria Math" panose="02040503050406030204" pitchFamily="18" charset="0"/>
                      </a:rPr>
                    </m:ctrlPr>
                  </m:dPr>
                  <m:e>
                    <m:r>
                      <a:rPr>
                        <a:latin typeface="Cambria Math" panose="02040503050406030204" pitchFamily="18" charset="0"/>
                      </a:rPr>
                      <m:t>𝑡</m:t>
                    </m:r>
                  </m:e>
                </m:d>
              </m:oMath>
            </a14:m>
            <a:r>
              <a:rPr b="1"/>
              <a:t>-diagram</a:t>
            </a:r>
            <a:r>
              <a:t> zie je een </a:t>
            </a:r>
            <a:r>
              <a:rPr b="1"/>
              <a:t>rechte lijn</a:t>
            </a:r>
            <a:r>
              <a:t> evenwijdig met de tijdas.</a:t>
            </a:r>
          </a:p>
          <a:p>
            <a:pPr lvl="0"/>
            <a:r>
              <a:t>De snelheid verandert </a:t>
            </a:r>
            <a:r>
              <a:rPr b="1"/>
              <a:t>niet</a:t>
            </a:r>
            <a:r>
              <a:t> in de tijd.</a:t>
            </a: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2CC19D3B-45CD-F407-7E39-E7A59A9968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5834" y="3792435"/>
            <a:ext cx="2485262" cy="251142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Wat betekent de grafiek?</a:t>
            </a:r>
          </a:p>
          <a:p>
            <a:pPr lvl="0"/>
            <a:r>
              <a:t>De </a:t>
            </a:r>
            <a:r>
              <a:rPr b="1"/>
              <a:t>oppervlakte onder de </a:t>
            </a:r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𝑣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𝑥</m:t>
                    </m:r>
                  </m:sub>
                </m:sSub>
                <m:d>
                  <m:dPr>
                    <m:ctrlPr>
                      <a:rPr i="1">
                        <a:latin typeface="Cambria Math" panose="02040503050406030204" pitchFamily="18" charset="0"/>
                      </a:rPr>
                    </m:ctrlPr>
                  </m:dPr>
                  <m:e>
                    <m:r>
                      <a:rPr>
                        <a:latin typeface="Cambria Math" panose="02040503050406030204" pitchFamily="18" charset="0"/>
                      </a:rPr>
                      <m:t>𝑡</m:t>
                    </m:r>
                  </m:e>
                </m:d>
              </m:oMath>
            </a14:m>
            <a:r>
              <a:rPr b="1"/>
              <a:t>-grafiek</a:t>
            </a:r>
            <a:r>
              <a:t> tussen </a:t>
            </a:r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𝑡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</m:oMath>
            </a14:m>
            <a:r>
              <a:t> en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𝑡</m:t>
                </m:r>
              </m:oMath>
            </a14:m>
            <a:r>
              <a:t> stelt de </a:t>
            </a:r>
            <a:r>
              <a:rPr b="1"/>
              <a:t>verplaatsing</a:t>
            </a:r>
            <a:r>
              <a:t>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𝛥</m:t>
                </m:r>
                <m:r>
                  <a:rPr>
                    <a:latin typeface="Cambria Math" panose="02040503050406030204" pitchFamily="18" charset="0"/>
                  </a:rPr>
                  <m:t>𝑥</m:t>
                </m:r>
              </m:oMath>
            </a14:m>
            <a:r>
              <a:t> voor.</a:t>
            </a:r>
          </a:p>
          <a:p>
            <a:pPr lvl="0"/>
            <a:r>
              <a:t>Dit is een </a:t>
            </a:r>
            <a:r>
              <a:rPr b="1"/>
              <a:t>rechthoek</a:t>
            </a:r>
            <a:r>
              <a:t> met hoogte </a:t>
            </a:r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𝑣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𝑥</m:t>
                    </m:r>
                  </m:sub>
                </m:sSub>
              </m:oMath>
            </a14:m>
            <a:r>
              <a:t> en breedte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𝛥</m:t>
                </m:r>
                <m:r>
                  <a:rPr>
                    <a:latin typeface="Cambria Math" panose="02040503050406030204" pitchFamily="18" charset="0"/>
                  </a:rPr>
                  <m:t>𝑡</m:t>
                </m:r>
              </m:oMath>
            </a14:m>
            <a:r>
              <a:t>.</a:t>
            </a:r>
          </a:p>
          <a:p>
            <a:pPr marL="1270000" lvl="0" indent="0">
              <a:buNone/>
            </a:pPr>
            <a:r>
              <a:rPr sz="2000"/>
              <a:t>Denk aan: oppervlakte = lengte × breedte</a:t>
            </a:r>
            <a:br/>
            <a:r>
              <a:rPr sz="2000"/>
              <a:t>→ verplaatsing = snelheid × tijd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31D656-63A3-85A2-FD79-890633446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733" y="18255"/>
            <a:ext cx="10515600" cy="1325563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Constante </a:t>
            </a:r>
            <a:r>
              <a:rPr dirty="0" err="1"/>
              <a:t>snelheid</a:t>
            </a:r>
            <a:r>
              <a:rPr dirty="0"/>
              <a:t> </a:t>
            </a:r>
            <a:r>
              <a:rPr dirty="0" err="1"/>
              <a:t>langs</a:t>
            </a:r>
            <a:r>
              <a:rPr dirty="0"/>
              <a:t> de x-as</a:t>
            </a: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045A6CC5-4ABB-26D7-D725-B1235A1D7B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1096" y="3792435"/>
            <a:ext cx="2805112" cy="2834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lvl="0" indent="0">
                  <a:spcBef>
                    <a:spcPts val="3000"/>
                  </a:spcBef>
                  <a:buNone/>
                </a:pPr>
                <a:r>
                  <a:rPr lang="nl-BE" b="1" dirty="0"/>
                  <a:t>Formules </a:t>
                </a:r>
                <a:r>
                  <a:rPr lang="nl-BE" b="1" dirty="0" err="1"/>
                  <a:t>bij</a:t>
                </a:r>
                <a:r>
                  <a:rPr lang="nl-BE" b="1" dirty="0"/>
                  <a:t> </a:t>
                </a:r>
                <a:r>
                  <a:rPr lang="nl-BE" b="1" dirty="0" err="1"/>
                  <a:t>constante</a:t>
                </a:r>
                <a:r>
                  <a:rPr lang="nl-BE" b="1" dirty="0"/>
                  <a:t> </a:t>
                </a:r>
                <a:r>
                  <a:rPr lang="nl-BE" b="1" dirty="0" err="1"/>
                  <a:t>snelheid</a:t>
                </a:r>
                <a:endParaRPr lang="nl-BE" b="1" dirty="0"/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𝛥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𝛥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endParaRPr lang="ar-AE" b="1" dirty="0"/>
              </a:p>
              <a:p>
                <a:pPr marL="0" lvl="0" indent="0">
                  <a:buNone/>
                </a:pPr>
                <a:br>
                  <a:rPr lang="ar-AE" dirty="0"/>
                </a:br>
                <a:endParaRPr lang="ar-AE" dirty="0"/>
              </a:p>
              <a:p>
                <a:pPr lvl="0"/>
                <a14:m>
                  <m:oMath xmlns:m="http://schemas.openxmlformats.org/officeDocument/2006/math">
                    <m:r>
                      <a:rPr lang="ar-AE">
                        <a:latin typeface="Cambria Math" panose="02040503050406030204" pitchFamily="18" charset="0"/>
                      </a:rPr>
                      <m:t>𝛥</m:t>
                    </m:r>
                    <m:r>
                      <a:rPr lang="ar-AE">
                        <a:latin typeface="Cambria Math" panose="02040503050406030204" pitchFamily="18" charset="0"/>
                      </a:rPr>
                      <m:t>𝑥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⋅</m:t>
                    </m:r>
                    <m:r>
                      <a:rPr lang="ar-AE">
                        <a:latin typeface="Cambria Math" panose="02040503050406030204" pitchFamily="18" charset="0"/>
                      </a:rPr>
                      <m:t>𝛥</m:t>
                    </m:r>
                    <m:r>
                      <a:rPr lang="ar-AE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ar-AE" dirty="0">
                  <a:latin typeface="Cambria Math" panose="02040503050406030204" pitchFamily="18" charset="0"/>
                </a:endParaRPr>
              </a:p>
              <a:p>
                <a:pPr lvl="0"/>
                <a14:m>
                  <m:oMath xmlns:m="http://schemas.openxmlformats.org/officeDocument/2006/math">
                    <m:r>
                      <a:rPr lang="ar-AE">
                        <a:latin typeface="Cambria Math" panose="02040503050406030204" pitchFamily="18" charset="0"/>
                      </a:rPr>
                      <m:t>𝑥</m:t>
                    </m:r>
                    <m:r>
                      <a:rPr lang="nl-BE" b="0" i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⋅</m:t>
                    </m:r>
                    <m:r>
                      <a:rPr lang="ar-AE">
                        <a:latin typeface="Cambria Math" panose="02040503050406030204" pitchFamily="18" charset="0"/>
                      </a:rPr>
                      <m:t>𝛥</m:t>
                    </m:r>
                    <m:r>
                      <a:rPr lang="ar-AE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nl-BE" dirty="0">
                  <a:latin typeface="Cambria Math" panose="02040503050406030204" pitchFamily="18" charset="0"/>
                </a:endParaRPr>
              </a:p>
              <a:p>
                <a:pPr lvl="0"/>
                <a14:m>
                  <m:oMath xmlns:m="http://schemas.openxmlformats.org/officeDocument/2006/math">
                    <m:r>
                      <a:rPr lang="ar-AE">
                        <a:latin typeface="Cambria Math" panose="02040503050406030204" pitchFamily="18" charset="0"/>
                      </a:rPr>
                      <m:t>𝑥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⋅</m:t>
                    </m:r>
                    <m:r>
                      <a:rPr lang="ar-AE">
                        <a:latin typeface="Cambria Math" panose="02040503050406030204" pitchFamily="18" charset="0"/>
                      </a:rPr>
                      <m:t>𝛥</m:t>
                    </m:r>
                    <m:r>
                      <a:rPr lang="ar-AE">
                        <a:latin typeface="Cambria Math" panose="02040503050406030204" pitchFamily="18" charset="0"/>
                      </a:rPr>
                      <m:t>𝑡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ar-AE" dirty="0"/>
              </a:p>
              <a:p>
                <a:pPr marL="1270000" lvl="0" indent="0">
                  <a:buNone/>
                </a:pPr>
                <a:r>
                  <a:rPr lang="nl-BE" sz="2000" dirty="0"/>
                  <a:t>Je </a:t>
                </a:r>
                <a:r>
                  <a:rPr lang="nl-BE" sz="2000" dirty="0" err="1"/>
                  <a:t>hebt</a:t>
                </a:r>
                <a:r>
                  <a:rPr lang="nl-BE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ar-AE" sz="2000" b="1" dirty="0"/>
                  <a:t> </a:t>
                </a:r>
                <a:r>
                  <a:rPr lang="nl-BE" sz="2000" b="1" dirty="0" err="1"/>
                  <a:t>nodig</a:t>
                </a:r>
                <a:r>
                  <a:rPr lang="nl-BE" sz="2000" dirty="0"/>
                  <a:t> om de </a:t>
                </a:r>
                <a:r>
                  <a:rPr lang="nl-BE" sz="2000" b="1" dirty="0" err="1"/>
                  <a:t>plaats</a:t>
                </a:r>
                <a:r>
                  <a:rPr lang="nl-BE" sz="2000" dirty="0"/>
                  <a:t> </a:t>
                </a:r>
                <a:r>
                  <a:rPr lang="nl-BE" sz="2000" dirty="0" err="1"/>
                  <a:t>te</a:t>
                </a:r>
                <a:r>
                  <a:rPr lang="nl-BE" sz="2000" dirty="0"/>
                  <a:t> </a:t>
                </a:r>
                <a:r>
                  <a:rPr lang="nl-BE" sz="2000" dirty="0" err="1"/>
                  <a:t>berekenen</a:t>
                </a:r>
                <a:r>
                  <a:rPr lang="nl-BE" sz="2000" dirty="0"/>
                  <a:t>.</a:t>
                </a:r>
                <a:br>
                  <a:rPr lang="nl-BE" dirty="0"/>
                </a:br>
                <a:r>
                  <a:rPr lang="nl-BE" sz="2000" dirty="0"/>
                  <a:t>De </a:t>
                </a:r>
                <a:r>
                  <a:rPr lang="nl-BE" sz="2000" dirty="0" err="1"/>
                  <a:t>grafiek</a:t>
                </a:r>
                <a:r>
                  <a:rPr lang="nl-BE" sz="2000" dirty="0"/>
                  <a:t> </a:t>
                </a:r>
                <a:r>
                  <a:rPr lang="nl-BE" sz="2000" dirty="0" err="1"/>
                  <a:t>toont</a:t>
                </a:r>
                <a:r>
                  <a:rPr lang="nl-BE" sz="2000" dirty="0"/>
                  <a:t> </a:t>
                </a:r>
                <a:r>
                  <a:rPr lang="nl-BE" sz="2000" dirty="0" err="1"/>
                  <a:t>enkel</a:t>
                </a:r>
                <a:r>
                  <a:rPr lang="nl-BE" sz="2000" dirty="0"/>
                  <a:t> de </a:t>
                </a:r>
                <a:r>
                  <a:rPr lang="nl-BE" sz="2000" b="1" dirty="0" err="1"/>
                  <a:t>verplaatsing</a:t>
                </a:r>
                <a:r>
                  <a:rPr lang="nl-BE" sz="2000" dirty="0"/>
                  <a:t>, </a:t>
                </a:r>
                <a:r>
                  <a:rPr lang="nl-BE" sz="2000" dirty="0" err="1"/>
                  <a:t>niet</a:t>
                </a:r>
                <a:r>
                  <a:rPr lang="nl-BE" sz="2000" dirty="0"/>
                  <a:t> de absolute </a:t>
                </a:r>
                <a:r>
                  <a:rPr lang="nl-BE" sz="2000" dirty="0" err="1"/>
                  <a:t>positie</a:t>
                </a:r>
                <a:r>
                  <a:rPr lang="nl-BE" sz="2000" dirty="0"/>
                  <a:t>.</a:t>
                </a:r>
                <a:endParaRPr sz="20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Afbeelding 1">
            <a:extLst>
              <a:ext uri="{FF2B5EF4-FFF2-40B4-BE49-F238E27FC236}">
                <a16:creationId xmlns:a16="http://schemas.microsoft.com/office/drawing/2014/main" id="{47C93936-1F53-2816-F90B-07FFA7887F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3152" y="1916643"/>
            <a:ext cx="3560064" cy="3597539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122092CA-1F9C-CD69-FB79-8698B0B31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733" y="18255"/>
            <a:ext cx="10515600" cy="1325563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Constante </a:t>
            </a:r>
            <a:r>
              <a:rPr dirty="0" err="1"/>
              <a:t>snelheid</a:t>
            </a:r>
            <a:r>
              <a:rPr dirty="0"/>
              <a:t> </a:t>
            </a:r>
            <a:r>
              <a:rPr dirty="0" err="1"/>
              <a:t>langs</a:t>
            </a:r>
            <a:r>
              <a:rPr dirty="0"/>
              <a:t> de x-as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3704" y="18255"/>
            <a:ext cx="11928296" cy="1325563"/>
          </a:xfr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i="1" dirty="0" err="1"/>
              <a:t>Verplaatsing</a:t>
            </a:r>
            <a:r>
              <a:rPr i="1" dirty="0"/>
              <a:t> </a:t>
            </a:r>
            <a:r>
              <a:rPr i="1" dirty="0" err="1"/>
              <a:t>en</a:t>
            </a:r>
            <a:r>
              <a:rPr i="1" dirty="0"/>
              <a:t> </a:t>
            </a:r>
            <a:r>
              <a:rPr i="1" dirty="0" err="1"/>
              <a:t>tijd</a:t>
            </a:r>
            <a:r>
              <a:rPr i="1" dirty="0"/>
              <a:t> </a:t>
            </a:r>
            <a:r>
              <a:rPr i="1" dirty="0" err="1"/>
              <a:t>zijn</a:t>
            </a:r>
            <a:r>
              <a:rPr i="1" dirty="0"/>
              <a:t> </a:t>
            </a:r>
            <a:r>
              <a:rPr i="1" dirty="0" err="1"/>
              <a:t>verbonden</a:t>
            </a:r>
            <a:r>
              <a:rPr lang="nl-BE" i="1" dirty="0"/>
              <a:t> (ter info)</a:t>
            </a:r>
            <a:endParaRPr i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lvl="0"/>
                <a:r>
                  <a:rPr i="1" dirty="0"/>
                  <a:t>Je </a:t>
                </a:r>
                <a:r>
                  <a:rPr i="1" dirty="0" err="1"/>
                  <a:t>kan</a:t>
                </a:r>
                <a:r>
                  <a:rPr i="1" dirty="0"/>
                  <a:t> </a:t>
                </a:r>
                <a:r>
                  <a:rPr b="1" i="1" dirty="0" err="1"/>
                  <a:t>geen</a:t>
                </a:r>
                <a:r>
                  <a:rPr b="1" i="1" dirty="0"/>
                  <a:t> </a:t>
                </a:r>
                <a:r>
                  <a:rPr b="1" i="1" dirty="0" err="1"/>
                  <a:t>verplaatsing</a:t>
                </a:r>
                <a:r>
                  <a:rPr i="1" dirty="0"/>
                  <a:t> </a:t>
                </a:r>
                <a:r>
                  <a:rPr i="1" dirty="0" err="1"/>
                  <a:t>hebben</a:t>
                </a:r>
                <a:r>
                  <a:rPr i="1" dirty="0"/>
                  <a:t> </a:t>
                </a:r>
                <a:r>
                  <a:rPr i="1" dirty="0" err="1"/>
                  <a:t>zonder</a:t>
                </a:r>
                <a:r>
                  <a:rPr i="1" dirty="0"/>
                  <a:t> </a:t>
                </a:r>
                <a:r>
                  <a:rPr i="1" dirty="0" err="1"/>
                  <a:t>dat</a:t>
                </a:r>
                <a:r>
                  <a:rPr i="1" dirty="0"/>
                  <a:t> er </a:t>
                </a:r>
                <a:r>
                  <a:rPr b="1" i="1" dirty="0" err="1"/>
                  <a:t>tijd</a:t>
                </a:r>
                <a:r>
                  <a:rPr i="1" dirty="0"/>
                  <a:t> </a:t>
                </a:r>
                <a:r>
                  <a:rPr i="1" dirty="0" err="1"/>
                  <a:t>verstrijkt</a:t>
                </a:r>
                <a:r>
                  <a:rPr i="1" dirty="0"/>
                  <a:t>.</a:t>
                </a:r>
              </a:p>
              <a:p>
                <a:pPr lvl="0"/>
                <a:r>
                  <a:rPr i="1" dirty="0"/>
                  <a:t>In het </a:t>
                </a:r>
                <a:r>
                  <a:rPr b="1" i="1" dirty="0"/>
                  <a:t>SI-</a:t>
                </a:r>
                <a:r>
                  <a:rPr b="1" i="1" dirty="0" err="1"/>
                  <a:t>systeem</a:t>
                </a:r>
                <a:r>
                  <a:rPr i="1" dirty="0"/>
                  <a:t> </a:t>
                </a:r>
                <a:r>
                  <a:rPr i="1" dirty="0" err="1"/>
                  <a:t>zijn</a:t>
                </a:r>
                <a:r>
                  <a:rPr i="1" dirty="0"/>
                  <a:t> </a:t>
                </a:r>
                <a:r>
                  <a:rPr i="1" dirty="0" err="1"/>
                  <a:t>afstand</a:t>
                </a:r>
                <a:r>
                  <a:rPr i="1" dirty="0"/>
                  <a:t> </a:t>
                </a:r>
                <a:r>
                  <a:rPr i="1" dirty="0" err="1"/>
                  <a:t>en</a:t>
                </a:r>
                <a:r>
                  <a:rPr i="1" dirty="0"/>
                  <a:t> </a:t>
                </a:r>
                <a:r>
                  <a:rPr i="1" dirty="0" err="1"/>
                  <a:t>tijd</a:t>
                </a:r>
                <a:r>
                  <a:rPr i="1" dirty="0"/>
                  <a:t> </a:t>
                </a:r>
                <a:r>
                  <a:rPr i="1" dirty="0" err="1"/>
                  <a:t>gekoppeld</a:t>
                </a:r>
                <a:r>
                  <a:rPr i="1" dirty="0"/>
                  <a:t> via de </a:t>
                </a:r>
                <a:r>
                  <a:rPr b="1" i="1" dirty="0" err="1"/>
                  <a:t>lichtsnelheid</a:t>
                </a:r>
                <a:r>
                  <a:rPr i="1" dirty="0"/>
                  <a:t>.</a:t>
                </a:r>
                <a:endParaRPr lang="nl-BE" i="1" dirty="0"/>
              </a:p>
              <a:p>
                <a:pPr marL="0" lvl="0" indent="0">
                  <a:spcBef>
                    <a:spcPts val="3000"/>
                  </a:spcBef>
                  <a:buNone/>
                </a:pPr>
                <a:r>
                  <a:rPr lang="nl-BE" b="1" i="1" dirty="0"/>
                  <a:t>SI-</a:t>
                </a:r>
                <a:r>
                  <a:rPr lang="nl-BE" b="1" i="1" dirty="0" err="1"/>
                  <a:t>definitie</a:t>
                </a:r>
                <a:r>
                  <a:rPr lang="nl-BE" b="1" i="1" dirty="0"/>
                  <a:t> van 1 meter</a:t>
                </a:r>
              </a:p>
              <a:p>
                <a:pPr lvl="0"/>
                <a:r>
                  <a:rPr lang="nl-BE" i="1" dirty="0"/>
                  <a:t>1 meter = </a:t>
                </a:r>
                <a:r>
                  <a:rPr lang="nl-BE" i="1" dirty="0" err="1"/>
                  <a:t>afstand</a:t>
                </a:r>
                <a:r>
                  <a:rPr lang="nl-BE" i="1" dirty="0"/>
                  <a:t> die </a:t>
                </a:r>
                <a:r>
                  <a:rPr lang="nl-BE" i="1" dirty="0" err="1"/>
                  <a:t>licht</a:t>
                </a:r>
                <a:r>
                  <a:rPr lang="nl-BE" i="1" dirty="0"/>
                  <a:t> </a:t>
                </a:r>
                <a:r>
                  <a:rPr lang="nl-BE" i="1" dirty="0" err="1"/>
                  <a:t>aflegt</a:t>
                </a:r>
                <a:r>
                  <a:rPr lang="nl-BE" i="1" dirty="0"/>
                  <a:t> in </a:t>
                </a:r>
                <a:r>
                  <a:rPr lang="nl-BE" i="1" dirty="0" err="1"/>
                  <a:t>vacuüm</a:t>
                </a:r>
                <a:r>
                  <a:rPr lang="nl-BE" i="1" dirty="0"/>
                  <a:t> in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 i="1" smtClean="0">
                            <a:latin typeface="Cambria Math" panose="02040503050406030204" pitchFamily="18" charset="0"/>
                          </a:rPr>
                          <m:t>299</m:t>
                        </m:r>
                        <m:r>
                          <a:rPr lang="ar-AE" i="1" smtClean="0"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ar-AE" i="1" smtClean="0">
                            <a:latin typeface="Cambria Math" panose="02040503050406030204" pitchFamily="18" charset="0"/>
                          </a:rPr>
                          <m:t>792</m:t>
                        </m:r>
                        <m:r>
                          <a:rPr lang="ar-AE" i="1" smtClean="0"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ar-AE" i="1" smtClean="0">
                            <a:latin typeface="Cambria Math" panose="02040503050406030204" pitchFamily="18" charset="0"/>
                          </a:rPr>
                          <m:t>458</m:t>
                        </m:r>
                      </m:den>
                    </m:f>
                    <m:r>
                      <a:rPr lang="ar-AE" i="1" smtClean="0"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nor/>
                      </m:rPr>
                      <a:rPr lang="nl-BE" i="1"/>
                      <m:t>s</m:t>
                    </m:r>
                  </m:oMath>
                </a14:m>
                <a:endParaRPr lang="nl-BE" i="1" dirty="0"/>
              </a:p>
              <a:p>
                <a:pPr lvl="0"/>
                <a:r>
                  <a:rPr lang="nl-BE" i="1" dirty="0"/>
                  <a:t>In </a:t>
                </a:r>
                <a:r>
                  <a:rPr lang="nl-BE" b="1" i="1" dirty="0"/>
                  <a:t>1 </a:t>
                </a:r>
                <a:r>
                  <a:rPr lang="nl-BE" b="1" i="1" dirty="0" err="1"/>
                  <a:t>nanoseconde</a:t>
                </a:r>
                <a:r>
                  <a:rPr lang="nl-BE" i="1" dirty="0"/>
                  <a:t> </a:t>
                </a:r>
                <a:r>
                  <a:rPr lang="nl-BE" i="1" dirty="0" err="1"/>
                  <a:t>verplaatst</a:t>
                </a:r>
                <a:r>
                  <a:rPr lang="nl-BE" i="1" dirty="0"/>
                  <a:t> </a:t>
                </a:r>
                <a:r>
                  <a:rPr lang="nl-BE" i="1" dirty="0" err="1"/>
                  <a:t>licht</a:t>
                </a:r>
                <a:r>
                  <a:rPr lang="nl-BE" i="1" dirty="0"/>
                  <a:t> </a:t>
                </a:r>
                <a:r>
                  <a:rPr lang="nl-BE" i="1" dirty="0" err="1"/>
                  <a:t>zich</a:t>
                </a:r>
                <a:r>
                  <a:rPr lang="nl-BE" i="1" dirty="0"/>
                  <a:t> </a:t>
                </a:r>
                <a:r>
                  <a:rPr lang="nl-BE" i="1" dirty="0" err="1"/>
                  <a:t>ongeveer</a:t>
                </a:r>
                <a:r>
                  <a:rPr lang="nl-BE" i="1" dirty="0"/>
                  <a:t> </a:t>
                </a:r>
                <a:r>
                  <a:rPr lang="nl-BE" b="1" i="1" dirty="0"/>
                  <a:t>30 cm</a:t>
                </a:r>
                <a:r>
                  <a:rPr lang="nl-BE" i="1" dirty="0"/>
                  <a:t>.</a:t>
                </a:r>
              </a:p>
              <a:p>
                <a:pPr marL="1270000" lvl="0" indent="0">
                  <a:buNone/>
                </a:pPr>
                <a:r>
                  <a:rPr lang="nl-BE" sz="2000" i="1" dirty="0" err="1"/>
                  <a:t>Verplaatsing</a:t>
                </a:r>
                <a:r>
                  <a:rPr lang="nl-BE" sz="2000" i="1" dirty="0"/>
                  <a:t> </a:t>
                </a:r>
                <a:r>
                  <a:rPr lang="nl-BE" sz="2000" i="1" dirty="0" err="1"/>
                  <a:t>en</a:t>
                </a:r>
                <a:r>
                  <a:rPr lang="nl-BE" sz="2000" i="1" dirty="0"/>
                  <a:t> </a:t>
                </a:r>
                <a:r>
                  <a:rPr lang="nl-BE" sz="2000" i="1" dirty="0" err="1"/>
                  <a:t>tijd</a:t>
                </a:r>
                <a:r>
                  <a:rPr lang="nl-BE" sz="2000" i="1" dirty="0"/>
                  <a:t> </a:t>
                </a:r>
                <a:r>
                  <a:rPr lang="nl-BE" sz="2000" i="1" dirty="0" err="1"/>
                  <a:t>zijn</a:t>
                </a:r>
                <a:r>
                  <a:rPr lang="nl-BE" sz="2000" i="1" dirty="0"/>
                  <a:t> </a:t>
                </a:r>
                <a:r>
                  <a:rPr lang="nl-BE" sz="2000" i="1" dirty="0" err="1"/>
                  <a:t>fundamenteel</a:t>
                </a:r>
                <a:r>
                  <a:rPr lang="nl-BE" sz="2000" i="1" dirty="0"/>
                  <a:t> </a:t>
                </a:r>
                <a:r>
                  <a:rPr lang="nl-BE" sz="2000" i="1" dirty="0" err="1"/>
                  <a:t>verbonden</a:t>
                </a:r>
                <a:r>
                  <a:rPr lang="nl-BE" sz="2000" i="1" dirty="0"/>
                  <a:t> in de </a:t>
                </a:r>
                <a:r>
                  <a:rPr lang="nl-BE" sz="2000" i="1" dirty="0" err="1"/>
                  <a:t>natuur</a:t>
                </a:r>
                <a:r>
                  <a:rPr lang="nl-BE" sz="2000" i="1" dirty="0"/>
                  <a:t> </a:t>
                </a:r>
                <a:r>
                  <a:rPr lang="nl-BE" sz="2000" i="1" dirty="0" err="1"/>
                  <a:t>én</a:t>
                </a:r>
                <a:r>
                  <a:rPr lang="nl-BE" sz="2000" i="1" dirty="0"/>
                  <a:t> in het SI-</a:t>
                </a:r>
                <a:r>
                  <a:rPr lang="nl-BE" sz="2000" i="1" dirty="0" err="1"/>
                  <a:t>systeem</a:t>
                </a:r>
                <a:r>
                  <a:rPr lang="nl-BE" sz="2000" i="1" dirty="0"/>
                  <a:t>.</a:t>
                </a:r>
              </a:p>
              <a:p>
                <a:pPr lvl="0"/>
                <a:endParaRPr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Title and Content ">
  <a:themeElements>
    <a:clrScheme name="Diepte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iepte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iept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223</Words>
  <Application>Microsoft Office PowerPoint</Application>
  <PresentationFormat>Breedbeeld</PresentationFormat>
  <Paragraphs>24</Paragraphs>
  <Slides>4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4</vt:i4>
      </vt:variant>
    </vt:vector>
  </HeadingPairs>
  <TitlesOfParts>
    <vt:vector size="8" baseType="lpstr">
      <vt:lpstr>Arial</vt:lpstr>
      <vt:lpstr>Cambria Math</vt:lpstr>
      <vt:lpstr>Corbel</vt:lpstr>
      <vt:lpstr>Title and Content </vt:lpstr>
      <vt:lpstr>Constante snelheid langs de x-as</vt:lpstr>
      <vt:lpstr>Constante snelheid langs de x-as</vt:lpstr>
      <vt:lpstr>Constante snelheid langs de x-as</vt:lpstr>
      <vt:lpstr>Verplaatsing en tijd zijn verbonden (ter info)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emplate>Diepte</Template>
  <TotalTime>1645</TotalTime>
  <Words>32</Words>
  <Application>Microsoft Office PowerPoint</Application>
  <PresentationFormat>Breedbeeld</PresentationFormat>
  <Paragraphs>11</Paragraphs>
  <Slides>6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2</vt:i4>
      </vt:variant>
      <vt:variant>
        <vt:lpstr>Thema</vt:lpstr>
      </vt:variant>
      <vt:variant>
        <vt:i4>1</vt:i4>
      </vt:variant>
      <vt:variant>
        <vt:lpstr>Diatitels</vt:lpstr>
      </vt:variant>
      <vt:variant>
        <vt:i4>6</vt:i4>
      </vt:variant>
    </vt:vector>
  </HeadingPairs>
  <TitlesOfParts>
    <vt:vector size="9" baseType="lpstr">
      <vt:lpstr>Arial</vt:lpstr>
      <vt:lpstr>Corbel</vt:lpstr>
      <vt:lpstr>Title and Content </vt:lpstr>
      <vt:lpstr>Title Slide</vt:lpstr>
      <vt:lpstr>Section Header</vt:lpstr>
      <vt:lpstr>Title and Content</vt:lpstr>
      <vt:lpstr>Two Content</vt:lpstr>
      <vt:lpstr>Comparison Slide</vt:lpstr>
      <vt:lpstr>PowerPoint-presentatie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Koen DE BELIE</dc:creator>
  <cp:keywords/>
  <cp:lastModifiedBy>Koen DE BELIE</cp:lastModifiedBy>
  <cp:revision>1</cp:revision>
  <dcterms:created xsi:type="dcterms:W3CDTF">2025-09-24T12:18:59Z</dcterms:created>
  <dcterms:modified xsi:type="dcterms:W3CDTF">2025-09-24T12:24:26Z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arp">
    <vt:lpwstr>True</vt:lpwstr>
  </property>
  <property fmtid="{D5CDD505-2E9C-101B-9397-08002B2CF9AE}" pid="3" name="paginate">
    <vt:lpwstr>True</vt:lpwstr>
  </property>
  <property fmtid="{D5CDD505-2E9C-101B-9397-08002B2CF9AE}" pid="4" name="theme">
    <vt:lpwstr>default</vt:lpwstr>
  </property>
</Properties>
</file>