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LEERKRACHTENINFO:</a:t>
            </a:r>
          </a:p>
          <a:p>
            <a:r>
              <a:t>• Noteer de windingen van de drie spoelen vooraf op het bord (bv. 300/600/1200). Bron op max. 6-8 V AC om de secundaire spanning bij opwaartse transformatie onder 25 V te houden.</a:t>
            </a:r>
          </a:p>
          <a:p>
            <a:r>
              <a:t>• Verwachte resultaten: U₂/U₁ binnen 5-10 % van N₂/N₁ (iets lager door lekflux); I₂/I₁ wijkt meer af; η 60-90 %; zonder sluitstuk zakt U₂ sterk (vaak &lt; 50 %).</a:t>
            </a:r>
          </a:p>
          <a:p>
            <a:r>
              <a:t>• Veelgemaakte fout: multimeter op DC → leest ~0. Controleren bij de opstellingscontrole.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SMART-zelf 10…: Bv. 'Hoe hangt de verhouding U₂/U₁ af van de wikkelverhouding N₂/N₁ (drie combinaties van onze spoelen) bij U₁ = 6 V AC met sluitstuk, tijdens dit labo?'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Waarom werkt een transformator enkel op wisselspanning? Verk…: Enkel een veranderende flux induceert een spanning in de secundaire spoel (Faraday). Bij gelijkspanning is de flux na het inschakelen constant → U₂ = 0 (enkel een piek bij in- en uitschakelen, zie labo 10).</a:t>
            </a:r>
          </a:p>
          <a:p>
            <a:r>
              <a:t>Modelantwoord – Voorspel: als N₂ = 2·N₁, wat verwacht je voor U₂ t.o.v. U₁ e…: U₂ = 2·U₁ (opwaarts) en, bij gelijk vermogen, I₂ = I₁/2.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Proef 1 en 2: vergelijk telkens U₁ met U₂ en I₁ met I₂. Wat …: Proef 1 (N₂ &gt; N₁): U₂ &gt; U₁, I₂ &lt; I₁ → opwaartse transformator. Proef 2 (N₂ &lt; N₁): U₂ &lt; U₁, I₂ &gt; I₁ → neerwaarts. Spanning en stroom veranderen in tegengestelde zin: het vermogen blijft (ongeveer) behouden.</a:t>
            </a:r>
          </a:p>
          <a:p>
            <a:r>
              <a:t>Modelantwoord – Proef 3: vergelijk met proef 1 en 2. Formuleer een formule v…: U₂/U₁ = N₂/N₁ en I₂/I₁ = N₁/N₂ (ideaal). De spanningsverhouding volgt de wikkelverhouding nauwkeuriger dan de stroomverhouding (die wijkt af door verliezen en magnetiseringsstroom).</a:t>
            </a:r>
          </a:p>
          <a:p>
            <a:r>
              <a:t>Modelantwoord – Is jullie transformator ideaal? Bereken het rendement en noe…: Nee: η = P₂/P₁ typisch 60-90 % bij deze schoolopstellingen. Verliezen: joule-warmte in de wikkelingen (koperverlies), wervelstromen en hysterese in de kern (ijzerverlies), lekflux (niet alle flux gaat door de tweede spoel), magnetiseringsstroom. Zonder sluitstuk: grote luchtspleet → veel lekflux → U₂ en η dalen sterk.</a:t>
            </a:r>
          </a:p>
          <a:p>
            <a:r>
              <a:t>Modelantwoord – Waarom transporteert men elektriciteit bij zeer hoge spannin…: P_transport = U·I → bij 10× hogere U is I 10× kleiner. Joule-verlies in de kabel P_v = I²·R wordt 100× kleiner. Daarom: opwaarts aan de centrale (380 kV), neerwaarts naar 230 V in de wijkcabine.</a:t>
            </a:r>
          </a:p>
          <a:p>
            <a:r>
              <a:t>Modelantwoord – Waarom brommen transformatoren en worden ze warm? Waarom zij…: Brommen: magnetostrictie en krachten op de lamellen bij 50 Hz (100 Hz toon). Warmte: koper- en ijzerverliezen. Gelamelleerde (geïsoleerde dunne plaatjes) kern: onderbreekt de wervelstroombanen → kleinere wervelstromen → minder verlies (Lenz/Joule).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Labo 10 – De transformator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Richtduur: 2 lesuren • Type practicum: onderzoekspracticum (per 2-3)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Mate van sturing: open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Werkwijze: O – V – U – R</a:t>
            </a:r>
          </a:p>
        </p:txBody>
      </p:sp>
      <p:pic>
        <p:nvPicPr>
          <p:cNvPr id="4" name="Picture 3" descr="foto_t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60751"/>
            <a:ext cx="3931920" cy="29364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LESDOELEN – na dit labo kan je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De werking van transformator verklaren vanuit elektromagnetische inductie (wisselende flux in gemeenschappelijke kern)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Experimenteel verband tussen wikkelverhouding N₂/N₁ en spanningsverhouding U₂/U₁ en stroomverhouding I₂/I₁ bepalen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Ingangs- en uitgangsvermogen vergelijken, rendement berekenen en verklaren waarom reële transformator niet ideaal is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Uitleggen waarom transformatoren essentieel zijn voor elektriciteitstransport en waarom ze niet werken op gelijkspanning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LEERPLANDOELEN (III-BCSW-d / III-BCW-d)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LPD 7 F (extra): principiële werking van transformator via inductie; opwekken van wisselspanning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LPD 1 S, 2 S: meetreeks, verhoudingen, rendement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LPD 5 S: energietransport en -verlies in maatschappij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VOORKENNIS – check vóór je begint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Wet van Faraday (labo 9)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Vermogen P = U·I; rendement η = P_uit / P_in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Wat gaan we onderzoeken en waarom?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Context – onderzoeksvraag – doel – oriëntatievragen (voorbereid thuis) – SMART-oefening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Context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Elektriciteit wordt in centrales en windparken opgewekt bij enkele kV, getransporteerd bij 380 kV en in huis gebruikt bij 230 V; oplader van je laptop maakt daar 19 V van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Dat kan dankzij transformator: twee spoelen op één weekijzeren kern, zonder bewegende delen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Onderzoek je verband tussen aantal windingen, spanning en stroom, en test je hoe 'ideaal' echte transformator is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Onderzoeksvraag (leerlijn SMART – stap 3: jij formuleert)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Je krijgt geen onderzoeksvraag meer: formuleer ze zelf voor transformator (richting: wat gebeurt er met spanning en/of stroomsterkte als je aantal windingen van spoelen verandert?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Of: hoe ideaal is onze transformator?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Maak vraag SMART voor jullie materiaal: twee spoelen op de U-kern, 6 V AC) en verantwoord per letter waarom ze SMART 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Gebruik vorm 'Hoe hangt … af van … bij …?'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Laat ze goedkeuren door leerkracht vóór je begint te meten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Onderzoeksvraag (leerlijn SMART – stap 3: jij formuleert) – invullen op werkblad; kolommen: Mijn onderzoeksvraag | S | M | A | R |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C62828"/>
                </a:solidFill>
              </a:rPr>
              <a:t>Doel van het onderzoek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Transformatorwetten experimenteel afleiden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Rendement bepalen en verliezen verklaren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Link leggen met elektriciteitsnet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C62828"/>
                </a:solidFill>
              </a:rPr>
              <a:t>Oriëntatievragen (beantwoord vóór het labo)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1. Waarom werkt transformator enkel op wisselspanning?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Verklaar met Faraday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2. Voorspel: als N₂ = 2·N₁, wat verwacht je voor U₂ t.o.v. U₁ en voor I₂ t.o.v. I₁ (bij gelijkblijvend vermogen)?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V – VOORBEREIDEN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Hoe pakken we het aan?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Benodigdheden – theorie – veiligheid – hypothese – werkplan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Theorie-overzicht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Benodigdheden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Drie spoelen met verschillend aantal windingen (N = ……, ……, ……), U-vormige weekijzeren kern met sluitstuk, twee multimeters (AC!), regelbare wisselspanningsbron, weerstand (belasting), snoeren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Theorie-overzicht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Ideale transformator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Verhouding van aantal windingen (wikkelverhouding) bepaalt spannings- en stroomverhouding; vermogen blijft behouden:</a:t>
            </a:r>
          </a:p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f>
                        <m:fPr/>
                        <m:num>
                          <m:sSub>
                            <m:e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U</m:t>
                              </m:r>
                            </m:e>
                            <m:sub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U</m:t>
                              </m:r>
                            </m:e>
                            <m:sub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den>
                      </m:f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sSub>
                            <m:e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N</m:t>
                              </m:r>
                            </m:e>
                            <m:sub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N</m:t>
                              </m:r>
                            </m:e>
                            <m:sub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den>
                      </m:f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      </m:t>
                      </m:r>
                      <m:f>
                        <m:fPr/>
                        <m:num>
                          <m:sSub>
                            <m:e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I</m:t>
                              </m:r>
                            </m:e>
                            <m:sub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I</m:t>
                              </m:r>
                            </m:e>
                            <m:sub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den>
                      </m:f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sSub>
                            <m:e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N</m:t>
                              </m:r>
                            </m:e>
                            <m:sub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N</m:t>
                              </m:r>
                            </m:e>
                            <m:sub>
                              <m:r>
                                <a:rPr lang="nl-BE" sz="22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den>
                      </m:f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      </m:t>
                      </m:r>
                      <m:sSub>
                        <m:e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·</m:t>
                      </m:r>
                      <m:sSub>
                        <m:e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I</m:t>
                          </m:r>
                        </m:e>
                        <m:sub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·</m:t>
                      </m:r>
                      <m:sSub>
                        <m:e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I</m:t>
                          </m:r>
                        </m:e>
                        <m:sub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sSubSup>
                        <m:e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  <m:sup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/>
                          </m:r>
                        </m:sup>
                      </m:sSubSup>
                    </m:oMath>
                  </m:oMathPara>
                </a14:m>
              </mc:Choice>
              <mc:Fallback>
                <a:r>
                  <a:rPr lang="nl-BE" sz="2200" b="1">
                    <a:solidFill>
                      <a:srgbClr val="C62828"/>
                    </a:solidFill>
                  </a:rPr>
                  <a:t>(U₂) / (U₁) = (N₂) / (N₁)  (I₂) / (I₁) = (N₁) / (N₂)  P₁ = U₁ · I₁ = U₂ · I₂ = P₂</a:t>
                </a:r>
              </mc:Fallback>
            </mc:AlternateContent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N₂ &gt; N₁: opwaartse transformator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N₂ &lt; N₁: neerwaartse transformator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Joule-effect (warmteontwikkeling)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Elke stroom door weerstand maakt warmte: botsende elektronen geven energie af aan metaal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Vermogen dat in warmte omgezet wordt is P = U·I = I²·R (want U = I·R)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Dubbel zoveel stroom → vier keer zoveel warmte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Dat is nuttig in strijkijzer, maar verlies in transformator of hoogspanningskabel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Theorie-overzicht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w</m:t>
                          </m:r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r</m:t>
                          </m:r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m</m:t>
                          </m:r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t</m:t>
                          </m:r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e</m:t>
                          </m:r>
                        </m:sub>
                      </m:sSub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I</m:t>
                          </m:r>
                        </m:e>
                        <m:sup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·</m:t>
                      </m:r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R</m:t>
                      </m:r>
                    </m:oMath>
                  </m:oMathPara>
                </a14:m>
              </mc:Choice>
              <mc:Fallback>
                <a:r>
                  <a:rPr lang="nl-BE" sz="2800" b="1">
                    <a:solidFill>
                      <a:srgbClr val="C62828"/>
                    </a:solidFill>
                  </a:rPr>
                  <a:t>P_warmte = I² · R</a:t>
                </a:r>
              </mc:Fallback>
            </mc:AlternateContent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Reële transformator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Verliezen door (1) joule-effect in koperdraad van wikkelingen, (2) wervelstromen in ijzeren kern (kringstromen die door wisselende flux in ijzer zelf ontstaan en ijzer opwarmen – daarom is kern uit dunne, geïsoleerde plaatjes opgebouwd: 'gelamelleerd'), (3) hysterese (telkens ommagnetiseren van ijzer kost energie) en (4) lekflux (veldlijnen die niet door tweede spoel gaan, vooral zonder sluitstuk)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Rendement is dan kleiner dan 100 %:</a:t>
            </a:r>
          </a:p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η</m:t>
                      </m:r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sSub>
                            <m:e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den>
                      </m:f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sSub>
                            <m:e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U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·</m:t>
                          </m:r>
                          <m:sSub>
                            <m:e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I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U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  <m:r>
                            <a:rPr lang="nl-BE" sz="28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·</m:t>
                          </m:r>
                          <m:sSub>
                            <m:e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I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C62828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den>
                      </m:f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·</m:t>
                      </m:r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1</m:t>
                      </m:r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0</m:t>
                      </m:r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0</m:t>
                      </m:r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 </m:t>
                      </m:r>
                      <m:r>
                        <a:rPr lang="nl-BE" sz="28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%</m:t>
                      </m:r>
                    </m:oMath>
                  </m:oMathPara>
                </a14:m>
              </mc:Choice>
              <mc:Fallback>
                <a:r>
                  <a:rPr lang="nl-BE" sz="2800" b="1">
                    <a:solidFill>
                      <a:srgbClr val="C62828"/>
                    </a:solidFill>
                  </a:rPr>
                  <a:t>η = (P₂) / (P₁) = (U₂ · I₂) / (U₁ · I₁) · 100 %</a:t>
                </a:r>
              </mc:Fallback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VEILIGHEID // NAUWKEURIGHEID • Hypothese • 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VEILIGHEID // NAUWKEURIGHEID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Multimeters op AC-stand (V~ en A~)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Gebruik enkel regelbare wissel­spanningsbron (laagspanning, max. …… V)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Opwaartse transformator kan hogere spanningen geven dan bron: raak uitgangsklemmen niet aan en laat controleren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Sluitstuk goed aandrukken (brommen = losse kern)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Spoelen niet kortsluiten; belastingsweerstand kan warm worden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Hypothese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Formuleer vóór proef beredeneerde verwachting: wat verwacht je en waarom?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Hypothese mag fout blijken – dat is geen slecht resultaat, maar leerpunt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Noteer ze op werkblad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Werkplan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OPEN WERKPLAN: jullie beslissen zelf welke spoelcombinaties, hoeveel ingangsspanningen en welke belasting je nodig hebt om beide onderzoeksvragen te beantwoorden (zie kader)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STEM-ONTWERPOPDRACHT (LPD 4 S) – schrijf je eigen 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Welke combinaties van drie spoelen test je om U₂/U₁ en I₂/I₁ als functie van N₂/N₁ te vinden (opwaarts én neerwaarts)?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Hoeveel combinaties zijn min. nodig?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Hoe bepaal je rendement en hoe toon je aan dat transformator niet ideaal is?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Welke extra meting (bv. zonder sluitstuk, met andere belasting) voeg je toe?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Hoe maak je de U₂(U₁)-grafiek (hoeveel spanningen)?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Schrijf plan stap voor stap, met schema dat je gebruikt, en laat goedkeuren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Tabel hieronder is voorbeeld: pas ze in Excel aan je plan aan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Meten, noteren, observeren – volgens plan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Noteer alles meteen op het werkblad: tabellen, waarnemingen, foto's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Meten van ingangs- en uitgangsspanning (wisselspanningsbron, twee voltmeters)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Meten van ingangs- en uitgangsstroom (twee ampèremeters, belastingsweerstand aan uitgang)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Twee spoelen op de U-kern met sluitstuk (opstelling uit labo)</a:t>
            </a:r>
          </a:p>
        </p:txBody>
      </p:sp>
      <p:pic>
        <p:nvPicPr>
          <p:cNvPr id="6" name="Picture 5" descr="schak_traf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1712752"/>
            <a:ext cx="1874520" cy="9178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3246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Meten van de ingangs- en uitgangsspanning (wisselspanningsbron, twee voltmeters).</a:t>
            </a:r>
          </a:p>
        </p:txBody>
      </p:sp>
      <p:pic>
        <p:nvPicPr>
          <p:cNvPr id="8" name="Picture 7" descr="schak_traf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1722421"/>
            <a:ext cx="1874520" cy="8985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21239" y="32461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Meten van de ingangs- en uitgangsstroom (twee ampèremeters, belastingsweerstand aan de uitgang).</a:t>
            </a:r>
          </a:p>
        </p:txBody>
      </p:sp>
      <p:pic>
        <p:nvPicPr>
          <p:cNvPr id="10" name="Picture 9" descr="foto_tra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9" y="4032041"/>
            <a:ext cx="1874520" cy="13999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79" y="58064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Twee spoelen op de U-kern met sluitstuk (opstelling uit het labo).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8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417"/>
                <a:gridCol w="768906"/>
                <a:gridCol w="768906"/>
                <a:gridCol w="768906"/>
                <a:gridCol w="768906"/>
                <a:gridCol w="768906"/>
                <a:gridCol w="768906"/>
                <a:gridCol w="768906"/>
                <a:gridCol w="768906"/>
                <a:gridCol w="768906"/>
                <a:gridCol w="768906"/>
                <a:gridCol w="768906"/>
                <a:gridCol w="768906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N₁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N₂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N₂/N₁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U₁ (V)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U₂ (V)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U₂/U₁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I₁ (A)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I₂ (A)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I₂/I₁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P₁ (W)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P₂ (W)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η (%)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Proef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Proef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Proef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Zonder sluitstuk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Grafiek U₂(U₁)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Invullen op werkblad; kolommen: U₁ (V) | U₂ (V)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Transformatoren in hoogspanningsstation: elektriciteit wordt bij hoge spanning getransporteerd om joule-verliezen te beperken</a:t>
            </a:r>
          </a:p>
        </p:txBody>
      </p:sp>
      <p:pic>
        <p:nvPicPr>
          <p:cNvPr id="6" name="Picture 5" descr="gen_hoogspan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355913"/>
            <a:ext cx="3931920" cy="2146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Transformatoren in een hoogspanningsstation: elektriciteit wordt bij hoge spanning getransporteerd om joule-verliezen te beperken.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Kloppen de resultaten? Wat leren we eruit?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Besluit – foutenanalyse – reflectievragen – verslag en evaluatie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Besluit • Foutenanalyse en betrouwbaarheid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C62828"/>
                </a:solidFill>
              </a:rPr>
              <a:t>Besluit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Beantwoord onderzoeksvraag, onderbouwd met je metingen (getallen, grafiek)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Klopt je hypothese?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Leg uit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C62828"/>
                </a:solidFill>
              </a:rPr>
              <a:t>Foutenanalyse en betrouwbaarheid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Wat is grootste meetonzekerheid in dit labo?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Hoe zou je proef verbeteren (meer herhalingen, ander meetbereik, betere opstelling)?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Reflectievragen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1. Proef 1 en 2: vergelijk telkens U₁ met U₂ en I₁ met I₂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Wat besluit je over op- en neerwaarts transformeren?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2. Proef 3: vergelijk met proef 1 en 2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Formuleer formule voor U₂/U₁ en voor I₂/I₁ i.f.v. N₁ en N₂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3. Is jullie transformator ideaal?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Bereken rendement en noem min. drie oorzaken van verlies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Wat veranderde er zonder sluitstuk en waarom?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4. Waarom transporteert men elektriciteit bij zeer hoge spanning?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Toon met P = I²·R aan hoeveel joule-verlies in kabel daalt als spanning 10× hoger wordt (bij gelijk vermogen)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[Internet toegelaten: gewone zoekmachine zoals Google, bron vermelden – geen AI-tool.]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5. Waarom brommen transformatoren en worden ze warm?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Waarom zijn kernen gelamelleerd?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[Internet toegelaten: gewone zoekmachine zoals Google, bron vermelden – geen AI-tool.]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WAT, HOE EN WANNEER WORDT GEËVALUEERD IN DIT LABO?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10  •  Toegepaste fysica 5BCW  • 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(60 %) – wat: volledige tabel met verhoudingen, vermogens en rendement, afgeleide transformatorwetten, U₂(U₁)-grafiek, verklaring van verliezen, maatschappelijke link energietransport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– hoe en wanneer: puntenverdeling /10 (Bijlage B), groepspunt, feedback in feedbackblok; deadline = één week na labo, 23.59 u, Smartschool-uploadzone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– wat dien je in: Excel-verslagsjabloon (eigen tabel volgens je werkplan, U₂(U₁)-grafiek, rendement)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PROCES &amp; ATTITUDE (40 %) – wat: AC-stand correct gekozen, opstelling laten controleren, zorgvuldig met kern/sluitstuk, systematisch gewerkt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PROCES &amp; ATTITUDE – hoe: observatie door leerkracht met rubric van Bijlage C (10 thema's × 5 niveaus), individueel punt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PEER-EVALUATIE: niet voorzien bij dit labo (tenzij leerkracht dit aankondigt)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