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Gebruik deze presentatie in de eerste les van het labojaar: werkwijze (OVUR), verslag in Excel of werkbladen, evaluatie 60/40, peer-evaluatie, afspraken groepswerk.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2772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FFFF"/>
                </a:solidFill>
              </a:rPr>
              <a:t>Labocursus fysica – inleiding</a:t>
            </a:r>
          </a:p>
          <a:p>
            <a:pPr>
              <a:spcBef>
                <a:spcPts val="1000"/>
              </a:spcBef>
            </a:pPr>
            <a:r>
              <a:rPr sz="1600">
                <a:solidFill>
                  <a:srgbClr val="DDE6F2"/>
                </a:solidFill>
              </a:rPr>
              <a:t>Elektrostatica – Elektriciteit – Elektromagnetisme</a:t>
            </a:r>
          </a:p>
          <a:p>
            <a:pPr>
              <a:spcBef>
                <a:spcPts val="1000"/>
              </a:spcBef>
            </a:pPr>
            <a:r>
              <a:rPr sz="1600">
                <a:solidFill>
                  <a:srgbClr val="DDE6F2"/>
                </a:solidFill>
              </a:rPr>
              <a:t>Hoe werken we? OVUR-methode, verslag, evaluatie, afspraken</a:t>
            </a:r>
          </a:p>
          <a:p>
            <a:pPr>
              <a:spcBef>
                <a:spcPts val="1000"/>
              </a:spcBef>
            </a:pPr>
            <a:r>
              <a:rPr sz="1600">
                <a:solidFill>
                  <a:srgbClr val="DDE6F2"/>
                </a:solidFill>
              </a:rPr>
              <a:t>Deel 1 van de cursus + Bijlagen A-D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0"/>
            <a:ext cx="1109441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DDE6F2"/>
                </a:solidFill>
              </a:rPr>
              <a:t>HAST  •  Toegepaste fysica 5BCW  •  Labocursus volgens de OVUR-methode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9E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94560"/>
            <a:ext cx="12191695" cy="13716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4000" b="1">
                <a:solidFill>
                  <a:srgbClr val="FFFFFF"/>
                </a:solidFill>
              </a:rPr>
              <a:t>Deel 1 – Algemene inleiding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840480"/>
            <a:ext cx="94484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6017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1.1 Zo werk je met deze cursus: de OVUR-methode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95959"/>
                </a:solidFill>
              </a:rPr>
              <a:t>Labocursus fysica  •  Toegepaste fysica 5BCW  • 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1127729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i="0">
                <a:solidFill>
                  <a:srgbClr val="262626"/>
                </a:solidFill>
              </a:rPr>
              <a:t>• Elk werkblad volgt dezelfde vier fasen van onderzoekscyclus</a:t>
            </a:r>
          </a:p>
          <a:p>
            <a:pPr>
              <a:spcAft>
                <a:spcPts val="400"/>
              </a:spcAft>
            </a:pPr>
            <a:r>
              <a:rPr sz="1600" i="0">
                <a:solidFill>
                  <a:srgbClr val="262626"/>
                </a:solidFill>
              </a:rPr>
              <a:t>      – Lees vóór elk labo lesdoelen en leerplandoelen: daarop worden verslag én labowerk beoordeeld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2188159.2"/>
          <a:ext cx="11277293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944"/>
                <a:gridCol w="5126043"/>
                <a:gridCol w="4784306"/>
              </a:tblGrid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Fase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Wat doe je?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Op het werkblad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</a:rPr>
                        <a:t>O – Oriënteren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</a:rPr>
                        <a:t>Wat, waarom, welke voorkennis?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</a:rPr>
                        <a:t>Context, onderzoeksvraag, doel, oriëntatievragen.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</a:rPr>
                        <a:t>V – Voorbereiden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</a:rPr>
                        <a:t>Plan maken: stappen, materiaal, veiligheid, hypothese.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</a:rPr>
                        <a:t>Benodigdheden, theorie, veiligheid, hypothese, werkplan.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</a:rPr>
                        <a:t>U – Uitvoeren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</a:rPr>
                        <a:t>Meten, noteren, observeren volgens plan.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</a:rPr>
                        <a:t>Procedure, tabellen, grafische STEM-opdracht, foto's.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</a:rPr>
                        <a:t>R – Reflecteren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</a:rPr>
                        <a:t>Kloppen de resultaten? Wat kan beter? Besluit en link met de maatschappij.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</a:rPr>
                        <a:t>Besluit, foutenanalyse, reflectievragen.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6017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>
                <a:solidFill>
                  <a:srgbClr val="FFFFFF"/>
                </a:solidFill>
              </a:rPr>
              <a:t>Leerlijn: van gesloten naar open practica (STEM-doelen 1 S, 4 S, 6 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95959"/>
                </a:solidFill>
              </a:rPr>
              <a:t>Labocursus fysica  •  Toegepaste fysica 5BCW  • 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1127729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i="0">
                <a:solidFill>
                  <a:srgbClr val="262626"/>
                </a:solidFill>
              </a:rPr>
              <a:t>• Doorheen jaar krijg je stap voor stap meer verantwoordelijkheid: eerst voer je gegeven werkwijze nauwkeurig uit, → stel je zelf meetplannen op, ontwerp je oplossingen en ten slotte doorloop je volledige onderzoekscyclus</a:t>
            </a:r>
          </a:p>
          <a:p>
            <a:pPr>
              <a:spcAft>
                <a:spcPts val="400"/>
              </a:spcAft>
            </a:pPr>
            <a:r>
              <a:rPr sz="1600" i="0">
                <a:solidFill>
                  <a:srgbClr val="262626"/>
                </a:solidFill>
              </a:rPr>
              <a:t>      – Bij elk labo staat bovenaan de 'mate van sturing'</a:t>
            </a:r>
          </a:p>
          <a:p>
            <a:pPr>
              <a:spcAft>
                <a:spcPts val="400"/>
              </a:spcAft>
            </a:pPr>
            <a:r>
              <a:rPr sz="1600" i="0">
                <a:solidFill>
                  <a:srgbClr val="262626"/>
                </a:solidFill>
              </a:rPr>
              <a:t>      – Opdrachten in groen kader ('STEM-ontwerpopdracht') los je zelf op: er is geen vaste werkwijze, wel duidelijk doel en duidelijke randvoorwaarden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3230575.2"/>
          <a:ext cx="11277294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9050"/>
                <a:gridCol w="7867880"/>
                <a:gridCol w="2360364"/>
              </a:tblGrid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Niveau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Wie bepaalt wat?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Labo's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Gesloten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Vraag, werkwijze en tabel gegeven – jij meet, noteert en redeneert nauwkeurig.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1 (deel 1-5), 3, 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Begeleid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Vraag gegeven; jij kiest meetstrategie, variabelen, bereik en tabelopbouw. Ontwerpopdrachten met randvoorwaarden.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2, 5, 6, 7, 8, 9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Open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Jij stelt het werkplan of de onderzoeksvraag op; de leerkracht keurt goed en coacht.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10, 11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6017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Een goede onderzoeksvraag is SMART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95959"/>
                </a:solidFill>
              </a:rPr>
              <a:t>Labocursus fysica  •  Toegepaste fysica 5BCW  • 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36873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>
                <a:solidFill>
                  <a:srgbClr val="262626"/>
                </a:solidFill>
              </a:rPr>
              <a:t>• Elk onderzoek start met goede onderzoeksvraag</a:t>
            </a:r>
          </a:p>
          <a:p>
            <a:pPr>
              <a:spcAft>
                <a:spcPts val="600"/>
              </a:spcAft>
            </a:pPr>
            <a:r>
              <a:rPr sz="2200">
                <a:solidFill>
                  <a:srgbClr val="262626"/>
                </a:solidFill>
              </a:rPr>
              <a:t>      – In zesde jaar moet je die volledig zelf kunnen opstellen; in deze cursus oefen je dat in drie stappen</a:t>
            </a:r>
          </a:p>
          <a:p>
            <a:pPr>
              <a:spcAft>
                <a:spcPts val="600"/>
              </a:spcAft>
            </a:pPr>
            <a:r>
              <a:rPr sz="2200">
                <a:solidFill>
                  <a:srgbClr val="262626"/>
                </a:solidFill>
              </a:rPr>
              <a:t>      – Stap 1 (labo 1-3): je krijgt onderzoeksvraag en we bespreken samen waarom ze SMART is</a:t>
            </a:r>
          </a:p>
          <a:p>
            <a:pPr>
              <a:spcAft>
                <a:spcPts val="600"/>
              </a:spcAft>
            </a:pPr>
            <a:r>
              <a:rPr sz="2200">
                <a:solidFill>
                  <a:srgbClr val="262626"/>
                </a:solidFill>
              </a:rPr>
              <a:t>      – Stap 2 (labo 4-7): je kiest de SMART-vraag uit vier voorstellen die er allemaal goed uitzien, maar waarvan er drie niet SMART zijn of net naast onderwerp zitten – en je verantwoordt je keuze per letter</a:t>
            </a:r>
          </a:p>
          <a:p>
            <a:pPr>
              <a:spcAft>
                <a:spcPts val="600"/>
              </a:spcAft>
            </a:pPr>
            <a:r>
              <a:rPr sz="2200">
                <a:solidFill>
                  <a:srgbClr val="262626"/>
                </a:solidFill>
              </a:rPr>
              <a:t>      – Stap 3 (labo 8-11): je formuleert onderzoeksvraag zelf en legt per letter uit waarom ze SMART is</a:t>
            </a:r>
          </a:p>
          <a:p>
            <a:pPr>
              <a:spcAft>
                <a:spcPts val="1400"/>
              </a:spcAft>
            </a:pPr>
            <a:r>
              <a:rPr sz="2200" i="1">
                <a:solidFill>
                  <a:srgbClr val="595959"/>
                </a:solidFill>
              </a:rPr>
              <a:t>SMART-vraag is bijna altijd van vorm: 'Hoe hangt [afhankelijke grootheid] af van [onafhankelijke grootheid] bij [constante voorwaarden]?' of 'Wat is invloed van … op …?'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6017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Een goede onderzoeksvraag is SMART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95959"/>
                </a:solidFill>
              </a:rPr>
              <a:t>Labocursus fysica  •  Toegepaste fysica 5BCW  •  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43000"/>
          <a:ext cx="11277293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1819"/>
                <a:gridCol w="2653481"/>
                <a:gridCol w="2653481"/>
                <a:gridCol w="2653481"/>
                <a:gridCol w="2565031"/>
              </a:tblGrid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Letter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Betekenis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Controlevraag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Voorbeeld (goed)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Voorbeeld (slecht)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S – Specifiek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Eén duidelijk afgebakend verband tussen twee grootheden.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Welke grootheid verander ik, welke meet ik, wat houd ik constant?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Hoe hangt de Lorentzkracht op een geleider van 4,2 cm af van de stroomsterkte (0-4 A) bij dezelfde magneet?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Hoe werkt magnetisme?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M – Meetbaar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Beide grootheden zijn te meten of waar te nemen.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Met welk toestel, in welke eenheid?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… kracht via Δm op de balans (g → N) …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Is magnetisme sterk?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A – Aanvaardbaar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Zinvol en relevant binnen het vak, veilig, ethisch.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Waarom is dit de moeite waard? Mag en kan dit in het labo?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… (basis van de elektromotor) 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Hoeveel stroom kan een leerling verdragen?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R – Realistisch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Haalbaar met het beschikbare materiaal en in de tijd.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Heb ik het materiaal, lukt het in 2 lesuren?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… met de balans en magneet van het labo …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Hoe hangt de kracht af van B? (we hebben maar één magneet)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T – Tijdsgebonden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Duidelijk wanneer/binnen welke periode het onderzoek klaar is.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Wanneer meet ik, wanneer lever ik in?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… gemeten tijdens dit labo, verslag binnen één week.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Ooit eens uitzoeken.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6017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1.2 Veilig werken in het elektriciteitslabo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95959"/>
                </a:solidFill>
              </a:rPr>
              <a:t>Labocursus fysica  •  Toegepaste fysica 5BCW  • 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36873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>
                <a:solidFill>
                  <a:srgbClr val="262626"/>
                </a:solidFill>
              </a:rPr>
              <a:t>• Geldt bij elk labo en telt mee in procesevaluatie (thema 5)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262626"/>
                </a:solidFill>
              </a:rPr>
              <a:t>• Opbouwen met bron UIT en knop op 0; elke opstelling laten controleren vóór inschakelen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262626"/>
                </a:solidFill>
              </a:rPr>
              <a:t>• Maximale stroomsterkte verschilt per proef: ze staat telkens op werkblad en/of op toestel (I_max)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62626"/>
                </a:solidFill>
              </a:rPr>
              <a:t>      – Respecteer ze altijd; bij twijfel vraag je het aan leerkracht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262626"/>
                </a:solidFill>
              </a:rPr>
              <a:t>• A-meter in serie, V-meter parallel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62626"/>
                </a:solidFill>
              </a:rPr>
              <a:t>      – A-meter over bron = kortsluiting (zekering springt)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262626"/>
                </a:solidFill>
              </a:rPr>
              <a:t>• Multimeter: grootste bereik eerst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62626"/>
                </a:solidFill>
              </a:rPr>
              <a:t>      – Snoer na stroommeting terug uit de A-klem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262626"/>
                </a:solidFill>
              </a:rPr>
              <a:t>• Geen blanke geleiders aanraken onder spanning; warme draden → bron onmiddellijk uit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262626"/>
                </a:solidFill>
              </a:rPr>
              <a:t>• Water en elektriciteit: enkel waar uitdrukkelijk gevraagd (bv. waterstraal labo 1), nooit bij ingeschakelde bronnen; gemorst water meteen opdrogen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262626"/>
                </a:solidFill>
              </a:rPr>
              <a:t>• Neodymiummagneten: weg van gsm, bankkaart, laptop, pacemaker en elkaar (knelgevaar)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262626"/>
                </a:solidFill>
              </a:rPr>
              <a:t>• Hoogspanning (Van de Graaff, veldlijnenvoeding): enkel leerkracht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262626"/>
                </a:solidFill>
              </a:rPr>
              <a:t>• Orde: geen snoeren over tafelrand, geen tassen in looppaden, werkpost opruimen en materiaal terugleggen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6017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1.3 Meten, noteren en verwerken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95959"/>
                </a:solidFill>
              </a:rPr>
              <a:t>Labocursus fysica  •  Toegepaste fysica 5BCW  •  8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43000"/>
          <a:ext cx="11277294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74624"/>
                <a:gridCol w="7602670"/>
              </a:tblGrid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Afspraak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Toelichting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Grootheid – symbool – eenheid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Elke kolomkop: symbool + SI-eenheid, bv. U (V), I (A), R (Ω).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Beduidende cijfers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Zoveel cijfers als het toestel betrouwbaar geeft (2,34 V); een resultaat niet nauwkeuriger dan de minst nauwkeurige meting.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Meetonzekerheid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Afleesnauwkeurigheid per toestel noteren (digitale meter: ± laatste cijfer; lat: ± 0,5 mm) en bespreken in de foutenanalyse.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Herhaalde metingen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Minstens 3× meten, gemiddelde; grote spreiding = weinig betrouwbaar.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Grafieken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Titel, grootheid + eenheid op de assen, meetpunten als kruisjes of bolletjes (niet verbinden), best passende lijn (geen verbind-de-punten); bij recht evenredig: rechte door de oorsprong, rico bepalen.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Digitaal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Excel/Sheets of Pasco Capstone: tabel, spreidingsgrafiek, trendlijn + vergelijking; schermafbeelding in het verslag.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Databeheer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Ruwe data meteen en chronologisch op het werkblad; nooit 'verbeteren'.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Internet bij reflectievragen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Enkel bij vragen waar het uitdrukkelijk vermeld staat ('Internet toegelaten'). Gebruik een gewone zoekmachine (Google, Bing …) en vermeld je bron. AI-tools (ChatGPT, Copilot …) om je antwoord te laten schrijven zijn niet toegelaten: het antwoord moet in je eigen woorden en vanuit jouw metingen komen.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6017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1.4.1 Altijd het Excel-verslagsjabloon gebruiken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95959"/>
                </a:solidFill>
              </a:rPr>
              <a:t>Labocursus fysica  •  Toegepaste fysica 5BCW  • 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36873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>
                <a:solidFill>
                  <a:srgbClr val="262626"/>
                </a:solidFill>
              </a:rPr>
              <a:t>• Voor elk labo maak je verslag in blanco Excel-verslagdocument dat op Smartschool staat (map 'Toegepaste fysica – labo')</a:t>
            </a:r>
          </a:p>
          <a:p>
            <a:pPr>
              <a:spcAft>
                <a:spcPts val="600"/>
              </a:spcAft>
            </a:pPr>
            <a:r>
              <a:rPr sz="2200">
                <a:solidFill>
                  <a:srgbClr val="262626"/>
                </a:solidFill>
              </a:rPr>
              <a:t>      – Je gebruikt altijd dit sjabloon – geen eigen Word- of Google-document – en je levert het ook als Excel-bestand (.xlsx) in</a:t>
            </a:r>
          </a:p>
          <a:p>
            <a:pPr>
              <a:spcAft>
                <a:spcPts val="600"/>
              </a:spcAft>
            </a:pPr>
            <a:r>
              <a:rPr sz="2200">
                <a:solidFill>
                  <a:srgbClr val="262626"/>
                </a:solidFill>
              </a:rPr>
              <a:t>      – Op Smartschool vind je naast sjabloon screencast die stap voor stap toont hoe je elk onderdeel invult (tabellen met formules, spreidingsgrafiek met trendlijn, besluit)</a:t>
            </a:r>
          </a:p>
          <a:p>
            <a:pPr>
              <a:spcAft>
                <a:spcPts val="600"/>
              </a:spcAft>
            </a:pPr>
            <a:r>
              <a:rPr sz="2200">
                <a:solidFill>
                  <a:srgbClr val="262626"/>
                </a:solidFill>
              </a:rPr>
              <a:t>      – Bekijk die screencast vóór je eerste verslag en opnieuw als je twijfelt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262626"/>
                </a:solidFill>
              </a:rPr>
              <a:t>• Sjabloon bevat dezelfde onderdelen als de OVUR-werkbladen, in deze volgorde: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6017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1.4.1 Altijd het Excel-verslagsjabloon gebruiken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95959"/>
                </a:solidFill>
              </a:rPr>
              <a:t>Labocursus fysica  •  Toegepaste fysica 5BCW  •  10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43000"/>
          <a:ext cx="11277294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15206"/>
                <a:gridCol w="4481044"/>
                <a:gridCol w="4481044"/>
              </a:tblGrid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Onderdeel in het Excel-sjabloon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Wat komt erin? (OVUR-fase)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Aandachtspunten uit het sjabloon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Kopblok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Groepsleden, klas, datum uitvoering, nummer en titel van de proef (bestandsnaam: 'nummer labo TF titel (namen) 5BCW').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Volledig invullen; dit is ook de bestandsnaam bij het uploaden.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OMSCHRIJVING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Doorlopende tekst in eigen woorden: doel, benodigdheden en werkwijze (O + V).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Geen opsomming kopiëren van het werkblad; schrijf zo dat iemand anders de proef kan herhalen.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ONDERZOEKSVRAAG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Wat wordt er onderzocht? (O)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Eén duidelijke, afgebakende vraagstelling.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HYPOTHESE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Je verwachting vóór de proef, met redenering (V).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Wordt in het besluit getoetst aan de data.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SCHEMA (schema en/of foto)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Proefopstelling met alle delen benoemd (V).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Correcte symbolen; foto's duidelijk en van uitleg voorzien.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TABEL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Meetresultaten en berekende waarden (U).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Grootheid + eenheid boven elke kolom; beduidende cijfers; berekeningen met Excel-formules (niet met de hand ingetikt).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BEREKENINGEN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Minstens twee uitgewerkte voorbeelden van elke soort berekening (U).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Formule → invullen met eenheden → resultaat.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GRAFIEK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Spreidingsgrafiek met enkel punten, assen benoemd, titel, trendlijn (U).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Geen lijngrafiek; vergelijking van de trendlijn tonen als je de rico nodig hebt.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6017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1.4.1 Altijd het Excel-verslagsjabloon gebruiken (vervolg)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95959"/>
                </a:solidFill>
              </a:rPr>
              <a:t>Labocursus fysica  •  Toegepaste fysica 5BCW  •  11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43000"/>
          <a:ext cx="11277294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15206"/>
                <a:gridCol w="4481044"/>
                <a:gridCol w="4481044"/>
              </a:tblGrid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Onderdeel in het Excel-sjabloon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Wat komt erin? (OVUR-fase)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Aandachtspunten uit het sjabloon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BESLUIT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Antwoord op de onderzoeksvraag, koppeling met de theorie, meetfouten verklaren, hypothese bevestigd/verworpen (R).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Hier horen ook de antwoorden op de reflectievragen van het werkblad (individueel verwoord).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Feedbackblok + puntenverdeling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Niet verwijderen! De leerkracht gebruikt dit om te verbeteren en de punten in te vullen.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Alle cursieve instructietekst verwijder je pas als het verslag helemaal klaar is.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6017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Niet elk labo = een Excel-verslag: wat dien je wanneer in?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95959"/>
                </a:solidFill>
              </a:rPr>
              <a:t>Labocursus fysica  •  Toegepaste fysica 5BCW  •  12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43000"/>
          <a:ext cx="11277294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8224"/>
                <a:gridCol w="5049535"/>
                <a:gridCol w="5049535"/>
              </a:tblGrid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Labo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Wat dien je in?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Waarom?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2, 4, 5, 7, 10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Excel-verslagsjabloon (volledig verslag met tabellen, grafieken en besluit).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Meetreeksen die je grafisch verwerkt: dit is het echte onderzoeksverslag.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Excel-verslagsjabloon (proef 1-2) + Word/PDF met Capstone-schermafbeeldingen en uitleg (proef 3-4).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De sensormetingen zijn beelden, geen tabellen.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1, 3, 6, 8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Je ingevulde werkbladen uit deze cursus (incl. schetsen, foto's), gescand of gefotografeerd als één PDF in de uploadzone.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Doorschuif- of kortere practica met vooral waarnemingen; een Excel-verslag heeft hier weinig meerwaarde.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Wetenschappelijke poster (PDF) + Excel met ruwe data en grafieken.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Open onderzoek: communicatie via een poster.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6017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1.4 Het laboverslag: Excel-sjabloon, groepswerk en deadline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95959"/>
                </a:solidFill>
              </a:rPr>
              <a:t>Labocursus fysica  •  Toegepaste fysica 5BCW  • 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36873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700" b="1">
                <a:solidFill>
                  <a:srgbClr val="1F4E79"/>
                </a:solidFill>
              </a:rPr>
              <a:t>Niet elk labo = een Excel-verslag: wat dien je wanneer in?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262626"/>
                </a:solidFill>
              </a:rPr>
              <a:t>• Bij elk labo staat dit ook in evaluatiekader onderaan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62626"/>
                </a:solidFill>
              </a:rPr>
              <a:t>      – Eén upload per groep, zelfde deadline voor alles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1F4E79"/>
                </a:solidFill>
              </a:rPr>
              <a:t>1.4.2 Een groepswerk – zo pak je het aan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262626"/>
                </a:solidFill>
              </a:rPr>
              <a:t>• Verslag is één groepswerk per labogroep: iedereen is verantwoordelijk voor hele verslag en krijgt er hetzelfde punt voor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62626"/>
                </a:solidFill>
              </a:rPr>
              <a:t>      – 'Ieder stukje zonder naar rest te kijken' is géén groepswerk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262626"/>
                </a:solidFill>
              </a:rPr>
              <a:t>• Deel het Excel-bestand meteen na labo via OneDrive (één persoon maakt het aan vanuit sjabloon, deelt met bewerkingsrechten): één document, geen losse versies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262626"/>
                </a:solidFill>
              </a:rPr>
              <a:t>• Verdeel onderdelen (omschrijving, tabel + berekeningen, grafiek, besluit) en spreek af wie wat wanneer afwerkt; zet dat in groepschat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262626"/>
                </a:solidFill>
              </a:rPr>
              <a:t>• Werk ook samen, tegelijk: op school of via videocall (Teams)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62626"/>
                </a:solidFill>
              </a:rPr>
              <a:t>      – Besluit en foutenanalyse maak je samen – daar wordt meest op gelet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262626"/>
                </a:solidFill>
              </a:rPr>
              <a:t>• Lees elkaars delen na: eenheden, beduidende cijfers, Excel-formules, beantwoordt besluit onderzoeksvraag?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62626"/>
                </a:solidFill>
              </a:rPr>
              <a:t>      – Fout van ander is ook jouw fout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6017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>
                <a:solidFill>
                  <a:srgbClr val="FFFFFF"/>
                </a:solidFill>
              </a:rPr>
              <a:t>1.4 Het laboverslag: Excel-sjabloon, groepswerk en deadline (vervolg)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95959"/>
                </a:solidFill>
              </a:rPr>
              <a:t>Labocursus fysica  •  Toegepaste fysica 5BCW  • 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36873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>
                <a:solidFill>
                  <a:srgbClr val="262626"/>
                </a:solidFill>
              </a:rPr>
              <a:t>• Iedereen heeft op einde van les alle meetresultaten (foto van werkblad of meteen in gedeelde bestand)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262626"/>
                </a:solidFill>
              </a:rPr>
              <a:t>• Begin op tijd (dag van labo of dag erna): reken op min. twee werkmomenten</a:t>
            </a:r>
          </a:p>
          <a:p>
            <a:pPr>
              <a:spcAft>
                <a:spcPts val="600"/>
              </a:spcAft>
            </a:pPr>
            <a:r>
              <a:rPr sz="2200">
                <a:solidFill>
                  <a:srgbClr val="262626"/>
                </a:solidFill>
              </a:rPr>
              <a:t>      – Avond van deadline lukt groepswerk niet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262626"/>
                </a:solidFill>
              </a:rPr>
              <a:t>• Problemen in groep?</a:t>
            </a:r>
          </a:p>
          <a:p>
            <a:pPr>
              <a:spcAft>
                <a:spcPts val="600"/>
              </a:spcAft>
            </a:pPr>
            <a:r>
              <a:rPr sz="2200">
                <a:solidFill>
                  <a:srgbClr val="262626"/>
                </a:solidFill>
              </a:rPr>
              <a:t>      – Meld ze tijdig aan leerkracht; procesevaluatie en (bij sommige labo's) peer-evaluatie verrekenen individuele inzet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6017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DEADLINE EN INDIENEN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95959"/>
                </a:solidFill>
              </a:rPr>
              <a:t>Labocursus fysica  •  Toegepaste fysica 5BCW  •  15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64592" cy="59436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1136873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>
                <a:solidFill>
                  <a:srgbClr val="262626"/>
                </a:solidFill>
              </a:rPr>
              <a:t>• Uiterlijk één week na uitvoeren van labo, 's avonds vóór les van volgende week (dus avond vóór volgende labo), om 23.59 u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262626"/>
                </a:solidFill>
              </a:rPr>
              <a:t>• Als Excel-bestand (.xlsx), gemaakt in sjabloon, in uploadzone van Smartschool van vak Toegepaste fysica. Eén upload per groep, met alle namen in kopblok en in bestandsnaam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262626"/>
                </a:solidFill>
              </a:rPr>
              <a:t>• Te laat of niet in sjabloon = aftrek volgens afspraken van vak/schoolreglement</a:t>
            </a:r>
          </a:p>
          <a:p>
            <a:pPr>
              <a:spcAft>
                <a:spcPts val="600"/>
              </a:spcAft>
            </a:pPr>
            <a:r>
              <a:rPr sz="2200">
                <a:solidFill>
                  <a:srgbClr val="262626"/>
                </a:solidFill>
              </a:rPr>
              <a:t>      – Technische problemen zijn geen excuus: upload tijdig voorlopige versie en vervang ze evt. nog vóór deadline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262626"/>
                </a:solidFill>
              </a:rPr>
              <a:t>• Voor labo 9 (inductie) komt daar een Word/PDF met Capstone-schermafbeeldingen en uitleg bij (zie werkblad en Bijlage F); voor labo 11 poster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6017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1.5 Evaluatie: product (verslag) en proces &amp; attitude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95959"/>
                </a:solidFill>
              </a:rPr>
              <a:t>Labocursus fysica  •  Toegepaste fysica 5BCW  • 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1127729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i="0">
                <a:solidFill>
                  <a:srgbClr val="262626"/>
                </a:solidFill>
              </a:rPr>
              <a:t>• Bij elk labo word je op twee manieren geëvalueerd</a:t>
            </a:r>
          </a:p>
          <a:p>
            <a:pPr>
              <a:spcAft>
                <a:spcPts val="400"/>
              </a:spcAft>
            </a:pPr>
            <a:r>
              <a:rPr sz="1600" i="0">
                <a:solidFill>
                  <a:srgbClr val="262626"/>
                </a:solidFill>
              </a:rPr>
              <a:t>      – Samen vormen ze practicumcijfer: 60 % voor verslag (product) en 40 % voor proces en attitude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2188159.2"/>
          <a:ext cx="11277294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4830"/>
                <a:gridCol w="5286232"/>
                <a:gridCol w="5286232"/>
              </a:tblGrid>
              <a:tr h="457200">
                <a:tc>
                  <a:txBody>
                    <a:bodyPr/>
                    <a:lstStyle/>
                    <a:p/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PRODUCTEVALUATIE – 60 %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PROCES- EN ATTITUDE-EVALUATIE – 40 %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Wat?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Het Excel-verslag van de groep (plus eventuele extra producten: Word/PDF met schermafbeeldingen bij labo 9, poster bij labo 11).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Wat je individueel doet tijdens het labo én hoe je het groepswerk aanpakt: voorbereiding, veilig en nauwkeurig werken, samenwerking, zelfstandigheid, orde, inzet, reflectie.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Wanneer?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Na het indienen van het verslag.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Tijdens elk labo (observatie door de leerkracht) en bij het nakijken van het verslag (groepswerk, stiptheid).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Hoe?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Puntenverdeling onderaan het Excel-sjabloon, /10: 1. Verkennen &amp; onderzoeken (/2) – 2. Onderzoek uitvoeren (/3) – 3. Concluderen (/3) – 4. Attitude (/2). De leerkracht noteert feedback in het feedbackblok van het sjabloon (zie Bijlage B voor wat er per onderdeel verwacht wordt).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Eén rubric met 10 thema's (Bijlage C). Per thema een niveau: Uitstekend (1) – Goed (0,8) – Voldoende (0,6) – Onvoldoende (0,4) – Slecht (0,2) → score /10.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Punt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Groepspunt: iedereen van de groep krijgt hetzelfde cijfer.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Individueel punt.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Gewicht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60 % van het practicumcijfer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40 % van het practicumcijfer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Feedback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Schriftelijk in het feedbackblok van het Excel-sjabloon; één keer herwerken mogelijk voor labo 1-5.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Korte mondelinge feedback op het einde van het labo; de ingevulde rubric is te bekijken; zelfreflectiefiche (Bijlage D) om de 3 labo's.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6017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1.5 Evaluatie: product (verslag) en proces &amp; attitude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95959"/>
                </a:solidFill>
              </a:rPr>
              <a:t>Labocursus fysica  •  Toegepaste fysica 5BCW  • 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36873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700" b="1">
                <a:solidFill>
                  <a:srgbClr val="1F4E79"/>
                </a:solidFill>
              </a:rPr>
              <a:t>De 10 thema's van de proces- en attituderubric (Bijlage C)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262626"/>
                </a:solidFill>
              </a:rPr>
              <a:t>• 1 Voorbereiding • 2 Hypothese en onderzoekend denken • 3 Opstelling bouwen en meettoestellen gebruiken • 4 Nauwkeurig meten en noteren • 5 Veilig werken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262626"/>
                </a:solidFill>
              </a:rPr>
              <a:t>• 6 Zorg voor materiaal, orde en netheid • 7 Samenwerking en communicatie (in labo én bij groepsverslag) • 8 Zelfstandigheid en probleemoplossend handelen • 9 Inzet, doorzetting en tijdsbeheer (incl. deadline) • 10 Reflectie en kritische houding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1F4E79"/>
                </a:solidFill>
              </a:rPr>
              <a:t>Peer-evaluatie bij een beperkt aantal labo's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262626"/>
                </a:solidFill>
              </a:rPr>
              <a:t>• Bij enkele groepsopdrachten (voorzien bij labo 6, 9 en 11; leerkracht kan dit aanpassen) beoordeel je jezelf en je groepsleden met puntenverdeling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62626"/>
                </a:solidFill>
              </a:rPr>
              <a:t>      – In groep van drie verdeelt elke leerling 300 punten over zichzelf en twee anderen (in groep van twee: 200 punten)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62626"/>
                </a:solidFill>
              </a:rPr>
              <a:t>      – Vond je dat iedereen evenveel deed, dan geef je iedereen 100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62626"/>
                </a:solidFill>
              </a:rPr>
              <a:t>      – Vind je dat je zelf minder deed, geef je bv. jezelf 90 en anderen elk 105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62626"/>
                </a:solidFill>
              </a:rPr>
              <a:t>      – Uit punten die je van iedereen krijgt, berekent leerkracht je peerfactor (gemiddeld ontvangen punten / 100)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62626"/>
                </a:solidFill>
              </a:rPr>
              <a:t>      – Groepspunt voor verslag wordt met jouw peerfactor vermenigvuldigd: zo wordt groepspunt individueel punt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62626"/>
                </a:solidFill>
              </a:rPr>
              <a:t>      – Werkwijze en formulier: Bijlage D en aparte document op Smartschool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6017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1.6 Overzicht labo's en leerplandoelen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95959"/>
                </a:solidFill>
              </a:rPr>
              <a:t>Labocursus fysica  •  Toegepaste fysica 5BCW  • 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1127729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i="0">
                <a:solidFill>
                  <a:srgbClr val="262626"/>
                </a:solidFill>
              </a:rPr>
              <a:t>• Legende: LPD 1 S onderzoek voeren – 2 S grootheden/eenheden/beduidende cijfers – 3 S labotechnieken en veilig werken – 4 S oplossing ontwikkelen – 5 S wisselwerking met maatschappij – 6 S onderzoekscyclus (#onderzoekscompetentie)</a:t>
            </a:r>
          </a:p>
          <a:p>
            <a:pPr>
              <a:spcAft>
                <a:spcPts val="400"/>
              </a:spcAft>
            </a:pPr>
            <a:r>
              <a:rPr sz="1600" i="0">
                <a:solidFill>
                  <a:srgbClr val="262626"/>
                </a:solidFill>
              </a:rPr>
              <a:t>      – Fysica: 2 F elektrische krachtwerking (wet van Coulomb, influentie) – 3 F elektrisch veld (veldsterkte, veldlijnen) – 5 F magnetisch veld – 6 F magnetische kracht op geleider – 7 F inductie – K1 gelijkstroomkringen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3230575.2"/>
          <a:ext cx="11277293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8794"/>
                <a:gridCol w="5987944"/>
                <a:gridCol w="997990"/>
                <a:gridCol w="1796383"/>
                <a:gridCol w="1896182"/>
              </a:tblGrid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Labo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Titel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Fysica-LPD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STEM-LPD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Sturing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</a:rPr>
                        <a:t>Elektrostatica I: elektroscoop en kleine proeven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</a:rPr>
                        <a:t>2 F, 3 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</a:rPr>
                        <a:t>1 S, 3 S, 4 S, 5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</a:rPr>
                        <a:t>gesloten → begeleid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</a:rPr>
                        <a:t>Elektrostatica II: wet van Coulomb en elektrisch veld (applets)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</a:rPr>
                        <a:t>2 F, 3 F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</a:rPr>
                        <a:t>1 S, 2 S, 4 S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</a:rPr>
                        <a:t>begeleid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</a:rPr>
                        <a:t>Kleurcode en multimeter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</a:rPr>
                        <a:t>K1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</a:rPr>
                        <a:t>2 S, 3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</a:rPr>
                        <a:t>gesloten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</a:rPr>
                        <a:t>Schakelen van weerstanden + ontwerp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</a:rPr>
                        <a:t>K1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</a:rPr>
                        <a:t>1 S, 2 S, 3 S, 4 S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</a:rPr>
                        <a:t>gesloten + ontwerp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</a:rPr>
                        <a:t>Black boxen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</a:rPr>
                        <a:t>K1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</a:rPr>
                        <a:t>1 S, 4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</a:rPr>
                        <a:t>begeleid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</a:rPr>
                        <a:t>Circuitpracticum elektromagnetisme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</a:rPr>
                        <a:t>5 F, 6 F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</a:rPr>
                        <a:t>1 S, 3 S, 5 S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</a:rPr>
                        <a:t>begeleid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</a:rPr>
                        <a:t>Lorentzkracht experimenteel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</a:rPr>
                        <a:t>6 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</a:rPr>
                        <a:t>1 S, 2 S, 4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</a:rPr>
                        <a:t>begeleid → open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</a:rPr>
                        <a:t>EM-krachtwerking in toepassingen + motor bouwen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</a:rPr>
                        <a:t>6 F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</a:rPr>
                        <a:t>4 S, 5 S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</a:rPr>
                        <a:t>begeleid + ontwerp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6017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1.6 Overzicht labo's en leerplandoelen (vervolg)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95959"/>
                </a:solidFill>
              </a:rPr>
              <a:t>Labocursus fysica  •  Toegepaste fysica 5BCW  •  19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43000"/>
          <a:ext cx="11277293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5226"/>
                <a:gridCol w="5163098"/>
                <a:gridCol w="1494581"/>
                <a:gridCol w="1766323"/>
                <a:gridCol w="2038065"/>
              </a:tblGrid>
              <a:tr h="45720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Labo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Titel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Fysica-LPD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STEM-LPD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Sturing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62626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62626"/>
                          </a:solidFill>
                        </a:rPr>
                        <a:t>Elektromagnetische inductie (sensoren)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62626"/>
                          </a:solidFill>
                        </a:rPr>
                        <a:t>7 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62626"/>
                          </a:solidFill>
                        </a:rPr>
                        <a:t>1 S, 3 S, 4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62626"/>
                          </a:solidFill>
                        </a:rPr>
                        <a:t>begeleid → open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62626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62626"/>
                          </a:solidFill>
                        </a:rPr>
                        <a:t>Transformator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62626"/>
                          </a:solidFill>
                        </a:rPr>
                        <a:t>7 F (extra)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62626"/>
                          </a:solidFill>
                        </a:rPr>
                        <a:t>1 S, 2 S, 5 S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62626"/>
                          </a:solidFill>
                        </a:rPr>
                        <a:t>open werkplan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62626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62626"/>
                          </a:solidFill>
                        </a:rPr>
                        <a:t>Open onderzoek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62626"/>
                          </a:solidFill>
                        </a:rPr>
                        <a:t>naar keuze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62626"/>
                          </a:solidFill>
                        </a:rPr>
                        <a:t>1 S, 6 S (#)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62626"/>
                          </a:solidFill>
                        </a:rPr>
                        <a:t>open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6017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Wat staat er dit jaar op het programma?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95959"/>
                </a:solidFill>
              </a:rPr>
              <a:t>Labocursus fysica  •  Toegepaste fysica 5BCW  • 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36873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>
                <a:solidFill>
                  <a:srgbClr val="262626"/>
                </a:solidFill>
              </a:rPr>
              <a:t>• Elektrostatica i: bouw je eigen elektroscoop en ontdek lading (sturing: gesloten)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262626"/>
                </a:solidFill>
              </a:rPr>
              <a:t>• Elektrostatica ii: wet van coulomb en elektrisch veld (applets) (sturing: begeleid)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262626"/>
                </a:solidFill>
              </a:rPr>
              <a:t>• Weerstanden herkennen en meten: kleurcode en multimeter (sturing: gesloten)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262626"/>
                </a:solidFill>
              </a:rPr>
              <a:t>• Schakelen van weerstanden: serie, parallel en gemengd (sturing: gesloten)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262626"/>
                </a:solidFill>
              </a:rPr>
              <a:t>• Black boxen: schakelingen achterhalen door redeneren (sturing: begeleid)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262626"/>
                </a:solidFill>
              </a:rPr>
              <a:t>• Circuitpracticum elektromagnetisme: 7 delen (sturing: begeleid)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262626"/>
                </a:solidFill>
              </a:rPr>
              <a:t>• Experimentele bepaling van lorentzkracht (sturing: begeleid)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262626"/>
                </a:solidFill>
              </a:rPr>
              <a:t>• Elektromagnetische krachtwerking in toepassingen (sturing: begeleid)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262626"/>
                </a:solidFill>
              </a:rPr>
              <a:t>• Elektromagnetische inductie: fluxverandering als oorzaak van spanning (sturing: begeleid)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262626"/>
                </a:solidFill>
              </a:rPr>
              <a:t>• Transformator (sturing: open)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262626"/>
                </a:solidFill>
              </a:rPr>
              <a:t>• Open onderzoek: doorloop zelf onderzoekscyclus (sturing: open)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9E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94560"/>
            <a:ext cx="12191695" cy="13716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4000" b="1">
                <a:solidFill>
                  <a:srgbClr val="FFFFFF"/>
                </a:solidFill>
              </a:rPr>
              <a:t>Bijlage A – Het Excel-verslagsjabloon: opbouw en 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840480"/>
            <a:ext cx="94484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6017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Bijlage A – Het Excel-verslagsjabloon: opbouw en 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95959"/>
                </a:solidFill>
              </a:rPr>
              <a:t>Labocursus fysica  •  Toegepaste fysica 5BCW  • 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1127729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i="0">
                <a:solidFill>
                  <a:srgbClr val="262626"/>
                </a:solidFill>
              </a:rPr>
              <a:t>• Sjabloon 'nummer labo TF titel (namen) 5BCW.xlsx' staat op Smartschool, samen met screencast</a:t>
            </a:r>
          </a:p>
          <a:p>
            <a:pPr>
              <a:spcAft>
                <a:spcPts val="400"/>
              </a:spcAft>
            </a:pPr>
            <a:r>
              <a:rPr sz="1600" i="0">
                <a:solidFill>
                  <a:srgbClr val="262626"/>
                </a:solidFill>
              </a:rPr>
              <a:t>      – Gebruik deze checklist vóór je uploadt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2188159.2"/>
          <a:ext cx="11277294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09807"/>
                <a:gridCol w="8152261"/>
                <a:gridCol w="815226"/>
              </a:tblGrid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Onderdeel (Excel)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Checklist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✔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Kopblok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Groepsleden, klas, datum uitvoering, nummer + titel proef ingevuld; bestandsnaam = 'nummer labo TF titel (namen) 5BCW'.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Omschrijving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Doorlopende tekst in eigen woorden: doel – benodigdheden – werkwijze (herhaalbaar).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☐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Onderzoeksvraag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Eén duidelijke vraag, overgenomen/aangescherpt uit het werkblad.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Hypothese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Verwachting + redenering, vóór de proef geformuleerd.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☐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Schema / foto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Opstelling met alle delen benoemd; correcte symbolen voor bron, meters, weerstanden, spoelen.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Tabel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Grootheid + eenheid per kolom; beduidende cijfers; berekende kolommen via Excel-formules.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☐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Berekeningen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Minstens twee uitgewerkte voorbeelden per soort berekening, met eenheden.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Grafiek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Spreidingsgrafiek met enkel punten; assen benoemd met eenheid; titel; trendlijn (+ vergelijking indien rico nodig).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☐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6017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>
                <a:solidFill>
                  <a:srgbClr val="FFFFFF"/>
                </a:solidFill>
              </a:rPr>
              <a:t>Bijlage A – Het Excel-verslagsjabloon: opbouw en checklist (vervolg)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95959"/>
                </a:solidFill>
              </a:rPr>
              <a:t>Labocursus fysica  •  Toegepaste fysica 5BCW  •  23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43000"/>
          <a:ext cx="11277293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24154"/>
                <a:gridCol w="7048309"/>
                <a:gridCol w="704830"/>
              </a:tblGrid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Onderdeel (Excel)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Checklist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✔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Besluit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Antwoord op de onderzoeksvraag; koppeling met theorie/formule; hypothese besproken; meetfouten verklaard; reflectievragen van het werkblad beantwoord.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Feedbackblok &amp; puntenverdeling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NIET verwijderd. Cursieve instructietekst wél verwijderd.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☐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Groepswerk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Gedeeld via OneDrive, door iedereen nagelezen, iedereen kent de inhoud van het hele verslag.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Indienen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Als .xlsx in de uploadzone Smartschool, uiterlijk de avond vóór de les van volgende week.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☐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9E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94560"/>
            <a:ext cx="12191695" cy="13716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4000" b="1">
                <a:solidFill>
                  <a:srgbClr val="FFFFFF"/>
                </a:solidFill>
              </a:rPr>
              <a:t>Bijlage B – Productevaluatie: het verslag (60 %)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840480"/>
            <a:ext cx="94484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6017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Bijlage B – Productevaluatie: het verslag (60 %)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95959"/>
                </a:solidFill>
              </a:rPr>
              <a:t>Labocursus fysica  •  Toegepaste fysica 5BCW  •  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1127729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i="0">
                <a:solidFill>
                  <a:srgbClr val="262626"/>
                </a:solidFill>
              </a:rPr>
              <a:t>• Verslag wordt niet met rubric beoordeeld, maar volgens puntenverdeling die onderaan het Excel-sjabloon staat</a:t>
            </a:r>
          </a:p>
          <a:p>
            <a:pPr>
              <a:spcAft>
                <a:spcPts val="400"/>
              </a:spcAft>
            </a:pPr>
            <a:r>
              <a:rPr sz="1600" i="0">
                <a:solidFill>
                  <a:srgbClr val="262626"/>
                </a:solidFill>
              </a:rPr>
              <a:t>      – Hieronder staat per onderdeel wat er verwacht wordt en welke feedbackcodes uit sjabloon erbij horen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2535631.2"/>
          <a:ext cx="11277294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7837"/>
                <a:gridCol w="363783"/>
                <a:gridCol w="3637837"/>
                <a:gridCol w="3637837"/>
              </a:tblGrid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Onderdeel (Excel-sjabloon)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Max.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Wat wordt verwacht?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Feedbackcodes in het sjabloon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1. Verkennen &amp; onderzoeken</a:t>
                      </a:r>
                    </a:p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(omschrijving, onderzoeksvraag, hypothese, schema)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Doel, benodigdheden en werkwijze in eigen woorden en herhaalbaar; onderzoeksvraag duidelijk en volledig; beredeneerde hypothese; schema/foto met alle delen benoemd.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Werkwijze niet volledig/onduidelijk • benodigdheden/doel vermelden • onderzoeksvraag onduidelijk/niet volledig • hypothese onduidelijk/niet volledig • delen aanduiden en benoemen • foto of schema ontbreekt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2. Onderzoek uitvoeren</a:t>
                      </a:r>
                    </a:p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(tabel, berekeningen, grafiek)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Volledige tabel met grootheden + eenheden en juiste beduidende cijfers; berekeningen met Excel-formules; minstens twee uitgewerkte voorbeelden per soort berekening; spreidingsgrafiek met titel, benoemde assen en trendlijn; juiste verband afgeleid.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Beduidende cijfers • eenheden vergeten • berekeningsfouten • assen benoemen • trendlijn toevoegen • grafiek met enkel meetwaardes • omgekeerd evenredig i.p.v. recht evenredig (of omgekeerd)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3. Concluderen</a:t>
                      </a:r>
                    </a:p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(besluit)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Onderzoeksvraag expliciet beantwoord met verwijzing naar de data; koppeling met de theorie en de formule; hypothese besproken; meetfouten verklaard; reflectievragen van het werkblad beantwoord.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Geen koppeling met de theorie • formule bespreken • meetfouten verklaren • besluit niet volledig en/of onduidelijk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4. Attitude</a:t>
                      </a:r>
                    </a:p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(afspraken en verzorging)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In het sjabloon en als .xlsx ingediend; op tijd (avond vóór de les van volgende week); cursieve instructietekst verwijderd, feedbackblok behouden; verzorgde lay-out en correcte vaktaal; aantoonbaar als groep gemaakt.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Deze tekst verwijderen • verslag op tijd uploaden (dag vóór het volgende labo)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6017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Bijlage B – Productevaluatie: het verslag (60 %)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95959"/>
                </a:solidFill>
              </a:rPr>
              <a:t>Labocursus fysica  •  Toegepaste fysica 5BCW  •  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36873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>
                <a:solidFill>
                  <a:srgbClr val="262626"/>
                </a:solidFill>
              </a:rPr>
              <a:t>• Voor labo 11 (open onderzoek) wordt onderdeel 1 uitgebreid met 'kwaliteit van eigen SMART-onderzoeksvraag en onderzoeksplan' en onderdeel 3 met 'communicatie via poster'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9E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94560"/>
            <a:ext cx="12191695" cy="13716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4000" b="1">
                <a:solidFill>
                  <a:srgbClr val="FFFFFF"/>
                </a:solidFill>
              </a:rPr>
              <a:t>Bijlage C – Proces- en attituderubric (40 %)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840480"/>
            <a:ext cx="94484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6017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Rubric: tien thema's, vijf niveaus (thema 1-2)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95959"/>
                </a:solidFill>
              </a:rPr>
              <a:t>Labocursus fysica  •  Toegepaste fysica 5BCW  •  28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43000"/>
          <a:ext cx="11277294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9549"/>
                <a:gridCol w="1879549"/>
                <a:gridCol w="1879549"/>
                <a:gridCol w="1879549"/>
                <a:gridCol w="1879549"/>
                <a:gridCol w="1879549"/>
              </a:tblGrid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Thema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Uitstekend (1)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Goed (0,8)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Voldoende (0,6)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Onvoldoende (0,4)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Slecht (0,2)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1. Voorbereiding (oriëntatievragen, voorbereidende berekeningen, lesdoelen gelezen)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Werkblad volledig voorbereid: oriëntatievragen en berekeningen correct uitgewerkt; weet precies wat het doel en de werkwijze zijn en kan dit uitleggen.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Voorbereiding gemaakt met kleine fouten of hiaten; kent doel en werkwijze.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Voorbereiding gedeeltelijk; moet tijdens het labo nog zaken opzoeken of narekenen.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Nauwelijks voorbereid; start pas na uitleg van de leerkracht.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Niet voorbereid, werkblad niet bij; kan niet starten.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2. Hypothese en onderzoekend denken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Formuleert vóór elke proef een beredeneerde hypothese, benoemt variabelen (onafhankelijk/afhankelijk/constant), toetst ze expliciet aan de data.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Hypothese vooraf genoteerd en getoetst; redenering soms beknopt.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Hypothese genoteerd maar als 'gokje' of pas tijdens de proef; toetsing beperkt.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Hypothese enkel na aansporing of achteraf ingevuld.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Geen hypothese; voert uit zonder na te denken over het verwachte resultaat.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6017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Rubric: tien thema's, vijf niveaus (thema 3-4)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95959"/>
                </a:solidFill>
              </a:rPr>
              <a:t>Labocursus fysica  •  Toegepaste fysica 5BCW  •  29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43000"/>
          <a:ext cx="11277294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9549"/>
                <a:gridCol w="1879549"/>
                <a:gridCol w="1879549"/>
                <a:gridCol w="1879549"/>
                <a:gridCol w="1879549"/>
                <a:gridCol w="1879549"/>
              </a:tblGrid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Thema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Uitstekend (1)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Goed (0,8)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Voldoende (0,6)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Onvoldoende (0,4)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Slecht (0,2)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3. Opstelling bouwen en meettoestellen gebruiken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Bouwt zelfstandig en correct vanuit het schema; A-meter in serie, V-meter parallel, juiste bereiken, AC/DC juist; laat spontaan controleren vóór inschakelen.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Bouwt correct met één kleine verbetering na controle; laat controleren.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Heeft hulp nodig bij het schema of de meetbereiken; laat controleren na herinnering.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Meerdere fouten in de opstelling; bron ingeschakeld zonder controle.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Kan de opstelling niet bouwen; herhaaldelijk foute of onveilige aansluitingen.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4. Nauwkeurig meten en noteren (de ruwe data van het verslag)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Meet zorgvuldig en herhaalt metingen; noteert onmiddellijk, chronologisch, met symbool, eenheid en juiste beduidende cijfers; beschikt op het einde van de les over alle data (ook digitaal gedeeld).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Meet zorgvuldig; noteert volledig met kleine slordigheden in eenheden of cijfers.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Metingen volledig maar slordig genoteerd; eenheden of herhalingen ontbreken soms.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Onvolledige of onbetrouwbare metingen; data moeten achteraf gereconstrueerd worden.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Data ontbreken, zijn onleesbaar of verzonnen.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6017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Rubric: tien thema's, vijf niveaus (thema 5-6)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95959"/>
                </a:solidFill>
              </a:rPr>
              <a:t>Labocursus fysica  •  Toegepaste fysica 5BCW  •  30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43000"/>
          <a:ext cx="11277293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2879"/>
                <a:gridCol w="2019814"/>
                <a:gridCol w="1952486"/>
                <a:gridCol w="1952486"/>
                <a:gridCol w="2019814"/>
                <a:gridCol w="2019814"/>
              </a:tblGrid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Thema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Uitstekend (1)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Goed (0,8)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Voldoende (0,6)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Onvoldoende (0,4)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Slecht (0,2)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5. Veilig werken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Past alle veiligheidsregels spontaan toe (bron uit bij opbouwen, I_max, geen contact met blanke geleiders, magneten/warmte/water), signaleert risico's bij anderen.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Werkt veilig; één keer herinnerd aan een regel.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Werkt meestal veilig maar moet meermaals herinnerd worden.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Negeert regels (bv. stroom boven I_max, geen controle) ondanks opmerkingen.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Onveilig gedrag dat anderen of materiaal in gevaar brengt; wordt uit de proef gehaald.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6. Zorg voor materiaal, orde en netheid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Gaat zorgzaam om met toestellen; werkpost ordelijk tijdens het labo; ruimt volledig op en legt alles terug zoals gevonden; meldt defecten.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Zorgzaam en ordelijk; ruimt op met kleine onvolkomenheden.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Werkpost rommelig; ruimt op na aansporing.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Slordig met materiaal; onvolledig opgeruimd.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Laat materiaal achter of beschadigt het door onzorgvuldigheid.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6017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Rubric: tien thema's, vijf niveaus (thema 7-8)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95959"/>
                </a:solidFill>
              </a:rPr>
              <a:t>Labocursus fysica  •  Toegepaste fysica 5BCW  •  31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43000"/>
          <a:ext cx="11277294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9549"/>
                <a:gridCol w="1879549"/>
                <a:gridCol w="1879549"/>
                <a:gridCol w="1879549"/>
                <a:gridCol w="1879549"/>
                <a:gridCol w="1879549"/>
              </a:tblGrid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Thema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Uitstekend (1)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Goed (0,8)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Voldoende (0,6)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Onvoldoende (0,4)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Slecht (0,2)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7. Samenwerking en communicatie (in het labo én bij het groepsverslag)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Verdeelt taken, wisselt rollen, luistert en overlegt; neemt niet over en haakt niet af; deelt het verslag via OneDrive, werkt aan het geheel mee en leest het werk van anderen na; positieve peerfeedback.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Werkt goed samen en draagt bij aan het hele verslag; kleine onevenwichten in de taakverdeling.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Werkt mee maar eerder passief of dominant; bijdrage aan het verslag beperkt tot het eigen deel.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Weinig overleg; laat anderen het werk doen of werkt alleen; verslag niet als groep nagekeken.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Werkt niet samen, stoort de groep of levert geen bijdrage aan het groepsverslag.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8. Zelfstandigheid en probleemoplossend handelen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Start zelf, zoekt bij problemen eerst zelf een oplossing (handleiding, schema, controle van de kring) en stelt daarna gerichte vragen; controleert of resultaten plausibel zijn en stuurt bij.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Werkt grotendeels zelfstandig; vraagt gericht hulp wanneer nodig.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Heeft regelmatig hulp nodig; vraagt onmiddellijk zonder eerst zelf te zoeken.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Wacht af tot de leerkracht of de partner het oplost.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Geeft op bij het eerste probleem; onderneemt niets.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6017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Rubric: tien thema's, vijf niveaus (thema 9-10)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95959"/>
                </a:solidFill>
              </a:rPr>
              <a:t>Labocursus fysica  •  Toegepaste fysica 5BCW  •  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1127729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i="0">
                <a:solidFill>
                  <a:srgbClr val="262626"/>
                </a:solidFill>
              </a:rPr>
              <a:t>Observatieblad leerkracht (per labo) – niveau per thema invullen (1 / 0,8 / 0,6 / 0,4 / 0,2)</a:t>
            </a:r>
          </a:p>
          <a:p>
            <a:pPr>
              <a:spcAft>
                <a:spcPts val="400"/>
              </a:spcAft>
            </a:pPr>
            <a:r>
              <a:rPr sz="1600" i="1">
                <a:solidFill>
                  <a:srgbClr val="262626"/>
                </a:solidFill>
              </a:rPr>
              <a:t>Invullen op werkblad; kolommen: Leerling | 1 | 2 | 3 | 4 | 5 | 6 | 7 | 8 | 9 | 10 | /10 | Opmerking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2830982.4000000004"/>
          <a:ext cx="11277293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4361"/>
                <a:gridCol w="1944361"/>
                <a:gridCol w="1555488"/>
                <a:gridCol w="1944361"/>
                <a:gridCol w="1944361"/>
                <a:gridCol w="1944361"/>
              </a:tblGrid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Thema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Uitstekend (1)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Goed (0,8)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Voldoende (0,6)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Onvoldoende (0,4)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Slecht (0,2)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9. Inzet, doorzetting en tijdsbeheer (incl. deadline verslag)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Blijft tot het einde geconcentreerd en nieuwsgierig; rondt het labo binnen de tijd af; de groep start tijdig met het verslag en dient het ruim op tijd in als .xlsx in het sjabloon.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Goede inzet; labo en verslag op tijd klaar.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Wisselende inzet of tijdsdruk; verslag net op tijd of in laatste moment gemaakt.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Weinig inzet; labo niet afgewerkt binnen de tijd of verslag te laat.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Ongeïnteresseerd, afgeleid of stoort; verslag (veel) te laat of niet ingediend.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10. Reflectie en kritische houding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Bespreekt spontaan meetfouten en betrouwbaarheid, formuleert verbetervoorstellen, vult de zelfreflectiefiche eerlijk en diepgaand in en past eerdere feedback aantoonbaar toe.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Reflecteert zinvol; past de meeste feedback toe.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Reflectie oppervlakkig ('afleesfouten'); feedback gedeeltelijk toegepast.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Reflecteert enkel na aansporing; herhaalt dezelfde fouten.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Geen reflectie; feedback wordt genegeerd.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9E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94560"/>
            <a:ext cx="12191695" cy="13716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4000" b="1">
                <a:solidFill>
                  <a:srgbClr val="FFFFFF"/>
                </a:solidFill>
              </a:rPr>
              <a:t>Bijlage D – Zelfreflectie- en peer-evaluatiefiche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840480"/>
            <a:ext cx="94484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6017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D.1 Zelfreflectie (in te vullen na labo 4, 6, 9 en 11)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95959"/>
                </a:solidFill>
              </a:rPr>
              <a:t>Labocursus fysica  •  Toegepaste fysica 5BCW  •  34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43000"/>
          <a:ext cx="11277294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69009"/>
                <a:gridCol w="2008285"/>
              </a:tblGrid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Vraag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Mijn antwoord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Scoor jezelf op de 10 thema's van de rubric in Bijlage C (1 / 0,8 / 0,6 / 0,4 / 0,2) en motiveer één sterk punt en één werkpunt.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Welke vaardigheid (meten, schema's, grafieken, berekenen, onderzoeksvragen formuleren, samenwerken, veilig werken) beheers ik nu beter dan bij het vorige reflectiemoment?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2F5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Wat ga ik bij het volgende labo concreet anders doen?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Welke feedback op mijn verslagen heb ik toegepast?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6017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>
                <a:solidFill>
                  <a:srgbClr val="FFFFFF"/>
                </a:solidFill>
              </a:rPr>
              <a:t>D.2 Peer-evaluatie met puntenverdeling (enkel bij de labo's die de leerkracht aanduidt: voorzien bij labo 6, 9 en 11)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95959"/>
                </a:solidFill>
              </a:rPr>
              <a:t>Labocursus fysica  •  Toegepaste fysica 5BCW  •  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36873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>
                <a:solidFill>
                  <a:srgbClr val="262626"/>
                </a:solidFill>
              </a:rPr>
              <a:t>• Zo werkt het: elke leerling verdeelt 100 punten per groepslid (groep van 3 → 300 punten, groep van 2 → 200 punten) over zichzelf én andere groepsleden, volgens ieders werkelijke bijdrage aan labo en verslag</a:t>
            </a:r>
          </a:p>
          <a:p>
            <a:pPr>
              <a:spcAft>
                <a:spcPts val="600"/>
              </a:spcAft>
            </a:pPr>
            <a:r>
              <a:rPr sz="2200">
                <a:solidFill>
                  <a:srgbClr val="262626"/>
                </a:solidFill>
              </a:rPr>
              <a:t>      – Iedereen evenveel gedaan → iedereen 100</a:t>
            </a:r>
          </a:p>
          <a:p>
            <a:pPr>
              <a:spcAft>
                <a:spcPts val="600"/>
              </a:spcAft>
            </a:pPr>
            <a:r>
              <a:rPr sz="2200">
                <a:solidFill>
                  <a:srgbClr val="262626"/>
                </a:solidFill>
              </a:rPr>
              <a:t>      – Zelf minder gedaan → bv. jezelf 90, twee anderen 105</a:t>
            </a:r>
          </a:p>
          <a:p>
            <a:pPr>
              <a:spcAft>
                <a:spcPts val="600"/>
              </a:spcAft>
            </a:pPr>
            <a:r>
              <a:rPr sz="2200">
                <a:solidFill>
                  <a:srgbClr val="262626"/>
                </a:solidFill>
              </a:rPr>
              <a:t>      – Je vult fiche individueel en eerlijk in (leerkracht ziet ze, je groepsleden niet) en motiveert je keuze kort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262626"/>
                </a:solidFill>
              </a:rPr>
              <a:t>• Berekening door leerkracht: peerfactor = (gemiddelde van punten die je van alle groepsleden, jezelf inbegrepen, kreeg) / 100</a:t>
            </a:r>
          </a:p>
          <a:p>
            <a:pPr>
              <a:spcAft>
                <a:spcPts val="600"/>
              </a:spcAft>
            </a:pPr>
            <a:r>
              <a:rPr sz="2200">
                <a:solidFill>
                  <a:srgbClr val="262626"/>
                </a:solidFill>
              </a:rPr>
              <a:t>      – Individueel verslagpunt = groepspunt × peerfactor (afgerond, max. 10/10)</a:t>
            </a:r>
          </a:p>
          <a:p>
            <a:pPr>
              <a:spcAft>
                <a:spcPts val="600"/>
              </a:spcAft>
            </a:pPr>
            <a:r>
              <a:rPr sz="2200">
                <a:solidFill>
                  <a:srgbClr val="262626"/>
                </a:solidFill>
              </a:rPr>
              <a:t>      – Voorbeeld: groepspunt 7,5; jij kreeg 105, 105 en 90 → gemiddeld 100 → factor 1,00 → 7,5</a:t>
            </a:r>
          </a:p>
          <a:p>
            <a:pPr>
              <a:spcAft>
                <a:spcPts val="600"/>
              </a:spcAft>
            </a:pPr>
            <a:r>
              <a:rPr sz="2200">
                <a:solidFill>
                  <a:srgbClr val="262626"/>
                </a:solidFill>
              </a:rPr>
              <a:t>      – Groepslid dat 80, 85 en 90 kreeg → factor 0,85 → 6,4</a:t>
            </a:r>
          </a:p>
          <a:p>
            <a:pPr>
              <a:spcAft>
                <a:spcPts val="600"/>
              </a:spcAft>
            </a:pPr>
            <a:r>
              <a:rPr sz="2200">
                <a:solidFill>
                  <a:srgbClr val="262626"/>
                </a:solidFill>
              </a:rPr>
              <a:t>      – Leerkracht kan factor begrenzen of bijsturen als verdeling niet strookt met observaties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6017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>
                <a:solidFill>
                  <a:srgbClr val="FFFFFF"/>
                </a:solidFill>
              </a:rPr>
              <a:t>D.2 Peer-evaluatie met puntenverdeling (enkel bij de labo's die de leerkracht aanduidt: voorzien bij labo 6, 9 en 11)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95959"/>
                </a:solidFill>
              </a:rPr>
              <a:t>Labocursus fysica  •  Toegepaste fysica 5BCW  •  36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1127729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i="0">
                <a:solidFill>
                  <a:srgbClr val="262626"/>
                </a:solidFill>
              </a:rPr>
              <a:t>• Apart document op Smartschool legt deze werkwijze ook uit voor ouders en bevat invulformulier (digitaal)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2188159.2"/>
          <a:ext cx="11277294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5071"/>
                <a:gridCol w="786788"/>
                <a:gridCol w="6425435"/>
              </a:tblGrid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Groepslid (naam)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Punten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Korte motivatie (wat deed deze persoon concreet?)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</a:rPr>
                        <a:t>Ikzelf: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</a:rPr>
                        <a:t>Totaal (controleer: 300 of 200)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