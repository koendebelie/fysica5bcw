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LEERKRACHTENINFO:</a:t>
            </a:r>
          </a:p>
          <a:p>
            <a:r>
              <a:t>• Stel de blauwe bron vooraf in stroombegrenzing (max. 5 A) en laat de leerlingen enkel de stroomknop bedienen.</a:t>
            </a:r>
          </a:p>
          <a:p>
            <a:r>
              <a:t>• Verwachte resultaten: Δm van ca. 0,05-0,5 g; F(I) rechte door de oorsprong; F(l) rechte met klein positief snijpunt (randeffect). B ≈ 0,05-0,2 T afhankelijk van het magneetjuk; beide methodes binnen ~10 %.</a:t>
            </a:r>
          </a:p>
          <a:p>
            <a:r>
              <a:t>• Veelgemaakte fout: Δm in gram laten staan → F een factor 1000 fout; balans niet tarreren met stroom uit.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SMART-keuze 7…: D. A: niet realistisch – we hebben één magneet, B kunnen we niet variëren. B: lijkt goed, maar welke kracht, hoe gemeten, wat blijft constant? (niet S/M). C: geen verband tussen grootheden. Verantwoording D: S = F vs. I (bij vaste l) en F vs. l (bij vaste I), telkens B constant – twee deelonderzoeken, elk met één variabele; M = Δm op de balans → F = Δm·g; A = basis van de elektromotor; R = de zes geleiders en balans zijn aanwezig; T = deel 2 van labo 7 + verslag binnen een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Teken de opstelling: magneet op balans, geleider horizontaal…: Kracht op geleider F = I·l × B (linkerhandregel). Volgens de derde wet van Newton werkt op de magneet een even grote, tegengestelde kracht: wordt de geleider omhoog geduwd, dan wordt de magneet omlaag geduwd → balans leest meer af (en omgekeerd).</a:t>
            </a:r>
          </a:p>
          <a:p>
            <a:r>
              <a:t>Modelantwoord – Welke grootheid moet je constant houden bij het onderzoek va…: Bij F(I): de lengte l (zelfde geleider), de positie in het veld en B. Bij F(l): de stroomsterkte I, de positie en 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Leid uit beide verbanden een formule af voor de Lorentzkrach…: F ~ I en F ~ l → F = B·I·l, met B de evenredigheidsconstante (magnetische veldsterkte, T). Volledige formule: F = B·I·l·sin α, met α de hoek tussen I en B; onderzoek door de geleider te draaien t.o.v. het veld (hoekverdeelschijf) en F(α) uit te zetten tegen sin α.</a:t>
            </a:r>
          </a:p>
          <a:p>
            <a:r>
              <a:t>Modelantwoord – Komen de twee waarden van B overeen? Welke meting (Δm, I of …: Typisch B ≈ 0,05-0,2 T (magneetjuk). Grootste onzekerheid: Δm (0,01 g op enkele 0,1 g) en vooral l: het veld van het magneetjuk is niet scherp begrensd (randeffecten), zodat de 'effectieve lengte' groter is dan de nominale lengte van de geleider → F(l)-rechte gaat niet exact door de oorsprong.</a:t>
            </a:r>
          </a:p>
          <a:p>
            <a:r>
              <a:t>Modelantwoord – Waarom moest je de stroom enkel kort inschakelen? Welk effec…: Bij 4-5 A warmt de geleider (en de bron) op: luchtstromingen beïnvloeden de balans, de weerstand stijgt (labo 6) waardoor de ingestelde stroom verandert, en de magneet kan opwarmen (neodymium verliest sterkte bij T &gt; 80 °C).</a:t>
            </a:r>
          </a:p>
          <a:p>
            <a:r>
              <a:t>Modelantwoord – Een elektromotor bevat een spoel met 200 windingen van 5 cm …: F = N·B·I·l = 200 · 0,2 T · 2 A · 0,05 m = 4 N.</a:t>
            </a:r>
          </a:p>
          <a:p>
            <a:r>
              <a:t>Modelantwoord – Waarom konden we de invloed van B niet onderzoeken? Hoe zou …: We hebben één magneet, dus B is constant. Onderzoeken van F(B) vereist verschillende magneten of een elektromagneet met regelbare stroom (B ~ I_spoel) of een teslameter om B te meten en te variëren met de afstand tussen de polen.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0"/>
            <a:ext cx="6949440" cy="2743200"/>
          </a:xfrm>
          <a:prstGeom prst="rect">
            <a:avLst/>
          </a:prstGeom>
          <a:noFill/>
        </p:spPr>
        <p:txBody>
          <a:bodyPr wrap="square">
            <a:spAutoFit/>
          </a:bodyPr>
          <a:lstStyle/>
          <a:p>
            <a:r>
              <a:rPr sz="2800" b="1">
                <a:solidFill>
                  <a:srgbClr val="FFFFFF"/>
                </a:solidFill>
              </a:rPr>
              <a:t>Labo 7 – Experimentele bepaling van de Lorentzkracht</a:t>
            </a:r>
          </a:p>
          <a:p>
            <a:pPr>
              <a:spcBef>
                <a:spcPts val="1000"/>
              </a:spcBef>
            </a:pPr>
            <a:r>
              <a:rPr sz="1600">
                <a:solidFill>
                  <a:srgbClr val="DDE6F2"/>
                </a:solidFill>
              </a:rPr>
              <a:t>Richtduur: 2 lesuren • Type practicum: onderzoekspracticum (per 2-3)</a:t>
            </a:r>
          </a:p>
          <a:p>
            <a:pPr>
              <a:spcBef>
                <a:spcPts val="1000"/>
              </a:spcBef>
            </a:pPr>
            <a:r>
              <a:rPr sz="1600">
                <a:solidFill>
                  <a:srgbClr val="DDE6F2"/>
                </a:solidFill>
              </a:rPr>
              <a:t>Mate van sturing: begeleid</a:t>
            </a:r>
          </a:p>
          <a:p>
            <a:pPr>
              <a:spcBef>
                <a:spcPts val="1000"/>
              </a:spcBef>
            </a:pPr>
            <a:r>
              <a:rPr sz="1600">
                <a:solidFill>
                  <a:srgbClr val="DDE6F2"/>
                </a:solidFill>
              </a:rPr>
              <a:t>Werkwijze: O – V – U – R</a:t>
            </a:r>
          </a:p>
        </p:txBody>
      </p:sp>
      <p:pic>
        <p:nvPicPr>
          <p:cNvPr id="4" name="Picture 3" descr="gen_lorentz_balans.jpg"/>
          <p:cNvPicPr>
            <a:picLocks noChangeAspect="1"/>
          </p:cNvPicPr>
          <p:nvPr/>
        </p:nvPicPr>
        <p:blipFill>
          <a:blip r:embed="rId2"/>
          <a:stretch>
            <a:fillRect/>
          </a:stretch>
        </p:blipFill>
        <p:spPr>
          <a:xfrm>
            <a:off x="7863840" y="1977764"/>
            <a:ext cx="3931920" cy="2902471"/>
          </a:xfrm>
          <a:prstGeom prst="rect">
            <a:avLst/>
          </a:prstGeom>
        </p:spPr>
      </p:pic>
      <p:sp>
        <p:nvSpPr>
          <p:cNvPr id="5" name="TextBox 4"/>
          <p:cNvSpPr txBox="1"/>
          <p:nvPr/>
        </p:nvSpPr>
        <p:spPr>
          <a:xfrm>
            <a:off x="548640" y="6035040"/>
            <a:ext cx="11094415" cy="457200"/>
          </a:xfrm>
          <a:prstGeom prst="rect">
            <a:avLst/>
          </a:prstGeom>
          <a:noFill/>
        </p:spPr>
        <p:txBody>
          <a:bodyPr wrap="none">
            <a:spAutoFit/>
          </a:bodyPr>
          <a:lstStyle/>
          <a:p>
            <a:r>
              <a:rPr sz="1100">
                <a:solidFill>
                  <a:srgbClr val="DDE6F2"/>
                </a:solidFill>
              </a:rPr>
              <a:t>HAST  •  Toegepaste fysica 5BCW  •  Labocursus volgens de OVUR-methode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LESDOELEN – na dit labo kan je …</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000">
                <a:solidFill>
                  <a:srgbClr val="262626"/>
                </a:solidFill>
              </a:rPr>
              <a:t>• De grootte van magnetische kracht op stroomvoerende geleider meten via massaverschil op balans (F = Δm·g)</a:t>
            </a:r>
          </a:p>
          <a:p>
            <a:pPr>
              <a:spcAft>
                <a:spcPts val="1400"/>
              </a:spcAft>
            </a:pPr>
            <a:r>
              <a:rPr sz="2000">
                <a:solidFill>
                  <a:srgbClr val="262626"/>
                </a:solidFill>
              </a:rPr>
              <a:t>• Het verband tussen F en stroomsterkte I en tussen F en lengte l van geleider experimenteel bepalen en grafisch voorstellen</a:t>
            </a:r>
          </a:p>
          <a:p>
            <a:pPr>
              <a:spcAft>
                <a:spcPts val="1400"/>
              </a:spcAft>
            </a:pPr>
            <a:r>
              <a:rPr sz="2000">
                <a:solidFill>
                  <a:srgbClr val="262626"/>
                </a:solidFill>
              </a:rPr>
              <a:t>• Uit grafieken afleiden dat F ~ I en F ~ l bij dezelfde magneet (B constant), formule F = B·I·l formuleren en magnetische veldsterkte B van onze magneet bepalen uit richtingscoëfficiënt</a:t>
            </a:r>
          </a:p>
          <a:p>
            <a:pPr>
              <a:spcAft>
                <a:spcPts val="1400"/>
              </a:spcAft>
            </a:pPr>
            <a:r>
              <a:rPr sz="2000">
                <a:solidFill>
                  <a:srgbClr val="262626"/>
                </a:solidFill>
              </a:rPr>
              <a:t>• De derde wet van Newton (actie en reactie – zie uitleg) gebruiken om te verklaren waarom balans massaverschil aangeeft</a:t>
            </a:r>
          </a:p>
          <a:p>
            <a:pPr>
              <a:spcAft>
                <a:spcPts val="1400"/>
              </a:spcAft>
            </a:pPr>
            <a:r>
              <a:rPr sz="2100" b="1">
                <a:solidFill>
                  <a:srgbClr val="6A1B9A"/>
                </a:solidFill>
              </a:rPr>
              <a:t>LEERPLANDOELEN (III-BCSW-d / III-BCW-d)</a:t>
            </a:r>
          </a:p>
          <a:p>
            <a:pPr>
              <a:spcAft>
                <a:spcPts val="1400"/>
              </a:spcAft>
            </a:pPr>
            <a:r>
              <a:rPr sz="2000">
                <a:solidFill>
                  <a:srgbClr val="262626"/>
                </a:solidFill>
              </a:rPr>
              <a:t>• LPD 6 F: magnetische kracht op stroomvoerende rechte geleider kwantificeren (F = B·I·l·sin α)</a:t>
            </a:r>
          </a:p>
          <a:p>
            <a:pPr>
              <a:spcAft>
                <a:spcPts val="1400"/>
              </a:spcAft>
            </a:pPr>
            <a:r>
              <a:rPr sz="2000">
                <a:solidFill>
                  <a:srgbClr val="262626"/>
                </a:solidFill>
              </a:rPr>
              <a:t>• LPD 1 S: verbanden onderzoeken, hypothese toetsen</a:t>
            </a:r>
          </a:p>
          <a:p>
            <a:pPr>
              <a:spcAft>
                <a:spcPts val="600"/>
              </a:spcAft>
            </a:pPr>
            <a:r>
              <a:rPr sz="2000">
                <a:solidFill>
                  <a:srgbClr val="262626"/>
                </a:solidFill>
              </a:rPr>
              <a:t>      – LPD 2 S: eenheden (tesla, N, g→kg)</a:t>
            </a:r>
          </a:p>
          <a:p>
            <a:pPr>
              <a:spcAft>
                <a:spcPts val="600"/>
              </a:spcAft>
            </a:pPr>
            <a:r>
              <a:rPr sz="2000">
                <a:solidFill>
                  <a:srgbClr val="262626"/>
                </a:solidFill>
              </a:rPr>
              <a:t>      – LPD 4 S: modelleren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VOORKENNIS – check vóór je begint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3</a:t>
            </a:r>
          </a:p>
        </p:txBody>
      </p:sp>
      <p:sp>
        <p:nvSpPr>
          <p:cNvPr id="5" name="Rectangle 4"/>
          <p:cNvSpPr/>
          <p:nvPr/>
        </p:nvSpPr>
        <p:spPr>
          <a:xfrm>
            <a:off x="0" y="914400"/>
            <a:ext cx="164592" cy="5943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Zwaartekracht F = m·g met g = 9,81 m/s²</a:t>
            </a:r>
          </a:p>
          <a:p>
            <a:pPr>
              <a:spcAft>
                <a:spcPts val="1400"/>
              </a:spcAft>
            </a:pPr>
            <a:r>
              <a:rPr sz="2200">
                <a:solidFill>
                  <a:srgbClr val="262626"/>
                </a:solidFill>
              </a:rPr>
              <a:t>• Richting van de Lorentzkracht (labo 6, deel 5)</a:t>
            </a:r>
          </a:p>
          <a:p>
            <a:pPr>
              <a:spcAft>
                <a:spcPts val="1400"/>
              </a:spcAft>
            </a:pPr>
            <a:r>
              <a:rPr sz="2200">
                <a:solidFill>
                  <a:srgbClr val="262626"/>
                </a:solidFill>
              </a:rPr>
              <a:t>• Recht evenredig verband herkennen in grafiek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O – ORIËNTEREN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Wat gaan we onderzoeken en waarom?</a:t>
            </a:r>
          </a:p>
          <a:p>
            <a:pPr algn="ctr">
              <a:spcBef>
                <a:spcPts val="600"/>
              </a:spcBef>
            </a:pPr>
            <a:r>
              <a:rPr sz="1800">
                <a:solidFill>
                  <a:srgbClr val="262626"/>
                </a:solidFill>
              </a:rPr>
              <a:t>Context – onderzoeksvraag – doel – oriëntatievragen (voorbereid thuis) – SMART-oefening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Context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5</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In labo 6 zag je dat stroomvoerende geleider in magnetisch veld kracht ondervindt</a:t>
            </a:r>
          </a:p>
          <a:p>
            <a:pPr>
              <a:spcAft>
                <a:spcPts val="600"/>
              </a:spcAft>
            </a:pPr>
            <a:r>
              <a:rPr sz="2200">
                <a:solidFill>
                  <a:srgbClr val="262626"/>
                </a:solidFill>
              </a:rPr>
              <a:t>      – Nu meten we hoe groot die kracht is</a:t>
            </a:r>
          </a:p>
          <a:p>
            <a:pPr>
              <a:spcAft>
                <a:spcPts val="600"/>
              </a:spcAft>
            </a:pPr>
            <a:r>
              <a:rPr sz="2200">
                <a:solidFill>
                  <a:srgbClr val="262626"/>
                </a:solidFill>
              </a:rPr>
              <a:t>      – Magneet oefent kracht uit op geleider, maar geleider oefent dan ook even grote, tegengestelde kracht uit op magneet (derde wet van Newton, zie kader)</a:t>
            </a:r>
          </a:p>
          <a:p>
            <a:pPr>
              <a:spcAft>
                <a:spcPts val="600"/>
              </a:spcAft>
            </a:pPr>
            <a:r>
              <a:rPr sz="2200">
                <a:solidFill>
                  <a:srgbClr val="262626"/>
                </a:solidFill>
              </a:rPr>
              <a:t>      – Zetten we magneet op elektronische balans, dan lezen we massaverschil af waaruit we kracht berekenen</a:t>
            </a:r>
          </a:p>
          <a:p>
            <a:pPr>
              <a:spcAft>
                <a:spcPts val="600"/>
              </a:spcAft>
            </a:pPr>
            <a:r>
              <a:rPr sz="2200">
                <a:solidFill>
                  <a:srgbClr val="262626"/>
                </a:solidFill>
              </a:rPr>
              <a:t>      – Deze kracht doet elke elektromotor draaien</a:t>
            </a:r>
          </a:p>
          <a:p>
            <a:pPr>
              <a:spcAft>
                <a:spcPts val="600"/>
              </a:spcAft>
            </a:pPr>
            <a:r>
              <a:rPr sz="2200">
                <a:solidFill>
                  <a:srgbClr val="262626"/>
                </a:solidFill>
              </a:rPr>
              <a:t>      – We beschikken over één magneet: magnetische veldsterkte (fluxdichtheid) B blijft in dit hele labo dezelfde en kunnen we dus niet variëren – wel bepalen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Onderzoeksvraag (leerlijn SMART – stap 2: jij kiest)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6</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000" i="1">
                <a:solidFill>
                  <a:srgbClr val="595959"/>
                </a:solidFill>
              </a:rPr>
              <a:t>Je krijgt onderzoeksvraag van dit labo niet meer kant-en-klaar</a:t>
            </a:r>
          </a:p>
          <a:p>
            <a:pPr>
              <a:spcAft>
                <a:spcPts val="600"/>
              </a:spcAft>
            </a:pPr>
            <a:r>
              <a:rPr sz="2000">
                <a:solidFill>
                  <a:srgbClr val="262626"/>
                </a:solidFill>
              </a:rPr>
              <a:t>      – Hieronder staan vier voorstellen; slechts één is goede SMART-onderzoeksvraag voor dit labo</a:t>
            </a:r>
          </a:p>
          <a:p>
            <a:pPr>
              <a:spcAft>
                <a:spcPts val="600"/>
              </a:spcAft>
            </a:pPr>
            <a:r>
              <a:rPr sz="2000">
                <a:solidFill>
                  <a:srgbClr val="262626"/>
                </a:solidFill>
              </a:rPr>
              <a:t>      – Omcirkel ze – dat wordt jullie onderzoeksvraag</a:t>
            </a:r>
          </a:p>
          <a:p>
            <a:pPr>
              <a:spcAft>
                <a:spcPts val="1400"/>
              </a:spcAft>
            </a:pPr>
            <a:r>
              <a:rPr sz="2000">
                <a:solidFill>
                  <a:srgbClr val="262626"/>
                </a:solidFill>
              </a:rPr>
              <a:t>• A. Hoe hangt de Lorentzkracht af van magnetische inductie B van magneet?</a:t>
            </a:r>
          </a:p>
          <a:p>
            <a:pPr>
              <a:spcAft>
                <a:spcPts val="1400"/>
              </a:spcAft>
            </a:pPr>
            <a:r>
              <a:rPr sz="2000">
                <a:solidFill>
                  <a:srgbClr val="262626"/>
                </a:solidFill>
              </a:rPr>
              <a:t>• B. Hoe hangt kracht af van lengte van geleider?</a:t>
            </a:r>
          </a:p>
          <a:p>
            <a:pPr>
              <a:spcAft>
                <a:spcPts val="1400"/>
              </a:spcAft>
            </a:pPr>
            <a:r>
              <a:rPr sz="2000">
                <a:solidFill>
                  <a:srgbClr val="262626"/>
                </a:solidFill>
              </a:rPr>
              <a:t>• C. Waarom draait elektromotor?</a:t>
            </a:r>
          </a:p>
          <a:p>
            <a:pPr>
              <a:spcAft>
                <a:spcPts val="1400"/>
              </a:spcAft>
            </a:pPr>
            <a:r>
              <a:rPr sz="2000">
                <a:solidFill>
                  <a:srgbClr val="262626"/>
                </a:solidFill>
              </a:rPr>
              <a:t>• D. Hoe hangt de Lorentzkracht op geleider (bepaald uit Δm op balans) af van stroomsterkte (0 tot 4 A, bij vaste lengte) en van horizontale lengte van geleider (1,2 tot 8,4 cm, bij I = 3,0 A), telkens bij dezelfde magneet, tijdens dit labo?</a:t>
            </a:r>
          </a:p>
          <a:p>
            <a:pPr>
              <a:spcAft>
                <a:spcPts val="1400"/>
              </a:spcAft>
            </a:pPr>
            <a:r>
              <a:rPr sz="2000" i="1">
                <a:solidFill>
                  <a:srgbClr val="595959"/>
                </a:solidFill>
              </a:rPr>
              <a:t>Verantwoord per letter waarom jouw keuze SMART is, en schrijf bij elk ander voorstel in één zin welke letter ontbreekt (of waarom het niet over juiste onderwerp gaat)</a:t>
            </a:r>
          </a:p>
          <a:p>
            <a:pPr>
              <a:spcAft>
                <a:spcPts val="1400"/>
              </a:spcAft>
            </a:pPr>
            <a:r>
              <a:rPr sz="2000" i="1">
                <a:solidFill>
                  <a:srgbClr val="595959"/>
                </a:solidFill>
              </a:rPr>
              <a:t>Onderzoeksvraag (leerlijn SMART – stap 2: jij kiest) – invullen op werkblad; kolommen: Mijn keuze | S | M | A | R |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O – Oriënteren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7</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6A1B9A"/>
                </a:solidFill>
              </a:rPr>
              <a:t>Doel van het onderzoek</a:t>
            </a:r>
          </a:p>
          <a:p>
            <a:pPr>
              <a:spcAft>
                <a:spcPts val="1400"/>
              </a:spcAft>
            </a:pPr>
            <a:r>
              <a:rPr sz="2000">
                <a:solidFill>
                  <a:srgbClr val="262626"/>
                </a:solidFill>
              </a:rPr>
              <a:t>• Twee verbanden experimenteel bepalen (F(I) bij vaste l en F(l) bij vaste I, telkens met dezelfde magneet) en grafisch verwerken</a:t>
            </a:r>
          </a:p>
          <a:p>
            <a:pPr>
              <a:spcAft>
                <a:spcPts val="1400"/>
              </a:spcAft>
            </a:pPr>
            <a:r>
              <a:rPr sz="2000">
                <a:solidFill>
                  <a:srgbClr val="262626"/>
                </a:solidFill>
              </a:rPr>
              <a:t>• Formule F = B·I·l afleiden en B van onze magneet bepalen</a:t>
            </a:r>
          </a:p>
          <a:p>
            <a:pPr>
              <a:spcAft>
                <a:spcPts val="1400"/>
              </a:spcAft>
            </a:pPr>
            <a:r>
              <a:rPr sz="2000">
                <a:solidFill>
                  <a:srgbClr val="262626"/>
                </a:solidFill>
              </a:rPr>
              <a:t>• Kritisch reflecteren over meetmethode</a:t>
            </a:r>
          </a:p>
          <a:p>
            <a:pPr>
              <a:spcAft>
                <a:spcPts val="1400"/>
              </a:spcAft>
            </a:pPr>
            <a:r>
              <a:rPr sz="2100" b="1">
                <a:solidFill>
                  <a:srgbClr val="6A1B9A"/>
                </a:solidFill>
              </a:rPr>
              <a:t>Oriëntatievragen (beantwoord vóór het labo)</a:t>
            </a:r>
          </a:p>
          <a:p>
            <a:pPr>
              <a:spcAft>
                <a:spcPts val="1400"/>
              </a:spcAft>
            </a:pPr>
            <a:r>
              <a:rPr sz="2000">
                <a:solidFill>
                  <a:srgbClr val="262626"/>
                </a:solidFill>
              </a:rPr>
              <a:t>1. Teken opstelling: magneet op balans, geleider horizontaal tussen polen</a:t>
            </a:r>
          </a:p>
          <a:p>
            <a:pPr>
              <a:spcAft>
                <a:spcPts val="600"/>
              </a:spcAft>
            </a:pPr>
            <a:r>
              <a:rPr sz="2000">
                <a:solidFill>
                  <a:srgbClr val="262626"/>
                </a:solidFill>
              </a:rPr>
              <a:t>      – Teken B, I en kracht op geleider</a:t>
            </a:r>
          </a:p>
          <a:p>
            <a:pPr>
              <a:spcAft>
                <a:spcPts val="600"/>
              </a:spcAft>
            </a:pPr>
            <a:r>
              <a:rPr sz="2000">
                <a:solidFill>
                  <a:srgbClr val="262626"/>
                </a:solidFill>
              </a:rPr>
              <a:t>      – Welke kracht werkt op magneet (derde wet van Newton, zie kader) en wat doet dat met aflezing van balans?</a:t>
            </a:r>
          </a:p>
          <a:p>
            <a:pPr>
              <a:spcAft>
                <a:spcPts val="1400"/>
              </a:spcAft>
            </a:pPr>
            <a:r>
              <a:rPr sz="2000">
                <a:solidFill>
                  <a:srgbClr val="262626"/>
                </a:solidFill>
              </a:rPr>
              <a:t>2. Welke grootheid moet je constant houden bij onderzoek van F(I)?</a:t>
            </a:r>
          </a:p>
          <a:p>
            <a:pPr>
              <a:spcAft>
                <a:spcPts val="600"/>
              </a:spcAft>
            </a:pPr>
            <a:r>
              <a:rPr sz="2000">
                <a:solidFill>
                  <a:srgbClr val="262626"/>
                </a:solidFill>
              </a:rPr>
              <a:t>      – En bij F(l)?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V – VOORBEREIDEN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Hoe pakken we het aan?</a:t>
            </a:r>
          </a:p>
          <a:p>
            <a:pPr algn="ctr">
              <a:spcBef>
                <a:spcPts val="600"/>
              </a:spcBef>
            </a:pPr>
            <a:r>
              <a:rPr sz="1800">
                <a:solidFill>
                  <a:srgbClr val="262626"/>
                </a:solidFill>
              </a:rPr>
              <a:t>Benodigdheden – theorie – veiligheid – hypothese – werkplan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Benodigdheden • Theorie-overzicht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9</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700" b="1">
                <a:solidFill>
                  <a:srgbClr val="6A1B9A"/>
                </a:solidFill>
              </a:rPr>
              <a:t>Benodigdheden</a:t>
            </a:r>
          </a:p>
          <a:p>
            <a:pPr>
              <a:spcAft>
                <a:spcPts val="1400"/>
              </a:spcAft>
            </a:pPr>
            <a:r>
              <a:rPr sz="1600">
                <a:solidFill>
                  <a:srgbClr val="262626"/>
                </a:solidFill>
              </a:rPr>
              <a:t>• Blauwe stroombron (max. 5 A), 2 blauwe kabels, 1 rode kabel, multimeter (A), statief, elektronische balans (0,01 g), magneetjuk met neodymiummagneten, set geleiders met verschillende horizontale lengtes (bv. 1,2 – 2,2 – 3,2 – 4,2 – 6,4 – 8,4 cm), bevestigingsstuk</a:t>
            </a:r>
          </a:p>
          <a:p>
            <a:pPr>
              <a:spcAft>
                <a:spcPts val="1400"/>
              </a:spcAft>
            </a:pPr>
            <a:r>
              <a:rPr sz="1700" b="1">
                <a:solidFill>
                  <a:srgbClr val="6A1B9A"/>
                </a:solidFill>
              </a:rPr>
              <a:t>Theorie-overzicht</a:t>
            </a:r>
          </a:p>
          <a:p>
            <a:pPr>
              <a:spcAft>
                <a:spcPts val="1400"/>
              </a:spcAft>
            </a:pPr>
            <a:r>
              <a:rPr sz="1600">
                <a:solidFill>
                  <a:srgbClr val="262626"/>
                </a:solidFill>
              </a:rPr>
              <a:t>• Kracht uit massaverschil</a:t>
            </a:r>
          </a:p>
          <a:p>
            <a:pPr>
              <a:spcAft>
                <a:spcPts val="600"/>
              </a:spcAft>
            </a:pPr>
            <a:r>
              <a:rPr sz="1600">
                <a:solidFill>
                  <a:srgbClr val="262626"/>
                </a:solidFill>
              </a:rPr>
              <a:t>      – Als men door geleider met lengte l in magnetisch veld stroom stuurt, ontstaat aantrekkings- of afstotingskracht tussen magneet en geleider</a:t>
            </a:r>
          </a:p>
          <a:p>
            <a:pPr>
              <a:spcAft>
                <a:spcPts val="600"/>
              </a:spcAft>
            </a:pPr>
            <a:r>
              <a:rPr sz="1600">
                <a:solidFill>
                  <a:srgbClr val="262626"/>
                </a:solidFill>
              </a:rPr>
              <a:t>      – Die kracht geeft massaverschil Δm op elektronische balans</a:t>
            </a:r>
          </a:p>
          <a:p>
            <a:pPr>
              <a:spcAft>
                <a:spcPts val="600"/>
              </a:spcAft>
            </a:pPr>
            <a:r>
              <a:rPr sz="1600">
                <a:solidFill>
                  <a:srgbClr val="262626"/>
                </a:solidFill>
              </a:rPr>
              <a:t>      – Bij aantrekking leest balans kleinere massa af, bij afstoting grotere (bij opstelling die in handboek besproken wordt is dit net omgekeerd!)</a:t>
            </a:r>
          </a:p>
          <a:p>
            <a:pPr>
              <a:spcAft>
                <a:spcPts val="600"/>
              </a:spcAft>
            </a:pPr>
            <a:r>
              <a:rPr sz="1600">
                <a:solidFill>
                  <a:srgbClr val="262626"/>
                </a:solidFill>
              </a:rPr>
              <a:t>      – Grootte van de Lorentzkracht volgt uit:</a:t>
            </a:r>
          </a:p>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sSub>
                        <m:e>
                          <m:r>
                            <a:rPr lang="nl-BE" sz="2200" b="1">
                              <a:solidFill>
                                <a:srgbClr val="6A1B9A"/>
                              </a:solidFill>
                              <a:latin typeface="Cambria Math"/>
                            </a:rPr>
                            <m:t xml:space="preserve">F</m:t>
                          </m:r>
                        </m:e>
                        <m:sub>
                          <m:r>
                            <a:rPr lang="nl-BE" sz="2200" b="1">
                              <a:solidFill>
                                <a:srgbClr val="6A1B9A"/>
                              </a:solidFill>
                              <a:latin typeface="Cambria Math"/>
                            </a:rPr>
                            <m:t xml:space="preserve">L</m:t>
                          </m:r>
                        </m:sub>
                      </m:sSub>
                      <m:r>
                        <a:rPr lang="nl-BE" sz="2200" b="1">
                          <a:solidFill>
                            <a:srgbClr val="6A1B9A"/>
                          </a:solidFill>
                          <a:latin typeface="Cambria Math"/>
                        </a:rPr>
                        <m:t xml:space="preserve">=</m:t>
                      </m:r>
                      <m:r>
                        <a:rPr lang="nl-BE" sz="2200" b="1">
                          <a:solidFill>
                            <a:srgbClr val="6A1B9A"/>
                          </a:solidFill>
                          <a:latin typeface="Cambria Math"/>
                        </a:rPr>
                        <m:t xml:space="preserve">Δ</m:t>
                      </m:r>
                      <m:r>
                        <a:rPr lang="nl-BE" sz="2200" b="1">
                          <a:solidFill>
                            <a:srgbClr val="6A1B9A"/>
                          </a:solidFill>
                          <a:latin typeface="Cambria Math"/>
                        </a:rPr>
                        <m:t xml:space="preserve">m</m:t>
                      </m:r>
                      <m:r>
                        <a:rPr lang="nl-BE" sz="2200" b="1">
                          <a:solidFill>
                            <a:srgbClr val="6A1B9A"/>
                          </a:solidFill>
                          <a:latin typeface="Cambria Math"/>
                        </a:rPr>
                        <m:t xml:space="preserve">·</m:t>
                      </m:r>
                      <m:r>
                        <a:rPr lang="nl-BE" sz="2200" b="1">
                          <a:solidFill>
                            <a:srgbClr val="6A1B9A"/>
                          </a:solidFill>
                          <a:latin typeface="Cambria Math"/>
                        </a:rPr>
                        <m:t xml:space="preserve">g</m:t>
                      </m:r>
                      <m:r>
                        <a:rPr lang="nl-BE" sz="2200" b="1">
                          <a:solidFill>
                            <a:srgbClr val="6A1B9A"/>
                          </a:solidFill>
                          <a:latin typeface="Cambria Math"/>
                        </a:rPr>
                        <m:t xml:space="preserve">      </m:t>
                      </m:r>
                      <m:r>
                        <m:rPr>
                          <m:sty m:val="p"/>
                        </m:rPr>
                        <a:rPr lang="nl-BE" sz="2200" b="1">
                          <a:solidFill>
                            <a:srgbClr val="6A1B9A"/>
                          </a:solidFill>
                          <a:latin typeface="Cambria Math"/>
                        </a:rPr>
                        <m:t xml:space="preserve">met </m:t>
                      </m:r>
                      <m:r>
                        <a:rPr lang="nl-BE" sz="2200" b="1">
                          <a:solidFill>
                            <a:srgbClr val="6A1B9A"/>
                          </a:solidFill>
                          <a:latin typeface="Cambria Math"/>
                        </a:rPr>
                        <m:t xml:space="preserve">Δ</m:t>
                      </m:r>
                      <m:r>
                        <a:rPr lang="nl-BE" sz="2200" b="1">
                          <a:solidFill>
                            <a:srgbClr val="6A1B9A"/>
                          </a:solidFill>
                          <a:latin typeface="Cambria Math"/>
                        </a:rPr>
                        <m:t xml:space="preserve">m</m:t>
                      </m:r>
                      <m:r>
                        <a:rPr lang="nl-BE" sz="2200" b="1">
                          <a:solidFill>
                            <a:srgbClr val="6A1B9A"/>
                          </a:solidFill>
                          <a:latin typeface="Cambria Math"/>
                        </a:rPr>
                        <m:t xml:space="preserve">=</m:t>
                      </m:r>
                      <m:d>
                        <m:dPr>
                          <m:begChr m:val="|"/>
                          <m:endChr m:val="|"/>
                        </m:dPr>
                        <m:e>
                          <m:sSub>
                            <m:e>
                              <m:r>
                                <a:rPr lang="nl-BE" sz="2200" b="1">
                                  <a:solidFill>
                                    <a:srgbClr val="6A1B9A"/>
                                  </a:solidFill>
                                  <a:latin typeface="Cambria Math"/>
                                </a:rPr>
                                <m:t xml:space="preserve">m</m:t>
                              </m:r>
                            </m:e>
                            <m:sub>
                              <m:r>
                                <a:rPr lang="nl-BE" sz="2200" b="1">
                                  <a:solidFill>
                                    <a:srgbClr val="6A1B9A"/>
                                  </a:solidFill>
                                  <a:latin typeface="Cambria Math"/>
                                </a:rPr>
                                <m:t xml:space="preserve">m</m:t>
                              </m:r>
                              <m:r>
                                <a:rPr lang="nl-BE" sz="2200" b="1">
                                  <a:solidFill>
                                    <a:srgbClr val="6A1B9A"/>
                                  </a:solidFill>
                                  <a:latin typeface="Cambria Math"/>
                                </a:rPr>
                                <m:t xml:space="preserve">e</m:t>
                              </m:r>
                              <m:r>
                                <a:rPr lang="nl-BE" sz="2200" b="1">
                                  <a:solidFill>
                                    <a:srgbClr val="6A1B9A"/>
                                  </a:solidFill>
                                  <a:latin typeface="Cambria Math"/>
                                </a:rPr>
                                <m:t xml:space="preserve">t</m:t>
                              </m:r>
                              <m:r>
                                <a:rPr lang="nl-BE" sz="2200" b="1">
                                  <a:solidFill>
                                    <a:srgbClr val="6A1B9A"/>
                                  </a:solidFill>
                                  <a:latin typeface="Cambria Math"/>
                                </a:rPr>
                                <m:t xml:space="preserve"> </m:t>
                              </m:r>
                              <m:r>
                                <a:rPr lang="nl-BE" sz="2200" b="1">
                                  <a:solidFill>
                                    <a:srgbClr val="6A1B9A"/>
                                  </a:solidFill>
                                  <a:latin typeface="Cambria Math"/>
                                </a:rPr>
                                <m:t xml:space="preserve">s</m:t>
                              </m:r>
                              <m:r>
                                <a:rPr lang="nl-BE" sz="2200" b="1">
                                  <a:solidFill>
                                    <a:srgbClr val="6A1B9A"/>
                                  </a:solidFill>
                                  <a:latin typeface="Cambria Math"/>
                                </a:rPr>
                                <m:t xml:space="preserve">t</m:t>
                              </m:r>
                              <m:r>
                                <a:rPr lang="nl-BE" sz="2200" b="1">
                                  <a:solidFill>
                                    <a:srgbClr val="6A1B9A"/>
                                  </a:solidFill>
                                  <a:latin typeface="Cambria Math"/>
                                </a:rPr>
                                <m:t xml:space="preserve">r</m:t>
                              </m:r>
                              <m:r>
                                <a:rPr lang="nl-BE" sz="2200" b="1">
                                  <a:solidFill>
                                    <a:srgbClr val="6A1B9A"/>
                                  </a:solidFill>
                                  <a:latin typeface="Cambria Math"/>
                                </a:rPr>
                                <m:t xml:space="preserve">o</m:t>
                              </m:r>
                              <m:r>
                                <a:rPr lang="nl-BE" sz="2200" b="1">
                                  <a:solidFill>
                                    <a:srgbClr val="6A1B9A"/>
                                  </a:solidFill>
                                  <a:latin typeface="Cambria Math"/>
                                </a:rPr>
                                <m:t xml:space="preserve">o</m:t>
                              </m:r>
                              <m:r>
                                <a:rPr lang="nl-BE" sz="2200" b="1">
                                  <a:solidFill>
                                    <a:srgbClr val="6A1B9A"/>
                                  </a:solidFill>
                                  <a:latin typeface="Cambria Math"/>
                                </a:rPr>
                                <m:t xml:space="preserve">m</m:t>
                              </m:r>
                            </m:sub>
                          </m:sSub>
                          <m:r>
                            <a:rPr lang="nl-BE" sz="2200" b="1">
                              <a:solidFill>
                                <a:srgbClr val="6A1B9A"/>
                              </a:solidFill>
                              <a:latin typeface="Cambria Math"/>
                            </a:rPr>
                            <m:t xml:space="preserve">-</m:t>
                          </m:r>
                          <m:sSub>
                            <m:e>
                              <m:r>
                                <a:rPr lang="nl-BE" sz="2200" b="1">
                                  <a:solidFill>
                                    <a:srgbClr val="6A1B9A"/>
                                  </a:solidFill>
                                  <a:latin typeface="Cambria Math"/>
                                </a:rPr>
                                <m:t xml:space="preserve">m</m:t>
                              </m:r>
                            </m:e>
                            <m:sub>
                              <m:r>
                                <a:rPr lang="nl-BE" sz="2200" b="1">
                                  <a:solidFill>
                                    <a:srgbClr val="6A1B9A"/>
                                  </a:solidFill>
                                  <a:latin typeface="Cambria Math"/>
                                </a:rPr>
                                <m:t xml:space="preserve">z</m:t>
                              </m:r>
                              <m:r>
                                <a:rPr lang="nl-BE" sz="2200" b="1">
                                  <a:solidFill>
                                    <a:srgbClr val="6A1B9A"/>
                                  </a:solidFill>
                                  <a:latin typeface="Cambria Math"/>
                                </a:rPr>
                                <m:t xml:space="preserve">o</m:t>
                              </m:r>
                              <m:r>
                                <a:rPr lang="nl-BE" sz="2200" b="1">
                                  <a:solidFill>
                                    <a:srgbClr val="6A1B9A"/>
                                  </a:solidFill>
                                  <a:latin typeface="Cambria Math"/>
                                </a:rPr>
                                <m:t xml:space="preserve">n</m:t>
                              </m:r>
                              <m:r>
                                <a:rPr lang="nl-BE" sz="2200" b="1">
                                  <a:solidFill>
                                    <a:srgbClr val="6A1B9A"/>
                                  </a:solidFill>
                                  <a:latin typeface="Cambria Math"/>
                                </a:rPr>
                                <m:t xml:space="preserve">d</m:t>
                              </m:r>
                              <m:r>
                                <a:rPr lang="nl-BE" sz="2200" b="1">
                                  <a:solidFill>
                                    <a:srgbClr val="6A1B9A"/>
                                  </a:solidFill>
                                  <a:latin typeface="Cambria Math"/>
                                </a:rPr>
                                <m:t xml:space="preserve">e</m:t>
                              </m:r>
                              <m:r>
                                <a:rPr lang="nl-BE" sz="2200" b="1">
                                  <a:solidFill>
                                    <a:srgbClr val="6A1B9A"/>
                                  </a:solidFill>
                                  <a:latin typeface="Cambria Math"/>
                                </a:rPr>
                                <m:t xml:space="preserve">r</m:t>
                              </m:r>
                              <m:r>
                                <a:rPr lang="nl-BE" sz="2200" b="1">
                                  <a:solidFill>
                                    <a:srgbClr val="6A1B9A"/>
                                  </a:solidFill>
                                  <a:latin typeface="Cambria Math"/>
                                </a:rPr>
                                <m:t xml:space="preserve"> </m:t>
                              </m:r>
                              <m:r>
                                <a:rPr lang="nl-BE" sz="2200" b="1">
                                  <a:solidFill>
                                    <a:srgbClr val="6A1B9A"/>
                                  </a:solidFill>
                                  <a:latin typeface="Cambria Math"/>
                                </a:rPr>
                                <m:t xml:space="preserve">s</m:t>
                              </m:r>
                              <m:r>
                                <a:rPr lang="nl-BE" sz="2200" b="1">
                                  <a:solidFill>
                                    <a:srgbClr val="6A1B9A"/>
                                  </a:solidFill>
                                  <a:latin typeface="Cambria Math"/>
                                </a:rPr>
                                <m:t xml:space="preserve">t</m:t>
                              </m:r>
                              <m:r>
                                <a:rPr lang="nl-BE" sz="2200" b="1">
                                  <a:solidFill>
                                    <a:srgbClr val="6A1B9A"/>
                                  </a:solidFill>
                                  <a:latin typeface="Cambria Math"/>
                                </a:rPr>
                                <m:t xml:space="preserve">r</m:t>
                              </m:r>
                              <m:r>
                                <a:rPr lang="nl-BE" sz="2200" b="1">
                                  <a:solidFill>
                                    <a:srgbClr val="6A1B9A"/>
                                  </a:solidFill>
                                  <a:latin typeface="Cambria Math"/>
                                </a:rPr>
                                <m:t xml:space="preserve">o</m:t>
                              </m:r>
                              <m:r>
                                <a:rPr lang="nl-BE" sz="2200" b="1">
                                  <a:solidFill>
                                    <a:srgbClr val="6A1B9A"/>
                                  </a:solidFill>
                                  <a:latin typeface="Cambria Math"/>
                                </a:rPr>
                                <m:t xml:space="preserve">o</m:t>
                              </m:r>
                              <m:r>
                                <a:rPr lang="nl-BE" sz="2200" b="1">
                                  <a:solidFill>
                                    <a:srgbClr val="6A1B9A"/>
                                  </a:solidFill>
                                  <a:latin typeface="Cambria Math"/>
                                </a:rPr>
                                <m:t xml:space="preserve">m</m:t>
                              </m:r>
                            </m:sub>
                          </m:sSub>
                        </m:e>
                      </m:d>
                      <m:r>
                        <a:rPr lang="nl-BE" sz="2200" b="1">
                          <a:solidFill>
                            <a:srgbClr val="6A1B9A"/>
                          </a:solidFill>
                          <a:latin typeface="Cambria Math"/>
                        </a:rPr>
                        <m:t xml:space="preserve"> </m:t>
                      </m:r>
                      <m:r>
                        <m:rPr>
                          <m:sty m:val="p"/>
                        </m:rPr>
                        <a:rPr lang="nl-BE" sz="2200" b="1">
                          <a:solidFill>
                            <a:srgbClr val="6A1B9A"/>
                          </a:solidFill>
                          <a:latin typeface="Cambria Math"/>
                        </a:rPr>
                        <m:t xml:space="preserve">in kg en </m:t>
                      </m:r>
                      <m:r>
                        <a:rPr lang="nl-BE" sz="2200" b="1">
                          <a:solidFill>
                            <a:srgbClr val="6A1B9A"/>
                          </a:solidFill>
                          <a:latin typeface="Cambria Math"/>
                        </a:rPr>
                        <m:t xml:space="preserve">g</m:t>
                      </m:r>
                      <m:r>
                        <a:rPr lang="nl-BE" sz="2200" b="1">
                          <a:solidFill>
                            <a:srgbClr val="6A1B9A"/>
                          </a:solidFill>
                          <a:latin typeface="Cambria Math"/>
                        </a:rPr>
                        <m:t xml:space="preserve">=</m:t>
                      </m:r>
                      <m:r>
                        <a:rPr lang="nl-BE" sz="2200" b="1">
                          <a:solidFill>
                            <a:srgbClr val="6A1B9A"/>
                          </a:solidFill>
                          <a:latin typeface="Cambria Math"/>
                        </a:rPr>
                        <m:t xml:space="preserve">9</m:t>
                      </m:r>
                      <m:r>
                        <a:rPr lang="nl-BE" sz="2200" b="1">
                          <a:solidFill>
                            <a:srgbClr val="6A1B9A"/>
                          </a:solidFill>
                          <a:latin typeface="Cambria Math"/>
                        </a:rPr>
                        <m:t xml:space="preserve">,</m:t>
                      </m:r>
                      <m:r>
                        <a:rPr lang="nl-BE" sz="2200" b="1">
                          <a:solidFill>
                            <a:srgbClr val="6A1B9A"/>
                          </a:solidFill>
                          <a:latin typeface="Cambria Math"/>
                        </a:rPr>
                        <m:t xml:space="preserve">8</m:t>
                      </m:r>
                      <m:r>
                        <a:rPr lang="nl-BE" sz="2200" b="1">
                          <a:solidFill>
                            <a:srgbClr val="6A1B9A"/>
                          </a:solidFill>
                          <a:latin typeface="Cambria Math"/>
                        </a:rPr>
                        <m:t xml:space="preserve">1</m:t>
                      </m:r>
                      <m:r>
                        <a:rPr lang="nl-BE" sz="2200" b="1">
                          <a:solidFill>
                            <a:srgbClr val="6A1B9A"/>
                          </a:solidFill>
                          <a:latin typeface="Cambria Math"/>
                        </a:rPr>
                        <m:t xml:space="preserve"> </m:t>
                      </m:r>
                      <m:sSubSup>
                        <m:e>
                          <m:r>
                            <m:rPr>
                              <m:sty m:val="p"/>
                            </m:rPr>
                            <a:rPr lang="nl-BE" sz="2200" b="1">
                              <a:solidFill>
                                <a:srgbClr val="6A1B9A"/>
                              </a:solidFill>
                              <a:latin typeface="Cambria Math"/>
                            </a:rPr>
                            <m:t xml:space="preserve">m/s</m:t>
                          </m:r>
                        </m:e>
                        <m:sub>
                          <m:r>
                            <a:rPr lang="nl-BE" sz="2200" b="1">
                              <a:solidFill>
                                <a:srgbClr val="6A1B9A"/>
                              </a:solidFill>
                              <a:latin typeface="Cambria Math"/>
                            </a:rPr>
                            <m:t xml:space="preserve"/>
                          </m:r>
                        </m:sub>
                        <m:sup>
                          <m:r>
                            <a:rPr lang="nl-BE" sz="2200" b="1">
                              <a:solidFill>
                                <a:srgbClr val="6A1B9A"/>
                              </a:solidFill>
                              <a:latin typeface="Cambria Math"/>
                            </a:rPr>
                            <m:t xml:space="preserve">2</m:t>
                          </m:r>
                        </m:sup>
                      </m:sSubSup>
                    </m:oMath>
                  </m:oMathPara>
                </a14:m>
              </mc:Choice>
              <mc:Fallback>
                <a:r>
                  <a:rPr lang="nl-BE" sz="2200" b="1">
                    <a:solidFill>
                      <a:srgbClr val="6A1B9A"/>
                    </a:solidFill>
                  </a:rPr>
                  <a:t>F_L = Δ m · g  met  Δ m = |m_metstroom - m_zonderstroom|  in kg en  g = 9,81 m/s²</a:t>
                </a:r>
              </mc:Fallback>
            </mc:AlternateContent>
          </a:p>
          <a:p>
            <a:pPr>
              <a:spcAft>
                <a:spcPts val="1400"/>
              </a:spcAft>
            </a:pPr>
            <a:r>
              <a:rPr sz="1600">
                <a:solidFill>
                  <a:srgbClr val="262626"/>
                </a:solidFill>
              </a:rPr>
              <a:t>• Verwachte wet</a:t>
            </a:r>
          </a:p>
          <a:p>
            <a:pPr>
              <a:spcAft>
                <a:spcPts val="600"/>
              </a:spcAft>
            </a:pPr>
            <a:r>
              <a:rPr sz="1600">
                <a:solidFill>
                  <a:srgbClr val="262626"/>
                </a:solidFill>
              </a:rPr>
              <a:t>      – Voor geleider loodrecht op veld verwachten we F ~ I en F ~ 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Benodigdheden • Theorie-overzicht (vervolg)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10</a:t>
            </a:r>
          </a:p>
        </p:txBody>
      </p:sp>
      <p:sp>
        <p:nvSpPr>
          <p:cNvPr id="5" name="TextBox 4"/>
          <p:cNvSpPr txBox="1"/>
          <p:nvPr/>
        </p:nvSpPr>
        <p:spPr>
          <a:xfrm>
            <a:off x="457200" y="1097280"/>
            <a:ext cx="11368735" cy="5212080"/>
          </a:xfrm>
          <a:prstGeom prst="rect">
            <a:avLst/>
          </a:prstGeom>
          <a:noFill/>
        </p:spPr>
        <p:txBody>
          <a:bodyPr wrap="square">
            <a:spAutoFit/>
          </a:bodyPr>
          <a:lstStyle/>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sSub>
                        <m:e>
                          <m:r>
                            <a:rPr lang="nl-BE" sz="2600" b="1">
                              <a:solidFill>
                                <a:srgbClr val="6A1B9A"/>
                              </a:solidFill>
                              <a:latin typeface="Cambria Math"/>
                            </a:rPr>
                            <m:t xml:space="preserve">F</m:t>
                          </m:r>
                        </m:e>
                        <m:sub>
                          <m:r>
                            <a:rPr lang="nl-BE" sz="2600" b="1">
                              <a:solidFill>
                                <a:srgbClr val="6A1B9A"/>
                              </a:solidFill>
                              <a:latin typeface="Cambria Math"/>
                            </a:rPr>
                            <m:t xml:space="preserve">L</m:t>
                          </m:r>
                        </m:sub>
                      </m:sSub>
                      <m:r>
                        <a:rPr lang="nl-BE" sz="2600" b="1">
                          <a:solidFill>
                            <a:srgbClr val="6A1B9A"/>
                          </a:solidFill>
                          <a:latin typeface="Cambria Math"/>
                        </a:rPr>
                        <m:t xml:space="preserve">=</m:t>
                      </m:r>
                      <m:r>
                        <a:rPr lang="nl-BE" sz="2600" b="1">
                          <a:solidFill>
                            <a:srgbClr val="6A1B9A"/>
                          </a:solidFill>
                          <a:latin typeface="Cambria Math"/>
                        </a:rPr>
                        <m:t xml:space="preserve">B</m:t>
                      </m:r>
                      <m:r>
                        <a:rPr lang="nl-BE" sz="2600" b="1">
                          <a:solidFill>
                            <a:srgbClr val="6A1B9A"/>
                          </a:solidFill>
                          <a:latin typeface="Cambria Math"/>
                        </a:rPr>
                        <m:t xml:space="preserve">·</m:t>
                      </m:r>
                      <m:r>
                        <a:rPr lang="nl-BE" sz="2600" b="1">
                          <a:solidFill>
                            <a:srgbClr val="6A1B9A"/>
                          </a:solidFill>
                          <a:latin typeface="Cambria Math"/>
                        </a:rPr>
                        <m:t xml:space="preserve">I</m:t>
                      </m:r>
                      <m:r>
                        <a:rPr lang="nl-BE" sz="2600" b="1">
                          <a:solidFill>
                            <a:srgbClr val="6A1B9A"/>
                          </a:solidFill>
                          <a:latin typeface="Cambria Math"/>
                        </a:rPr>
                        <m:t xml:space="preserve">·</m:t>
                      </m:r>
                      <m:r>
                        <a:rPr lang="nl-BE" sz="2600" b="1">
                          <a:solidFill>
                            <a:srgbClr val="6A1B9A"/>
                          </a:solidFill>
                          <a:latin typeface="Cambria Math"/>
                        </a:rPr>
                        <m:t xml:space="preserve">l</m:t>
                      </m:r>
                      <m:r>
                        <a:rPr lang="nl-BE" sz="2600" b="1">
                          <a:solidFill>
                            <a:srgbClr val="6A1B9A"/>
                          </a:solidFill>
                          <a:latin typeface="Cambria Math"/>
                        </a:rPr>
                        <m:t xml:space="preserve">·</m:t>
                      </m:r>
                      <m:r>
                        <m:rPr>
                          <m:sty m:val="p"/>
                        </m:rPr>
                        <a:rPr lang="nl-BE" sz="2600" b="1">
                          <a:solidFill>
                            <a:srgbClr val="6A1B9A"/>
                          </a:solidFill>
                          <a:latin typeface="Cambria Math"/>
                        </a:rPr>
                        <m:t xml:space="preserve">sin </m:t>
                      </m:r>
                      <m:r>
                        <a:rPr lang="nl-BE" sz="2600" b="1">
                          <a:solidFill>
                            <a:srgbClr val="6A1B9A"/>
                          </a:solidFill>
                          <a:latin typeface="Cambria Math"/>
                        </a:rPr>
                        <m:t xml:space="preserve">α</m:t>
                      </m:r>
                      <m:r>
                        <a:rPr lang="nl-BE" sz="2600" b="1">
                          <a:solidFill>
                            <a:srgbClr val="6A1B9A"/>
                          </a:solidFill>
                          <a:latin typeface="Cambria Math"/>
                        </a:rPr>
                        <m:t xml:space="preserve">      </m:t>
                      </m:r>
                      <m:r>
                        <a:rPr lang="nl-BE" sz="2600" b="1">
                          <a:solidFill>
                            <a:srgbClr val="6A1B9A"/>
                          </a:solidFill>
                          <a:latin typeface="Cambria Math"/>
                        </a:rPr>
                        <m:t xml:space="preserve">[</m:t>
                      </m:r>
                      <m:r>
                        <a:rPr lang="nl-BE" sz="2600" b="1">
                          <a:solidFill>
                            <a:srgbClr val="6A1B9A"/>
                          </a:solidFill>
                          <a:latin typeface="Cambria Math"/>
                        </a:rPr>
                        <m:t xml:space="preserve">B</m:t>
                      </m:r>
                      <m:r>
                        <a:rPr lang="nl-BE" sz="2600" b="1">
                          <a:solidFill>
                            <a:srgbClr val="6A1B9A"/>
                          </a:solidFill>
                          <a:latin typeface="Cambria Math"/>
                        </a:rPr>
                        <m:t xml:space="preserve">]</m:t>
                      </m:r>
                      <m:r>
                        <a:rPr lang="nl-BE" sz="2600" b="1">
                          <a:solidFill>
                            <a:srgbClr val="6A1B9A"/>
                          </a:solidFill>
                          <a:latin typeface="Cambria Math"/>
                        </a:rPr>
                        <m:t xml:space="preserve">=</m:t>
                      </m:r>
                      <m:r>
                        <m:rPr>
                          <m:sty m:val="p"/>
                        </m:rPr>
                        <a:rPr lang="nl-BE" sz="2600" b="1">
                          <a:solidFill>
                            <a:srgbClr val="6A1B9A"/>
                          </a:solidFill>
                          <a:latin typeface="Cambria Math"/>
                        </a:rPr>
                        <m:t xml:space="preserve">T</m:t>
                      </m:r>
                      <m:r>
                        <a:rPr lang="nl-BE" sz="2600" b="1">
                          <a:solidFill>
                            <a:srgbClr val="6A1B9A"/>
                          </a:solidFill>
                          <a:latin typeface="Cambria Math"/>
                        </a:rPr>
                        <m:t xml:space="preserve">=</m:t>
                      </m:r>
                      <m:f>
                        <m:fPr/>
                        <m:num>
                          <m:r>
                            <m:rPr>
                              <m:sty m:val="p"/>
                            </m:rPr>
                            <a:rPr lang="nl-BE" sz="2600" b="1">
                              <a:solidFill>
                                <a:srgbClr val="6A1B9A"/>
                              </a:solidFill>
                              <a:latin typeface="Cambria Math"/>
                            </a:rPr>
                            <m:t xml:space="preserve">N</m:t>
                          </m:r>
                        </m:num>
                        <m:den>
                          <m:r>
                            <m:rPr>
                              <m:sty m:val="p"/>
                            </m:rPr>
                            <a:rPr lang="nl-BE" sz="2600" b="1">
                              <a:solidFill>
                                <a:srgbClr val="6A1B9A"/>
                              </a:solidFill>
                              <a:latin typeface="Cambria Math"/>
                            </a:rPr>
                            <m:t xml:space="preserve">A</m:t>
                          </m:r>
                          <m:r>
                            <a:rPr lang="nl-BE" sz="2600" b="1">
                              <a:solidFill>
                                <a:srgbClr val="6A1B9A"/>
                              </a:solidFill>
                              <a:latin typeface="Cambria Math"/>
                            </a:rPr>
                            <m:t xml:space="preserve">·</m:t>
                          </m:r>
                          <m:r>
                            <m:rPr>
                              <m:sty m:val="p"/>
                            </m:rPr>
                            <a:rPr lang="nl-BE" sz="2600" b="1">
                              <a:solidFill>
                                <a:srgbClr val="6A1B9A"/>
                              </a:solidFill>
                              <a:latin typeface="Cambria Math"/>
                            </a:rPr>
                            <m:t xml:space="preserve">m</m:t>
                          </m:r>
                        </m:den>
                      </m:f>
                    </m:oMath>
                  </m:oMathPara>
                </a14:m>
              </mc:Choice>
              <mc:Fallback>
                <a:r>
                  <a:rPr lang="nl-BE" sz="2600" b="1">
                    <a:solidFill>
                      <a:srgbClr val="6A1B9A"/>
                    </a:solidFill>
                  </a:rPr>
                  <a:t>F_L = B · I · l · sin α  [B] = T = N / (A · m)</a:t>
                </a:r>
              </mc:Fallback>
            </mc:AlternateContent>
          </a:p>
          <a:p>
            <a:pPr>
              <a:spcAft>
                <a:spcPts val="1400"/>
              </a:spcAft>
            </a:pPr>
            <a:r>
              <a:rPr sz="2000">
                <a:solidFill>
                  <a:srgbClr val="262626"/>
                </a:solidFill>
              </a:rPr>
              <a:t>• Grafisch</a:t>
            </a:r>
          </a:p>
          <a:p>
            <a:pPr>
              <a:spcAft>
                <a:spcPts val="600"/>
              </a:spcAft>
            </a:pPr>
            <a:r>
              <a:rPr sz="2000">
                <a:solidFill>
                  <a:srgbClr val="262626"/>
                </a:solidFill>
              </a:rPr>
              <a:t>      – Richtingscoëfficiënt van F(I) bij vaste l is B·l; die van F(l) bij vaste I is B·I</a:t>
            </a:r>
          </a:p>
          <a:p>
            <a:pPr>
              <a:spcAft>
                <a:spcPts val="600"/>
              </a:spcAft>
            </a:pPr>
            <a:r>
              <a:rPr sz="2000">
                <a:solidFill>
                  <a:srgbClr val="262626"/>
                </a:solidFill>
              </a:rPr>
              <a:t>      – B is magnetische veldsterkte (ook fluxdichtheid genoemd, eenheid tesla) van onze magneet: dezelfde in beide delen</a:t>
            </a:r>
          </a:p>
          <a:p>
            <a:pPr>
              <a:spcAft>
                <a:spcPts val="1400"/>
              </a:spcAft>
            </a:pPr>
            <a:r>
              <a:rPr sz="2000">
                <a:solidFill>
                  <a:srgbClr val="262626"/>
                </a:solidFill>
              </a:rPr>
              <a:t>• Derde wet van Newton (actie en reactie)</a:t>
            </a:r>
          </a:p>
          <a:p>
            <a:pPr>
              <a:spcAft>
                <a:spcPts val="600"/>
              </a:spcAft>
            </a:pPr>
            <a:r>
              <a:rPr sz="2000">
                <a:solidFill>
                  <a:srgbClr val="262626"/>
                </a:solidFill>
              </a:rPr>
              <a:t>      – Krachten komen altijd in paren voor: als voorwerp A kracht uitoefent op voorwerp B, dan oefent B tegelijk even grote kracht in tegengestelde zin uit op A</a:t>
            </a:r>
          </a:p>
          <a:p>
            <a:pPr>
              <a:spcAft>
                <a:spcPts val="600"/>
              </a:spcAft>
            </a:pPr>
            <a:r>
              <a:rPr sz="2000">
                <a:solidFill>
                  <a:srgbClr val="262626"/>
                </a:solidFill>
              </a:rPr>
              <a:t>      – Hier: magneet duwt (of trekt) aan geleider met F_L; geleider duwt (of trekt) dus even hard aan magneet</a:t>
            </a:r>
          </a:p>
          <a:p>
            <a:pPr>
              <a:spcAft>
                <a:spcPts val="600"/>
              </a:spcAft>
            </a:pPr>
            <a:r>
              <a:rPr sz="2000">
                <a:solidFill>
                  <a:srgbClr val="262626"/>
                </a:solidFill>
              </a:rPr>
              <a:t>      – Omdat magneet op balans staat, 'weegt' hij daardoor iets meer of minder: dat verschil is Δm</a:t>
            </a:r>
          </a:p>
          <a:p>
            <a:pPr>
              <a:spcAft>
                <a:spcPts val="600"/>
              </a:spcAft>
            </a:pPr>
            <a:r>
              <a:rPr sz="2000">
                <a:solidFill>
                  <a:srgbClr val="262626"/>
                </a:solidFill>
              </a:rPr>
              <a:t>      – (De wetten van Newton zie je volledig in zesde jaar.)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VEILIGHEID // NAUWKEURIGHEID • Hypothese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11</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6A1B9A"/>
                </a:solidFill>
              </a:rPr>
              <a:t>VEILIGHEID // NAUWKEURIGHEID</a:t>
            </a:r>
          </a:p>
          <a:p>
            <a:pPr>
              <a:spcAft>
                <a:spcPts val="1400"/>
              </a:spcAft>
            </a:pPr>
            <a:r>
              <a:rPr sz="2000">
                <a:solidFill>
                  <a:srgbClr val="262626"/>
                </a:solidFill>
              </a:rPr>
              <a:t>• Mag stroomsterkte NOOIT groter zijn dan 5 A (grens van geleiders en blauwe bron)</a:t>
            </a:r>
          </a:p>
          <a:p>
            <a:pPr>
              <a:spcAft>
                <a:spcPts val="600"/>
              </a:spcAft>
            </a:pPr>
            <a:r>
              <a:rPr sz="2000">
                <a:solidFill>
                  <a:srgbClr val="262626"/>
                </a:solidFill>
              </a:rPr>
              <a:t>      – Schakel stroom enkel in tijdens aflezen (geleider wordt warm)</a:t>
            </a:r>
          </a:p>
          <a:p>
            <a:pPr>
              <a:spcAft>
                <a:spcPts val="1400"/>
              </a:spcAft>
            </a:pPr>
            <a:r>
              <a:rPr sz="2000">
                <a:solidFill>
                  <a:srgbClr val="262626"/>
                </a:solidFill>
              </a:rPr>
              <a:t>• Balans tarreren (= op nul zetten met knop 'TARE'/'0') met magneet erop en stroom uit; zo lees je rechtstreeks Δm af</a:t>
            </a:r>
          </a:p>
          <a:p>
            <a:pPr>
              <a:spcAft>
                <a:spcPts val="600"/>
              </a:spcAft>
            </a:pPr>
            <a:r>
              <a:rPr sz="2000">
                <a:solidFill>
                  <a:srgbClr val="262626"/>
                </a:solidFill>
              </a:rPr>
              <a:t>      – Niet op tafel leunen tijdens meting (trillingen)</a:t>
            </a:r>
          </a:p>
          <a:p>
            <a:pPr>
              <a:spcAft>
                <a:spcPts val="1400"/>
              </a:spcAft>
            </a:pPr>
            <a:r>
              <a:rPr sz="2000">
                <a:solidFill>
                  <a:srgbClr val="262626"/>
                </a:solidFill>
              </a:rPr>
              <a:t>• Neodymiummagneten: knelgevaar en weg van elektronica en bankkaarten</a:t>
            </a:r>
          </a:p>
          <a:p>
            <a:pPr>
              <a:spcAft>
                <a:spcPts val="600"/>
              </a:spcAft>
            </a:pPr>
            <a:r>
              <a:rPr sz="2000">
                <a:solidFill>
                  <a:srgbClr val="262626"/>
                </a:solidFill>
              </a:rPr>
              <a:t>      – Geleider mag magneet niet raken</a:t>
            </a:r>
          </a:p>
          <a:p>
            <a:pPr>
              <a:spcAft>
                <a:spcPts val="1400"/>
              </a:spcAft>
            </a:pPr>
            <a:r>
              <a:rPr sz="2100" b="1">
                <a:solidFill>
                  <a:srgbClr val="6A1B9A"/>
                </a:solidFill>
              </a:rPr>
              <a:t>Hypothese</a:t>
            </a:r>
          </a:p>
          <a:p>
            <a:pPr>
              <a:spcAft>
                <a:spcPts val="1400"/>
              </a:spcAft>
            </a:pPr>
            <a:r>
              <a:rPr sz="2000">
                <a:solidFill>
                  <a:srgbClr val="262626"/>
                </a:solidFill>
              </a:rPr>
              <a:t>• Formuleer vóór proef beredeneerde verwachting: wat verwacht je en waarom?</a:t>
            </a:r>
          </a:p>
          <a:p>
            <a:pPr>
              <a:spcAft>
                <a:spcPts val="1400"/>
              </a:spcAft>
            </a:pPr>
            <a:r>
              <a:rPr sz="2000" i="1">
                <a:solidFill>
                  <a:srgbClr val="595959"/>
                </a:solidFill>
              </a:rPr>
              <a:t>Hypothese mag fout blijken – dat is geen slecht resultaat, maar leerpunt</a:t>
            </a:r>
          </a:p>
          <a:p>
            <a:pPr>
              <a:spcAft>
                <a:spcPts val="600"/>
              </a:spcAft>
            </a:pPr>
            <a:r>
              <a:rPr sz="2000">
                <a:solidFill>
                  <a:srgbClr val="262626"/>
                </a:solidFill>
              </a:rPr>
              <a:t>      – Noteer ze op werkblad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 – Voorbereiden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6A1B9A"/>
                </a:solidFill>
              </a:rPr>
              <a:t>Werkplan</a:t>
            </a:r>
          </a:p>
          <a:p>
            <a:pPr>
              <a:spcAft>
                <a:spcPts val="1400"/>
              </a:spcAft>
            </a:pPr>
            <a:r>
              <a:rPr sz="2000">
                <a:solidFill>
                  <a:srgbClr val="262626"/>
                </a:solidFill>
              </a:rPr>
              <a:t>• Stellen meetplan zelf op (zie kader)</a:t>
            </a:r>
          </a:p>
          <a:p>
            <a:pPr>
              <a:spcAft>
                <a:spcPts val="600"/>
              </a:spcAft>
            </a:pPr>
            <a:r>
              <a:rPr sz="2000">
                <a:solidFill>
                  <a:srgbClr val="262626"/>
                </a:solidFill>
              </a:rPr>
              <a:t>      – Verwerking: tabellen → F berekenen → twee grafieken met trendlijn door oorsprong → B bepalen</a:t>
            </a:r>
          </a:p>
          <a:p>
            <a:pPr>
              <a:spcAft>
                <a:spcPts val="1400"/>
              </a:spcAft>
            </a:pPr>
            <a:r>
              <a:rPr sz="2100" b="1">
                <a:solidFill>
                  <a:srgbClr val="6A1B9A"/>
                </a:solidFill>
              </a:rPr>
              <a:t>STEM-ONTWERPOPDRACHT (LPD 4 S) – stel zelf het meetplan op</a:t>
            </a:r>
          </a:p>
          <a:p>
            <a:pPr>
              <a:spcAft>
                <a:spcPts val="1400"/>
              </a:spcAft>
            </a:pPr>
            <a:r>
              <a:rPr sz="2000">
                <a:solidFill>
                  <a:srgbClr val="262626"/>
                </a:solidFill>
              </a:rPr>
              <a:t>• Deel 1 – F(I): welke geleider kies je en waarom?</a:t>
            </a:r>
          </a:p>
          <a:p>
            <a:pPr>
              <a:spcAft>
                <a:spcPts val="600"/>
              </a:spcAft>
            </a:pPr>
            <a:r>
              <a:rPr sz="2000">
                <a:solidFill>
                  <a:srgbClr val="262626"/>
                </a:solidFill>
              </a:rPr>
              <a:t>      – Welk bereik van I (max. 5 A!) en welke stapgrootte?</a:t>
            </a:r>
          </a:p>
          <a:p>
            <a:pPr>
              <a:spcAft>
                <a:spcPts val="600"/>
              </a:spcAft>
            </a:pPr>
            <a:r>
              <a:rPr sz="2000">
                <a:solidFill>
                  <a:srgbClr val="262626"/>
                </a:solidFill>
              </a:rPr>
              <a:t>      – Hoeveel meetpunten heb je min. nodig voor betrouwbare rechte?</a:t>
            </a:r>
          </a:p>
          <a:p>
            <a:pPr>
              <a:spcAft>
                <a:spcPts val="600"/>
              </a:spcAft>
            </a:pPr>
            <a:r>
              <a:rPr sz="2000">
                <a:solidFill>
                  <a:srgbClr val="262626"/>
                </a:solidFill>
              </a:rPr>
              <a:t>      – Herhaal je metingen?</a:t>
            </a:r>
          </a:p>
          <a:p>
            <a:pPr>
              <a:spcAft>
                <a:spcPts val="1400"/>
              </a:spcAft>
            </a:pPr>
            <a:r>
              <a:rPr sz="2000">
                <a:solidFill>
                  <a:srgbClr val="262626"/>
                </a:solidFill>
              </a:rPr>
              <a:t>• Deel 2 – F(l): welke vaste I kies je (groot genoeg voor meetbare Δm, veilig)?</a:t>
            </a:r>
          </a:p>
          <a:p>
            <a:pPr>
              <a:spcAft>
                <a:spcPts val="600"/>
              </a:spcAft>
            </a:pPr>
            <a:r>
              <a:rPr sz="2000">
                <a:solidFill>
                  <a:srgbClr val="262626"/>
                </a:solidFill>
              </a:rPr>
              <a:t>      – Welke lengtes?</a:t>
            </a:r>
          </a:p>
          <a:p>
            <a:pPr>
              <a:spcAft>
                <a:spcPts val="1400"/>
              </a:spcAft>
            </a:pPr>
            <a:r>
              <a:rPr sz="2000">
                <a:solidFill>
                  <a:srgbClr val="262626"/>
                </a:solidFill>
              </a:rPr>
              <a:t>• Noteer je plan hieronder en laat goedkeuren</a:t>
            </a:r>
          </a:p>
          <a:p>
            <a:pPr>
              <a:spcAft>
                <a:spcPts val="600"/>
              </a:spcAft>
            </a:pPr>
            <a:r>
              <a:rPr sz="2000">
                <a:solidFill>
                  <a:srgbClr val="262626"/>
                </a:solidFill>
              </a:rPr>
              <a:t>      – Vul → tabellen in met jóuw gekozen waarden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U – UITVOEREN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Meten, noteren, observeren – volgens plan</a:t>
            </a:r>
          </a:p>
          <a:p>
            <a:pPr algn="ctr">
              <a:spcBef>
                <a:spcPts val="600"/>
              </a:spcBef>
            </a:pPr>
            <a:r>
              <a:rPr sz="1800">
                <a:solidFill>
                  <a:srgbClr val="262626"/>
                </a:solidFill>
              </a:rPr>
              <a:t>Noteer alles meteen op het werkblad: tabellen, waarnemingen, foto's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U – Uitvoeren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14</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1600" i="1">
                <a:solidFill>
                  <a:srgbClr val="595959"/>
                </a:solidFill>
              </a:rPr>
              <a:t>Opstelling (stroombalans): magneetjuk staat op balans, geleider hangt horizontaal tussen polen en wordt gevoed door stroombron (ampèremeter op bron aflezen)</a:t>
            </a:r>
          </a:p>
          <a:p>
            <a:pPr>
              <a:spcAft>
                <a:spcPts val="600"/>
              </a:spcAft>
            </a:pPr>
            <a:r>
              <a:rPr sz="1600">
                <a:solidFill>
                  <a:srgbClr val="262626"/>
                </a:solidFill>
              </a:rPr>
              <a:t>      – Balans meet reactiekracht op magneet; druk eerst TARE</a:t>
            </a:r>
          </a:p>
          <a:p>
            <a:pPr>
              <a:spcAft>
                <a:spcPts val="1400"/>
              </a:spcAft>
            </a:pPr>
            <a:r>
              <a:rPr sz="1700" b="1">
                <a:solidFill>
                  <a:srgbClr val="6A1B9A"/>
                </a:solidFill>
              </a:rPr>
              <a:t>Tabel 1 – Verband tussen stroomsterkte en Lorentzkracht (l = …… m, m₀ = …… g)</a:t>
            </a:r>
          </a:p>
          <a:p>
            <a:pPr>
              <a:spcAft>
                <a:spcPts val="1400"/>
              </a:spcAft>
            </a:pPr>
            <a:r>
              <a:rPr sz="1600" i="1">
                <a:solidFill>
                  <a:srgbClr val="595959"/>
                </a:solidFill>
              </a:rPr>
              <a:t>Invullen op werkblad; kolommen: I (A) | m (g) | Δm (kg) | F_L = Δm·g (N)</a:t>
            </a:r>
          </a:p>
          <a:p>
            <a:pPr>
              <a:spcAft>
                <a:spcPts val="1400"/>
              </a:spcAft>
            </a:pPr>
            <a:r>
              <a:rPr sz="1700" b="1">
                <a:solidFill>
                  <a:srgbClr val="6A1B9A"/>
                </a:solidFill>
              </a:rPr>
              <a:t>Tabel 2 – Verband tussen lengte van de geleider en Lorentzkracht (I = …… A)</a:t>
            </a:r>
          </a:p>
          <a:p>
            <a:pPr>
              <a:spcAft>
                <a:spcPts val="1400"/>
              </a:spcAft>
            </a:pPr>
            <a:r>
              <a:rPr sz="1600" i="1">
                <a:solidFill>
                  <a:srgbClr val="595959"/>
                </a:solidFill>
              </a:rPr>
              <a:t>Invullen op werkblad; kolommen: l (m) | m (g) | Δm (kg) | F_L (N)</a:t>
            </a:r>
          </a:p>
          <a:p>
            <a:pPr>
              <a:spcAft>
                <a:spcPts val="1400"/>
              </a:spcAft>
            </a:pPr>
            <a:r>
              <a:rPr sz="1700" b="1">
                <a:solidFill>
                  <a:srgbClr val="6A1B9A"/>
                </a:solidFill>
              </a:rPr>
              <a:t>Grafische STEM-opdracht</a:t>
            </a:r>
          </a:p>
          <a:p>
            <a:pPr>
              <a:spcAft>
                <a:spcPts val="1400"/>
              </a:spcAft>
            </a:pPr>
            <a:r>
              <a:rPr sz="1600">
                <a:solidFill>
                  <a:srgbClr val="262626"/>
                </a:solidFill>
              </a:rPr>
              <a:t>• Grafiek 1: F_L (y) i.f.v. I (x)</a:t>
            </a:r>
          </a:p>
          <a:p>
            <a:pPr>
              <a:spcAft>
                <a:spcPts val="600"/>
              </a:spcAft>
            </a:pPr>
            <a:r>
              <a:rPr sz="1600">
                <a:solidFill>
                  <a:srgbClr val="262626"/>
                </a:solidFill>
              </a:rPr>
              <a:t>      – Grafiek 2: F_L (y) i.f.v. l (x)</a:t>
            </a:r>
          </a:p>
          <a:p>
            <a:pPr>
              <a:spcAft>
                <a:spcPts val="600"/>
              </a:spcAft>
            </a:pPr>
            <a:r>
              <a:rPr sz="1600">
                <a:solidFill>
                  <a:srgbClr val="262626"/>
                </a:solidFill>
              </a:rPr>
              <a:t>      – Trendlijn door oorsprong, vergelijking noteren</a:t>
            </a:r>
          </a:p>
        </p:txBody>
      </p:sp>
      <p:pic>
        <p:nvPicPr>
          <p:cNvPr id="6" name="Picture 5" descr="gen_lorentz_balans.jpg"/>
          <p:cNvPicPr>
            <a:picLocks noChangeAspect="1"/>
          </p:cNvPicPr>
          <p:nvPr/>
        </p:nvPicPr>
        <p:blipFill>
          <a:blip r:embed="rId2"/>
          <a:stretch>
            <a:fillRect/>
          </a:stretch>
        </p:blipFill>
        <p:spPr>
          <a:xfrm>
            <a:off x="7955279" y="1977764"/>
            <a:ext cx="3931920" cy="2902471"/>
          </a:xfrm>
          <a:prstGeom prst="rect">
            <a:avLst/>
          </a:prstGeom>
        </p:spPr>
      </p:pic>
      <p:sp>
        <p:nvSpPr>
          <p:cNvPr id="7" name="TextBox 6"/>
          <p:cNvSpPr txBox="1"/>
          <p:nvPr/>
        </p:nvSpPr>
        <p:spPr>
          <a:xfrm>
            <a:off x="7955279" y="5760720"/>
            <a:ext cx="3931920" cy="411480"/>
          </a:xfrm>
          <a:prstGeom prst="rect">
            <a:avLst/>
          </a:prstGeom>
          <a:noFill/>
        </p:spPr>
        <p:txBody>
          <a:bodyPr wrap="square">
            <a:spAutoFit/>
          </a:bodyPr>
          <a:lstStyle/>
          <a:p>
            <a:pPr algn="ctr"/>
            <a:r>
              <a:rPr sz="1000" i="1">
                <a:solidFill>
                  <a:srgbClr val="595959"/>
                </a:solidFill>
              </a:rPr>
              <a:t>Opstelling (stroombalans): het magneetjuk staat op de balans, de geleider hangt horizontaal tussen de polen en wordt gevoed door de stroombron (ampèremeter op de bron aflezen). De balans meet de reactiekracht op de magneet; druk eerst TARE.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R – REFLECTEREN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Kloppen de resultaten? Wat leren we eruit?</a:t>
            </a:r>
          </a:p>
          <a:p>
            <a:pPr algn="ctr">
              <a:spcBef>
                <a:spcPts val="600"/>
              </a:spcBef>
            </a:pPr>
            <a:r>
              <a:rPr sz="1800">
                <a:solidFill>
                  <a:srgbClr val="262626"/>
                </a:solidFill>
              </a:rPr>
              <a:t>Besluit – foutenanalyse – reflectievragen – verslag en evaluatie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Besluit • Foutenanalyse en betrouwbaarheid</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16</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300" b="1">
                <a:solidFill>
                  <a:srgbClr val="6A1B9A"/>
                </a:solidFill>
              </a:rPr>
              <a:t>Besluit</a:t>
            </a:r>
          </a:p>
          <a:p>
            <a:pPr>
              <a:spcAft>
                <a:spcPts val="1400"/>
              </a:spcAft>
            </a:pPr>
            <a:r>
              <a:rPr sz="2200">
                <a:solidFill>
                  <a:srgbClr val="262626"/>
                </a:solidFill>
              </a:rPr>
              <a:t>• Beantwoord onderzoeksvraag, onderbouwd met je metingen (getallen, grafiek)</a:t>
            </a:r>
          </a:p>
          <a:p>
            <a:pPr>
              <a:spcAft>
                <a:spcPts val="1400"/>
              </a:spcAft>
            </a:pPr>
            <a:r>
              <a:rPr sz="2200">
                <a:solidFill>
                  <a:srgbClr val="262626"/>
                </a:solidFill>
              </a:rPr>
              <a:t>• Klopt je hypothese?</a:t>
            </a:r>
          </a:p>
          <a:p>
            <a:pPr>
              <a:spcAft>
                <a:spcPts val="600"/>
              </a:spcAft>
            </a:pPr>
            <a:r>
              <a:rPr sz="2200">
                <a:solidFill>
                  <a:srgbClr val="262626"/>
                </a:solidFill>
              </a:rPr>
              <a:t>      – Leg uit</a:t>
            </a:r>
          </a:p>
          <a:p>
            <a:pPr>
              <a:spcAft>
                <a:spcPts val="1400"/>
              </a:spcAft>
            </a:pPr>
            <a:r>
              <a:rPr sz="2300" b="1">
                <a:solidFill>
                  <a:srgbClr val="6A1B9A"/>
                </a:solidFill>
              </a:rPr>
              <a:t>Foutenanalyse en betrouwbaarheid</a:t>
            </a:r>
          </a:p>
          <a:p>
            <a:pPr>
              <a:spcAft>
                <a:spcPts val="1400"/>
              </a:spcAft>
            </a:pPr>
            <a:r>
              <a:rPr sz="2200">
                <a:solidFill>
                  <a:srgbClr val="262626"/>
                </a:solidFill>
              </a:rPr>
              <a:t>• Wat is grootste meetonzekerheid in dit labo?</a:t>
            </a:r>
          </a:p>
          <a:p>
            <a:pPr>
              <a:spcAft>
                <a:spcPts val="1400"/>
              </a:spcAft>
            </a:pPr>
            <a:r>
              <a:rPr sz="2200">
                <a:solidFill>
                  <a:srgbClr val="262626"/>
                </a:solidFill>
              </a:rPr>
              <a:t>• Hoe zou je proef verbeteren (meer herhalingen, ander meetbereik, betere opstelling)?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Reflectievragen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17</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800">
                <a:solidFill>
                  <a:srgbClr val="262626"/>
                </a:solidFill>
              </a:rPr>
              <a:t>1. Leid uit beide verbanden formule af voor de Lorentzkracht op stroomvoerende geleider</a:t>
            </a:r>
          </a:p>
          <a:p>
            <a:pPr>
              <a:spcAft>
                <a:spcPts val="600"/>
              </a:spcAft>
            </a:pPr>
            <a:r>
              <a:rPr sz="1800">
                <a:solidFill>
                  <a:srgbClr val="262626"/>
                </a:solidFill>
              </a:rPr>
              <a:t>      – Eén factor hebben we niet onderzocht (hoek tussen I en B): hoe zit die in volledige formule en hoe zou je die experimenteel onderzoeken?</a:t>
            </a:r>
          </a:p>
          <a:p>
            <a:pPr>
              <a:spcAft>
                <a:spcPts val="1400"/>
              </a:spcAft>
            </a:pPr>
            <a:r>
              <a:rPr sz="1800">
                <a:solidFill>
                  <a:srgbClr val="262626"/>
                </a:solidFill>
              </a:rPr>
              <a:t>2. Komen twee waarden van B overeen?</a:t>
            </a:r>
          </a:p>
          <a:p>
            <a:pPr>
              <a:spcAft>
                <a:spcPts val="600"/>
              </a:spcAft>
            </a:pPr>
            <a:r>
              <a:rPr sz="1800">
                <a:solidFill>
                  <a:srgbClr val="262626"/>
                </a:solidFill>
              </a:rPr>
              <a:t>      – Welke meting (Δm, I of l) draagt meest bij tot onzekerheid?</a:t>
            </a:r>
          </a:p>
          <a:p>
            <a:pPr>
              <a:spcAft>
                <a:spcPts val="600"/>
              </a:spcAft>
            </a:pPr>
            <a:r>
              <a:rPr sz="1800">
                <a:solidFill>
                  <a:srgbClr val="262626"/>
                </a:solidFill>
              </a:rPr>
              <a:t>      – Hoe nauwkeurig is 'l' eigenlijk gedefinieerd (randeffecten van veld)?</a:t>
            </a:r>
          </a:p>
          <a:p>
            <a:pPr>
              <a:spcAft>
                <a:spcPts val="1400"/>
              </a:spcAft>
            </a:pPr>
            <a:r>
              <a:rPr sz="1800">
                <a:solidFill>
                  <a:srgbClr val="262626"/>
                </a:solidFill>
              </a:rPr>
              <a:t>3. Waarom moest je stroom enkel kort inschakelen?</a:t>
            </a:r>
          </a:p>
          <a:p>
            <a:pPr>
              <a:spcAft>
                <a:spcPts val="600"/>
              </a:spcAft>
            </a:pPr>
            <a:r>
              <a:rPr sz="1800">
                <a:solidFill>
                  <a:srgbClr val="262626"/>
                </a:solidFill>
              </a:rPr>
              <a:t>      – Welk effect heeft opwarming op je meting (denk aan temperatuurafhankelijkheid van weerstand van metaal)?</a:t>
            </a:r>
          </a:p>
          <a:p>
            <a:pPr>
              <a:spcAft>
                <a:spcPts val="1400"/>
              </a:spcAft>
            </a:pPr>
            <a:r>
              <a:rPr sz="1800">
                <a:solidFill>
                  <a:srgbClr val="262626"/>
                </a:solidFill>
              </a:rPr>
              <a:t>4. Elektromotor bevat spoel met 200 windingen van 5 cm lengte in veld van 0,2 T bij 2 A</a:t>
            </a:r>
          </a:p>
          <a:p>
            <a:pPr>
              <a:spcAft>
                <a:spcPts val="600"/>
              </a:spcAft>
            </a:pPr>
            <a:r>
              <a:rPr sz="1800">
                <a:solidFill>
                  <a:srgbClr val="262626"/>
                </a:solidFill>
              </a:rPr>
              <a:t>      – Bereken kracht op één zijde van spoel</a:t>
            </a:r>
          </a:p>
          <a:p>
            <a:pPr>
              <a:spcAft>
                <a:spcPts val="1400"/>
              </a:spcAft>
            </a:pPr>
            <a:r>
              <a:rPr sz="1800">
                <a:solidFill>
                  <a:srgbClr val="262626"/>
                </a:solidFill>
              </a:rPr>
              <a:t>5. Verklaar met derde wet van Newton (kader bij theorie) waarom kracht op geleider meetbaar is via balans waarop magneet staat</a:t>
            </a:r>
          </a:p>
          <a:p>
            <a:pPr>
              <a:spcAft>
                <a:spcPts val="1400"/>
              </a:spcAft>
            </a:pPr>
            <a:r>
              <a:rPr sz="1800">
                <a:solidFill>
                  <a:srgbClr val="262626"/>
                </a:solidFill>
              </a:rPr>
              <a:t>6. Waarom konden we invloed van B niet onderzoeken?</a:t>
            </a:r>
          </a:p>
          <a:p>
            <a:pPr>
              <a:spcAft>
                <a:spcPts val="600"/>
              </a:spcAft>
            </a:pPr>
            <a:r>
              <a:rPr sz="1800">
                <a:solidFill>
                  <a:srgbClr val="262626"/>
                </a:solidFill>
              </a:rPr>
              <a:t>      – Hoe zou je dat wél kunnen doen (materiaal, werkwijze)?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WAT, HOE EN WANNEER WORDT GEËVALUEERD IN DIT LABO?</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7  •  Toegepaste fysica 5BCW  •  18</a:t>
            </a:r>
          </a:p>
        </p:txBody>
      </p:sp>
      <p:sp>
        <p:nvSpPr>
          <p:cNvPr id="5" name="Rectangle 4"/>
          <p:cNvSpPr/>
          <p:nvPr/>
        </p:nvSpPr>
        <p:spPr>
          <a:xfrm>
            <a:off x="0" y="914400"/>
            <a:ext cx="164592" cy="59436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PRODUCT (60 %) – wat: twee complete tabellen met correcte eenheden (g→kg!), twee grafieken met trendlijn, afleiding van F = B·I·l, bepaling van B met vergelijking van beide methodes, foutenanalyse, reflectie</a:t>
            </a:r>
          </a:p>
          <a:p>
            <a:pPr>
              <a:spcAft>
                <a:spcPts val="1400"/>
              </a:spcAft>
            </a:pPr>
            <a:r>
              <a:rPr sz="2200">
                <a:solidFill>
                  <a:srgbClr val="262626"/>
                </a:solidFill>
              </a:rPr>
              <a:t>• PRODUCT – hoe en wanneer: puntenverdeling /10 (Bijlage B), groepspunt, feedback in feedbackblok; deadline = één week na labo, 23.59 u, Smartschool-uploadzone</a:t>
            </a:r>
          </a:p>
          <a:p>
            <a:pPr>
              <a:spcAft>
                <a:spcPts val="1400"/>
              </a:spcAft>
            </a:pPr>
            <a:r>
              <a:rPr sz="2200">
                <a:solidFill>
                  <a:srgbClr val="262626"/>
                </a:solidFill>
              </a:rPr>
              <a:t>• PRODUCT – wat dien je in: Excel-verslagsjabloon (twee tabellen, twee grafieken, bepaling van B)</a:t>
            </a:r>
          </a:p>
          <a:p>
            <a:pPr>
              <a:spcAft>
                <a:spcPts val="1400"/>
              </a:spcAft>
            </a:pPr>
            <a:r>
              <a:rPr sz="2200">
                <a:solidFill>
                  <a:srgbClr val="262626"/>
                </a:solidFill>
              </a:rPr>
              <a:t>• PROCES &amp; ATTITUDE (40 %) – wat: I ≤ 5 A gerespecteerd en stroom kort ingeschakeld, balans correct getarreerd, geduldig en nauwkeurig afgelezen, samenwerking</a:t>
            </a:r>
          </a:p>
          <a:p>
            <a:pPr>
              <a:spcAft>
                <a:spcPts val="1400"/>
              </a:spcAft>
            </a:pPr>
            <a:r>
              <a:rPr sz="2200">
                <a:solidFill>
                  <a:srgbClr val="262626"/>
                </a:solidFill>
              </a:rPr>
              <a:t>• PROCES &amp; ATTITUDE – hoe: observatie door leerkracht met rubric van Bijlage C (10 thema's × 5 niveaus), individueel punt</a:t>
            </a:r>
          </a:p>
          <a:p>
            <a:pPr>
              <a:spcAft>
                <a:spcPts val="1400"/>
              </a:spcAft>
            </a:pPr>
            <a:r>
              <a:rPr sz="2200">
                <a:solidFill>
                  <a:srgbClr val="262626"/>
                </a:solidFill>
              </a:rPr>
              <a:t>• PEER-EVALUATIE: niet voorzien bij dit labo (tenzij leerkracht dit aankondigt)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