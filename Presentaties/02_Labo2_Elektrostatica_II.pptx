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LEERKRACHTENINFO:</a:t>
            </a:r>
          </a:p>
          <a:p>
            <a:r>
              <a:t>• REGISTRATIE LEERPLANDOELEN: dit labo is toegevoegd n.a.v. de vakvergadering van 15/09/2026 (LPD 2 F en 3 F gezien maar niet geregistreerd). Registreer na dit labo expliciet 2 F (wet van Coulomb, krachtwerking) en 3 F (veldsterkte, veldlijnen, superpositie); labo 3-5 registreren K1.</a:t>
            </a:r>
          </a:p>
          <a:p>
            <a:r>
              <a:t>• Applets: PhET Coulomb's Law (Macro: Q van –10 tot +10 µC, r 1-10 cm, F tot ±2000 N) en PhET Charges and Fields (ladingen ±1 nC, raster 0,5 m, sensor in V/m). Links op Smartschool zetten; HTML5, werkt op tablet.</a:t>
            </a:r>
          </a:p>
          <a:p>
            <a:r>
              <a:t>• Verwachte resultaten deel 1: met 5 µC en 5 µC: F = 562 N op 2 cm, 25 N op 10 cm; F(1/r²) perfecte rechte, k = 8,99·10⁹ op afrondingsfout na. Deel 3: 1 nC → E = 36 V/m op 0,5 m, 9,0 V/m op 1 m, 2,25 V/m op 2 m.</a:t>
            </a:r>
          </a:p>
          <a:p>
            <a:r>
              <a:t>• Opdracht 20 in de applet (+1 nC en +4 nC op 2 m): E = 0 op 2/3 m van de kleinste lading (x/(2–x) = 1/2 → x = 0,667 m).</a:t>
            </a:r>
          </a:p>
          <a:p>
            <a:r>
              <a:t>• Deel 2 en 3 zijn 'begeleid': laat het meetplan kort aftekenen vóór ze meten (thema 2 en 8 van de rubric). Snelle groepen: Electric Field Hockey level 3 of de 'alternatieve' ontwerpopdracht.</a:t>
            </a:r>
          </a:p>
          <a:p>
            <a:r>
              <a:t>• Timing: 10 min intro, deel 1 20 min, deel 2 15 min, deel 3 20 min, deel 4 20 min, deel 5 15 min; reflectie als huiswerk. Verslag: Excel-sjabloon met grafieken + schermafbeeldingen van de veldlijnen.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Schrijf de wet van Coulomb op en leg uit wat er met F gebeur…: F = k·|Q|·|Q'|/r². r verdubbelt → F wordt 4× kleiner; r halveert → F 4× groter; één lading 3× groter → F 3× groter.</a:t>
            </a:r>
          </a:p>
          <a:p>
            <a:r>
              <a:t>Modelantwoord – Wat is het verschil tussen de kracht F op een proeflading en…: F hangt af van de proeflading (F = q'·E); E is een eigenschap van het veld zelf, onafhankelijk van q'. Eenheid: N/C = V/m.</a:t>
            </a:r>
          </a:p>
          <a:p>
            <a:r>
              <a:t>Modelantwoord – Opdracht 9 van de cursus (drie ladingen op een lijn): hoe st…: De krachten van de afzonderlijke ladingen worden vectorieel opgeteld (F = F₁ + F₂, hier langs één lijn: 2,2 N + 1,8 N = 4,0 N of 2,2 N – 1,8 N = 0,4 N naargelang de ligging). Ja: superpositie geldt ook voor veldsterkten (E = ΣEᵢ).</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Formuleer de wet van Coulomb en de veldsterkteformule in woo…: De kracht tussen twee puntladingen is recht evenredig met het product van de ladingen en omgekeerd evenredig met het kwadraat van de afstand: F = k·|Q|·|Q'|/r². De veldsterkte van een puntlading is recht evenredig met de lading en omgekeerd evenredig met r²: E = k·|Q|/r². Verwacht k ≈ (8,9-9,0)·10⁹ N·m²/C²; verschil enkel door afrondingen bij het aflezen (applet geeft 3 bed. cijfers) – de simulatie rekent immers zelf met k = 8,99·10⁹.</a:t>
            </a:r>
          </a:p>
          <a:p>
            <a:r>
              <a:t>Modelantwoord – Waarom zet je F uit tegen 1/r² en niet tegen r om k te bepal…: F(r) is een kromme (hyperbool-achtig) waaruit je k niet rechtstreeks kan aflezen. F(1/r²) is een rechte door de oorsprong: de rico gebruikt alle meetpunten tegelijk, toont meteen of het verband klopt (lineariteit) en middelt afleesfouten uit.</a:t>
            </a:r>
          </a:p>
          <a:p>
            <a:r>
              <a:t>Modelantwoord – Een proeflading q' moet 'klein' zijn. Waarom? Wat zou er geb…: Een grote proeflading verplaatst (door influentie) de ladingen die het veld veroorzaken en verstoort zo het veld dat je wil meten. In de applet gebeurt dat niet (ladingen staan vast), in een echt experiment wel.</a:t>
            </a:r>
          </a:p>
          <a:p>
            <a:r>
              <a:t>Modelantwoord – Uit welke waarnemingen in deel 4 blijkt dat veldlijnen nooit…: In elk punt wijst de sensor één richting aan → veldlijnen kunnen niet snijden (anders twee richtingen). Pijlen wijzen weg van + en naar – ; bij de dipool lopen lijnen van + naar –. Tussen de 'platen' heffen de zijdelingse componenten van de vele ladingen elkaar op zodat enkel de loodrechte component overblijft: homogeen veld, evenwijdige lijnen; aan de randen buigen ze uit.</a:t>
            </a:r>
          </a:p>
          <a:p>
            <a:r>
              <a:t>Modelantwoord – Welke beperkingen heeft de simulatie als onderzoeksinstrumen…: Voordeel: exacte, instelbare ladingen en afstanden, geen lek, geen vochtigheid, kracht rechtstreeks afleesbaar. Nadelen: je meet het model, niet de werkelijkheid (de uitkomst zit al in de software ingebouwd); geen meetonzekerheid, dus geen echte foutenanalyse; puntladingen en 2D-voorstelling zijn idealiseringen; geen ervaring met echte opstellingen.</a:t>
            </a:r>
          </a:p>
          <a:p>
            <a:r>
              <a:t>Modelantwoord – Toepassing: zoek op hoe een elektrostatische luchtfilter of …: Rond scherpe punten is de ladingsdichtheid en dus E het grootst. Elektrostatische filter: dunne draden op hoge spanning ioniseren de lucht (corona); stofdeeltjes laden op en worden aangetrokken door geaarde platen. Bliksemafleider: de spits heeft het sterkste veld, ioniseert de lucht en geleidt de ontlading veilig naar de aarde.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0"/>
            <a:ext cx="6949440" cy="2743200"/>
          </a:xfrm>
          <a:prstGeom prst="rect">
            <a:avLst/>
          </a:prstGeom>
          <a:noFill/>
        </p:spPr>
        <p:txBody>
          <a:bodyPr wrap="square">
            <a:spAutoFit/>
          </a:bodyPr>
          <a:lstStyle/>
          <a:p>
            <a:r>
              <a:rPr sz="2800" b="1">
                <a:solidFill>
                  <a:srgbClr val="FFFFFF"/>
                </a:solidFill>
              </a:rPr>
              <a:t>Labo 2 – Elektrostatica II: wet van Coulomb en elektrisch veld (applets)</a:t>
            </a:r>
          </a:p>
          <a:p>
            <a:pPr>
              <a:spcBef>
                <a:spcPts val="1000"/>
              </a:spcBef>
            </a:pPr>
            <a:r>
              <a:rPr sz="1600">
                <a:solidFill>
                  <a:srgbClr val="DDE6F2"/>
                </a:solidFill>
              </a:rPr>
              <a:t>Richtduur: 2 lesuren • Type practicum: begeleid onderzoekspracticum met simulaties (per 2) – laptop/tablet</a:t>
            </a:r>
          </a:p>
          <a:p>
            <a:pPr>
              <a:spcBef>
                <a:spcPts val="1000"/>
              </a:spcBef>
            </a:pPr>
            <a:r>
              <a:rPr sz="1600">
                <a:solidFill>
                  <a:srgbClr val="DDE6F2"/>
                </a:solidFill>
              </a:rPr>
              <a:t>Mate van sturing: begeleid</a:t>
            </a:r>
          </a:p>
          <a:p>
            <a:pPr>
              <a:spcBef>
                <a:spcPts val="1000"/>
              </a:spcBef>
            </a:pPr>
            <a:r>
              <a:rPr sz="1600">
                <a:solidFill>
                  <a:srgbClr val="DDE6F2"/>
                </a:solidFill>
              </a:rPr>
              <a:t>Werkwijze: O – V – U – R</a:t>
            </a:r>
          </a:p>
        </p:txBody>
      </p:sp>
      <p:pic>
        <p:nvPicPr>
          <p:cNvPr id="4" name="Picture 3" descr="p24_0.jpg"/>
          <p:cNvPicPr>
            <a:picLocks noChangeAspect="1"/>
          </p:cNvPicPr>
          <p:nvPr/>
        </p:nvPicPr>
        <p:blipFill>
          <a:blip r:embed="rId2"/>
          <a:stretch>
            <a:fillRect/>
          </a:stretch>
        </p:blipFill>
        <p:spPr>
          <a:xfrm>
            <a:off x="7863840" y="2458256"/>
            <a:ext cx="3931920" cy="1941487"/>
          </a:xfrm>
          <a:prstGeom prst="rect">
            <a:avLst/>
          </a:prstGeom>
        </p:spPr>
      </p:pic>
      <p:sp>
        <p:nvSpPr>
          <p:cNvPr id="5" name="TextBox 4"/>
          <p:cNvSpPr txBox="1"/>
          <p:nvPr/>
        </p:nvSpPr>
        <p:spPr>
          <a:xfrm>
            <a:off x="548640" y="6035040"/>
            <a:ext cx="11094415" cy="457200"/>
          </a:xfrm>
          <a:prstGeom prst="rect">
            <a:avLst/>
          </a:prstGeom>
          <a:noFill/>
        </p:spPr>
        <p:txBody>
          <a:bodyPr wrap="none">
            <a:spAutoFit/>
          </a:bodyPr>
          <a:lstStyle/>
          <a:p>
            <a:r>
              <a:rPr sz="1100">
                <a:solidFill>
                  <a:srgbClr val="DDE6F2"/>
                </a:solidFill>
              </a:rPr>
              <a:t>HAST  •  Toegepaste fysica 5BCW  •  Labocursus volgens de OVUR-methode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LESDOELEN – na dit labo kan je …</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2</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600">
                <a:solidFill>
                  <a:srgbClr val="262626"/>
                </a:solidFill>
              </a:rPr>
              <a:t>• Experimenteel (in simulatie) aantonen dat kracht tussen twee puntladingen recht evenredig is met product van ladingen en omgekeerd evenredig met kwadraat van afstand, en constante k bepalen uit grafiek</a:t>
            </a:r>
          </a:p>
          <a:p>
            <a:pPr>
              <a:spcAft>
                <a:spcPts val="1400"/>
              </a:spcAft>
            </a:pPr>
            <a:r>
              <a:rPr sz="1600">
                <a:solidFill>
                  <a:srgbClr val="262626"/>
                </a:solidFill>
              </a:rPr>
              <a:t>• De elektrische veldsterkte definiëren als E = F/q', veldsterkte rond puntlading meten en verband E ~ 1/r² verifiëren</a:t>
            </a:r>
          </a:p>
          <a:p>
            <a:pPr>
              <a:spcAft>
                <a:spcPts val="1400"/>
              </a:spcAft>
            </a:pPr>
            <a:r>
              <a:rPr sz="1600">
                <a:solidFill>
                  <a:srgbClr val="262626"/>
                </a:solidFill>
              </a:rPr>
              <a:t>• De veldsterkte in punt bij meerdere ladingen construeren als vectorsom (superpositie) en controleren met simulatie</a:t>
            </a:r>
          </a:p>
          <a:p>
            <a:pPr>
              <a:spcAft>
                <a:spcPts val="1400"/>
              </a:spcAft>
            </a:pPr>
            <a:r>
              <a:rPr sz="1600">
                <a:solidFill>
                  <a:srgbClr val="262626"/>
                </a:solidFill>
              </a:rPr>
              <a:t>• Veldlijnenpatronen (puntlading, twee gelijke ladingen, dipool, platen) voorspellen, tekenen en vergelijken met simulatie en met cursus</a:t>
            </a:r>
          </a:p>
          <a:p>
            <a:pPr>
              <a:spcAft>
                <a:spcPts val="1400"/>
              </a:spcAft>
            </a:pPr>
            <a:r>
              <a:rPr sz="1600">
                <a:solidFill>
                  <a:srgbClr val="262626"/>
                </a:solidFill>
              </a:rPr>
              <a:t>• Zelf meetplan opstellen (variabelen, bereik, aantal metingen) en ontwerpprobleem oplossen met ladingen en velden</a:t>
            </a:r>
          </a:p>
          <a:p>
            <a:pPr>
              <a:spcAft>
                <a:spcPts val="1400"/>
              </a:spcAft>
            </a:pPr>
            <a:r>
              <a:rPr sz="1700" b="1">
                <a:solidFill>
                  <a:srgbClr val="1F4E79"/>
                </a:solidFill>
              </a:rPr>
              <a:t>LEERPLANDOELEN (III-BCSW-d / III-BCW-d)</a:t>
            </a:r>
          </a:p>
          <a:p>
            <a:pPr>
              <a:spcAft>
                <a:spcPts val="1400"/>
              </a:spcAft>
            </a:pPr>
            <a:r>
              <a:rPr sz="1600">
                <a:solidFill>
                  <a:srgbClr val="262626"/>
                </a:solidFill>
              </a:rPr>
              <a:t>• LPD 2 F: elektrische krachtwerking tussen puntladingen kwantitatief analyseren met wet van Coulomb</a:t>
            </a:r>
          </a:p>
          <a:p>
            <a:pPr>
              <a:spcAft>
                <a:spcPts val="1400"/>
              </a:spcAft>
            </a:pPr>
            <a:r>
              <a:rPr sz="1600">
                <a:solidFill>
                  <a:srgbClr val="262626"/>
                </a:solidFill>
              </a:rPr>
              <a:t>• LPD 3 F: elektrisch veld beschrijven met veldsterkte en veldlijnen; veldsterkte van puntlading; superpositie</a:t>
            </a:r>
          </a:p>
          <a:p>
            <a:pPr>
              <a:spcAft>
                <a:spcPts val="1400"/>
              </a:spcAft>
            </a:pPr>
            <a:r>
              <a:rPr sz="1600">
                <a:solidFill>
                  <a:srgbClr val="262626"/>
                </a:solidFill>
              </a:rPr>
              <a:t>• LPD 1 S (verbanden onderzoeken, grafisch verwerken), 2 S (machten van 10: µC, nC; eenheden N/C = V/m), 4 S (ontwerpprobleem oplossen)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VOORKENNIS – check vóór je begint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3</a:t>
            </a:r>
          </a:p>
        </p:txBody>
      </p:sp>
      <p:sp>
        <p:nvSpPr>
          <p:cNvPr id="5" name="Rectangle 4"/>
          <p:cNvSpPr/>
          <p:nvPr/>
        </p:nvSpPr>
        <p:spPr>
          <a:xfrm>
            <a:off x="0" y="914400"/>
            <a:ext cx="164592" cy="5943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Cursus Elektrostatica D2: wet van Coulomb F = k·|Q|·|Q'|/r² met k = 8,99·10⁹ N·m²/C²; opdrachten 3-11</a:t>
            </a:r>
          </a:p>
          <a:p>
            <a:pPr>
              <a:spcAft>
                <a:spcPts val="1400"/>
              </a:spcAft>
            </a:pPr>
            <a:r>
              <a:rPr sz="2200">
                <a:solidFill>
                  <a:srgbClr val="262626"/>
                </a:solidFill>
              </a:rPr>
              <a:t>• Cursus Elektrostatica D3: veldsterkte E = F/q', E = k·|Q|/r², superpositie, veldlijnen; opdrachten 18-20</a:t>
            </a:r>
          </a:p>
          <a:p>
            <a:pPr>
              <a:spcAft>
                <a:spcPts val="1400"/>
              </a:spcAft>
            </a:pPr>
            <a:r>
              <a:rPr sz="2200">
                <a:solidFill>
                  <a:srgbClr val="262626"/>
                </a:solidFill>
              </a:rPr>
              <a:t>• Grafisch: hoe maak je van omgekeerd kwadratisch verband rechte?</a:t>
            </a:r>
          </a:p>
          <a:p>
            <a:pPr>
              <a:spcAft>
                <a:spcPts val="600"/>
              </a:spcAft>
            </a:pPr>
            <a:r>
              <a:rPr sz="2200">
                <a:solidFill>
                  <a:srgbClr val="262626"/>
                </a:solidFill>
              </a:rPr>
              <a:t>      – (zet F uit tegen 1/r²)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O – ORIËNTEREN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Wat gaan we onderzoeken en waarom?</a:t>
            </a:r>
          </a:p>
          <a:p>
            <a:pPr algn="ctr">
              <a:spcBef>
                <a:spcPts val="600"/>
              </a:spcBef>
            </a:pPr>
            <a:r>
              <a:rPr sz="1800">
                <a:solidFill>
                  <a:srgbClr val="262626"/>
                </a:solidFill>
              </a:rPr>
              <a:t>Context – onderzoeksvraag – doel – oriëntatievragen (voorbereid thuis) – SMART-oefening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Context • Onderzoeksvraag • Doel van het onderzoek</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5</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700" b="1">
                <a:solidFill>
                  <a:srgbClr val="1F4E79"/>
                </a:solidFill>
              </a:rPr>
              <a:t>Context</a:t>
            </a:r>
          </a:p>
          <a:p>
            <a:pPr>
              <a:spcAft>
                <a:spcPts val="1400"/>
              </a:spcAft>
            </a:pPr>
            <a:r>
              <a:rPr sz="1600">
                <a:solidFill>
                  <a:srgbClr val="262626"/>
                </a:solidFill>
              </a:rPr>
              <a:t>• In labo 1 zag je krachten tussen ladingen, maar niet hoe groot ze zijn: echte ladingen zijn piepklein en lekken weg</a:t>
            </a:r>
          </a:p>
          <a:p>
            <a:pPr>
              <a:spcAft>
                <a:spcPts val="600"/>
              </a:spcAft>
            </a:pPr>
            <a:r>
              <a:rPr sz="1600">
                <a:solidFill>
                  <a:srgbClr val="262626"/>
                </a:solidFill>
              </a:rPr>
              <a:t>      – In simulatie kan je ladingen en afstanden exact instellen en kracht of veldsterkte aflezen</a:t>
            </a:r>
          </a:p>
          <a:p>
            <a:pPr>
              <a:spcAft>
                <a:spcPts val="600"/>
              </a:spcAft>
            </a:pPr>
            <a:r>
              <a:rPr sz="1600">
                <a:solidFill>
                  <a:srgbClr val="262626"/>
                </a:solidFill>
              </a:rPr>
              <a:t>      – Zo toets je wet van Coulomb en veldbegrip uit je cursus en leer je tegelijk hoe model (simulatie) als onderzoeksinstrument werkt – zoals ingenieurs doen bij ontwerpen van bliksemafleiders, printers of deeltjesversnellers</a:t>
            </a:r>
          </a:p>
          <a:p>
            <a:pPr>
              <a:spcAft>
                <a:spcPts val="1400"/>
              </a:spcAft>
            </a:pPr>
            <a:r>
              <a:rPr sz="1700" b="1">
                <a:solidFill>
                  <a:srgbClr val="1F4E79"/>
                </a:solidFill>
              </a:rPr>
              <a:t>Onderzoeksvraag</a:t>
            </a:r>
          </a:p>
          <a:p>
            <a:pPr>
              <a:spcAft>
                <a:spcPts val="1400"/>
              </a:spcAft>
            </a:pPr>
            <a:r>
              <a:rPr sz="1600">
                <a:solidFill>
                  <a:srgbClr val="262626"/>
                </a:solidFill>
              </a:rPr>
              <a:t>• Hoe hangt kracht tussen twee puntladingen af van grootte van ladingen en van hun onderlinge afstand?</a:t>
            </a:r>
          </a:p>
          <a:p>
            <a:pPr>
              <a:spcAft>
                <a:spcPts val="1400"/>
              </a:spcAft>
            </a:pPr>
            <a:r>
              <a:rPr sz="1600">
                <a:solidFill>
                  <a:srgbClr val="262626"/>
                </a:solidFill>
              </a:rPr>
              <a:t>• Hoe hangt veldsterkte rond puntlading af van afstand, en hoe stel je veld van meerdere ladingen samen?</a:t>
            </a:r>
          </a:p>
          <a:p>
            <a:pPr>
              <a:spcAft>
                <a:spcPts val="1400"/>
              </a:spcAft>
            </a:pPr>
            <a:r>
              <a:rPr sz="1700" b="1">
                <a:solidFill>
                  <a:srgbClr val="1F4E79"/>
                </a:solidFill>
              </a:rPr>
              <a:t>Doel van het onderzoek</a:t>
            </a:r>
          </a:p>
          <a:p>
            <a:pPr>
              <a:spcAft>
                <a:spcPts val="1400"/>
              </a:spcAft>
            </a:pPr>
            <a:r>
              <a:rPr sz="1600">
                <a:solidFill>
                  <a:srgbClr val="262626"/>
                </a:solidFill>
              </a:rPr>
              <a:t>• Wet van Coulomb en veldsterkteformule in simulatie verifiëren en k bepalen</a:t>
            </a:r>
          </a:p>
          <a:p>
            <a:pPr>
              <a:spcAft>
                <a:spcPts val="1400"/>
              </a:spcAft>
            </a:pPr>
            <a:r>
              <a:rPr sz="1600">
                <a:solidFill>
                  <a:srgbClr val="262626"/>
                </a:solidFill>
              </a:rPr>
              <a:t>• Zelf meetplan opstellen en grafisch verwerken (rechte door oorsprong)</a:t>
            </a:r>
          </a:p>
          <a:p>
            <a:pPr>
              <a:spcAft>
                <a:spcPts val="1400"/>
              </a:spcAft>
            </a:pPr>
            <a:r>
              <a:rPr sz="1600">
                <a:solidFill>
                  <a:srgbClr val="262626"/>
                </a:solidFill>
              </a:rPr>
              <a:t>• Veldlijnenpatronen voorspellen en controleren; ontwerpprobleem met velden oplossen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Oriëntatievragen (beantwoord vóór het labo)</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6</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1. Schrijf wet van Coulomb op en leg uit wat er met F gebeurt als r verdubbelt, als r halveert en als één lading verdrievoudigt</a:t>
            </a:r>
          </a:p>
          <a:p>
            <a:pPr>
              <a:spcAft>
                <a:spcPts val="1400"/>
              </a:spcAft>
            </a:pPr>
            <a:r>
              <a:rPr sz="2200">
                <a:solidFill>
                  <a:srgbClr val="262626"/>
                </a:solidFill>
              </a:rPr>
              <a:t>2. Wat is verschil tussen kracht F op proeflading en veldsterkte E in dat punt?</a:t>
            </a:r>
          </a:p>
          <a:p>
            <a:pPr>
              <a:spcAft>
                <a:spcPts val="600"/>
              </a:spcAft>
            </a:pPr>
            <a:r>
              <a:rPr sz="2200">
                <a:solidFill>
                  <a:srgbClr val="262626"/>
                </a:solidFill>
              </a:rPr>
              <a:t>      – In welke eenheid druk je E uit?</a:t>
            </a:r>
          </a:p>
          <a:p>
            <a:pPr>
              <a:spcAft>
                <a:spcPts val="1400"/>
              </a:spcAft>
            </a:pPr>
            <a:r>
              <a:rPr sz="2200">
                <a:solidFill>
                  <a:srgbClr val="262626"/>
                </a:solidFill>
              </a:rPr>
              <a:t>3. Opdracht 9 van cursus (drie ladingen op lijn): hoe stel je totale kracht samen?</a:t>
            </a:r>
          </a:p>
          <a:p>
            <a:pPr>
              <a:spcAft>
                <a:spcPts val="600"/>
              </a:spcAft>
            </a:pPr>
            <a:r>
              <a:rPr sz="2200">
                <a:solidFill>
                  <a:srgbClr val="262626"/>
                </a:solidFill>
              </a:rPr>
              <a:t>      – Geldt hetzelfde voor veldsterkten?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Oefenen op onderzoeksvragen (leerlijn SMART – stap 1: de vraag krijg je)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7</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i="1">
                <a:solidFill>
                  <a:srgbClr val="595959"/>
                </a:solidFill>
              </a:rPr>
              <a:t>In labo 1-3 krijg je onderzoeksvraag</a:t>
            </a:r>
          </a:p>
          <a:p>
            <a:pPr>
              <a:spcAft>
                <a:spcPts val="600"/>
              </a:spcAft>
            </a:pPr>
            <a:r>
              <a:rPr sz="2200">
                <a:solidFill>
                  <a:srgbClr val="262626"/>
                </a:solidFill>
              </a:rPr>
              <a:t>      – We bekijken samen waarom ze SMART is – vanaf labo 4 kies je ze zelf</a:t>
            </a:r>
          </a:p>
          <a:p>
            <a:pPr>
              <a:spcAft>
                <a:spcPts val="1400"/>
              </a:spcAft>
            </a:pPr>
            <a:r>
              <a:rPr sz="2200">
                <a:solidFill>
                  <a:srgbClr val="262626"/>
                </a:solidFill>
              </a:rPr>
              <a:t>• Onderzoeksvraag: Hoe hangt elektrische kracht F tussen twee puntladingen af van hun onderlinge afstand r (2 tot 10 cm, bij vaste ladingen) en van grootte van ladingen (bij vaste afstand), en hoe ziet veld rond één en twee ladingen eruit – onderzocht met de PhET-simulaties, tijdens dit labo?</a:t>
            </a:r>
          </a:p>
          <a:p>
            <a:pPr>
              <a:spcAft>
                <a:spcPts val="1400"/>
              </a:spcAft>
            </a:pPr>
            <a:r>
              <a:rPr sz="2200" i="1">
                <a:solidFill>
                  <a:srgbClr val="595959"/>
                </a:solidFill>
              </a:rPr>
              <a:t>Doe zelf: onderstreep in vraag grootheid die je verandert (O), omcirkel grootheid die je meet (A) en zet kader rond wat constant blijft (C)</a:t>
            </a:r>
          </a:p>
          <a:p>
            <a:pPr>
              <a:spcAft>
                <a:spcPts val="600"/>
              </a:spcAft>
            </a:pPr>
            <a:r>
              <a:rPr sz="2200">
                <a:solidFill>
                  <a:srgbClr val="262626"/>
                </a:solidFill>
              </a:rPr>
              <a:t>      – Lees → tabel: zo verantwoord je onderzoeksvraag letter per letter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Oefenen op onderzoeksvragen (leerlijn SMART – stap 1: de vraag krijg je)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8</a:t>
            </a:r>
          </a:p>
        </p:txBody>
      </p:sp>
      <p:graphicFrame>
        <p:nvGraphicFramePr>
          <p:cNvPr id="5" name="Table 4"/>
          <p:cNvGraphicFramePr>
            <a:graphicFrameLocks noGrp="1"/>
          </p:cNvGraphicFramePr>
          <p:nvPr/>
        </p:nvGraphicFramePr>
        <p:xfrm>
          <a:off x="457200" y="1143000"/>
          <a:ext cx="11277294" cy="2743200"/>
        </p:xfrm>
        <a:graphic>
          <a:graphicData uri="http://schemas.openxmlformats.org/drawingml/2006/table">
            <a:tbl>
              <a:tblPr firstRow="1" bandRow="1">
                <a:tableStyleId>{5C22544A-7EE6-4342-B048-85BDC9FD1C3A}</a:tableStyleId>
              </a:tblPr>
              <a:tblGrid>
                <a:gridCol w="2489792"/>
                <a:gridCol w="8787502"/>
              </a:tblGrid>
              <a:tr h="457200">
                <a:tc>
                  <a:txBody>
                    <a:bodyPr/>
                    <a:lstStyle/>
                    <a:p>
                      <a:r>
                        <a:rPr sz="1200" b="1">
                          <a:solidFill>
                            <a:srgbClr val="FFFFFF"/>
                          </a:solidFill>
                        </a:rPr>
                        <a:t>Letter</a:t>
                      </a:r>
                    </a:p>
                  </a:txBody>
                  <a:tcPr>
                    <a:solidFill>
                      <a:srgbClr val="1F4E79"/>
                    </a:solidFill>
                  </a:tcPr>
                </a:tc>
                <a:tc>
                  <a:txBody>
                    <a:bodyPr/>
                    <a:lstStyle/>
                    <a:p>
                      <a:r>
                        <a:rPr sz="1200" b="1">
                          <a:solidFill>
                            <a:srgbClr val="FFFFFF"/>
                          </a:solidFill>
                        </a:rPr>
                        <a:t>Waarom is deze vraag SMART?</a:t>
                      </a:r>
                    </a:p>
                  </a:txBody>
                  <a:tcPr>
                    <a:solidFill>
                      <a:srgbClr val="1F4E79"/>
                    </a:solidFill>
                  </a:tcPr>
                </a:tc>
              </a:tr>
              <a:tr h="457200">
                <a:tc>
                  <a:txBody>
                    <a:bodyPr/>
                    <a:lstStyle/>
                    <a:p>
                      <a:r>
                        <a:rPr sz="1200">
                          <a:solidFill>
                            <a:srgbClr val="262626"/>
                          </a:solidFill>
                        </a:rPr>
                        <a:t>S – Specifiek</a:t>
                      </a:r>
                    </a:p>
                  </a:txBody>
                  <a:tcPr>
                    <a:solidFill>
                      <a:srgbClr val="FFFFFF"/>
                    </a:solidFill>
                  </a:tcPr>
                </a:tc>
                <a:tc>
                  <a:txBody>
                    <a:bodyPr/>
                    <a:lstStyle/>
                    <a:p>
                      <a:r>
                        <a:rPr sz="1200">
                          <a:solidFill>
                            <a:srgbClr val="262626"/>
                          </a:solidFill>
                        </a:rPr>
                        <a:t>Twee duidelijke verbanden met telkens één variabele (F(r) bij vaste ladingen, F(q) bij vaste afstand) plus een afgebakende kwalitatieve vraag (veldlijnenpatronen). Je weet precies wat je verandert, wat je meet en wat je constant houdt.</a:t>
                      </a:r>
                    </a:p>
                  </a:txBody>
                  <a:tcPr>
                    <a:solidFill>
                      <a:srgbClr val="FFFFFF"/>
                    </a:solidFill>
                  </a:tcPr>
                </a:tc>
              </a:tr>
              <a:tr h="457200">
                <a:tc>
                  <a:txBody>
                    <a:bodyPr/>
                    <a:lstStyle/>
                    <a:p>
                      <a:r>
                        <a:rPr sz="1200">
                          <a:solidFill>
                            <a:srgbClr val="262626"/>
                          </a:solidFill>
                        </a:rPr>
                        <a:t>M – Meetbaar</a:t>
                      </a:r>
                    </a:p>
                  </a:txBody>
                  <a:tcPr>
                    <a:solidFill>
                      <a:srgbClr val="F2F5FA"/>
                    </a:solidFill>
                  </a:tcPr>
                </a:tc>
                <a:tc>
                  <a:txBody>
                    <a:bodyPr/>
                    <a:lstStyle/>
                    <a:p>
                      <a:r>
                        <a:rPr sz="1200">
                          <a:solidFill>
                            <a:srgbClr val="262626"/>
                          </a:solidFill>
                        </a:rPr>
                        <a:t>De simulatie geeft F in N; r stel je in cm in en q in µC; veldlijnen bekijk en schets je. Alles komt in tabellen en grafieken.</a:t>
                      </a:r>
                    </a:p>
                  </a:txBody>
                  <a:tcPr>
                    <a:solidFill>
                      <a:srgbClr val="F2F5FA"/>
                    </a:solidFill>
                  </a:tcPr>
                </a:tc>
              </a:tr>
              <a:tr h="457200">
                <a:tc>
                  <a:txBody>
                    <a:bodyPr/>
                    <a:lstStyle/>
                    <a:p>
                      <a:r>
                        <a:rPr sz="1200">
                          <a:solidFill>
                            <a:srgbClr val="262626"/>
                          </a:solidFill>
                        </a:rPr>
                        <a:t>A – Aanvaardbaar</a:t>
                      </a:r>
                    </a:p>
                  </a:txBody>
                  <a:tcPr>
                    <a:solidFill>
                      <a:srgbClr val="FFFFFF"/>
                    </a:solidFill>
                  </a:tcPr>
                </a:tc>
                <a:tc>
                  <a:txBody>
                    <a:bodyPr/>
                    <a:lstStyle/>
                    <a:p>
                      <a:r>
                        <a:rPr sz="1200">
                          <a:solidFill>
                            <a:srgbClr val="262626"/>
                          </a:solidFill>
                        </a:rPr>
                        <a:t>Zinvol: dit is de wet van Coulomb en het veldbegrip – de kern van dit hoofdstuk; een simulatie is veilig en gratis.</a:t>
                      </a:r>
                    </a:p>
                  </a:txBody>
                  <a:tcPr>
                    <a:solidFill>
                      <a:srgbClr val="FFFFFF"/>
                    </a:solidFill>
                  </a:tcPr>
                </a:tc>
              </a:tr>
              <a:tr h="457200">
                <a:tc>
                  <a:txBody>
                    <a:bodyPr/>
                    <a:lstStyle/>
                    <a:p>
                      <a:r>
                        <a:rPr sz="1200">
                          <a:solidFill>
                            <a:srgbClr val="262626"/>
                          </a:solidFill>
                        </a:rPr>
                        <a:t>R – Realistisch</a:t>
                      </a:r>
                    </a:p>
                  </a:txBody>
                  <a:tcPr>
                    <a:solidFill>
                      <a:srgbClr val="F2F5FA"/>
                    </a:solidFill>
                  </a:tcPr>
                </a:tc>
                <a:tc>
                  <a:txBody>
                    <a:bodyPr/>
                    <a:lstStyle/>
                    <a:p>
                      <a:r>
                        <a:rPr sz="1200">
                          <a:solidFill>
                            <a:srgbClr val="262626"/>
                          </a:solidFill>
                        </a:rPr>
                        <a:t>Haalbaar: in de applets stel je in enkele minuten tien waarden in; het bereik 2-10 cm past op het scherm; twee lesuren volstaan voor de delen 1-5.</a:t>
                      </a:r>
                    </a:p>
                  </a:txBody>
                  <a:tcPr>
                    <a:solidFill>
                      <a:srgbClr val="F2F5FA"/>
                    </a:solidFill>
                  </a:tcPr>
                </a:tc>
              </a:tr>
              <a:tr h="457200">
                <a:tc>
                  <a:txBody>
                    <a:bodyPr/>
                    <a:lstStyle/>
                    <a:p>
                      <a:r>
                        <a:rPr sz="1200">
                          <a:solidFill>
                            <a:srgbClr val="262626"/>
                          </a:solidFill>
                        </a:rPr>
                        <a:t>T – Tijdsgebonden</a:t>
                      </a:r>
                    </a:p>
                  </a:txBody>
                  <a:tcPr>
                    <a:solidFill>
                      <a:srgbClr val="FFFFFF"/>
                    </a:solidFill>
                  </a:tcPr>
                </a:tc>
                <a:tc>
                  <a:txBody>
                    <a:bodyPr/>
                    <a:lstStyle/>
                    <a:p>
                      <a:r>
                        <a:rPr sz="1200">
                          <a:solidFill>
                            <a:srgbClr val="262626"/>
                          </a:solidFill>
                        </a:rPr>
                        <a:t>In de tijd: metingen tijdens dit labo, Excel-verslag binnen één week.</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V – VOORBEREIDEN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Hoe pakken we het aan?</a:t>
            </a:r>
          </a:p>
          <a:p>
            <a:pPr algn="ctr">
              <a:spcBef>
                <a:spcPts val="600"/>
              </a:spcBef>
            </a:pPr>
            <a:r>
              <a:rPr sz="1800">
                <a:solidFill>
                  <a:srgbClr val="262626"/>
                </a:solidFill>
              </a:rPr>
              <a:t>Benodigdheden – theorie – veiligheid – hypothese – werkplan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Benodigdheden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10</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Laptop of tablet met internet</a:t>
            </a:r>
          </a:p>
          <a:p>
            <a:pPr>
              <a:spcAft>
                <a:spcPts val="600"/>
              </a:spcAft>
            </a:pPr>
            <a:r>
              <a:rPr sz="2200">
                <a:solidFill>
                  <a:srgbClr val="262626"/>
                </a:solidFill>
              </a:rPr>
              <a:t>      – Applets (links op Smartschool): PhET 'Coulomb's Law' (tabblad Macro Scale), PhET 'Charges and Fields', PhET 'Electric Field Hockey' (ontwerpuitdaging)</a:t>
            </a:r>
          </a:p>
          <a:p>
            <a:pPr>
              <a:spcAft>
                <a:spcPts val="600"/>
              </a:spcAft>
            </a:pPr>
            <a:r>
              <a:rPr sz="2200">
                <a:solidFill>
                  <a:srgbClr val="262626"/>
                </a:solidFill>
              </a:rPr>
              <a:t>      – Rekenmachine, Excel voor grafieken</a:t>
            </a:r>
          </a:p>
          <a:p>
            <a:pPr>
              <a:spcAft>
                <a:spcPts val="1400"/>
              </a:spcAft>
            </a:pPr>
            <a:r>
              <a:rPr sz="2200">
                <a:solidFill>
                  <a:srgbClr val="262626"/>
                </a:solidFill>
              </a:rPr>
              <a:t>• Cursus Elektrostatica D2 en D3 bij hand (formules, opdrachten 9, 18-20, figuren 1.22-1.27)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Theorie-overzicht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11</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600">
                <a:solidFill>
                  <a:srgbClr val="262626"/>
                </a:solidFill>
              </a:rPr>
              <a:t>• Wet van Coulomb</a:t>
            </a:r>
          </a:p>
          <a:p>
            <a:pPr>
              <a:spcAft>
                <a:spcPts val="600"/>
              </a:spcAft>
            </a:pPr>
            <a:r>
              <a:rPr sz="1600">
                <a:solidFill>
                  <a:srgbClr val="262626"/>
                </a:solidFill>
              </a:rPr>
              <a:t>      – Kracht tussen twee puntladingen, langs verbindingslijn; gelijknamig = afstoting, ongelijknamig = aantrekking:</a:t>
            </a:r>
          </a:p>
          <a:p>
            <a:pPr algn="ctr">
              <a:spcBef>
                <a:spcPts val="600"/>
              </a:spcBef>
              <a:spcAft>
                <a:spcPts val="1400"/>
              </a:spcAft>
            </a:pPr>
            <mc:AlternateContent xmlns:mc="http://schemas.openxmlformats.org/markup-compatibility/2006">
              <mc:Choice xmlns:a14="http://schemas.microsoft.com/office/drawing/2010/main" Requires="a14">
                <a14:m xmlns:m="http://schemas.openxmlformats.org/officeDocument/2006/math">
                  <m:oMathPara>
                    <m:oMathParaPr>
                      <m:jc m:val="centerGroup"/>
                    </m:oMathParaPr>
                    <m:oMath>
                      <m:r>
                        <a:rPr lang="nl-BE" sz="2200" b="1">
                          <a:solidFill>
                            <a:srgbClr val="1F4E79"/>
                          </a:solidFill>
                          <a:latin typeface="Cambria Math"/>
                        </a:rPr>
                        <m:t xml:space="preserve">F</m:t>
                      </m:r>
                      <m:r>
                        <a:rPr lang="nl-BE" sz="2200" b="1">
                          <a:solidFill>
                            <a:srgbClr val="1F4E79"/>
                          </a:solidFill>
                          <a:latin typeface="Cambria Math"/>
                        </a:rPr>
                        <m:t xml:space="preserve">=</m:t>
                      </m:r>
                      <m:r>
                        <a:rPr lang="nl-BE" sz="2200" b="1">
                          <a:solidFill>
                            <a:srgbClr val="1F4E79"/>
                          </a:solidFill>
                          <a:latin typeface="Cambria Math"/>
                        </a:rPr>
                        <m:t xml:space="preserve">k</m:t>
                      </m:r>
                      <m:r>
                        <a:rPr lang="nl-BE" sz="2200" b="1">
                          <a:solidFill>
                            <a:srgbClr val="1F4E79"/>
                          </a:solidFill>
                          <a:latin typeface="Cambria Math"/>
                        </a:rPr>
                        <m:t xml:space="preserve">·</m:t>
                      </m:r>
                      <m:f>
                        <m:fPr/>
                        <m:num>
                          <m:d>
                            <m:dPr>
                              <m:begChr m:val="|"/>
                              <m:endChr m:val="|"/>
                            </m:dPr>
                            <m:e>
                              <m:sSub>
                                <m:e>
                                  <m:r>
                                    <a:rPr lang="nl-BE" sz="2200" b="1">
                                      <a:solidFill>
                                        <a:srgbClr val="1F4E79"/>
                                      </a:solidFill>
                                      <a:latin typeface="Cambria Math"/>
                                    </a:rPr>
                                    <m:t xml:space="preserve">Q</m:t>
                                  </m:r>
                                </m:e>
                                <m:sub>
                                  <m:r>
                                    <a:rPr lang="nl-BE" sz="2200" b="1">
                                      <a:solidFill>
                                        <a:srgbClr val="1F4E79"/>
                                      </a:solidFill>
                                      <a:latin typeface="Cambria Math"/>
                                    </a:rPr>
                                    <m:t xml:space="preserve">1</m:t>
                                  </m:r>
                                </m:sub>
                              </m:sSub>
                            </m:e>
                          </m:d>
                          <m:r>
                            <a:rPr lang="nl-BE" sz="2200" b="1">
                              <a:solidFill>
                                <a:srgbClr val="1F4E79"/>
                              </a:solidFill>
                              <a:latin typeface="Cambria Math"/>
                            </a:rPr>
                            <m:t xml:space="preserve">·</m:t>
                          </m:r>
                          <m:d>
                            <m:dPr>
                              <m:begChr m:val="|"/>
                              <m:endChr m:val="|"/>
                            </m:dPr>
                            <m:e>
                              <m:sSub>
                                <m:e>
                                  <m:r>
                                    <a:rPr lang="nl-BE" sz="2200" b="1">
                                      <a:solidFill>
                                        <a:srgbClr val="1F4E79"/>
                                      </a:solidFill>
                                      <a:latin typeface="Cambria Math"/>
                                    </a:rPr>
                                    <m:t xml:space="preserve">Q</m:t>
                                  </m:r>
                                </m:e>
                                <m:sub>
                                  <m:r>
                                    <a:rPr lang="nl-BE" sz="2200" b="1">
                                      <a:solidFill>
                                        <a:srgbClr val="1F4E79"/>
                                      </a:solidFill>
                                      <a:latin typeface="Cambria Math"/>
                                    </a:rPr>
                                    <m:t xml:space="preserve">2</m:t>
                                  </m:r>
                                </m:sub>
                              </m:sSub>
                            </m:e>
                          </m:d>
                        </m:num>
                        <m:den>
                          <m:sSup>
                            <m:e>
                              <m:r>
                                <a:rPr lang="nl-BE" sz="2200" b="1">
                                  <a:solidFill>
                                    <a:srgbClr val="1F4E79"/>
                                  </a:solidFill>
                                  <a:latin typeface="Cambria Math"/>
                                </a:rPr>
                                <m:t xml:space="preserve">r</m:t>
                              </m:r>
                            </m:e>
                            <m:sup>
                              <m:r>
                                <a:rPr lang="nl-BE" sz="2200" b="1">
                                  <a:solidFill>
                                    <a:srgbClr val="1F4E79"/>
                                  </a:solidFill>
                                  <a:latin typeface="Cambria Math"/>
                                </a:rPr>
                                <m:t xml:space="preserve">2</m:t>
                              </m:r>
                            </m:sup>
                          </m:sSup>
                        </m:den>
                      </m:f>
                      <m:r>
                        <a:rPr lang="nl-BE" sz="2200" b="1">
                          <a:solidFill>
                            <a:srgbClr val="1F4E79"/>
                          </a:solidFill>
                          <a:latin typeface="Cambria Math"/>
                        </a:rPr>
                        <m:t xml:space="preserve">      </m:t>
                      </m:r>
                      <m:r>
                        <a:rPr lang="nl-BE" sz="2200" b="1">
                          <a:solidFill>
                            <a:srgbClr val="1F4E79"/>
                          </a:solidFill>
                          <a:latin typeface="Cambria Math"/>
                        </a:rPr>
                        <m:t xml:space="preserve">k</m:t>
                      </m:r>
                      <m:r>
                        <a:rPr lang="nl-BE" sz="2200" b="1">
                          <a:solidFill>
                            <a:srgbClr val="1F4E79"/>
                          </a:solidFill>
                          <a:latin typeface="Cambria Math"/>
                        </a:rPr>
                        <m:t xml:space="preserve">=</m:t>
                      </m:r>
                      <m:r>
                        <a:rPr lang="nl-BE" sz="2200" b="1">
                          <a:solidFill>
                            <a:srgbClr val="1F4E79"/>
                          </a:solidFill>
                          <a:latin typeface="Cambria Math"/>
                        </a:rPr>
                        <m:t xml:space="preserve">8</m:t>
                      </m:r>
                      <m:r>
                        <a:rPr lang="nl-BE" sz="2200" b="1">
                          <a:solidFill>
                            <a:srgbClr val="1F4E79"/>
                          </a:solidFill>
                          <a:latin typeface="Cambria Math"/>
                        </a:rPr>
                        <m:t xml:space="preserve">,</m:t>
                      </m:r>
                      <m:r>
                        <a:rPr lang="nl-BE" sz="2200" b="1">
                          <a:solidFill>
                            <a:srgbClr val="1F4E79"/>
                          </a:solidFill>
                          <a:latin typeface="Cambria Math"/>
                        </a:rPr>
                        <m:t xml:space="preserve">9</m:t>
                      </m:r>
                      <m:r>
                        <a:rPr lang="nl-BE" sz="2200" b="1">
                          <a:solidFill>
                            <a:srgbClr val="1F4E79"/>
                          </a:solidFill>
                          <a:latin typeface="Cambria Math"/>
                        </a:rPr>
                        <m:t xml:space="preserve">9</m:t>
                      </m:r>
                      <m:r>
                        <a:rPr lang="nl-BE" sz="2200" b="1">
                          <a:solidFill>
                            <a:srgbClr val="1F4E79"/>
                          </a:solidFill>
                          <a:latin typeface="Cambria Math"/>
                        </a:rPr>
                        <m:t xml:space="preserve">·</m:t>
                      </m:r>
                      <m:r>
                        <a:rPr lang="nl-BE" sz="2200" b="1">
                          <a:solidFill>
                            <a:srgbClr val="1F4E79"/>
                          </a:solidFill>
                          <a:latin typeface="Cambria Math"/>
                        </a:rPr>
                        <m:t xml:space="preserve">1</m:t>
                      </m:r>
                      <m:sSup>
                        <m:e>
                          <m:r>
                            <a:rPr lang="nl-BE" sz="2200" b="1">
                              <a:solidFill>
                                <a:srgbClr val="1F4E79"/>
                              </a:solidFill>
                              <a:latin typeface="Cambria Math"/>
                            </a:rPr>
                            <m:t xml:space="preserve">0</m:t>
                          </m:r>
                        </m:e>
                        <m:sup>
                          <m:r>
                            <a:rPr lang="nl-BE" sz="2200" b="1">
                              <a:solidFill>
                                <a:srgbClr val="1F4E79"/>
                              </a:solidFill>
                              <a:latin typeface="Cambria Math"/>
                            </a:rPr>
                            <m:t xml:space="preserve">9</m:t>
                          </m:r>
                        </m:sup>
                      </m:sSup>
                      <m:r>
                        <a:rPr lang="nl-BE" sz="2200" b="1">
                          <a:solidFill>
                            <a:srgbClr val="1F4E79"/>
                          </a:solidFill>
                          <a:latin typeface="Cambria Math"/>
                        </a:rPr>
                        <m:t xml:space="preserve"> </m:t>
                      </m:r>
                      <m:f>
                        <m:fPr/>
                        <m:num>
                          <m:r>
                            <m:rPr>
                              <m:sty m:val="p"/>
                            </m:rPr>
                            <a:rPr lang="nl-BE" sz="2200" b="1">
                              <a:solidFill>
                                <a:srgbClr val="1F4E79"/>
                              </a:solidFill>
                              <a:latin typeface="Cambria Math"/>
                            </a:rPr>
                            <m:t xml:space="preserve">N</m:t>
                          </m:r>
                          <m:r>
                            <a:rPr lang="nl-BE" sz="2200" b="1">
                              <a:solidFill>
                                <a:srgbClr val="1F4E79"/>
                              </a:solidFill>
                              <a:latin typeface="Cambria Math"/>
                            </a:rPr>
                            <m:t xml:space="preserve">·</m:t>
                          </m:r>
                          <m:sSup>
                            <m:e>
                              <m:r>
                                <m:rPr>
                                  <m:sty m:val="p"/>
                                </m:rPr>
                                <a:rPr lang="nl-BE" sz="2200" b="1">
                                  <a:solidFill>
                                    <a:srgbClr val="1F4E79"/>
                                  </a:solidFill>
                                  <a:latin typeface="Cambria Math"/>
                                </a:rPr>
                                <m:t xml:space="preserve">m</m:t>
                              </m:r>
                            </m:e>
                            <m:sup>
                              <m:r>
                                <a:rPr lang="nl-BE" sz="2200" b="1">
                                  <a:solidFill>
                                    <a:srgbClr val="1F4E79"/>
                                  </a:solidFill>
                                  <a:latin typeface="Cambria Math"/>
                                </a:rPr>
                                <m:t xml:space="preserve">2</m:t>
                              </m:r>
                            </m:sup>
                          </m:sSup>
                        </m:num>
                        <m:den>
                          <m:sSup>
                            <m:e>
                              <m:r>
                                <m:rPr>
                                  <m:sty m:val="p"/>
                                </m:rPr>
                                <a:rPr lang="nl-BE" sz="2200" b="1">
                                  <a:solidFill>
                                    <a:srgbClr val="1F4E79"/>
                                  </a:solidFill>
                                  <a:latin typeface="Cambria Math"/>
                                </a:rPr>
                                <m:t xml:space="preserve">C</m:t>
                              </m:r>
                            </m:e>
                            <m:sup>
                              <m:r>
                                <a:rPr lang="nl-BE" sz="2200" b="1">
                                  <a:solidFill>
                                    <a:srgbClr val="1F4E79"/>
                                  </a:solidFill>
                                  <a:latin typeface="Cambria Math"/>
                                </a:rPr>
                                <m:t xml:space="preserve">2</m:t>
                              </m:r>
                            </m:sup>
                          </m:sSup>
                        </m:den>
                      </m:f>
                    </m:oMath>
                  </m:oMathPara>
                </a14:m>
              </mc:Choice>
              <mc:Fallback>
                <a:r>
                  <a:rPr lang="nl-BE" sz="2200" b="1">
                    <a:solidFill>
                      <a:srgbClr val="1F4E79"/>
                    </a:solidFill>
                  </a:rPr>
                  <a:t>F = k · (|Q₁| · |Q₂|) / (r²)  k = 8,99 · 10⁹  (N · m²) / (C²)</a:t>
                </a:r>
              </mc:Fallback>
            </mc:AlternateContent>
          </a:p>
          <a:p>
            <a:pPr>
              <a:spcAft>
                <a:spcPts val="1400"/>
              </a:spcAft>
            </a:pPr>
            <a:r>
              <a:rPr sz="1600">
                <a:solidFill>
                  <a:srgbClr val="262626"/>
                </a:solidFill>
              </a:rPr>
              <a:t>• Veldsterkte</a:t>
            </a:r>
          </a:p>
          <a:p>
            <a:pPr>
              <a:spcAft>
                <a:spcPts val="600"/>
              </a:spcAft>
            </a:pPr>
            <a:r>
              <a:rPr sz="1600">
                <a:solidFill>
                  <a:srgbClr val="262626"/>
                </a:solidFill>
              </a:rPr>
              <a:t>      – Veld in punt is kracht per eenheid van (positieve) proeflading; rond puntlading Q is radiaal:</a:t>
            </a:r>
          </a:p>
          <a:p>
            <a:pPr algn="ctr">
              <a:spcBef>
                <a:spcPts val="600"/>
              </a:spcBef>
              <a:spcAft>
                <a:spcPts val="1400"/>
              </a:spcAft>
            </a:pPr>
            <mc:AlternateContent xmlns:mc="http://schemas.openxmlformats.org/markup-compatibility/2006">
              <mc:Choice xmlns:a14="http://schemas.microsoft.com/office/drawing/2010/main" Requires="a14">
                <a14:m xmlns:m="http://schemas.openxmlformats.org/officeDocument/2006/math">
                  <m:oMathPara>
                    <m:oMathParaPr>
                      <m:jc m:val="centerGroup"/>
                    </m:oMathParaPr>
                    <m:oMath>
                      <m:acc>
                        <m:accPr>
                          <m:chr m:val="⃗"/>
                        </m:accPr>
                        <m:e>
                          <m:r>
                            <a:rPr lang="nl-BE" sz="2200" b="1">
                              <a:solidFill>
                                <a:srgbClr val="1F4E79"/>
                              </a:solidFill>
                              <a:latin typeface="Cambria Math"/>
                            </a:rPr>
                            <m:t xml:space="preserve">E</m:t>
                          </m:r>
                        </m:e>
                      </m:acc>
                      <m:r>
                        <a:rPr lang="nl-BE" sz="2200" b="1">
                          <a:solidFill>
                            <a:srgbClr val="1F4E79"/>
                          </a:solidFill>
                          <a:latin typeface="Cambria Math"/>
                        </a:rPr>
                        <m:t xml:space="preserve">=</m:t>
                      </m:r>
                      <m:f>
                        <m:fPr/>
                        <m:num>
                          <m:acc>
                            <m:accPr>
                              <m:chr m:val="⃗"/>
                            </m:accPr>
                            <m:e>
                              <m:r>
                                <a:rPr lang="nl-BE" sz="2200" b="1">
                                  <a:solidFill>
                                    <a:srgbClr val="1F4E79"/>
                                  </a:solidFill>
                                  <a:latin typeface="Cambria Math"/>
                                </a:rPr>
                                <m:t xml:space="preserve">F</m:t>
                              </m:r>
                            </m:e>
                          </m:acc>
                        </m:num>
                        <m:den>
                          <m:sSub>
                            <m:e>
                              <m:r>
                                <a:rPr lang="nl-BE" sz="2200" b="1">
                                  <a:solidFill>
                                    <a:srgbClr val="1F4E79"/>
                                  </a:solidFill>
                                  <a:latin typeface="Cambria Math"/>
                                </a:rPr>
                                <m:t xml:space="preserve">q</m:t>
                              </m:r>
                            </m:e>
                            <m:sub>
                              <m:r>
                                <a:rPr lang="nl-BE" sz="2200" b="1">
                                  <a:solidFill>
                                    <a:srgbClr val="1F4E79"/>
                                  </a:solidFill>
                                  <a:latin typeface="Cambria Math"/>
                                </a:rPr>
                                <m:t xml:space="preserve">0</m:t>
                              </m:r>
                            </m:sub>
                          </m:sSub>
                        </m:den>
                      </m:f>
                      <m:r>
                        <a:rPr lang="nl-BE" sz="2200" b="1">
                          <a:solidFill>
                            <a:srgbClr val="1F4E79"/>
                          </a:solidFill>
                          <a:latin typeface="Cambria Math"/>
                        </a:rPr>
                        <m:t xml:space="preserve">      </m:t>
                      </m:r>
                      <m:r>
                        <a:rPr lang="nl-BE" sz="2200" b="1">
                          <a:solidFill>
                            <a:srgbClr val="1F4E79"/>
                          </a:solidFill>
                          <a:latin typeface="Cambria Math"/>
                        </a:rPr>
                        <m:t xml:space="preserve">E</m:t>
                      </m:r>
                      <m:r>
                        <a:rPr lang="nl-BE" sz="2200" b="1">
                          <a:solidFill>
                            <a:srgbClr val="1F4E79"/>
                          </a:solidFill>
                          <a:latin typeface="Cambria Math"/>
                        </a:rPr>
                        <m:t xml:space="preserve">=</m:t>
                      </m:r>
                      <m:r>
                        <a:rPr lang="nl-BE" sz="2200" b="1">
                          <a:solidFill>
                            <a:srgbClr val="1F4E79"/>
                          </a:solidFill>
                          <a:latin typeface="Cambria Math"/>
                        </a:rPr>
                        <m:t xml:space="preserve">k</m:t>
                      </m:r>
                      <m:r>
                        <a:rPr lang="nl-BE" sz="2200" b="1">
                          <a:solidFill>
                            <a:srgbClr val="1F4E79"/>
                          </a:solidFill>
                          <a:latin typeface="Cambria Math"/>
                        </a:rPr>
                        <m:t xml:space="preserve">·</m:t>
                      </m:r>
                      <m:f>
                        <m:fPr/>
                        <m:num>
                          <m:d>
                            <m:dPr>
                              <m:begChr m:val="|"/>
                              <m:endChr m:val="|"/>
                            </m:dPr>
                            <m:e>
                              <m:r>
                                <a:rPr lang="nl-BE" sz="2200" b="1">
                                  <a:solidFill>
                                    <a:srgbClr val="1F4E79"/>
                                  </a:solidFill>
                                  <a:latin typeface="Cambria Math"/>
                                </a:rPr>
                                <m:t xml:space="preserve">Q</m:t>
                              </m:r>
                            </m:e>
                          </m:d>
                        </m:num>
                        <m:den>
                          <m:sSup>
                            <m:e>
                              <m:r>
                                <a:rPr lang="nl-BE" sz="2200" b="1">
                                  <a:solidFill>
                                    <a:srgbClr val="1F4E79"/>
                                  </a:solidFill>
                                  <a:latin typeface="Cambria Math"/>
                                </a:rPr>
                                <m:t xml:space="preserve">r</m:t>
                              </m:r>
                            </m:e>
                            <m:sup>
                              <m:r>
                                <a:rPr lang="nl-BE" sz="2200" b="1">
                                  <a:solidFill>
                                    <a:srgbClr val="1F4E79"/>
                                  </a:solidFill>
                                  <a:latin typeface="Cambria Math"/>
                                </a:rPr>
                                <m:t xml:space="preserve">2</m:t>
                              </m:r>
                            </m:sup>
                          </m:sSup>
                        </m:den>
                      </m:f>
                      <m:r>
                        <a:rPr lang="nl-BE" sz="2200" b="1">
                          <a:solidFill>
                            <a:srgbClr val="1F4E79"/>
                          </a:solidFill>
                          <a:latin typeface="Cambria Math"/>
                        </a:rPr>
                        <m:t xml:space="preserve">      </m:t>
                      </m:r>
                      <m:r>
                        <a:rPr lang="nl-BE" sz="2200" b="1">
                          <a:solidFill>
                            <a:srgbClr val="1F4E79"/>
                          </a:solidFill>
                          <a:latin typeface="Cambria Math"/>
                        </a:rPr>
                        <m:t xml:space="preserve">[</m:t>
                      </m:r>
                      <m:r>
                        <a:rPr lang="nl-BE" sz="2200" b="1">
                          <a:solidFill>
                            <a:srgbClr val="1F4E79"/>
                          </a:solidFill>
                          <a:latin typeface="Cambria Math"/>
                        </a:rPr>
                        <m:t xml:space="preserve">E</m:t>
                      </m:r>
                      <m:r>
                        <a:rPr lang="nl-BE" sz="2200" b="1">
                          <a:solidFill>
                            <a:srgbClr val="1F4E79"/>
                          </a:solidFill>
                          <a:latin typeface="Cambria Math"/>
                        </a:rPr>
                        <m:t xml:space="preserve">]</m:t>
                      </m:r>
                      <m:r>
                        <a:rPr lang="nl-BE" sz="2200" b="1">
                          <a:solidFill>
                            <a:srgbClr val="1F4E79"/>
                          </a:solidFill>
                          <a:latin typeface="Cambria Math"/>
                        </a:rPr>
                        <m:t xml:space="preserve">=</m:t>
                      </m:r>
                      <m:f>
                        <m:fPr/>
                        <m:num>
                          <m:r>
                            <m:rPr>
                              <m:sty m:val="p"/>
                            </m:rPr>
                            <a:rPr lang="nl-BE" sz="2200" b="1">
                              <a:solidFill>
                                <a:srgbClr val="1F4E79"/>
                              </a:solidFill>
                              <a:latin typeface="Cambria Math"/>
                            </a:rPr>
                            <m:t xml:space="preserve">N</m:t>
                          </m:r>
                        </m:num>
                        <m:den>
                          <m:r>
                            <m:rPr>
                              <m:sty m:val="p"/>
                            </m:rPr>
                            <a:rPr lang="nl-BE" sz="2200" b="1">
                              <a:solidFill>
                                <a:srgbClr val="1F4E79"/>
                              </a:solidFill>
                              <a:latin typeface="Cambria Math"/>
                            </a:rPr>
                            <m:t xml:space="preserve">C</m:t>
                          </m:r>
                        </m:den>
                      </m:f>
                      <m:r>
                        <a:rPr lang="nl-BE" sz="2200" b="1">
                          <a:solidFill>
                            <a:srgbClr val="1F4E79"/>
                          </a:solidFill>
                          <a:latin typeface="Cambria Math"/>
                        </a:rPr>
                        <m:t xml:space="preserve">=</m:t>
                      </m:r>
                      <m:f>
                        <m:fPr/>
                        <m:num>
                          <m:r>
                            <m:rPr>
                              <m:sty m:val="p"/>
                            </m:rPr>
                            <a:rPr lang="nl-BE" sz="2200" b="1">
                              <a:solidFill>
                                <a:srgbClr val="1F4E79"/>
                              </a:solidFill>
                              <a:latin typeface="Cambria Math"/>
                            </a:rPr>
                            <m:t xml:space="preserve">V</m:t>
                          </m:r>
                        </m:num>
                        <m:den>
                          <m:r>
                            <m:rPr>
                              <m:sty m:val="p"/>
                            </m:rPr>
                            <a:rPr lang="nl-BE" sz="2200" b="1">
                              <a:solidFill>
                                <a:srgbClr val="1F4E79"/>
                              </a:solidFill>
                              <a:latin typeface="Cambria Math"/>
                            </a:rPr>
                            <m:t xml:space="preserve">m</m:t>
                          </m:r>
                        </m:den>
                      </m:f>
                    </m:oMath>
                  </m:oMathPara>
                </a14:m>
              </mc:Choice>
              <mc:Fallback>
                <a:r>
                  <a:rPr lang="nl-BE" sz="2200" b="1">
                    <a:solidFill>
                      <a:srgbClr val="1F4E79"/>
                    </a:solidFill>
                  </a:rPr>
                  <a:t>E⃗ = (F⃗) / (q₀)  E = k · (|Q|) / (r²)  [E] = N / C = V / m</a:t>
                </a:r>
              </mc:Fallback>
            </mc:AlternateContent>
          </a:p>
          <a:p>
            <a:pPr>
              <a:spcAft>
                <a:spcPts val="1400"/>
              </a:spcAft>
            </a:pPr>
            <a:r>
              <a:rPr sz="1600">
                <a:solidFill>
                  <a:srgbClr val="262626"/>
                </a:solidFill>
              </a:rPr>
              <a:t>• Superpositie</a:t>
            </a:r>
          </a:p>
          <a:p>
            <a:pPr>
              <a:spcAft>
                <a:spcPts val="600"/>
              </a:spcAft>
            </a:pPr>
            <a:r>
              <a:rPr sz="1600">
                <a:solidFill>
                  <a:srgbClr val="262626"/>
                </a:solidFill>
              </a:rPr>
              <a:t>      – Bij meerdere ladingen is veldsterkte in P vectorsom van afzonderlijke veldsterkten:</a:t>
            </a:r>
          </a:p>
          <a:p>
            <a:pPr algn="ctr">
              <a:spcBef>
                <a:spcPts val="600"/>
              </a:spcBef>
              <a:spcAft>
                <a:spcPts val="1400"/>
              </a:spcAft>
            </a:pPr>
            <mc:AlternateContent xmlns:mc="http://schemas.openxmlformats.org/markup-compatibility/2006">
              <mc:Choice xmlns:a14="http://schemas.microsoft.com/office/drawing/2010/main" Requires="a14">
                <a14:m xmlns:m="http://schemas.openxmlformats.org/officeDocument/2006/math">
                  <m:oMathPara>
                    <m:oMathParaPr>
                      <m:jc m:val="centerGroup"/>
                    </m:oMathParaPr>
                    <m:oMath>
                      <m:acc>
                        <m:accPr>
                          <m:chr m:val="⃗"/>
                        </m:accPr>
                        <m:e>
                          <m:r>
                            <a:rPr lang="nl-BE" sz="2200" b="1">
                              <a:solidFill>
                                <a:srgbClr val="1F4E79"/>
                              </a:solidFill>
                              <a:latin typeface="Cambria Math"/>
                            </a:rPr>
                            <m:t xml:space="preserve">E</m:t>
                          </m:r>
                        </m:e>
                      </m:acc>
                      <m:r>
                        <a:rPr lang="nl-BE" sz="2200" b="1">
                          <a:solidFill>
                            <a:srgbClr val="1F4E79"/>
                          </a:solidFill>
                          <a:latin typeface="Cambria Math"/>
                        </a:rPr>
                        <m:t xml:space="preserve">=</m:t>
                      </m:r>
                      <m:sSub>
                        <m:e>
                          <m:acc>
                            <m:accPr>
                              <m:chr m:val="⃗"/>
                            </m:accPr>
                            <m:e>
                              <m:r>
                                <a:rPr lang="nl-BE" sz="2200" b="1">
                                  <a:solidFill>
                                    <a:srgbClr val="1F4E79"/>
                                  </a:solidFill>
                                  <a:latin typeface="Cambria Math"/>
                                </a:rPr>
                                <m:t xml:space="preserve">E</m:t>
                              </m:r>
                            </m:e>
                          </m:acc>
                        </m:e>
                        <m:sub>
                          <m:r>
                            <a:rPr lang="nl-BE" sz="2200" b="1">
                              <a:solidFill>
                                <a:srgbClr val="1F4E79"/>
                              </a:solidFill>
                              <a:latin typeface="Cambria Math"/>
                            </a:rPr>
                            <m:t xml:space="preserve">1</m:t>
                          </m:r>
                        </m:sub>
                      </m:sSub>
                      <m:r>
                        <a:rPr lang="nl-BE" sz="2200" b="1">
                          <a:solidFill>
                            <a:srgbClr val="1F4E79"/>
                          </a:solidFill>
                          <a:latin typeface="Cambria Math"/>
                        </a:rPr>
                        <m:t xml:space="preserve">+</m:t>
                      </m:r>
                      <m:sSub>
                        <m:e>
                          <m:acc>
                            <m:accPr>
                              <m:chr m:val="⃗"/>
                            </m:accPr>
                            <m:e>
                              <m:r>
                                <a:rPr lang="nl-BE" sz="2200" b="1">
                                  <a:solidFill>
                                    <a:srgbClr val="1F4E79"/>
                                  </a:solidFill>
                                  <a:latin typeface="Cambria Math"/>
                                </a:rPr>
                                <m:t xml:space="preserve">E</m:t>
                              </m:r>
                            </m:e>
                          </m:acc>
                        </m:e>
                        <m:sub>
                          <m:r>
                            <a:rPr lang="nl-BE" sz="2200" b="1">
                              <a:solidFill>
                                <a:srgbClr val="1F4E79"/>
                              </a:solidFill>
                              <a:latin typeface="Cambria Math"/>
                            </a:rPr>
                            <m:t xml:space="preserve">2</m:t>
                          </m:r>
                        </m:sub>
                      </m:sSub>
                      <m:r>
                        <a:rPr lang="nl-BE" sz="2200" b="1">
                          <a:solidFill>
                            <a:srgbClr val="1F4E79"/>
                          </a:solidFill>
                          <a:latin typeface="Cambria Math"/>
                        </a:rPr>
                        <m:t xml:space="preserve">+</m:t>
                      </m:r>
                      <m:r>
                        <a:rPr lang="nl-BE" sz="2200" b="1">
                          <a:solidFill>
                            <a:srgbClr val="1F4E79"/>
                          </a:solidFill>
                          <a:latin typeface="Cambria Math"/>
                        </a:rPr>
                        <m:t xml:space="preserve">…</m:t>
                      </m:r>
                      <m:r>
                        <a:rPr lang="nl-BE" sz="2200" b="1">
                          <a:solidFill>
                            <a:srgbClr val="1F4E79"/>
                          </a:solidFill>
                          <a:latin typeface="Cambria Math"/>
                        </a:rPr>
                        <m:t xml:space="preserve">+</m:t>
                      </m:r>
                      <m:sSubSup>
                        <m:e>
                          <m:acc>
                            <m:accPr>
                              <m:chr m:val="⃗"/>
                            </m:accPr>
                            <m:e>
                              <m:r>
                                <a:rPr lang="nl-BE" sz="2200" b="1">
                                  <a:solidFill>
                                    <a:srgbClr val="1F4E79"/>
                                  </a:solidFill>
                                  <a:latin typeface="Cambria Math"/>
                                </a:rPr>
                                <m:t xml:space="preserve">E</m:t>
                              </m:r>
                            </m:e>
                          </m:acc>
                        </m:e>
                        <m:sub>
                          <m:r>
                            <a:rPr lang="nl-BE" sz="2200" b="1">
                              <a:solidFill>
                                <a:srgbClr val="1F4E79"/>
                              </a:solidFill>
                              <a:latin typeface="Cambria Math"/>
                            </a:rPr>
                            <m:t xml:space="preserve">n</m:t>
                          </m:r>
                        </m:sub>
                        <m:sup>
                          <m:r>
                            <a:rPr lang="nl-BE" sz="2200" b="1">
                              <a:solidFill>
                                <a:srgbClr val="1F4E79"/>
                              </a:solidFill>
                              <a:latin typeface="Cambria Math"/>
                            </a:rPr>
                            <m:t xml:space="preserve"/>
                          </m:r>
                        </m:sup>
                      </m:sSubSup>
                    </m:oMath>
                  </m:oMathPara>
                </a14:m>
              </mc:Choice>
              <mc:Fallback>
                <a:r>
                  <a:rPr lang="nl-BE" sz="2200" b="1">
                    <a:solidFill>
                      <a:srgbClr val="1F4E79"/>
                    </a:solidFill>
                  </a:rPr>
                  <a:t>E⃗ = E⃗₁ + E⃗₂ + … + E⃗ₙ</a:t>
                </a:r>
              </mc:Fallback>
            </mc:AlternateContent>
          </a:p>
          <a:p>
            <a:pPr>
              <a:spcAft>
                <a:spcPts val="1400"/>
              </a:spcAft>
            </a:pPr>
            <a:r>
              <a:rPr sz="1600">
                <a:solidFill>
                  <a:srgbClr val="262626"/>
                </a:solidFill>
              </a:rPr>
              <a:t>• Grafisch</a:t>
            </a:r>
          </a:p>
          <a:p>
            <a:pPr>
              <a:spcAft>
                <a:spcPts val="600"/>
              </a:spcAft>
            </a:pPr>
            <a:r>
              <a:rPr sz="1600">
                <a:solidFill>
                  <a:srgbClr val="262626"/>
                </a:solidFill>
              </a:rPr>
              <a:t>      – F ~ 1/r²: grafiek F(1/r²) is rechte door oorsprong met rico = k·|Q|·|Q'|</a:t>
            </a:r>
          </a:p>
          <a:p>
            <a:pPr>
              <a:spcAft>
                <a:spcPts val="600"/>
              </a:spcAft>
            </a:pPr>
            <a:r>
              <a:rPr sz="1600">
                <a:solidFill>
                  <a:srgbClr val="262626"/>
                </a:solidFill>
              </a:rPr>
              <a:t>      – Zo bepaal je k nauwkeuriger dan uit één meting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VEILIGHEID // NAUWKEURIGHEID • Hypothese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12</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300" b="1">
                <a:solidFill>
                  <a:srgbClr val="1F4E79"/>
                </a:solidFill>
              </a:rPr>
              <a:t>VEILIGHEID // NAUWKEURIGHEID</a:t>
            </a:r>
          </a:p>
          <a:p>
            <a:pPr>
              <a:spcAft>
                <a:spcPts val="1400"/>
              </a:spcAft>
            </a:pPr>
            <a:r>
              <a:rPr sz="2200">
                <a:solidFill>
                  <a:srgbClr val="262626"/>
                </a:solidFill>
              </a:rPr>
              <a:t>• Geen fysiek risico</a:t>
            </a:r>
          </a:p>
          <a:p>
            <a:pPr>
              <a:spcAft>
                <a:spcPts val="600"/>
              </a:spcAft>
            </a:pPr>
            <a:r>
              <a:rPr sz="2200">
                <a:solidFill>
                  <a:srgbClr val="262626"/>
                </a:solidFill>
              </a:rPr>
              <a:t>      – Wel: lees eenheden in applet nauwkeurig (µC = 10⁻⁶ C, nC = 10⁻⁹ C; afstand in cm of m) en noteer alles in SI-eenheden</a:t>
            </a:r>
          </a:p>
          <a:p>
            <a:pPr>
              <a:spcAft>
                <a:spcPts val="1400"/>
              </a:spcAft>
            </a:pPr>
            <a:r>
              <a:rPr sz="2200">
                <a:solidFill>
                  <a:srgbClr val="262626"/>
                </a:solidFill>
              </a:rPr>
              <a:t>• Simulatie is model: noteer in je foutenanalyse wat model wél en niet weergeeft (geen lekstroom, geen luchtvochtigheid, ideale puntladingen)</a:t>
            </a:r>
          </a:p>
          <a:p>
            <a:pPr>
              <a:spcAft>
                <a:spcPts val="1400"/>
              </a:spcAft>
            </a:pPr>
            <a:r>
              <a:rPr sz="2300" b="1">
                <a:solidFill>
                  <a:srgbClr val="1F4E79"/>
                </a:solidFill>
              </a:rPr>
              <a:t>Hypothese</a:t>
            </a:r>
          </a:p>
          <a:p>
            <a:pPr>
              <a:spcAft>
                <a:spcPts val="1400"/>
              </a:spcAft>
            </a:pPr>
            <a:r>
              <a:rPr sz="2200">
                <a:solidFill>
                  <a:srgbClr val="262626"/>
                </a:solidFill>
              </a:rPr>
              <a:t>• Formuleer vóór proef beredeneerde verwachting: wat verwacht je en waarom?</a:t>
            </a:r>
          </a:p>
          <a:p>
            <a:pPr>
              <a:spcAft>
                <a:spcPts val="1400"/>
              </a:spcAft>
            </a:pPr>
            <a:r>
              <a:rPr sz="2200" i="1">
                <a:solidFill>
                  <a:srgbClr val="595959"/>
                </a:solidFill>
              </a:rPr>
              <a:t>Hypothese mag fout blijken – dat is geen slecht resultaat, maar leerpunt</a:t>
            </a:r>
          </a:p>
          <a:p>
            <a:pPr>
              <a:spcAft>
                <a:spcPts val="600"/>
              </a:spcAft>
            </a:pPr>
            <a:r>
              <a:rPr sz="2200">
                <a:solidFill>
                  <a:srgbClr val="262626"/>
                </a:solidFill>
              </a:rPr>
              <a:t>      – Noteer ze op werkblad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Werkplan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13</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2200">
                <a:solidFill>
                  <a:srgbClr val="262626"/>
                </a:solidFill>
              </a:rPr>
              <a:t>• Deel 1: gegeven werkwijze (F i.f.v. r)</a:t>
            </a:r>
          </a:p>
          <a:p>
            <a:pPr>
              <a:spcAft>
                <a:spcPts val="600"/>
              </a:spcAft>
            </a:pPr>
            <a:r>
              <a:rPr sz="2200">
                <a:solidFill>
                  <a:srgbClr val="262626"/>
                </a:solidFill>
              </a:rPr>
              <a:t>      – Deel 2-4: jullie stellen zelf meetplan op in kader en laten goedkeuren</a:t>
            </a:r>
          </a:p>
          <a:p>
            <a:pPr>
              <a:spcAft>
                <a:spcPts val="600"/>
              </a:spcAft>
            </a:pPr>
            <a:r>
              <a:rPr sz="2200">
                <a:solidFill>
                  <a:srgbClr val="262626"/>
                </a:solidFill>
              </a:rPr>
              <a:t>      – Deel 5: ontwerpuitdaging</a:t>
            </a:r>
          </a:p>
          <a:p>
            <a:pPr>
              <a:spcAft>
                <a:spcPts val="1400"/>
              </a:spcAft>
            </a:pPr>
            <a:r>
              <a:rPr sz="2200">
                <a:solidFill>
                  <a:srgbClr val="262626"/>
                </a:solidFill>
              </a:rPr>
              <a:t>• Werk per 2: één bedient applet, ander noteert en controleert eenheden; wissel per deel</a:t>
            </a:r>
          </a:p>
        </p:txBody>
      </p:sp>
      <p:pic>
        <p:nvPicPr>
          <p:cNvPr id="6" name="Picture 5" descr="p24_0.jpg"/>
          <p:cNvPicPr>
            <a:picLocks noChangeAspect="1"/>
          </p:cNvPicPr>
          <p:nvPr/>
        </p:nvPicPr>
        <p:blipFill>
          <a:blip r:embed="rId2"/>
          <a:stretch>
            <a:fillRect/>
          </a:stretch>
        </p:blipFill>
        <p:spPr>
          <a:xfrm>
            <a:off x="8000999" y="3171944"/>
            <a:ext cx="1874520" cy="925592"/>
          </a:xfrm>
          <a:prstGeom prst="rect">
            <a:avLst/>
          </a:prstGeom>
        </p:spPr>
      </p:pic>
      <p:pic>
        <p:nvPicPr>
          <p:cNvPr id="7" name="Picture 6" descr="p44_2.jpg"/>
          <p:cNvPicPr>
            <a:picLocks noChangeAspect="1"/>
          </p:cNvPicPr>
          <p:nvPr/>
        </p:nvPicPr>
        <p:blipFill>
          <a:blip r:embed="rId3"/>
          <a:stretch>
            <a:fillRect/>
          </a:stretch>
        </p:blipFill>
        <p:spPr>
          <a:xfrm>
            <a:off x="9966959" y="2807868"/>
            <a:ext cx="1874520" cy="16537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U – UITVOEREN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Meten, noteren, observeren – volgens plan</a:t>
            </a:r>
          </a:p>
          <a:p>
            <a:pPr algn="ctr">
              <a:spcBef>
                <a:spcPts val="600"/>
              </a:spcBef>
            </a:pPr>
            <a:r>
              <a:rPr sz="1800">
                <a:solidFill>
                  <a:srgbClr val="262626"/>
                </a:solidFill>
              </a:rPr>
              <a:t>Noteer alles meteen op het werkblad: tabellen, waarnemingen, foto's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1 – Wet van Coulomb: F in functie van r (PhET Coulomb's Law, Macro Scale)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15</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1. Zet Q₁ = Q₂ = +5 µC (of andere waarde: noteer ze)</a:t>
            </a:r>
          </a:p>
          <a:p>
            <a:pPr>
              <a:spcAft>
                <a:spcPts val="600"/>
              </a:spcAft>
            </a:pPr>
            <a:r>
              <a:rPr sz="2200">
                <a:solidFill>
                  <a:srgbClr val="262626"/>
                </a:solidFill>
              </a:rPr>
              <a:t>      – Vink 'Scientific notation' aan</a:t>
            </a:r>
          </a:p>
          <a:p>
            <a:pPr>
              <a:spcAft>
                <a:spcPts val="600"/>
              </a:spcAft>
            </a:pPr>
            <a:r>
              <a:rPr sz="2200">
                <a:solidFill>
                  <a:srgbClr val="262626"/>
                </a:solidFill>
              </a:rPr>
              <a:t>      – Verschuif lading 2 en lees afstand r (cm) en kracht F (N) af</a:t>
            </a:r>
          </a:p>
          <a:p>
            <a:pPr>
              <a:spcAft>
                <a:spcPts val="1400"/>
              </a:spcAft>
            </a:pPr>
            <a:r>
              <a:rPr sz="2200">
                <a:solidFill>
                  <a:srgbClr val="262626"/>
                </a:solidFill>
              </a:rPr>
              <a:t>2. Meet F voor min. 7 afstanden tussen 2 cm en 10 cm</a:t>
            </a:r>
          </a:p>
          <a:p>
            <a:pPr>
              <a:spcAft>
                <a:spcPts val="600"/>
              </a:spcAft>
            </a:pPr>
            <a:r>
              <a:rPr sz="2200">
                <a:solidFill>
                  <a:srgbClr val="262626"/>
                </a:solidFill>
              </a:rPr>
              <a:t>      – Noteer r in m, F in N, en bereken 1/r² (m⁻²)</a:t>
            </a:r>
          </a:p>
          <a:p>
            <a:pPr>
              <a:spcAft>
                <a:spcPts val="1400"/>
              </a:spcAft>
            </a:pPr>
            <a:r>
              <a:rPr sz="2200">
                <a:solidFill>
                  <a:srgbClr val="262626"/>
                </a:solidFill>
              </a:rPr>
              <a:t>3. Excel: grafiek F(r) (welke vorm?) en grafiek F(1/r²) met trendlijn door oorsprong. Vergelijking noteren</a:t>
            </a:r>
          </a:p>
          <a:p>
            <a:pPr>
              <a:spcAft>
                <a:spcPts val="1400"/>
              </a:spcAft>
            </a:pPr>
            <a:r>
              <a:rPr sz="2200">
                <a:solidFill>
                  <a:srgbClr val="262626"/>
                </a:solidFill>
              </a:rPr>
              <a:t>4. Bepaal k uit rico: rico = k·|Q₁|·|Q₂| → k = rico / (|Q₁|·|Q₂|)</a:t>
            </a:r>
          </a:p>
          <a:p>
            <a:pPr>
              <a:spcAft>
                <a:spcPts val="600"/>
              </a:spcAft>
            </a:pPr>
            <a:r>
              <a:rPr sz="2200">
                <a:solidFill>
                  <a:srgbClr val="262626"/>
                </a:solidFill>
              </a:rPr>
              <a:t>      – Vergelijk met 8,99·10⁹ N·m²/C² (procentueel verschil)</a:t>
            </a:r>
          </a:p>
          <a:p>
            <a:pPr>
              <a:spcAft>
                <a:spcPts val="1400"/>
              </a:spcAft>
            </a:pPr>
            <a:r>
              <a:rPr sz="2200" i="1">
                <a:solidFill>
                  <a:srgbClr val="595959"/>
                </a:solidFill>
              </a:rPr>
              <a:t>Deel 1 – Wet van Coulomb: F i.f.v. r (PhET Coulomb's Law, Macro Scale) – invullen op werkblad; kolommen: r (cm) | r (m) | 1/r² (m⁻²) | F (N) | Afstoting / aantrekking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U – Uitvoeren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16</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1F4E79"/>
                </a:solidFill>
              </a:rPr>
              <a:t>STEM-ONTWERPOPDRACHT (LPD 4 S) – toon aan dat F ~ Q₁·Q₂</a:t>
            </a:r>
          </a:p>
          <a:p>
            <a:pPr>
              <a:spcAft>
                <a:spcPts val="1400"/>
              </a:spcAft>
            </a:pPr>
            <a:r>
              <a:rPr sz="2000">
                <a:solidFill>
                  <a:srgbClr val="262626"/>
                </a:solidFill>
              </a:rPr>
              <a:t>• Doel: aantonen dat F recht evenredig is met product Q₁·Q₂ (bij vaste r)</a:t>
            </a:r>
          </a:p>
          <a:p>
            <a:pPr>
              <a:spcAft>
                <a:spcPts val="600"/>
              </a:spcAft>
            </a:pPr>
            <a:r>
              <a:rPr sz="2000">
                <a:solidFill>
                  <a:srgbClr val="262626"/>
                </a:solidFill>
              </a:rPr>
              <a:t>      – Beslis zelf: welke r houd je constant?</a:t>
            </a:r>
          </a:p>
          <a:p>
            <a:pPr>
              <a:spcAft>
                <a:spcPts val="600"/>
              </a:spcAft>
            </a:pPr>
            <a:r>
              <a:rPr sz="2000">
                <a:solidFill>
                  <a:srgbClr val="262626"/>
                </a:solidFill>
              </a:rPr>
              <a:t>      – Varieer je enkel Q₁ of ook Q₂?</a:t>
            </a:r>
          </a:p>
          <a:p>
            <a:pPr>
              <a:spcAft>
                <a:spcPts val="600"/>
              </a:spcAft>
            </a:pPr>
            <a:r>
              <a:rPr sz="2000">
                <a:solidFill>
                  <a:srgbClr val="262626"/>
                </a:solidFill>
              </a:rPr>
              <a:t>      – Welke waarden en hoeveel metingen?</a:t>
            </a:r>
          </a:p>
          <a:p>
            <a:pPr>
              <a:spcAft>
                <a:spcPts val="600"/>
              </a:spcAft>
            </a:pPr>
            <a:r>
              <a:rPr sz="2000">
                <a:solidFill>
                  <a:srgbClr val="262626"/>
                </a:solidFill>
              </a:rPr>
              <a:t>      – Hoe maak je er rechte van?</a:t>
            </a:r>
          </a:p>
          <a:p>
            <a:pPr>
              <a:spcAft>
                <a:spcPts val="600"/>
              </a:spcAft>
            </a:pPr>
            <a:r>
              <a:rPr sz="2000">
                <a:solidFill>
                  <a:srgbClr val="262626"/>
                </a:solidFill>
              </a:rPr>
              <a:t>      – Hoe test je ook teken (aantrekking/afstoting)?</a:t>
            </a:r>
          </a:p>
          <a:p>
            <a:pPr>
              <a:spcAft>
                <a:spcPts val="1400"/>
              </a:spcAft>
            </a:pPr>
            <a:r>
              <a:rPr sz="2000">
                <a:solidFill>
                  <a:srgbClr val="262626"/>
                </a:solidFill>
              </a:rPr>
              <a:t>• Schrijf plan op, laat goedkeuren, voer uit, maak tabel zelf (Excel) en voeg grafiek toe aan verslag</a:t>
            </a:r>
          </a:p>
          <a:p>
            <a:pPr>
              <a:spcAft>
                <a:spcPts val="1400"/>
              </a:spcAft>
            </a:pPr>
            <a:r>
              <a:rPr sz="2100" b="1">
                <a:solidFill>
                  <a:srgbClr val="1F4E79"/>
                </a:solidFill>
              </a:rPr>
              <a:t>Deel 2 – Wet van Coulomb: F in functie van de ladingen (eigen meetplan)</a:t>
            </a:r>
          </a:p>
          <a:p>
            <a:pPr>
              <a:spcAft>
                <a:spcPts val="1400"/>
              </a:spcAft>
            </a:pPr>
            <a:r>
              <a:rPr sz="2000" i="1">
                <a:solidFill>
                  <a:srgbClr val="595959"/>
                </a:solidFill>
              </a:rPr>
              <a:t>Invullen op werkblad; kolommen: Q₁ (C) | Q₂ (C) | Q₁·Q₂ (C²) | r (m) | F (N) | F / (Q₁·Q₂) (N/C²)</a:t>
            </a:r>
          </a:p>
          <a:p>
            <a:pPr>
              <a:spcAft>
                <a:spcPts val="1400"/>
              </a:spcAft>
            </a:pPr>
            <a:r>
              <a:rPr sz="2000" i="1">
                <a:solidFill>
                  <a:srgbClr val="595959"/>
                </a:solidFill>
              </a:rPr>
              <a:t>Besluit deel 1 + 2 in één formule, met jullie waarde van 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U – Uitvoeren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17</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1F4E79"/>
                </a:solidFill>
              </a:rPr>
              <a:t>Deel 3 – Veldsterkte rond een puntlading (PhET Charges and Fields)</a:t>
            </a:r>
          </a:p>
          <a:p>
            <a:pPr>
              <a:spcAft>
                <a:spcPts val="1400"/>
              </a:spcAft>
            </a:pPr>
            <a:r>
              <a:rPr sz="2000">
                <a:solidFill>
                  <a:srgbClr val="262626"/>
                </a:solidFill>
              </a:rPr>
              <a:t>• Sleep één lading van +1 nC naar midden</a:t>
            </a:r>
          </a:p>
          <a:p>
            <a:pPr>
              <a:spcAft>
                <a:spcPts val="600"/>
              </a:spcAft>
            </a:pPr>
            <a:r>
              <a:rPr sz="2000">
                <a:solidFill>
                  <a:srgbClr val="262626"/>
                </a:solidFill>
              </a:rPr>
              <a:t>      – Vink 'Grid' en 'Values' aan (1 groot vakje = 0,5 m)</a:t>
            </a:r>
          </a:p>
          <a:p>
            <a:pPr>
              <a:spcAft>
                <a:spcPts val="600"/>
              </a:spcAft>
            </a:pPr>
            <a:r>
              <a:rPr sz="2000">
                <a:solidFill>
                  <a:srgbClr val="262626"/>
                </a:solidFill>
              </a:rPr>
              <a:t>      – Sleep een E-sensor (geel) naar verschillende afstanden: applet toont E in V/m en richting</a:t>
            </a:r>
          </a:p>
          <a:p>
            <a:pPr>
              <a:spcAft>
                <a:spcPts val="1400"/>
              </a:spcAft>
            </a:pPr>
            <a:r>
              <a:rPr sz="2100" b="1">
                <a:solidFill>
                  <a:srgbClr val="1F4E79"/>
                </a:solidFill>
              </a:rPr>
              <a:t>STEM-ONTWERPOPDRACHT (LPD 4 S) – eigen meetplan E(r)</a:t>
            </a:r>
          </a:p>
          <a:p>
            <a:pPr>
              <a:spcAft>
                <a:spcPts val="1400"/>
              </a:spcAft>
            </a:pPr>
            <a:r>
              <a:rPr sz="2000">
                <a:solidFill>
                  <a:srgbClr val="262626"/>
                </a:solidFill>
              </a:rPr>
              <a:t>• Ontwerp meetreeks waarmee je E = k·|Q|/r² toetst: welke afstanden (min. 6), hoe lees je r nauwkeurig af, hoe verwerk je grafisch?</a:t>
            </a:r>
          </a:p>
          <a:p>
            <a:pPr>
              <a:spcAft>
                <a:spcPts val="600"/>
              </a:spcAft>
            </a:pPr>
            <a:r>
              <a:rPr sz="2000">
                <a:solidFill>
                  <a:srgbClr val="262626"/>
                </a:solidFill>
              </a:rPr>
              <a:t>      – Controleer ook richting van E voor +Q en voor –Q en op twee verschillende plaatsen op dezelfde afstand (bolsymmetrie)</a:t>
            </a:r>
          </a:p>
          <a:p>
            <a:pPr>
              <a:spcAft>
                <a:spcPts val="1400"/>
              </a:spcAft>
            </a:pPr>
            <a:r>
              <a:rPr sz="2000">
                <a:solidFill>
                  <a:srgbClr val="262626"/>
                </a:solidFill>
              </a:rPr>
              <a:t>• Vergelijk gemeten E met berekende E (k·|Q|/r²) in extra kolom</a:t>
            </a:r>
          </a:p>
          <a:p>
            <a:pPr>
              <a:spcAft>
                <a:spcPts val="1400"/>
              </a:spcAft>
            </a:pPr>
            <a:r>
              <a:rPr sz="2100" b="1">
                <a:solidFill>
                  <a:srgbClr val="1F4E79"/>
                </a:solidFill>
              </a:rPr>
              <a:t>Deel 3 – Veldsterkte rond een puntlading (PhET Charges and Fields)</a:t>
            </a:r>
          </a:p>
          <a:p>
            <a:pPr>
              <a:spcAft>
                <a:spcPts val="1400"/>
              </a:spcAft>
            </a:pPr>
            <a:r>
              <a:rPr sz="2000" i="1">
                <a:solidFill>
                  <a:srgbClr val="595959"/>
                </a:solidFill>
              </a:rPr>
              <a:t>Invullen op werkblad; kolommen: r (m) | 1/r² (m⁻²) | E gemeten (V/m) | E berekend (V/m) | Richting (naar/van lading)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4 – Superpositie en veldlijnen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18</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1800">
                <a:solidFill>
                  <a:srgbClr val="262626"/>
                </a:solidFill>
              </a:rPr>
              <a:t>1. Voorspel en schets (vóór je applet gebruikt) veldlijnenpatroon van: (a) twee gelijke positieve ladingen, (b) +1 nC en –1 nC (dipool), (c) +2 nC en –1 nC, (d) rij van 6 positieve ladingen tegenover rij van 6 negatieve (platen)</a:t>
            </a:r>
          </a:p>
          <a:p>
            <a:pPr>
              <a:spcAft>
                <a:spcPts val="600"/>
              </a:spcAft>
            </a:pPr>
            <a:r>
              <a:rPr sz="1800">
                <a:solidFill>
                  <a:srgbClr val="262626"/>
                </a:solidFill>
              </a:rPr>
              <a:t>      – Controleer dan met 'Electric Field' aan en met sensoren; corrigeer je schets in andere kleur</a:t>
            </a:r>
          </a:p>
          <a:p>
            <a:pPr>
              <a:spcAft>
                <a:spcPts val="1400"/>
              </a:spcAft>
            </a:pPr>
            <a:r>
              <a:rPr sz="1800">
                <a:solidFill>
                  <a:srgbClr val="262626"/>
                </a:solidFill>
              </a:rPr>
              <a:t>2. Opdracht 20 van cursus in applet: plaats +1 nC en +4 nC (bv. 2 m uit elkaar; schaal opdracht)</a:t>
            </a:r>
          </a:p>
          <a:p>
            <a:pPr>
              <a:spcAft>
                <a:spcPts val="600"/>
              </a:spcAft>
            </a:pPr>
            <a:r>
              <a:rPr sz="1800">
                <a:solidFill>
                  <a:srgbClr val="262626"/>
                </a:solidFill>
              </a:rPr>
              <a:t>      – Bereken eerst waar E = 0 moet zijn; zoek dat punt dan met sensor</a:t>
            </a:r>
          </a:p>
          <a:p>
            <a:pPr>
              <a:spcAft>
                <a:spcPts val="600"/>
              </a:spcAft>
            </a:pPr>
            <a:r>
              <a:rPr sz="1800">
                <a:solidFill>
                  <a:srgbClr val="262626"/>
                </a:solidFill>
              </a:rPr>
              <a:t>      – Klopt het?</a:t>
            </a:r>
          </a:p>
          <a:p>
            <a:pPr>
              <a:spcAft>
                <a:spcPts val="1400"/>
              </a:spcAft>
            </a:pPr>
            <a:r>
              <a:rPr sz="1800">
                <a:solidFill>
                  <a:srgbClr val="262626"/>
                </a:solidFill>
              </a:rPr>
              <a:t>3. Constructie: plaats twee ladingen naar keuze, kies punt P</a:t>
            </a:r>
          </a:p>
          <a:p>
            <a:pPr>
              <a:spcAft>
                <a:spcPts val="600"/>
              </a:spcAft>
            </a:pPr>
            <a:r>
              <a:rPr sz="1800">
                <a:solidFill>
                  <a:srgbClr val="262626"/>
                </a:solidFill>
              </a:rPr>
              <a:t>      – Bereken E₁ en E₂ in P (grootte en richting), construeer vectorsom op schaal en vergelijk met sensorwaarde in P</a:t>
            </a:r>
          </a:p>
          <a:p>
            <a:pPr>
              <a:spcAft>
                <a:spcPts val="1400"/>
              </a:spcAft>
            </a:pPr>
            <a:r>
              <a:rPr sz="1800" i="1">
                <a:solidFill>
                  <a:srgbClr val="595959"/>
                </a:solidFill>
              </a:rPr>
              <a:t>Superpositie van veldsterkten in P (cursus D3)</a:t>
            </a:r>
          </a:p>
        </p:txBody>
      </p:sp>
      <p:pic>
        <p:nvPicPr>
          <p:cNvPr id="6" name="Picture 5" descr="p56_3.jpg"/>
          <p:cNvPicPr>
            <a:picLocks noChangeAspect="1"/>
          </p:cNvPicPr>
          <p:nvPr/>
        </p:nvPicPr>
        <p:blipFill>
          <a:blip r:embed="rId2"/>
          <a:stretch>
            <a:fillRect/>
          </a:stretch>
        </p:blipFill>
        <p:spPr>
          <a:xfrm>
            <a:off x="8000999" y="1633382"/>
            <a:ext cx="1874520" cy="1442396"/>
          </a:xfrm>
          <a:prstGeom prst="rect">
            <a:avLst/>
          </a:prstGeom>
        </p:spPr>
      </p:pic>
      <p:pic>
        <p:nvPicPr>
          <p:cNvPr id="7" name="Picture 6" descr="p56_2.jpg"/>
          <p:cNvPicPr>
            <a:picLocks noChangeAspect="1"/>
          </p:cNvPicPr>
          <p:nvPr/>
        </p:nvPicPr>
        <p:blipFill>
          <a:blip r:embed="rId3"/>
          <a:stretch>
            <a:fillRect/>
          </a:stretch>
        </p:blipFill>
        <p:spPr>
          <a:xfrm>
            <a:off x="10015349" y="1097280"/>
            <a:ext cx="1777739" cy="2514600"/>
          </a:xfrm>
          <a:prstGeom prst="rect">
            <a:avLst/>
          </a:prstGeom>
        </p:spPr>
      </p:pic>
      <p:pic>
        <p:nvPicPr>
          <p:cNvPr id="8" name="Picture 7" descr="p58_0.jpg"/>
          <p:cNvPicPr>
            <a:picLocks noChangeAspect="1"/>
          </p:cNvPicPr>
          <p:nvPr/>
        </p:nvPicPr>
        <p:blipFill>
          <a:blip r:embed="rId4"/>
          <a:stretch>
            <a:fillRect/>
          </a:stretch>
        </p:blipFill>
        <p:spPr>
          <a:xfrm>
            <a:off x="8000999" y="3948427"/>
            <a:ext cx="1874520" cy="1932946"/>
          </a:xfrm>
          <a:prstGeom prst="rect">
            <a:avLst/>
          </a:prstGeom>
        </p:spPr>
      </p:pic>
      <p:pic>
        <p:nvPicPr>
          <p:cNvPr id="9" name="Picture 8" descr="p45_0.jpg"/>
          <p:cNvPicPr>
            <a:picLocks noChangeAspect="1"/>
          </p:cNvPicPr>
          <p:nvPr/>
        </p:nvPicPr>
        <p:blipFill>
          <a:blip r:embed="rId5"/>
          <a:stretch>
            <a:fillRect/>
          </a:stretch>
        </p:blipFill>
        <p:spPr>
          <a:xfrm>
            <a:off x="10034683" y="3657600"/>
            <a:ext cx="1739072" cy="2148840"/>
          </a:xfrm>
          <a:prstGeom prst="rect">
            <a:avLst/>
          </a:prstGeom>
        </p:spPr>
      </p:pic>
      <p:sp>
        <p:nvSpPr>
          <p:cNvPr id="10" name="TextBox 9"/>
          <p:cNvSpPr txBox="1"/>
          <p:nvPr/>
        </p:nvSpPr>
        <p:spPr>
          <a:xfrm>
            <a:off x="9921239" y="5806440"/>
            <a:ext cx="1965960" cy="411480"/>
          </a:xfrm>
          <a:prstGeom prst="rect">
            <a:avLst/>
          </a:prstGeom>
          <a:noFill/>
        </p:spPr>
        <p:txBody>
          <a:bodyPr wrap="square">
            <a:spAutoFit/>
          </a:bodyPr>
          <a:lstStyle/>
          <a:p>
            <a:pPr algn="ctr"/>
            <a:r>
              <a:rPr sz="1000" i="1">
                <a:solidFill>
                  <a:srgbClr val="595959"/>
                </a:solidFill>
              </a:rPr>
              <a:t>Superpositie van veldsterkten in P (cursus D3).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4 – Superpositie en veldlijnen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19</a:t>
            </a:r>
          </a:p>
        </p:txBody>
      </p:sp>
      <p:graphicFrame>
        <p:nvGraphicFramePr>
          <p:cNvPr id="5" name="Table 4"/>
          <p:cNvGraphicFramePr>
            <a:graphicFrameLocks noGrp="1"/>
          </p:cNvGraphicFramePr>
          <p:nvPr/>
        </p:nvGraphicFramePr>
        <p:xfrm>
          <a:off x="457200" y="1143000"/>
          <a:ext cx="11277294" cy="2286000"/>
        </p:xfrm>
        <a:graphic>
          <a:graphicData uri="http://schemas.openxmlformats.org/drawingml/2006/table">
            <a:tbl>
              <a:tblPr firstRow="1" bandRow="1">
                <a:tableStyleId>{5C22544A-7EE6-4342-B048-85BDC9FD1C3A}</a:tableStyleId>
              </a:tblPr>
              <a:tblGrid>
                <a:gridCol w="2178568"/>
                <a:gridCol w="3972683"/>
                <a:gridCol w="5126043"/>
              </a:tblGrid>
              <a:tr h="457200">
                <a:tc>
                  <a:txBody>
                    <a:bodyPr/>
                    <a:lstStyle/>
                    <a:p>
                      <a:r>
                        <a:rPr sz="1400" b="1">
                          <a:solidFill>
                            <a:srgbClr val="FFFFFF"/>
                          </a:solidFill>
                        </a:rPr>
                        <a:t>Situatie</a:t>
                      </a:r>
                    </a:p>
                  </a:txBody>
                  <a:tcPr>
                    <a:solidFill>
                      <a:srgbClr val="1F4E79"/>
                    </a:solidFill>
                  </a:tcPr>
                </a:tc>
                <a:tc>
                  <a:txBody>
                    <a:bodyPr/>
                    <a:lstStyle/>
                    <a:p>
                      <a:r>
                        <a:rPr sz="1400" b="1">
                          <a:solidFill>
                            <a:srgbClr val="FFFFFF"/>
                          </a:solidFill>
                        </a:rPr>
                        <a:t>Schets voorspeld / gecorrigeerd</a:t>
                      </a:r>
                    </a:p>
                  </a:txBody>
                  <a:tcPr>
                    <a:solidFill>
                      <a:srgbClr val="1F4E79"/>
                    </a:solidFill>
                  </a:tcPr>
                </a:tc>
                <a:tc>
                  <a:txBody>
                    <a:bodyPr/>
                    <a:lstStyle/>
                    <a:p>
                      <a:r>
                        <a:rPr sz="1400" b="1">
                          <a:solidFill>
                            <a:srgbClr val="FFFFFF"/>
                          </a:solidFill>
                        </a:rPr>
                        <a:t>Waar is E het grootst? Waar (bijna) nul?</a:t>
                      </a:r>
                    </a:p>
                  </a:txBody>
                  <a:tcPr>
                    <a:solidFill>
                      <a:srgbClr val="1F4E79"/>
                    </a:solidFill>
                  </a:tcPr>
                </a:tc>
              </a:tr>
              <a:tr h="457200">
                <a:tc>
                  <a:txBody>
                    <a:bodyPr/>
                    <a:lstStyle/>
                    <a:p>
                      <a:r>
                        <a:rPr sz="1400">
                          <a:solidFill>
                            <a:srgbClr val="262626"/>
                          </a:solidFill>
                        </a:rPr>
                        <a:t>(a) +Q en +Q</a:t>
                      </a:r>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(b) +Q en –Q</a:t>
                      </a:r>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400">
                          <a:solidFill>
                            <a:srgbClr val="262626"/>
                          </a:solidFill>
                        </a:rPr>
                        <a:t>(c) +2Q en –Q</a:t>
                      </a:r>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(d) twee 'platen'</a:t>
                      </a:r>
                    </a:p>
                  </a:txBody>
                  <a:tcPr>
                    <a:solidFill>
                      <a:srgbClr val="F2F5FA"/>
                    </a:solidFill>
                  </a:tcPr>
                </a:tc>
                <a:tc>
                  <a:txBody>
                    <a:bodyPr/>
                    <a:lstStyle/>
                    <a:p/>
                  </a:txBody>
                  <a:tcPr>
                    <a:solidFill>
                      <a:srgbClr val="F2F5FA"/>
                    </a:solidFill>
                  </a:tcPr>
                </a:tc>
                <a:tc>
                  <a:txBody>
                    <a:bodyPr/>
                    <a:lstStyle/>
                    <a:p/>
                  </a:txBody>
                  <a:tcPr>
                    <a:solidFill>
                      <a:srgbClr val="F2F5FA"/>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STEM-ONTWERPOPDRACHT (LPD 4 S) – stuur een lading door het veld (PhET Electric Field Hockey)</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20</a:t>
            </a:r>
          </a:p>
        </p:txBody>
      </p:sp>
      <p:sp>
        <p:nvSpPr>
          <p:cNvPr id="5" name="Rectangle 4"/>
          <p:cNvSpPr/>
          <p:nvPr/>
        </p:nvSpPr>
        <p:spPr>
          <a:xfrm>
            <a:off x="0" y="914400"/>
            <a:ext cx="164592" cy="594360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Doel: breng puck (positieve lading) in doel door vaste ladingen te plaatsen – met zo weinig mogelijk ladingen</a:t>
            </a:r>
          </a:p>
          <a:p>
            <a:pPr>
              <a:spcAft>
                <a:spcPts val="600"/>
              </a:spcAft>
            </a:pPr>
            <a:r>
              <a:rPr sz="2200">
                <a:solidFill>
                  <a:srgbClr val="262626"/>
                </a:solidFill>
              </a:rPr>
              <a:t>      – Doorloop level 1 en 2 (met 'Field' aan zodat je veldlijnen ziet)</a:t>
            </a:r>
          </a:p>
          <a:p>
            <a:pPr>
              <a:spcAft>
                <a:spcPts val="1400"/>
              </a:spcAft>
            </a:pPr>
            <a:r>
              <a:rPr sz="2200">
                <a:solidFill>
                  <a:srgbClr val="262626"/>
                </a:solidFill>
              </a:rPr>
              <a:t>• Noteer per oplossing: aantal en teken van ladingen, schets met veldlijnen en waarom het werkt (richting van F = q·E op puck)</a:t>
            </a:r>
          </a:p>
          <a:p>
            <a:pPr>
              <a:spcAft>
                <a:spcPts val="600"/>
              </a:spcAft>
            </a:pPr>
            <a:r>
              <a:rPr sz="2200">
                <a:solidFill>
                  <a:srgbClr val="262626"/>
                </a:solidFill>
              </a:rPr>
              <a:t>      – Bespreek: waarom buigt baan af, waarom versnelt puck?</a:t>
            </a:r>
          </a:p>
          <a:p>
            <a:pPr>
              <a:spcAft>
                <a:spcPts val="1400"/>
              </a:spcAft>
            </a:pPr>
            <a:r>
              <a:rPr sz="2200">
                <a:solidFill>
                  <a:srgbClr val="262626"/>
                </a:solidFill>
              </a:rPr>
              <a:t>• Alternatief zonder spel: plaats in Charges and Fields ladingen zodat in gegeven punt P veldsterkte exact nul is én in punt Q (1 m verder) 20 V/m naar rechts</a:t>
            </a:r>
          </a:p>
          <a:p>
            <a:pPr>
              <a:spcAft>
                <a:spcPts val="600"/>
              </a:spcAft>
            </a:pPr>
            <a:r>
              <a:rPr sz="2200">
                <a:solidFill>
                  <a:srgbClr val="262626"/>
                </a:solidFill>
              </a:rPr>
              <a:t>      – Minimaal aantal ladingen?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R – REFLECTEREN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Kloppen de resultaten? Wat leren we eruit?</a:t>
            </a:r>
          </a:p>
          <a:p>
            <a:pPr algn="ctr">
              <a:spcBef>
                <a:spcPts val="600"/>
              </a:spcBef>
            </a:pPr>
            <a:r>
              <a:rPr sz="1800">
                <a:solidFill>
                  <a:srgbClr val="262626"/>
                </a:solidFill>
              </a:rPr>
              <a:t>Besluit – foutenanalyse – reflectievragen – verslag en evaluatie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Besluit • Foutenanalyse en betrouwbaarheid</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22</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300" b="1">
                <a:solidFill>
                  <a:srgbClr val="1F4E79"/>
                </a:solidFill>
              </a:rPr>
              <a:t>Besluit</a:t>
            </a:r>
          </a:p>
          <a:p>
            <a:pPr>
              <a:spcAft>
                <a:spcPts val="1400"/>
              </a:spcAft>
            </a:pPr>
            <a:r>
              <a:rPr sz="2200">
                <a:solidFill>
                  <a:srgbClr val="262626"/>
                </a:solidFill>
              </a:rPr>
              <a:t>• Beantwoord onderzoeksvraag, onderbouwd met je metingen (getallen, grafiek)</a:t>
            </a:r>
          </a:p>
          <a:p>
            <a:pPr>
              <a:spcAft>
                <a:spcPts val="1400"/>
              </a:spcAft>
            </a:pPr>
            <a:r>
              <a:rPr sz="2200">
                <a:solidFill>
                  <a:srgbClr val="262626"/>
                </a:solidFill>
              </a:rPr>
              <a:t>• Klopt je hypothese?</a:t>
            </a:r>
          </a:p>
          <a:p>
            <a:pPr>
              <a:spcAft>
                <a:spcPts val="600"/>
              </a:spcAft>
            </a:pPr>
            <a:r>
              <a:rPr sz="2200">
                <a:solidFill>
                  <a:srgbClr val="262626"/>
                </a:solidFill>
              </a:rPr>
              <a:t>      – Leg uit</a:t>
            </a:r>
          </a:p>
          <a:p>
            <a:pPr>
              <a:spcAft>
                <a:spcPts val="1400"/>
              </a:spcAft>
            </a:pPr>
            <a:r>
              <a:rPr sz="2300" b="1">
                <a:solidFill>
                  <a:srgbClr val="1F4E79"/>
                </a:solidFill>
              </a:rPr>
              <a:t>Foutenanalyse en betrouwbaarheid</a:t>
            </a:r>
          </a:p>
          <a:p>
            <a:pPr>
              <a:spcAft>
                <a:spcPts val="1400"/>
              </a:spcAft>
            </a:pPr>
            <a:r>
              <a:rPr sz="2200">
                <a:solidFill>
                  <a:srgbClr val="262626"/>
                </a:solidFill>
              </a:rPr>
              <a:t>• Wat is grootste meetonzekerheid in dit labo?</a:t>
            </a:r>
          </a:p>
          <a:p>
            <a:pPr>
              <a:spcAft>
                <a:spcPts val="1400"/>
              </a:spcAft>
            </a:pPr>
            <a:r>
              <a:rPr sz="2200">
                <a:solidFill>
                  <a:srgbClr val="262626"/>
                </a:solidFill>
              </a:rPr>
              <a:t>• Hoe zou je proef verbeteren (meer herhalingen, ander meetbereik, betere opstelling)?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Reflectievragen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23</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800">
                <a:solidFill>
                  <a:srgbClr val="262626"/>
                </a:solidFill>
              </a:rPr>
              <a:t>1. Formuleer wet van Coulomb en veldsterkteformule in woorden én in symbolen, met k-waarde die je zelf bepaalde</a:t>
            </a:r>
          </a:p>
          <a:p>
            <a:pPr>
              <a:spcAft>
                <a:spcPts val="600"/>
              </a:spcAft>
            </a:pPr>
            <a:r>
              <a:rPr sz="1800">
                <a:solidFill>
                  <a:srgbClr val="262626"/>
                </a:solidFill>
              </a:rPr>
              <a:t>      – Hoe goed komt die overeen met cursus en wat verklaart verschil?</a:t>
            </a:r>
          </a:p>
          <a:p>
            <a:pPr>
              <a:spcAft>
                <a:spcPts val="1400"/>
              </a:spcAft>
            </a:pPr>
            <a:r>
              <a:rPr sz="1800">
                <a:solidFill>
                  <a:srgbClr val="262626"/>
                </a:solidFill>
              </a:rPr>
              <a:t>2. Waarom zet je F uit tegen 1/r² en niet tegen r om k te bepalen?</a:t>
            </a:r>
          </a:p>
          <a:p>
            <a:pPr>
              <a:spcAft>
                <a:spcPts val="600"/>
              </a:spcAft>
            </a:pPr>
            <a:r>
              <a:rPr sz="1800">
                <a:solidFill>
                  <a:srgbClr val="262626"/>
                </a:solidFill>
              </a:rPr>
              <a:t>      – Wat is voordeel van rechte door oorsprong?</a:t>
            </a:r>
          </a:p>
          <a:p>
            <a:pPr>
              <a:spcAft>
                <a:spcPts val="1400"/>
              </a:spcAft>
            </a:pPr>
            <a:r>
              <a:rPr sz="1800">
                <a:solidFill>
                  <a:srgbClr val="262626"/>
                </a:solidFill>
              </a:rPr>
              <a:t>3. Proeflading q' moet 'klein' zijn</a:t>
            </a:r>
          </a:p>
          <a:p>
            <a:pPr>
              <a:spcAft>
                <a:spcPts val="600"/>
              </a:spcAft>
            </a:pPr>
            <a:r>
              <a:rPr sz="1800">
                <a:solidFill>
                  <a:srgbClr val="262626"/>
                </a:solidFill>
              </a:rPr>
              <a:t>      – Waarom?</a:t>
            </a:r>
          </a:p>
          <a:p>
            <a:pPr>
              <a:spcAft>
                <a:spcPts val="600"/>
              </a:spcAft>
            </a:pPr>
            <a:r>
              <a:rPr sz="1800">
                <a:solidFill>
                  <a:srgbClr val="262626"/>
                </a:solidFill>
              </a:rPr>
              <a:t>      – Wat zou er gebeuren in echt experiment (niet in applet) als q' groot is?</a:t>
            </a:r>
          </a:p>
          <a:p>
            <a:pPr>
              <a:spcAft>
                <a:spcPts val="1400"/>
              </a:spcAft>
            </a:pPr>
            <a:r>
              <a:rPr sz="1800">
                <a:solidFill>
                  <a:srgbClr val="262626"/>
                </a:solidFill>
              </a:rPr>
              <a:t>4. Uit welke waarnemingen in deel 4 blijkt dat veldlijnen nooit snijden en dat ze van + naar – lopen?</a:t>
            </a:r>
          </a:p>
          <a:p>
            <a:pPr>
              <a:spcAft>
                <a:spcPts val="600"/>
              </a:spcAft>
            </a:pPr>
            <a:r>
              <a:rPr sz="1800">
                <a:solidFill>
                  <a:srgbClr val="262626"/>
                </a:solidFill>
              </a:rPr>
              <a:t>      – Waarom zijn veldlijnen tussen de 'platen' in (d) bijna evenwijdig?</a:t>
            </a:r>
          </a:p>
          <a:p>
            <a:pPr>
              <a:spcAft>
                <a:spcPts val="1400"/>
              </a:spcAft>
            </a:pPr>
            <a:r>
              <a:rPr sz="1800">
                <a:solidFill>
                  <a:srgbClr val="262626"/>
                </a:solidFill>
              </a:rPr>
              <a:t>5. Welke beperkingen heeft simulatie als onderzoeksinstrument tegenover labo 1?</a:t>
            </a:r>
          </a:p>
          <a:p>
            <a:pPr>
              <a:spcAft>
                <a:spcPts val="600"/>
              </a:spcAft>
            </a:pPr>
            <a:r>
              <a:rPr sz="1800">
                <a:solidFill>
                  <a:srgbClr val="262626"/>
                </a:solidFill>
              </a:rPr>
              <a:t>      – Noem één voordeel en twee nadelen</a:t>
            </a:r>
          </a:p>
          <a:p>
            <a:pPr>
              <a:spcAft>
                <a:spcPts val="1400"/>
              </a:spcAft>
            </a:pPr>
            <a:r>
              <a:rPr sz="1800">
                <a:solidFill>
                  <a:srgbClr val="262626"/>
                </a:solidFill>
              </a:rPr>
              <a:t>6. Toepassing: zoek op hoe elektrostatische luchtfilter of bliksemafleider gebruikmaakt van sterke velden rond spitse punten (koppel aan 'waar is E grootst?')</a:t>
            </a:r>
          </a:p>
          <a:p>
            <a:pPr>
              <a:spcAft>
                <a:spcPts val="600"/>
              </a:spcAft>
            </a:pPr>
            <a:r>
              <a:rPr sz="1800">
                <a:solidFill>
                  <a:srgbClr val="262626"/>
                </a:solidFill>
              </a:rPr>
              <a:t>      – [Internet toegelaten: gewone zoekmachine zoals Google, bron vermelden – geen AI-tool.]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WAT, HOE EN WANNEER WORDT GEËVALUEERD IN DIT LABO?</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2  •  Toegepaste fysica 5BCW  •  24</a:t>
            </a:r>
          </a:p>
        </p:txBody>
      </p:sp>
      <p:sp>
        <p:nvSpPr>
          <p:cNvPr id="5" name="Rectangle 4"/>
          <p:cNvSpPr/>
          <p:nvPr/>
        </p:nvSpPr>
        <p:spPr>
          <a:xfrm>
            <a:off x="0" y="914400"/>
            <a:ext cx="164592" cy="59436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PRODUCT (60 %) – wat: tabellen in SI-eenheden, twee grafieken met trendlijn door oorsprong en bepaling van k (deel 1-3), eigen meetplannen, veldlijnenschetsen met correcties, oplossing ontwerpuitdaging met verklaring, reflectie</a:t>
            </a:r>
          </a:p>
          <a:p>
            <a:pPr>
              <a:spcAft>
                <a:spcPts val="1400"/>
              </a:spcAft>
            </a:pPr>
            <a:r>
              <a:rPr sz="2200">
                <a:solidFill>
                  <a:srgbClr val="262626"/>
                </a:solidFill>
              </a:rPr>
              <a:t>• PRODUCT – hoe en wanneer: puntenverdeling /10 (Bijlage B), groepspunt, feedback in feedbackblok; deadline = één week na labo, 23.59 u, Smartschool-uploadzone</a:t>
            </a:r>
          </a:p>
          <a:p>
            <a:pPr>
              <a:spcAft>
                <a:spcPts val="1400"/>
              </a:spcAft>
            </a:pPr>
            <a:r>
              <a:rPr sz="2200">
                <a:solidFill>
                  <a:srgbClr val="262626"/>
                </a:solidFill>
              </a:rPr>
              <a:t>• PRODUCT – wat dien je in: Excel-verslagsjabloon (tabellen + grafieken F(1/r²) en E(1/r²)) + schermafbeeldingen van veldlijnen in tabblad 'Schema'</a:t>
            </a:r>
          </a:p>
          <a:p>
            <a:pPr>
              <a:spcAft>
                <a:spcPts val="1400"/>
              </a:spcAft>
            </a:pPr>
            <a:r>
              <a:rPr sz="2200">
                <a:solidFill>
                  <a:srgbClr val="262626"/>
                </a:solidFill>
              </a:rPr>
              <a:t>• PROCES &amp; ATTITUDE (40 %) – wat: zelfstandig meetplan opgesteld en laten goedkeuren, voorspelling genoteerd vóór simulatie, eenheden gecontroleerd, efficiënte taakverdeling achter laptop, kritisch over model</a:t>
            </a:r>
          </a:p>
          <a:p>
            <a:pPr>
              <a:spcAft>
                <a:spcPts val="1400"/>
              </a:spcAft>
            </a:pPr>
            <a:r>
              <a:rPr sz="2200">
                <a:solidFill>
                  <a:srgbClr val="262626"/>
                </a:solidFill>
              </a:rPr>
              <a:t>• PROCES &amp; ATTITUDE – hoe: observatie door leerkracht met rubric van Bijlage C (10 thema's × 5 niveaus), individueel punt</a:t>
            </a:r>
          </a:p>
          <a:p>
            <a:pPr>
              <a:spcAft>
                <a:spcPts val="1400"/>
              </a:spcAft>
            </a:pPr>
            <a:r>
              <a:rPr sz="2200">
                <a:solidFill>
                  <a:srgbClr val="262626"/>
                </a:solidFill>
              </a:rPr>
              <a:t>• PEER-EVALUATIE: niet voorzien bij dit labo (tenzij leerkracht dit aankondigt)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