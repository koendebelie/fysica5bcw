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LEERKRACHTENINFO:</a:t>
            </a:r>
          </a:p>
          <a:p>
            <a:r>
              <a:t>• Capstone: bemonsteringsfrequentie minstens 200 Hz, anders worden de pieken afgevlakt. Laat eerst de 'nulmeting' (sensor zonder spoel) opnemen om ruis te tonen.</a:t>
            </a:r>
          </a:p>
          <a:p>
            <a:r>
              <a:t>• Verwachte resultaten: piek 0,1-2 V afhankelijk van spoel en magneet; teken keert om bij uittrekken en bij Z-pool; twee magneten N-N (sterker veld) ≈ dubbele piek, N-Z (velden heffen op) ≈ geen piek; meer windingen → evenredig hogere piek. Elektromagneet: piek bij in- en uitschakelen met tegengesteld teken, nul bij constant aan.</a:t>
            </a:r>
          </a:p>
          <a:p>
            <a:r>
              <a:t>• Verslag = sjabloon Excel (proef 1-2) + Word/PDF met schermafbeeldingen met uitleg (proef 3-4), samen in één uploadzone.</a:t>
            </a:r>
          </a:p>
          <a:p>
            <a:r>
              <a:t>• Capstone-installatie: verwijs naar Bijlage F; de cruciale stap is het vervangen van ResourceFiles.rc in C:\ProgramData\PASCO Scientific (anders geen licentie). Elke interface heeft een nummer: laat elke groep 'haar' PASCO 550 kiezen, anders koppelen laptops aan de verkeerde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Modelantwoord – SMART-zelf 9…: Bv. 'Hoe hangt de piekwaarde van de inductiespanning (sensor, V) af van het aantal windingen van de spoel (300/600/1200) bij dezelfde magneet en dezelfde insteeksnelheid, tijdens proef 3?' Controleer vooral R (slechts één variabele) en C (constante voorwaarden genoemd).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Modelantwoord – Noteer de wet van Faraday in woorden en formule. Wat beteken…: De inductiespanning in een spoel is evenredig met het aantal windingen en met de snelheid waarmee de flux verandert: U_ind = −N·ΔΦ/Δt. Het minteken (Lenz): de geïnduceerde stroom werkt de oorzaak van de fluxverandering tegen (energiebehoud).</a:t>
            </a:r>
          </a:p>
          <a:p>
            <a:r>
              <a:t>Modelantwoord – Een voltmeter reageert traag. Waarom zou dat een probleem zi…: De inductiespanning bestaat enkel tijdens de (korte) beweging: korte pieken van tienden van seconden. Een trage meter toont enkel een gemiddelde of een korte uitslag en mist de piekwaarde en het exacte verloop; een sensor met hoge bemonsteringsfrequentie legt de piek wel vast.</a:t>
            </a:r>
          </a:p>
          <a:p>
            <a:r>
              <a:t>Modelantwoord – Installeer VÓÓR het labo Pasco Capstone op je laptop volgens…: Controle vooraf (thema 1 Voorbereiding): leerlingen tonen het startscherm van Capstone. Zonder installatie: schoollaptop gebruiken, maar dit telt mee in de voorbereiding.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Modelantwoord – Formuleer op basis van proef 1-4 de voorwaarde voor het onts…: Er ontstaat enkel een inductiespanning zolang de flux door de spoel verandert (beweging magneet, in-/uitschakelen elektromagneet) – niet bij stilstand of constante stroom. Grootte: groter bij snellere beweging (ΔΦ/Δt), sterkere magneet (2 magneten N-N: grotere ΔΦ), meer windingen (N), weekijzeren kern. Dit is exact U = −N·ΔΦ/Δt.</a:t>
            </a:r>
          </a:p>
          <a:p>
            <a:r>
              <a:t>Modelantwoord – Leg met de wet van Lenz uit waarom de piek bij uittrekken he…: Bij insteken van de N-pool neemt de flux toe → de geïnduceerde stroom maakt aan die kant een N-pool (afstoting, flux-toename tegenwerken). Bij uittrekken neemt de flux af → stroom keert om en maakt een Z-pool (aantrekking). Je voelt telkens een kracht die de beweging afremt – de arbeid die je levert wordt elektrische energie.</a:t>
            </a:r>
          </a:p>
          <a:p>
            <a:r>
              <a:t>Modelantwoord – Vergelijk de multimeter met de Pasco-sensor: wat kon je met …: Sensor: de echte piekvorm, piekhoogte, duur, het tekenverschil in/uit en dat de spanning nul is bij stilstand; ook dat de oppervlakte onder de piek gelijk blijft. Multimeter: enkel een trage, afgevlakte uitslag. Verschil: bemonsteringsfrequentie/responstijd van het toestel.</a:t>
            </a:r>
          </a:p>
          <a:p>
            <a:r>
              <a:t>Modelantwoord – Oppervlakte onder de piek (zie uitleg hieronder): vergelijk …: De oppervlaktes zijn (bijna) gelijk: dezelfde magneet in dezelfde spoel geeft dezelfde totale fluxverandering N·ΔΦ. Snel: hoge, smalle piek; traag: lage, brede piek. Capstone: selecteer de piek en gebruik 'Oppervlakte'.</a:t>
            </a:r>
          </a:p>
          <a:p>
            <a:r>
              <a:t>Modelantwoord – Verklaar de werking van één toepassing naar keuze: inductiek…: Inductiekookplaat: een spoel onder het glas voert hoogfrequente wisselstroom → wisselend B → wervelstromen in de ferromagnetische pan → joule-warmte in de pan zelf (plaat blijft koeler). Fietsdynamo: draaiende magneet bij spoel → wisselende flux → wisselspanning. Detectielus: auto (metaal) boven de lus verandert de inductantie/flux → detectie. Magnetische rem: metalen schijf beweegt door B → wervelstromen → Lenz: afremmende kracht, slijtagevrij. Draadloos laden: primaire spoel in de lader, secundaire in de gsm = transformator zonder kern.</a:t>
            </a:r>
          </a:p>
          <a:p>
            <a:r>
              <a:t>Modelantwoord – Waarom werken zonnepanelen niet volgens dit principe?…: Fotovoltaïsche cellen zetten lichtenergie rechtstreeks om via het foto-elektrisch effect in een halfgeleider (p-n-junctie): fotonen maken elektron-gatparen vrij. Er is geen beweging, geen magneet en geen fluxverandering; ze leveren gelijkspanning.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jpg"/><Relationship Id="rId4" Type="http://schemas.openxmlformats.org/officeDocument/2006/relationships/image" Target="../media/image8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9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jpg"/><Relationship Id="rId4" Type="http://schemas.openxmlformats.org/officeDocument/2006/relationships/image" Target="../media/image3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69494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Labo 9 – Elektromagnetische inductie: fluxverandering als oorzaak van spanning</a:t>
            </a:r>
          </a:p>
          <a:p>
            <a:pPr>
              <a:spcBef>
                <a:spcPts val="1000"/>
              </a:spcBef>
            </a:pPr>
            <a:r>
              <a:rPr sz="1600">
                <a:solidFill>
                  <a:srgbClr val="DDE6F2"/>
                </a:solidFill>
              </a:rPr>
              <a:t>Richtduur: 2 lesuren • Type practicum: onderzoekspracticum met sensoren (per 2-3)</a:t>
            </a:r>
          </a:p>
          <a:p>
            <a:pPr>
              <a:spcBef>
                <a:spcPts val="1000"/>
              </a:spcBef>
            </a:pPr>
            <a:r>
              <a:rPr sz="1600">
                <a:solidFill>
                  <a:srgbClr val="DDE6F2"/>
                </a:solidFill>
              </a:rPr>
              <a:t>Mate van sturing: begeleid</a:t>
            </a:r>
          </a:p>
          <a:p>
            <a:pPr>
              <a:spcBef>
                <a:spcPts val="1000"/>
              </a:spcBef>
            </a:pPr>
            <a:r>
              <a:rPr sz="1600">
                <a:solidFill>
                  <a:srgbClr val="DDE6F2"/>
                </a:solidFill>
              </a:rPr>
              <a:t>Werkwijze: O – V – U – R</a:t>
            </a:r>
          </a:p>
        </p:txBody>
      </p:sp>
      <p:pic>
        <p:nvPicPr>
          <p:cNvPr id="4" name="Picture 3" descr="schema_induct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2464779"/>
            <a:ext cx="3931920" cy="192844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035040"/>
            <a:ext cx="1109441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DDE6F2"/>
                </a:solidFill>
              </a:rPr>
              <a:t>HAST  •  Toegepaste fysica 5BCW  •  Labocursus volgens de OVUR-methode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6017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LESDOELEN – na dit labo kan je 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95959"/>
                </a:solidFill>
              </a:rPr>
              <a:t>Labo 9  •  Toegepaste fysica 5BCW  • 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36873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>
                <a:solidFill>
                  <a:srgbClr val="262626"/>
                </a:solidFill>
              </a:rPr>
              <a:t>• Aantonen dat spanning geïnduceerd wordt in spoel enkel wanneer magnetische flux door spoel verandert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262626"/>
                </a:solidFill>
              </a:rPr>
              <a:t>• De invloed van snelheid van beweging, sterkte van magneet, aantal windingen en zin van beweging/polariteit op inductiespanning onderzoeken en koppelen aan wet van Faraday en wet van Lenz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262626"/>
                </a:solidFill>
              </a:rPr>
              <a:t>• Inductie opwekken met elektromagneet die in- en uitgeschakeld wordt (flux verandert zonder beweging)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262626"/>
                </a:solidFill>
              </a:rPr>
              <a:t>• Een Pasco Voltage Sensor en Capstone correct gebruiken om snelle spanningspieken te registreren, en schermafbeeldingen correct interpreteren en annoteren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262626"/>
                </a:solidFill>
              </a:rPr>
              <a:t>• Toepassingen van inductie (generator, dynamo, inductiekookplaat, detectielus, draadloos laden) verklaren</a:t>
            </a:r>
          </a:p>
          <a:p>
            <a:pPr>
              <a:spcAft>
                <a:spcPts val="1400"/>
              </a:spcAft>
            </a:pPr>
            <a:r>
              <a:rPr sz="1900" b="1">
                <a:solidFill>
                  <a:srgbClr val="C62828"/>
                </a:solidFill>
              </a:rPr>
              <a:t>LEERPLANDOELEN (III-BCSW-d / III-BCW-d)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262626"/>
                </a:solidFill>
              </a:rPr>
              <a:t>• LPD 7 F: elektromagnetische inductie analyseren en kwantificeren; wet van Faraday en Lenz; opwekken van wisselspanning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262626"/>
                </a:solidFill>
              </a:rPr>
              <a:t>• LPD 1 S, 3 S: onderzoek met sensoren, ICT-verwerking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62626"/>
                </a:solidFill>
              </a:rPr>
              <a:t>      – LPD 5 S: toepassingen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6017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VOORKENNIS – check vóór je begint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95959"/>
                </a:solidFill>
              </a:rPr>
              <a:t>Labo 9  •  Toegepaste fysica 5BCW  •  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64592" cy="594360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1136873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>
                <a:solidFill>
                  <a:srgbClr val="262626"/>
                </a:solidFill>
              </a:rPr>
              <a:t>• Wat is magnetische flux Φ = B·A·cos α?</a:t>
            </a:r>
          </a:p>
          <a:p>
            <a:pPr>
              <a:spcAft>
                <a:spcPts val="600"/>
              </a:spcAft>
            </a:pPr>
            <a:r>
              <a:rPr sz="2200">
                <a:solidFill>
                  <a:srgbClr val="262626"/>
                </a:solidFill>
              </a:rPr>
              <a:t>      – Hoe kan Φ veranderen (B, A of hoek)?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262626"/>
                </a:solidFill>
              </a:rPr>
              <a:t>• Richting van veldlijnen bij spoel (labo 6)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9E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94560"/>
            <a:ext cx="12191695" cy="13716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4000" b="1">
                <a:solidFill>
                  <a:srgbClr val="FFFFFF"/>
                </a:solidFill>
              </a:rPr>
              <a:t>O – ORIËNTEREN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840480"/>
            <a:ext cx="94484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600"/>
              </a:spcBef>
            </a:pPr>
            <a:r>
              <a:rPr sz="1800">
                <a:solidFill>
                  <a:srgbClr val="262626"/>
                </a:solidFill>
              </a:rPr>
              <a:t>Wat gaan we onderzoeken en waarom?</a:t>
            </a:r>
          </a:p>
          <a:p>
            <a:pPr algn="ctr">
              <a:spcBef>
                <a:spcPts val="600"/>
              </a:spcBef>
            </a:pPr>
            <a:r>
              <a:rPr sz="1800">
                <a:solidFill>
                  <a:srgbClr val="262626"/>
                </a:solidFill>
              </a:rPr>
              <a:t>Context – onderzoeksvraag – doel – oriëntatievragen (voorbereid thuis) – SMART-oefening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6017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O – Oriënteren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95959"/>
                </a:solidFill>
              </a:rPr>
              <a:t>Labo 9  •  Toegepaste fysica 5BCW  • 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36873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700" b="1">
                <a:solidFill>
                  <a:srgbClr val="C62828"/>
                </a:solidFill>
              </a:rPr>
              <a:t>Context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262626"/>
                </a:solidFill>
              </a:rPr>
              <a:t>• Meer dan 95 % van elektrische energie in wereld wordt opgewekt met generatoren: spoel en magneet die t.o.v. elkaar bewegen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62626"/>
                </a:solidFill>
              </a:rPr>
              <a:t>      – Hetzelfde principe vind je in fietsdynamo, pick-up van elektrische gitaar, inductiekookplaat, detectielus voor verkeerslicht en draadloze oplader van je gsm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62626"/>
                </a:solidFill>
              </a:rPr>
              <a:t>      – Onderzoek je wanneer en hoe groot inductiespanning ontstaat, eerst met multimeters en → met snelle spanningssensor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C62828"/>
                </a:solidFill>
              </a:rPr>
              <a:t>Onderzoeksvraag (leerlijn SMART – stap 3: jij formuleert)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262626"/>
                </a:solidFill>
              </a:rPr>
              <a:t>• Proef 1, 2 en 4 hebben gegeven proefvraag (zie U-fase)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62626"/>
                </a:solidFill>
              </a:rPr>
              <a:t>      – Voor proef 3 – kwantitatieve meting met spanningssensor – stel jij onderzoeksvraag op</a:t>
            </a:r>
          </a:p>
          <a:p>
            <a:pPr>
              <a:spcAft>
                <a:spcPts val="1400"/>
              </a:spcAft>
            </a:pPr>
            <a:r>
              <a:rPr sz="1600" i="1">
                <a:solidFill>
                  <a:srgbClr val="595959"/>
                </a:solidFill>
              </a:rPr>
              <a:t>Je krijgt geen onderzoeksvraag meer: formuleer ze zelf voor proef 3 met spanningssensor (kies één variabele uit je variabelenlijst: snelheid, aantal windingen, sterkte van magneet, kern) en verantwoord per letter waarom ze SMART is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62626"/>
                </a:solidFill>
              </a:rPr>
              <a:t>      – Gebruik vorm 'Hoe hangt … af van … bij …?'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62626"/>
                </a:solidFill>
              </a:rPr>
              <a:t>      – Laat ze goedkeuren door leerkracht vóór je begint te meten</a:t>
            </a:r>
          </a:p>
          <a:p>
            <a:pPr>
              <a:spcAft>
                <a:spcPts val="1400"/>
              </a:spcAft>
            </a:pPr>
            <a:r>
              <a:rPr sz="1600" i="1">
                <a:solidFill>
                  <a:srgbClr val="595959"/>
                </a:solidFill>
              </a:rPr>
              <a:t>Onderzoeksvraag (leerlijn SMART – stap 3: jij formuleert) – invullen op werkblad; kolommen: Mijn onderzoeksvraag | S | M | A | R | 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6017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O – Oriënteren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95959"/>
                </a:solidFill>
              </a:rPr>
              <a:t>Labo 9  •  Toegepaste fysica 5BCW  • 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36873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700" b="1">
                <a:solidFill>
                  <a:srgbClr val="C62828"/>
                </a:solidFill>
              </a:rPr>
              <a:t>Doel van het onderzoek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262626"/>
                </a:solidFill>
              </a:rPr>
              <a:t>• Verband tussen fluxverandering en inductiespanning onderzoeken (Faraday) en polariteit (Lenz)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262626"/>
                </a:solidFill>
              </a:rPr>
              <a:t>• Nauwkeurigheid van multimeter vs. sensor (Pasco Capstone) vergelijken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262626"/>
                </a:solidFill>
              </a:rPr>
              <a:t>• Metingen documenteren met van uitleg voorziene schermafbeeldingen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C62828"/>
                </a:solidFill>
              </a:rPr>
              <a:t>Oriëntatievragen (beantwoord vóór het labo)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262626"/>
                </a:solidFill>
              </a:rPr>
              <a:t>1. Noteer wet van Faraday in woorden en formule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62626"/>
                </a:solidFill>
              </a:rPr>
              <a:t>      – Wat betekent minteken (Lenz)?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262626"/>
                </a:solidFill>
              </a:rPr>
              <a:t>2. Voltmeter reageert traag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62626"/>
                </a:solidFill>
              </a:rPr>
              <a:t>      – Waarom zou dat probleem zijn bij meten van inductiespanning?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262626"/>
                </a:solidFill>
              </a:rPr>
              <a:t>3. Installeer VÓÓR labo Pasco Capstone op je laptop volgens Bijlage F (Academic Software → Capstone → ResourceFiles.rc vervangen)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62626"/>
                </a:solidFill>
              </a:rPr>
              <a:t>      – Noteer hier of gelukt is en welke versie je hebt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62626"/>
                </a:solidFill>
              </a:rPr>
              <a:t>      – Lukt het niet?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62626"/>
                </a:solidFill>
              </a:rPr>
              <a:t>      – Stel je vraag tijdens les fysica, tijdens andere les of via bericht op Smartschool – vóór labo, niet erna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9E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94560"/>
            <a:ext cx="12191695" cy="13716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4000" b="1">
                <a:solidFill>
                  <a:srgbClr val="FFFFFF"/>
                </a:solidFill>
              </a:rPr>
              <a:t>V – VOORBEREIDEN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840480"/>
            <a:ext cx="94484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600"/>
              </a:spcBef>
            </a:pPr>
            <a:r>
              <a:rPr sz="1800">
                <a:solidFill>
                  <a:srgbClr val="262626"/>
                </a:solidFill>
              </a:rPr>
              <a:t>Hoe pakken we het aan?</a:t>
            </a:r>
          </a:p>
          <a:p>
            <a:pPr algn="ctr">
              <a:spcBef>
                <a:spcPts val="600"/>
              </a:spcBef>
            </a:pPr>
            <a:r>
              <a:rPr sz="1800">
                <a:solidFill>
                  <a:srgbClr val="262626"/>
                </a:solidFill>
              </a:rPr>
              <a:t>Benodigdheden – theorie – veiligheid – hypothese – werkplan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6017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Benodigdheden • Theorie-overzicht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95959"/>
                </a:solidFill>
              </a:rPr>
              <a:t>Labo 9  •  Toegepaste fysica 5BCW  • 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36873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700" b="1">
                <a:solidFill>
                  <a:srgbClr val="C62828"/>
                </a:solidFill>
              </a:rPr>
              <a:t>Benodigdheden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262626"/>
                </a:solidFill>
              </a:rPr>
              <a:t>• Drie spoelen (verschillend aantal windingen: ……, ……, ……), staafmagneet (2 stuks), weerstand, weekijzeren kern, twee multimeters, regelbare spanningsbron, snoeren, Pasco Voltage Sensor, Pasco Interface, laptop met Pasco Capstone (zie handleiding 'Werken met Pasco Capstone en sensoren')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C62828"/>
                </a:solidFill>
              </a:rPr>
              <a:t>Theorie-overzicht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262626"/>
                </a:solidFill>
              </a:rPr>
              <a:t>• Magnetische flux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62626"/>
                </a:solidFill>
              </a:rPr>
              <a:t>      – Stel je magnetisch veld voor als veldlijnen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62626"/>
                </a:solidFill>
              </a:rPr>
              <a:t>      – Flux Φ door winding is maat voor aantal veldlijnen dat door oppervlak van die winding gaat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62626"/>
                </a:solidFill>
              </a:rPr>
              <a:t>      – Hoe sterker veld (B), hoe groter winding (A) en hoe meer winding loodrecht op veldlijnen staat, hoe groter flux:</a:t>
            </a:r>
          </a:p>
          <a:p>
            <a:pPr algn="ctr">
              <a:spcBef>
                <a:spcPts val="600"/>
              </a:spcBef>
              <a:spcAft>
                <a:spcPts val="1400"/>
              </a:spcAft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Para>
                    <m:oMathParaPr>
                      <m:jc m:val="centerGroup"/>
                    </m:oMathParaPr>
                    <m:oMath>
                      <m:r>
                        <a:rPr lang="nl-BE" sz="2200" b="1">
                          <a:solidFill>
                            <a:srgbClr val="C62828"/>
                          </a:solidFill>
                          <a:latin typeface="Cambria Math"/>
                        </a:rPr>
                        <m:t xml:space="preserve">Φ</m:t>
                      </m:r>
                      <m:r>
                        <a:rPr lang="nl-BE" sz="2200" b="1">
                          <a:solidFill>
                            <a:srgbClr val="C62828"/>
                          </a:solidFill>
                          <a:latin typeface="Cambria Math"/>
                        </a:rPr>
                        <m:t xml:space="preserve">=</m:t>
                      </m:r>
                      <m:r>
                        <a:rPr lang="nl-BE" sz="2200" b="1">
                          <a:solidFill>
                            <a:srgbClr val="C62828"/>
                          </a:solidFill>
                          <a:latin typeface="Cambria Math"/>
                        </a:rPr>
                        <m:t xml:space="preserve">B</m:t>
                      </m:r>
                      <m:r>
                        <a:rPr lang="nl-BE" sz="2200" b="1">
                          <a:solidFill>
                            <a:srgbClr val="C62828"/>
                          </a:solidFill>
                          <a:latin typeface="Cambria Math"/>
                        </a:rPr>
                        <m:t xml:space="preserve">·</m:t>
                      </m:r>
                      <m:r>
                        <a:rPr lang="nl-BE" sz="2200" b="1">
                          <a:solidFill>
                            <a:srgbClr val="C62828"/>
                          </a:solidFill>
                          <a:latin typeface="Cambria Math"/>
                        </a:rPr>
                        <m:t xml:space="preserve">A</m:t>
                      </m:r>
                      <m:r>
                        <a:rPr lang="nl-BE" sz="2200" b="1">
                          <a:solidFill>
                            <a:srgbClr val="C62828"/>
                          </a:solidFill>
                          <a:latin typeface="Cambria Math"/>
                        </a:rPr>
                        <m:t xml:space="preserve">·</m:t>
                      </m:r>
                      <m:r>
                        <m:rPr>
                          <m:sty m:val="p"/>
                        </m:rPr>
                        <a:rPr lang="nl-BE" sz="2200" b="1">
                          <a:solidFill>
                            <a:srgbClr val="C62828"/>
                          </a:solidFill>
                          <a:latin typeface="Cambria Math"/>
                        </a:rPr>
                        <m:t xml:space="preserve">cos </m:t>
                      </m:r>
                      <m:r>
                        <a:rPr lang="nl-BE" sz="2200" b="1">
                          <a:solidFill>
                            <a:srgbClr val="C62828"/>
                          </a:solidFill>
                          <a:latin typeface="Cambria Math"/>
                        </a:rPr>
                        <m:t xml:space="preserve">α</m:t>
                      </m:r>
                      <m:r>
                        <a:rPr lang="nl-BE" sz="2200" b="1">
                          <a:solidFill>
                            <a:srgbClr val="C62828"/>
                          </a:solidFill>
                          <a:latin typeface="Cambria Math"/>
                        </a:rPr>
                        <m:t xml:space="preserve">      </m:t>
                      </m:r>
                      <m:r>
                        <a:rPr lang="nl-BE" sz="2200" b="1">
                          <a:solidFill>
                            <a:srgbClr val="C62828"/>
                          </a:solidFill>
                          <a:latin typeface="Cambria Math"/>
                        </a:rPr>
                        <m:t xml:space="preserve">[</m:t>
                      </m:r>
                      <m:r>
                        <a:rPr lang="nl-BE" sz="2200" b="1">
                          <a:solidFill>
                            <a:srgbClr val="C62828"/>
                          </a:solidFill>
                          <a:latin typeface="Cambria Math"/>
                        </a:rPr>
                        <m:t xml:space="preserve">Φ</m:t>
                      </m:r>
                      <m:r>
                        <a:rPr lang="nl-BE" sz="2200" b="1">
                          <a:solidFill>
                            <a:srgbClr val="C62828"/>
                          </a:solidFill>
                          <a:latin typeface="Cambria Math"/>
                        </a:rPr>
                        <m:t xml:space="preserve">]</m:t>
                      </m:r>
                      <m:r>
                        <a:rPr lang="nl-BE" sz="2200" b="1">
                          <a:solidFill>
                            <a:srgbClr val="C62828"/>
                          </a:solidFill>
                          <a:latin typeface="Cambria Math"/>
                        </a:rPr>
                        <m:t xml:space="preserve">=</m:t>
                      </m:r>
                      <m:r>
                        <m:rPr>
                          <m:sty m:val="p"/>
                        </m:rPr>
                        <a:rPr lang="nl-BE" sz="2200" b="1">
                          <a:solidFill>
                            <a:srgbClr val="C62828"/>
                          </a:solidFill>
                          <a:latin typeface="Cambria Math"/>
                        </a:rPr>
                        <m:t xml:space="preserve">Wb</m:t>
                      </m:r>
                      <m:r>
                        <a:rPr lang="nl-BE" sz="2200" b="1">
                          <a:solidFill>
                            <a:srgbClr val="C62828"/>
                          </a:solidFill>
                          <a:latin typeface="Cambria Math"/>
                        </a:rPr>
                        <m:t xml:space="preserve">=</m:t>
                      </m:r>
                      <m:r>
                        <m:rPr>
                          <m:sty m:val="p"/>
                        </m:rPr>
                        <a:rPr lang="nl-BE" sz="2200" b="1">
                          <a:solidFill>
                            <a:srgbClr val="C62828"/>
                          </a:solidFill>
                          <a:latin typeface="Cambria Math"/>
                        </a:rPr>
                        <m:t xml:space="preserve">T</m:t>
                      </m:r>
                      <m:r>
                        <a:rPr lang="nl-BE" sz="2200" b="1">
                          <a:solidFill>
                            <a:srgbClr val="C62828"/>
                          </a:solidFill>
                          <a:latin typeface="Cambria Math"/>
                        </a:rPr>
                        <m:t xml:space="preserve">·</m:t>
                      </m:r>
                      <m:sSubSup>
                        <m:e>
                          <m:r>
                            <m:rPr>
                              <m:sty m:val="p"/>
                            </m:rPr>
                            <a:rPr lang="nl-BE" sz="2200" b="1">
                              <a:solidFill>
                                <a:srgbClr val="C62828"/>
                              </a:solidFill>
                              <a:latin typeface="Cambria Math"/>
                            </a:rPr>
                            <m:t xml:space="preserve">m</m:t>
                          </m:r>
                        </m:e>
                        <m:sub>
                          <m:r>
                            <a:rPr lang="nl-BE" sz="2200" b="1">
                              <a:solidFill>
                                <a:srgbClr val="C62828"/>
                              </a:solidFill>
                              <a:latin typeface="Cambria Math"/>
                            </a:rPr>
                            <m:t xml:space="preserve"/>
                          </m:r>
                        </m:sub>
                        <m:sup>
                          <m:r>
                            <a:rPr lang="nl-BE" sz="2200" b="1">
                              <a:solidFill>
                                <a:srgbClr val="C62828"/>
                              </a:solidFill>
                              <a:latin typeface="Cambria Math"/>
                            </a:rPr>
                            <m:t xml:space="preserve">2</m:t>
                          </m:r>
                        </m:sup>
                      </m:sSubSup>
                    </m:oMath>
                  </m:oMathPara>
                </a14:m>
              </mc:Choice>
              <mc:Fallback>
                <a:r>
                  <a:rPr lang="nl-BE" sz="2200" b="1">
                    <a:solidFill>
                      <a:srgbClr val="C62828"/>
                    </a:solidFill>
                  </a:rPr>
                  <a:t>Φ = B · A · cos α  [Φ] = Wb = T · m²</a:t>
                </a:r>
              </mc:Fallback>
            </mc:AlternateContent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262626"/>
                </a:solidFill>
              </a:rPr>
              <a:t>• Fluxverandering – wat bedoelen we daarmee?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62626"/>
                </a:solidFill>
              </a:rPr>
              <a:t>      – Enkel als aantal veldlijnen door spoel VERANDERT, ontstaat er spanning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62626"/>
                </a:solidFill>
              </a:rPr>
              <a:t>      – Dat kan op drie manieren: (1) magneet (of spoel) beweegt zodat er meer of minder veldlijnen door spoel gaan – insteken: flux stijgt, uittrekken: flux daalt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6017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Benodigdheden • Theorie-overzicht (vervolg)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95959"/>
                </a:solidFill>
              </a:rPr>
              <a:t>Labo 9  •  Toegepaste fysica 5BCW  • 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36873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262626"/>
                </a:solidFill>
              </a:rPr>
              <a:t>      – (2) veld zelf wordt sterker of zwakker, bv. elektromagneet die je in- of uitschakelt – niets beweegt, toch verandert flux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62626"/>
                </a:solidFill>
              </a:rPr>
              <a:t>      – (3) spoel draait zodat ze schuin op veldlijnen komt (generator)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62626"/>
                </a:solidFill>
              </a:rPr>
              <a:t>      – Magneet die stil in spoel ligt, geeft grote flux maar GEEN fluxverandering → geen spanning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262626"/>
                </a:solidFill>
              </a:rPr>
              <a:t>• Wet van Faraday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62626"/>
                </a:solidFill>
              </a:rPr>
              <a:t>      – Inductiespanning is evenredig met aantal windingen en met snelheid waarmee flux verandert (ΔΦ/Δt = fluxverandering per seconde):</a:t>
            </a:r>
          </a:p>
          <a:p>
            <a:pPr algn="ctr">
              <a:spcBef>
                <a:spcPts val="600"/>
              </a:spcBef>
              <a:spcAft>
                <a:spcPts val="1400"/>
              </a:spcAft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Para>
                    <m:oMathParaPr>
                      <m:jc m:val="centerGroup"/>
                    </m:oMathParaPr>
                    <m:oMath>
                      <m:sSub>
                        <m:e>
                          <m:r>
                            <a:rPr lang="nl-BE" sz="2200" b="1">
                              <a:solidFill>
                                <a:srgbClr val="C62828"/>
                              </a:solidFill>
                              <a:latin typeface="Cambria Math"/>
                            </a:rPr>
                            <m:t xml:space="preserve">U</m:t>
                          </m:r>
                        </m:e>
                        <m:sub>
                          <m:r>
                            <a:rPr lang="nl-BE" sz="2200" b="1">
                              <a:solidFill>
                                <a:srgbClr val="C62828"/>
                              </a:solidFill>
                              <a:latin typeface="Cambria Math"/>
                            </a:rPr>
                            <m:t xml:space="preserve">i</m:t>
                          </m:r>
                          <m:r>
                            <a:rPr lang="nl-BE" sz="2200" b="1">
                              <a:solidFill>
                                <a:srgbClr val="C62828"/>
                              </a:solidFill>
                              <a:latin typeface="Cambria Math"/>
                            </a:rPr>
                            <m:t xml:space="preserve">n</m:t>
                          </m:r>
                          <m:r>
                            <a:rPr lang="nl-BE" sz="2200" b="1">
                              <a:solidFill>
                                <a:srgbClr val="C62828"/>
                              </a:solidFill>
                              <a:latin typeface="Cambria Math"/>
                            </a:rPr>
                            <m:t xml:space="preserve">d</m:t>
                          </m:r>
                        </m:sub>
                      </m:sSub>
                      <m:r>
                        <a:rPr lang="nl-BE" sz="2200" b="1">
                          <a:solidFill>
                            <a:srgbClr val="C62828"/>
                          </a:solidFill>
                          <a:latin typeface="Cambria Math"/>
                        </a:rPr>
                        <m:t xml:space="preserve">=</m:t>
                      </m:r>
                      <m:r>
                        <a:rPr lang="nl-BE" sz="2200" b="1">
                          <a:solidFill>
                            <a:srgbClr val="C62828"/>
                          </a:solidFill>
                          <a:latin typeface="Cambria Math"/>
                        </a:rPr>
                        <m:t xml:space="preserve">-</m:t>
                      </m:r>
                      <m:r>
                        <a:rPr lang="nl-BE" sz="2200" b="1">
                          <a:solidFill>
                            <a:srgbClr val="C62828"/>
                          </a:solidFill>
                          <a:latin typeface="Cambria Math"/>
                        </a:rPr>
                        <m:t xml:space="preserve">N</m:t>
                      </m:r>
                      <m:r>
                        <a:rPr lang="nl-BE" sz="2200" b="1">
                          <a:solidFill>
                            <a:srgbClr val="C62828"/>
                          </a:solidFill>
                          <a:latin typeface="Cambria Math"/>
                        </a:rPr>
                        <m:t xml:space="preserve">·</m:t>
                      </m:r>
                      <m:f>
                        <m:fPr/>
                        <m:num>
                          <m:r>
                            <a:rPr lang="nl-BE" sz="2200" b="1">
                              <a:solidFill>
                                <a:srgbClr val="C62828"/>
                              </a:solidFill>
                              <a:latin typeface="Cambria Math"/>
                            </a:rPr>
                            <m:t xml:space="preserve">Δ</m:t>
                          </m:r>
                          <m:r>
                            <a:rPr lang="nl-BE" sz="2200" b="1">
                              <a:solidFill>
                                <a:srgbClr val="C62828"/>
                              </a:solidFill>
                              <a:latin typeface="Cambria Math"/>
                            </a:rPr>
                            <m:t xml:space="preserve">Φ</m:t>
                          </m:r>
                        </m:num>
                        <m:den>
                          <m:r>
                            <a:rPr lang="nl-BE" sz="2200" b="1">
                              <a:solidFill>
                                <a:srgbClr val="C62828"/>
                              </a:solidFill>
                              <a:latin typeface="Cambria Math"/>
                            </a:rPr>
                            <m:t xml:space="preserve">Δ</m:t>
                          </m:r>
                          <m:r>
                            <a:rPr lang="nl-BE" sz="2200" b="1">
                              <a:solidFill>
                                <a:srgbClr val="C62828"/>
                              </a:solidFill>
                              <a:latin typeface="Cambria Math"/>
                            </a:rPr>
                            <m:t xml:space="preserve">t</m:t>
                          </m:r>
                        </m:den>
                      </m:f>
                    </m:oMath>
                  </m:oMathPara>
                </a14:m>
              </mc:Choice>
              <mc:Fallback>
                <a:r>
                  <a:rPr lang="nl-BE" sz="2200" b="1">
                    <a:solidFill>
                      <a:srgbClr val="C62828"/>
                    </a:solidFill>
                  </a:rPr>
                  <a:t>U_ind = -N · (Δ Φ) / (Δ t)</a:t>
                </a:r>
              </mc:Fallback>
            </mc:AlternateContent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262626"/>
                </a:solidFill>
              </a:rPr>
              <a:t>• Wet van Lenz. De geïnduceerde stroom heeft zo'n zin dat zijn magnetisch veld oorzaak (fluxverandering) tegenwerkt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62626"/>
                </a:solidFill>
              </a:rPr>
              <a:t>      – Daardoor keert polariteit om bij insteken vs. uittrekken en bij N-pool vs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62626"/>
                </a:solidFill>
              </a:rPr>
              <a:t>      – Z-pool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262626"/>
                </a:solidFill>
              </a:rPr>
              <a:t>• Opmerking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62626"/>
                </a:solidFill>
              </a:rPr>
              <a:t>      – A-meter wordt in dit labo op dezelfde manier geschakeld als de V-meter (over spoel met weerstand); stroom is zo klein dat geen extra serieweerstand nodig is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6017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VEILIGHEID // NAUWKEURIGHEID • Hypothese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95959"/>
                </a:solidFill>
              </a:rPr>
              <a:t>Labo 9  •  Toegepaste fysica 5BCW  • 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36873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300" b="1">
                <a:solidFill>
                  <a:srgbClr val="C62828"/>
                </a:solidFill>
              </a:rPr>
              <a:t>VEILIGHEID // NAUWKEURIGHEID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262626"/>
                </a:solidFill>
              </a:rPr>
              <a:t>• Elektromagneet: I ≤ I_max van spoel (staat op spoel); schakel uit tussen metingen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262626"/>
                </a:solidFill>
              </a:rPr>
              <a:t>• Sensor: enkel meetbereik van ±10 V gebruiken; sensor niet aansluiten op spanningsbron zelf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262626"/>
                </a:solidFill>
              </a:rPr>
              <a:t>• Magneten weg van laptop en interface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262626"/>
                </a:solidFill>
              </a:rPr>
              <a:t>• Lukt de Bluetooth-verbinding niet?</a:t>
            </a:r>
          </a:p>
          <a:p>
            <a:pPr>
              <a:spcAft>
                <a:spcPts val="600"/>
              </a:spcAft>
            </a:pPr>
            <a:r>
              <a:rPr sz="2200">
                <a:solidFill>
                  <a:srgbClr val="262626"/>
                </a:solidFill>
              </a:rPr>
              <a:t>      – Verbind interface dan met de USB-kabel met laptop (Capstone herkent ze automatisch)</a:t>
            </a:r>
          </a:p>
          <a:p>
            <a:pPr>
              <a:spcAft>
                <a:spcPts val="1400"/>
              </a:spcAft>
            </a:pPr>
            <a:r>
              <a:rPr sz="2300" b="1">
                <a:solidFill>
                  <a:srgbClr val="C62828"/>
                </a:solidFill>
              </a:rPr>
              <a:t>Hypothese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262626"/>
                </a:solidFill>
              </a:rPr>
              <a:t>• Formuleer vóór proef beredeneerde verwachting: wat verwacht je en waarom?</a:t>
            </a:r>
          </a:p>
          <a:p>
            <a:pPr>
              <a:spcAft>
                <a:spcPts val="1400"/>
              </a:spcAft>
            </a:pPr>
            <a:r>
              <a:rPr sz="2200" i="1">
                <a:solidFill>
                  <a:srgbClr val="595959"/>
                </a:solidFill>
              </a:rPr>
              <a:t>Hypothese mag fout blijken – dat is geen slecht resultaat, maar leerpunt</a:t>
            </a:r>
          </a:p>
          <a:p>
            <a:pPr>
              <a:spcAft>
                <a:spcPts val="600"/>
              </a:spcAft>
            </a:pPr>
            <a:r>
              <a:rPr sz="2200">
                <a:solidFill>
                  <a:srgbClr val="262626"/>
                </a:solidFill>
              </a:rPr>
              <a:t>      – Noteer ze op werkblad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6017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Werkplan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95959"/>
                </a:solidFill>
              </a:rPr>
              <a:t>Labo 9  •  Toegepaste fysica 5BCW  • 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36873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>
                <a:solidFill>
                  <a:srgbClr val="262626"/>
                </a:solidFill>
              </a:rPr>
              <a:t>• Proef 1 en 2 met multimeters (kwalitatief, snel)</a:t>
            </a:r>
          </a:p>
          <a:p>
            <a:pPr>
              <a:spcAft>
                <a:spcPts val="600"/>
              </a:spcAft>
            </a:pPr>
            <a:r>
              <a:rPr sz="2200">
                <a:solidFill>
                  <a:srgbClr val="262626"/>
                </a:solidFill>
              </a:rPr>
              <a:t>      – Proef 3 en 4 met Pasco-sensor (kwantitatief: piekhoogte, teken, duur)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262626"/>
                </a:solidFill>
              </a:rPr>
              <a:t>• Maak voor proef 3 en 4 duidelijke variabelenlijst: wat varieer je (snelheid, polariteit, aantal windingen, 1 of 2 magneten) en wat houd je constant?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9E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94560"/>
            <a:ext cx="12191695" cy="13716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4000" b="1">
                <a:solidFill>
                  <a:srgbClr val="FFFFFF"/>
                </a:solidFill>
              </a:rPr>
              <a:t>U – UITVOEREN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840480"/>
            <a:ext cx="94484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600"/>
              </a:spcBef>
            </a:pPr>
            <a:r>
              <a:rPr sz="1800">
                <a:solidFill>
                  <a:srgbClr val="262626"/>
                </a:solidFill>
              </a:rPr>
              <a:t>Meten, noteren, observeren – volgens plan</a:t>
            </a:r>
          </a:p>
          <a:p>
            <a:pPr algn="ctr">
              <a:spcBef>
                <a:spcPts val="600"/>
              </a:spcBef>
            </a:pPr>
            <a:r>
              <a:rPr sz="1800">
                <a:solidFill>
                  <a:srgbClr val="262626"/>
                </a:solidFill>
              </a:rPr>
              <a:t>Noteer alles meteen op het werkblad: tabellen, waarnemingen, foto's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6017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U – Uitvoeren • Proef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95959"/>
                </a:solidFill>
              </a:rPr>
              <a:t>Labo 9  •  Toegepaste fysica 5BCW  • 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73152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900" b="1">
                <a:solidFill>
                  <a:srgbClr val="C62828"/>
                </a:solidFill>
              </a:rPr>
              <a:t>U – Uitvoeren</a:t>
            </a:r>
          </a:p>
          <a:p>
            <a:pPr>
              <a:spcAft>
                <a:spcPts val="1400"/>
              </a:spcAft>
            </a:pPr>
            <a:r>
              <a:rPr sz="1800" i="1">
                <a:solidFill>
                  <a:srgbClr val="595959"/>
                </a:solidFill>
              </a:rPr>
              <a:t>Schema's: proef 1 (magneet beweegt t.o.v. spoel, V-meter) en proef 2 (elektromagneet met schakelaar naast meetspoel)</a:t>
            </a:r>
          </a:p>
          <a:p>
            <a:pPr>
              <a:spcAft>
                <a:spcPts val="1400"/>
              </a:spcAft>
            </a:pPr>
            <a:r>
              <a:rPr sz="1900" b="1">
                <a:solidFill>
                  <a:srgbClr val="C62828"/>
                </a:solidFill>
              </a:rPr>
              <a:t>Proef 1 – Inductiespanning met multimeters (magneet beweegt)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262626"/>
                </a:solidFill>
              </a:rPr>
              <a:t>1. Verbind spoel met weerstand, de V-meter en de A-meter zoals in schema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262626"/>
                </a:solidFill>
              </a:rPr>
              <a:t>2. Schuif magneet met de N-pool naar spoel, steek hem erin, houd hem stil, trek hem er weer uit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62626"/>
                </a:solidFill>
              </a:rPr>
              <a:t>      – Eén persoon observeert de V-meter en beschrijft nauwkeurig wat er bij elke handeling gebeurt (teken en grootte)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262626"/>
                </a:solidFill>
              </a:rPr>
              <a:t>3. Herhaal terwijl andere persoon de A-meter observeert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262626"/>
                </a:solidFill>
              </a:rPr>
              <a:t>4. Herhaal met de Z-pool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62626"/>
                </a:solidFill>
              </a:rPr>
              <a:t>      – Herhaal met twee magneten samen (N-N en N-Z)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62626"/>
                </a:solidFill>
              </a:rPr>
              <a:t>      – Herhaal snel vs. traag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62626"/>
                </a:solidFill>
              </a:rPr>
              <a:t>      – Herhaal met spoel met meer windingen</a:t>
            </a:r>
          </a:p>
        </p:txBody>
      </p:sp>
      <p:pic>
        <p:nvPicPr>
          <p:cNvPr id="6" name="Picture 5" descr="schema_induct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79" y="2464779"/>
            <a:ext cx="3931920" cy="192844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955279" y="576072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i="1">
                <a:solidFill>
                  <a:srgbClr val="595959"/>
                </a:solidFill>
              </a:rPr>
              <a:t>Schema's: proef 1 (magneet beweegt t.o.v. de spoel, V-meter) en proef 2 (elektromagneet met schakelaar naast de meetspoel).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6017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>
                <a:solidFill>
                  <a:srgbClr val="FFFFFF"/>
                </a:solidFill>
              </a:rPr>
              <a:t>Proef 1 – Inductiespanning met multimeters (magneet beweegt)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95959"/>
                </a:solidFill>
              </a:rPr>
              <a:t>Labo 9  •  Toegepaste fysica 5BCW  •  14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43000"/>
          <a:ext cx="11277292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00671"/>
                <a:gridCol w="3300671"/>
                <a:gridCol w="962695"/>
                <a:gridCol w="3713255"/>
              </a:tblGrid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Handeling</a:t>
                      </a:r>
                    </a:p>
                  </a:txBody>
                  <a:tcPr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V-meter (teken, grootte)</a:t>
                      </a:r>
                    </a:p>
                  </a:txBody>
                  <a:tcPr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A-meter</a:t>
                      </a:r>
                    </a:p>
                  </a:txBody>
                  <a:tcPr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Verklaring (Faraday / Lenz)</a:t>
                      </a:r>
                    </a:p>
                  </a:txBody>
                  <a:tcPr>
                    <a:solidFill>
                      <a:srgbClr val="C6282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</a:rPr>
                        <a:t>N-pool nadert / insteken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</a:rPr>
                        <a:t>Magneet stil in de spoel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2F5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</a:rPr>
                        <a:t>Uittrekken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</a:rPr>
                        <a:t>Z-pool insteken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2F5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</a:rPr>
                        <a:t>Snel vs. traag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</a:rPr>
                        <a:t>Twee magneten (N-N)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2F5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</a:rPr>
                        <a:t>Twee magneten (N-Z)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</a:rPr>
                        <a:t>Spoel met meer windingen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6017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>
                <a:solidFill>
                  <a:srgbClr val="FFFFFF"/>
                </a:solidFill>
              </a:rPr>
              <a:t>Proef 2 – Inductiespanning door een elektromagneet (niets beweegt)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95959"/>
                </a:solidFill>
              </a:rPr>
              <a:t>Labo 9  •  Toegepaste fysica 5BCW  • 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1127729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i="0">
                <a:solidFill>
                  <a:srgbClr val="262626"/>
                </a:solidFill>
              </a:rPr>
              <a:t>Plaats elektromagneet (spoel + weekijzeren kern + spanningsbron) vlak bij meetspoel</a:t>
            </a:r>
          </a:p>
          <a:p>
            <a:pPr>
              <a:spcAft>
                <a:spcPts val="400"/>
              </a:spcAft>
            </a:pPr>
            <a:r>
              <a:rPr sz="1600" i="0">
                <a:solidFill>
                  <a:srgbClr val="262626"/>
                </a:solidFill>
              </a:rPr>
              <a:t>Zet bron aan, laat even aan, zet uit</a:t>
            </a:r>
          </a:p>
          <a:p>
            <a:pPr>
              <a:spcAft>
                <a:spcPts val="400"/>
              </a:spcAft>
            </a:pPr>
            <a:r>
              <a:rPr sz="1600" i="0">
                <a:solidFill>
                  <a:srgbClr val="262626"/>
                </a:solidFill>
              </a:rPr>
              <a:t>      – Observeer V- en A-meter bij elke handeling</a:t>
            </a:r>
          </a:p>
          <a:p>
            <a:pPr>
              <a:spcAft>
                <a:spcPts val="400"/>
              </a:spcAft>
            </a:pPr>
            <a:r>
              <a:rPr sz="1600" i="0">
                <a:solidFill>
                  <a:srgbClr val="262626"/>
                </a:solidFill>
              </a:rPr>
              <a:t>Herhaal met elektromagneet met meer windingen en/of met kern doorheen beide spoelen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2778861.6000000006"/>
          <a:ext cx="11277294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48309"/>
                <a:gridCol w="1233454"/>
                <a:gridCol w="1233454"/>
                <a:gridCol w="1762077"/>
              </a:tblGrid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Handeling</a:t>
                      </a:r>
                    </a:p>
                  </a:txBody>
                  <a:tcPr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V-meter</a:t>
                      </a:r>
                    </a:p>
                  </a:txBody>
                  <a:tcPr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A-meter</a:t>
                      </a:r>
                    </a:p>
                  </a:txBody>
                  <a:tcPr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Verklaring</a:t>
                      </a:r>
                    </a:p>
                  </a:txBody>
                  <a:tcPr>
                    <a:solidFill>
                      <a:srgbClr val="C6282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</a:rPr>
                        <a:t>Inschakelen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</a:rPr>
                        <a:t>Aan (constant)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2F5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</a:rPr>
                        <a:t>Uitschakelen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</a:rPr>
                        <a:t>Meer windingen / gemeenschappelijke kern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6017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>
                <a:solidFill>
                  <a:srgbClr val="FFFFFF"/>
                </a:solidFill>
              </a:rPr>
              <a:t>CAPSTONE IN 7 STAPPEN (volledige handleiding met schermafbeeldingen: Bijlage F)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95959"/>
                </a:solidFill>
              </a:rPr>
              <a:t>Labo 9  •  Toegepaste fysica 5BCW  • 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36873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>
                <a:solidFill>
                  <a:srgbClr val="262626"/>
                </a:solidFill>
              </a:rPr>
              <a:t>• 1 Zet Bluetooth aan op laptop; schakel de PASCO 550 Universal Interface in (Windows: Instellingen → Bluetooth → interface verschijnt bij 'Andere apparaten')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262626"/>
                </a:solidFill>
              </a:rPr>
              <a:t>• 2 Start Capstone → Hardware Setup (links) → 'Zoeken naar draadloze apparaten' → klik op jouw PASCO 550 (controleer nummer!)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262626"/>
                </a:solidFill>
              </a:rPr>
              <a:t>• 3 Steek spanningssensor in analoge poort A; klik in Hardware Setup op poort A en kies 'Spanningssensor' (Voltage Sensor)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62626"/>
                </a:solidFill>
              </a:rPr>
              <a:t>      – Onderaan verschijnt 'Spanningssensor, Ch A'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262626"/>
                </a:solidFill>
              </a:rPr>
              <a:t>• 4 Verbind twee meetsnoeren van sensor met uiteinden van spoel (rood/zwart; polariteit bepaalt teken van piek – noteer welke klem aan welk spoeluiteinde hangt)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262626"/>
                </a:solidFill>
              </a:rPr>
              <a:t>• 5 Sleep 'Grafiek' (rechts, Weergaven) naar pagina; kies op y-as 'Spanning (V)', x-as = Tijd (s)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262626"/>
                </a:solidFill>
              </a:rPr>
              <a:t>• 6 Zet onderaan bemonsteringsfrequentie (Spanningssensor) op min. 200 Hz; sensorgegevens = 'Continu meting'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262626"/>
                </a:solidFill>
              </a:rPr>
              <a:t>• 7 Klik 'Opnemen', voer handeling uit, klik 'Stoppen'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62626"/>
                </a:solidFill>
              </a:rPr>
              <a:t>      – Zoom in op piek; lees piekwaarde en duur af (gereedschap 'Coördinaten')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62626"/>
                </a:solidFill>
              </a:rPr>
              <a:t>      – Schermafbeelding (Win + Shift + S) met titel van handeling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6017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>
                <a:solidFill>
                  <a:srgbClr val="FFFFFF"/>
                </a:solidFill>
              </a:rPr>
              <a:t>Proef 3 – Meting met Pasco Voltage Sensor en Capstone (magneet beweegt)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95959"/>
                </a:solidFill>
              </a:rPr>
              <a:t>Labo 9  •  Toegepaste fysica 5BCW  • 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73152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>
                <a:solidFill>
                  <a:srgbClr val="262626"/>
                </a:solidFill>
              </a:rPr>
              <a:t>1. Sluit de Voltage Sensor aan op spoel en koppel interface via Bluetooth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262626"/>
                </a:solidFill>
              </a:rPr>
              <a:t>      – Maak nieuw Capstone-project, voeg grafiek U(t) toe, bemonsteringsfrequentie ≥ 200 Hz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262626"/>
                </a:solidFill>
              </a:rPr>
              <a:t>2. Herhaal handelingen van proef 1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262626"/>
                </a:solidFill>
              </a:rPr>
              <a:t>      – Ga ook na wat er gebeurt als magneet even stil in spoel ligt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262626"/>
                </a:solidFill>
              </a:rPr>
              <a:t>3. Lees per handeling piekwaarde (V) en duur van piek (s) af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262626"/>
                </a:solidFill>
              </a:rPr>
              <a:t>      – Vergelijk snel/traag, N/Z, 1/2 magneten, verschillende spoelen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262626"/>
                </a:solidFill>
              </a:rPr>
              <a:t>4. Maak van elke meting schermafbeelding en annoteer: wat gebeurt er op elk moment?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262626"/>
                </a:solidFill>
              </a:rPr>
              <a:t>      – Benadruk spanningspieken en koppel ze aan fluxverandering</a:t>
            </a:r>
          </a:p>
        </p:txBody>
      </p:sp>
      <p:pic>
        <p:nvPicPr>
          <p:cNvPr id="6" name="Picture 5" descr="p5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0999" y="3107792"/>
            <a:ext cx="1874520" cy="1053896"/>
          </a:xfrm>
          <a:prstGeom prst="rect">
            <a:avLst/>
          </a:prstGeom>
        </p:spPr>
      </p:pic>
      <p:pic>
        <p:nvPicPr>
          <p:cNvPr id="7" name="Picture 6" descr="p7_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59" y="3107792"/>
            <a:ext cx="1874520" cy="1053896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6017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>
                <a:solidFill>
                  <a:srgbClr val="FFFFFF"/>
                </a:solidFill>
              </a:rPr>
              <a:t>Proef 3 – Meting met Pasco Voltage Sensor en Capstone (magneet beweegt)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95959"/>
                </a:solidFill>
              </a:rPr>
              <a:t>Labo 9  •  Toegepaste fysica 5BCW  •  18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43000"/>
          <a:ext cx="11277292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2094"/>
                <a:gridCol w="1848736"/>
                <a:gridCol w="2403357"/>
                <a:gridCol w="1109242"/>
                <a:gridCol w="1663863"/>
              </a:tblGrid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Situatie</a:t>
                      </a:r>
                    </a:p>
                  </a:txBody>
                  <a:tcPr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U_piek (V)</a:t>
                      </a:r>
                    </a:p>
                  </a:txBody>
                  <a:tcPr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Duur piek (s)</a:t>
                      </a:r>
                    </a:p>
                  </a:txBody>
                  <a:tcPr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Teken</a:t>
                      </a:r>
                    </a:p>
                  </a:txBody>
                  <a:tcPr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Opmerking</a:t>
                      </a:r>
                    </a:p>
                  </a:txBody>
                  <a:tcPr>
                    <a:solidFill>
                      <a:srgbClr val="C6282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</a:rPr>
                        <a:t>N insteken traag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</a:rPr>
                        <a:t>N insteken snel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2F5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</a:rPr>
                        <a:t>N uittrekken snel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</a:rPr>
                        <a:t>Z insteken snel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2F5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</a:rPr>
                        <a:t>2 magneten N-N insteken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</a:rPr>
                        <a:t>Spoel met …… windingen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2F5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</a:rPr>
                        <a:t>Magneet stil in spoel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6017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U – Uitvoeren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95959"/>
                </a:solidFill>
              </a:rPr>
              <a:t>Labo 9  •  Toegepaste fysica 5BCW  •  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36873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700" b="1">
                <a:solidFill>
                  <a:srgbClr val="C62828"/>
                </a:solidFill>
              </a:rPr>
              <a:t>STEM-ONTWERPOPDRACHT (LPD 4 S) – proef 3 – jouw variabelenlijst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262626"/>
                </a:solidFill>
              </a:rPr>
              <a:t>• Tabel hierboven is voorbeeld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62626"/>
                </a:solidFill>
              </a:rPr>
              <a:t>      – Stel zelf vast welke variabelen je onderzoekt (snelheid, polariteit, aantal windingen, aantal magneten, kern), in welke volgorde en hoe je elk effect eerlijk vergelijkt (één variabele tegelijk, zelfde beweging)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62626"/>
                </a:solidFill>
              </a:rPr>
              <a:t>      – Vul eigen rijen toe in Excel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C62828"/>
                </a:solidFill>
              </a:rPr>
              <a:t>STEM-ONTWERPOPDRACHT (LPD 4 S) – ontwerp én bouw een mini-generator (schudlamp)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262626"/>
                </a:solidFill>
              </a:rPr>
              <a:t>• Wat moet je ontwerpen?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62626"/>
                </a:solidFill>
              </a:rPr>
              <a:t>      – Toestel dat door BEWEGING (schudden, draaien, laten vallen) voldoende inductiespanning opwekt om led zichtbaar te laten knipperen – zonder batterij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62626"/>
                </a:solidFill>
              </a:rPr>
              <a:t>      – Je ontwerpt eerst op papier (schets met spoel, magneet, led, bewegingsrichting) en bouwt het → wél echt met labomateriaal: één van spoelen (kies zelf welke), staafmagneet (of twee), rode led (eventueel twee leds antiparallel zodat beide stroomzinnen licht geven) en snoeren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62626"/>
                </a:solidFill>
              </a:rPr>
              <a:t>      – Echte behuizing of buis is niet nodig; kartonnen koker mag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262626"/>
                </a:solidFill>
              </a:rPr>
              <a:t>• Ontwerpvragen die je moet beantwoorden vóór je bouwt: Welke spoel (veel of weinig windingen) en waarom?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62626"/>
                </a:solidFill>
              </a:rPr>
              <a:t>      – Hoe beweeg je magneet zo snel mogelijk door spoel?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62626"/>
                </a:solidFill>
              </a:rPr>
              <a:t>      – Waarom knippert led en brandt ze niet continu?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6017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U – Uitvoeren (vervolg)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95959"/>
                </a:solidFill>
              </a:rPr>
              <a:t>Labo 9  •  Toegepaste fysica 5BCW  • 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36873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>
                <a:solidFill>
                  <a:srgbClr val="262626"/>
                </a:solidFill>
              </a:rPr>
              <a:t>      – In welke zin sluit je led aan (test beide)?</a:t>
            </a:r>
          </a:p>
          <a:p>
            <a:pPr>
              <a:spcAft>
                <a:spcPts val="600"/>
              </a:spcAft>
            </a:pPr>
            <a:r>
              <a:rPr sz="2200">
                <a:solidFill>
                  <a:srgbClr val="262626"/>
                </a:solidFill>
              </a:rPr>
              <a:t>      – Waarom gebruik je led en geen gloeilampje (benodigde stroom)?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262626"/>
                </a:solidFill>
              </a:rPr>
              <a:t>• Testen en meten: probeer min. twee ontwerpen (bv. andere spoel of andere beweging) en registreer van elk met spanningssensor hoogste piek</a:t>
            </a:r>
          </a:p>
          <a:p>
            <a:pPr>
              <a:spcAft>
                <a:spcPts val="600"/>
              </a:spcAft>
            </a:pPr>
            <a:r>
              <a:rPr sz="2200">
                <a:solidFill>
                  <a:srgbClr val="262626"/>
                </a:solidFill>
              </a:rPr>
              <a:t>      – Welke keuze had grootste effect?</a:t>
            </a:r>
          </a:p>
          <a:p>
            <a:pPr>
              <a:spcAft>
                <a:spcPts val="600"/>
              </a:spcAft>
            </a:pPr>
            <a:r>
              <a:rPr sz="2200">
                <a:solidFill>
                  <a:srgbClr val="262626"/>
                </a:solidFill>
              </a:rPr>
              <a:t>      – Verwacht: pieken van 1 tot enkele volt; rode led licht op vanaf ca. 1,8 V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262626"/>
                </a:solidFill>
              </a:rPr>
              <a:t>• Wat dien je in?</a:t>
            </a:r>
          </a:p>
          <a:p>
            <a:pPr>
              <a:spcAft>
                <a:spcPts val="600"/>
              </a:spcAft>
            </a:pPr>
            <a:r>
              <a:rPr sz="2200">
                <a:solidFill>
                  <a:srgbClr val="262626"/>
                </a:solidFill>
              </a:rPr>
              <a:t>      – Schets van beide ontwerpen, foto van gebouwde toestel, twee piekwaarden en besluit van vijf regels (wat werkt best en waarom, met Faraday)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6017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Proef 4 – Elektromagneet met Pasco-sensor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95959"/>
                </a:solidFill>
              </a:rPr>
              <a:t>Labo 9  •  Toegepaste fysica 5BCW  •  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36873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>
                <a:solidFill>
                  <a:srgbClr val="262626"/>
                </a:solidFill>
              </a:rPr>
              <a:t>1. Herhaal proef 2 met sensor</a:t>
            </a:r>
          </a:p>
          <a:p>
            <a:pPr>
              <a:spcAft>
                <a:spcPts val="600"/>
              </a:spcAft>
            </a:pPr>
            <a:r>
              <a:rPr sz="2200">
                <a:solidFill>
                  <a:srgbClr val="262626"/>
                </a:solidFill>
              </a:rPr>
              <a:t>      – Registreer in- en uitschakelen</a:t>
            </a:r>
          </a:p>
          <a:p>
            <a:pPr>
              <a:spcAft>
                <a:spcPts val="600"/>
              </a:spcAft>
            </a:pPr>
            <a:r>
              <a:rPr sz="2200">
                <a:solidFill>
                  <a:srgbClr val="262626"/>
                </a:solidFill>
              </a:rPr>
              <a:t>      – Vergelijk piekhoogte en teken bij in- en uitschakelen</a:t>
            </a:r>
          </a:p>
          <a:p>
            <a:pPr>
              <a:spcAft>
                <a:spcPts val="600"/>
              </a:spcAft>
            </a:pPr>
            <a:r>
              <a:rPr sz="2200">
                <a:solidFill>
                  <a:srgbClr val="262626"/>
                </a:solidFill>
              </a:rPr>
              <a:t>      – Wat zie je als elektromagneet constant aan staat?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262626"/>
                </a:solidFill>
              </a:rPr>
              <a:t>2. Schermafbeeldingen met uitleg toevoegen aan verslag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9E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94560"/>
            <a:ext cx="12191695" cy="13716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4000" b="1">
                <a:solidFill>
                  <a:srgbClr val="FFFFFF"/>
                </a:solidFill>
              </a:rPr>
              <a:t>R – REFLECTEREN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840480"/>
            <a:ext cx="94484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600"/>
              </a:spcBef>
            </a:pPr>
            <a:r>
              <a:rPr sz="1800">
                <a:solidFill>
                  <a:srgbClr val="262626"/>
                </a:solidFill>
              </a:rPr>
              <a:t>Kloppen de resultaten? Wat leren we eruit?</a:t>
            </a:r>
          </a:p>
          <a:p>
            <a:pPr algn="ctr">
              <a:spcBef>
                <a:spcPts val="600"/>
              </a:spcBef>
            </a:pPr>
            <a:r>
              <a:rPr sz="1800">
                <a:solidFill>
                  <a:srgbClr val="262626"/>
                </a:solidFill>
              </a:rPr>
              <a:t>Besluit – foutenanalyse – reflectievragen – verslag en evaluatie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6017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Besluit • Foutenanalyse en betrouwbaarheid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95959"/>
                </a:solidFill>
              </a:rPr>
              <a:t>Labo 9  •  Toegepaste fysica 5BCW  •  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36873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300" b="1">
                <a:solidFill>
                  <a:srgbClr val="C62828"/>
                </a:solidFill>
              </a:rPr>
              <a:t>Besluit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262626"/>
                </a:solidFill>
              </a:rPr>
              <a:t>• Beantwoord onderzoeksvraag, onderbouwd met je metingen (getallen, grafiek)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262626"/>
                </a:solidFill>
              </a:rPr>
              <a:t>• Klopt je hypothese?</a:t>
            </a:r>
          </a:p>
          <a:p>
            <a:pPr>
              <a:spcAft>
                <a:spcPts val="600"/>
              </a:spcAft>
            </a:pPr>
            <a:r>
              <a:rPr sz="2200">
                <a:solidFill>
                  <a:srgbClr val="262626"/>
                </a:solidFill>
              </a:rPr>
              <a:t>      – Leg uit</a:t>
            </a:r>
          </a:p>
          <a:p>
            <a:pPr>
              <a:spcAft>
                <a:spcPts val="1400"/>
              </a:spcAft>
            </a:pPr>
            <a:r>
              <a:rPr sz="2300" b="1">
                <a:solidFill>
                  <a:srgbClr val="C62828"/>
                </a:solidFill>
              </a:rPr>
              <a:t>Foutenanalyse en betrouwbaarheid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262626"/>
                </a:solidFill>
              </a:rPr>
              <a:t>• Wat is grootste meetonzekerheid in dit labo?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262626"/>
                </a:solidFill>
              </a:rPr>
              <a:t>• Hoe zou je proef verbeteren (meer herhalingen, ander meetbereik, betere opstelling)?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6017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Reflectievragen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95959"/>
                </a:solidFill>
              </a:rPr>
              <a:t>Labo 9  •  Toegepaste fysica 5BCW  •  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36873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>
                <a:solidFill>
                  <a:srgbClr val="262626"/>
                </a:solidFill>
              </a:rPr>
              <a:t>1. Formuleer o.b.v. proef 1-4 voorwaarde voor ontstaan van inductiespanning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62626"/>
                </a:solidFill>
              </a:rPr>
              <a:t>      – Welke factoren bepalen grootte?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62626"/>
                </a:solidFill>
              </a:rPr>
              <a:t>      – Koppel aan formule van Faraday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262626"/>
                </a:solidFill>
              </a:rPr>
              <a:t>2. Leg met wet van Lenz uit waarom piek bij uittrekken tegengestelde teken heeft van die bij insteken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62626"/>
                </a:solidFill>
              </a:rPr>
              <a:t>      – Welke richting heeft kracht die je voelt op magneet?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262626"/>
                </a:solidFill>
              </a:rPr>
              <a:t>3. Vergelijk multimeter met de Pasco-sensor: wat kon je met sensor zien dat je met multimeter miste?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62626"/>
                </a:solidFill>
              </a:rPr>
              <a:t>      – Welke eigenschap van meettoestel verklaart dat?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262626"/>
                </a:solidFill>
              </a:rPr>
              <a:t>4. Oppervlakte onder piek (zie uitleg hieronder): vergelijk in Capstone oppervlakte onder piek bij snel en bij traag insteken van dezelfde magneet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62626"/>
                </a:solidFill>
              </a:rPr>
              <a:t>      – Wat stel je vast en hoe verklaar je dat met fluxverandering?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262626"/>
                </a:solidFill>
              </a:rPr>
              <a:t>5. Verklaar werking van één toepassing naar keuze: inductiekookplaat, fietsdynamo, detectielus, magnetische rem of draadloze oplader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62626"/>
                </a:solidFill>
              </a:rPr>
              <a:t>      – [Internet toegelaten: gewone zoekmachine zoals Google, bron vermelden – geen AI-tool.]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262626"/>
                </a:solidFill>
              </a:rPr>
              <a:t>6. Waarom werken zonnepanelen niet volgens dit principe?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6017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UITLEG – de oppervlakte onder een piek, zonder integralen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95959"/>
                </a:solidFill>
              </a:rPr>
              <a:t>Labo 9  •  Toegepaste fysica 5BCW  •  25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64592" cy="594360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1136873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>
                <a:solidFill>
                  <a:srgbClr val="262626"/>
                </a:solidFill>
              </a:rPr>
              <a:t>• Faraday zegt: U = N·ΔΦ/Δt, dus U·Δt = N·ΔΦ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262626"/>
                </a:solidFill>
              </a:rPr>
              <a:t>      – Spanning × tijd is fluxverandering (maal N) in dat tijdje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262626"/>
                </a:solidFill>
              </a:rPr>
              <a:t>• Verdeel piek in de U(t)-grafiek in heel smalle verticale strookjes van breedte Δt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262626"/>
                </a:solidFill>
              </a:rPr>
              <a:t>      – Elk strookje heeft oppervlakte (hoogte U × breedte Δt) = stukje fluxverandering in dat tijdje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262626"/>
                </a:solidFill>
              </a:rPr>
              <a:t>      – Tel je alle strookjes op, dan krijg je hele oppervlakte onder piek = N × totale fluxverandering ΔΦ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262626"/>
                </a:solidFill>
              </a:rPr>
              <a:t>• Steek je dezelfde magneet in dezelfde spoel, dan is totale fluxverandering altijd dezelfde (van 'geen veldlijnen' naar 'alle veldlijnen van magneet')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262626"/>
                </a:solidFill>
              </a:rPr>
              <a:t>      – Doe je snel, dan is piek hoog en smal; traag: laag en breed – maar oppervlakte is (ongeveer) gelijk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262626"/>
                </a:solidFill>
              </a:rPr>
              <a:t>      – Capstone berekent die oppervlakte voor jou (gereedschap 'Oppervlakte' op geselecteerd stuk grafiek)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262626"/>
                </a:solidFill>
              </a:rPr>
              <a:t>• Dit is precies wat je in wiskunde later integraal zal noemen; nu volstaat 'de som van alle strookjes'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6017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VERSLAG VAN DIT LABO (afwijkend)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95959"/>
                </a:solidFill>
              </a:rPr>
              <a:t>Labo 9  •  Toegepaste fysica 5BCW  •  26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64592" cy="59436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1136873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>
                <a:solidFill>
                  <a:srgbClr val="262626"/>
                </a:solidFill>
              </a:rPr>
              <a:t>• Proef 1 en 2 → blanco Excel-verslagsjabloon van Smartschool: echt verslag met onderzoeksvraag, hypothese, waarnemingstabellen en besluit (geen grafieken nodig)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262626"/>
                </a:solidFill>
              </a:rPr>
              <a:t>• Proef 3 en 4 → Word of PDF met alle schermafbeeldingen, elk met titel (welke handeling) en korte uitleg erbij: welke piek zie je, welk teken, hoe groot, en hoe hangt dat samen met fluxverandering (Faraday/Lenz)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262626"/>
                </a:solidFill>
              </a:rPr>
              <a:t>• Beide bestanden samen uploaden in dezelfde uploadzone (één upload per groep, zelfde deadline)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6017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WAT, HOE EN WANNEER WORDT GEËVALUEERD IN DIT LABO?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95959"/>
                </a:solidFill>
              </a:rPr>
              <a:t>Labo 9  •  Toegepaste fysica 5BCW  •  27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64592" cy="5943600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1136873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>
                <a:solidFill>
                  <a:srgbClr val="262626"/>
                </a:solidFill>
              </a:rPr>
              <a:t>• PRODUCT (60 %) – wat: volledige waarnemingstabellen met verklaringen, schermafbeeldingen met uitleg (duidelijke titels, pieken benoemd), antwoord op onderzoeksvraag met Faraday en Lenz, vergelijking meettoestellen, toepassing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262626"/>
                </a:solidFill>
              </a:rPr>
              <a:t>• PRODUCT – hoe en wanneer: puntenverdeling /10 (Bijlage B), groepspunt, feedback in feedbackblok; deadline = één week na labo, 23.59 u, Smartschool-uploadzone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262626"/>
                </a:solidFill>
              </a:rPr>
              <a:t>• PRODUCT – wat dien je in: Excel-verslagsjabloon voor proef 1-2 + Word/PDF met Capstone-schermafbeeldingen en uitleg voor proef 3-4 (samen uploaden)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262626"/>
                </a:solidFill>
              </a:rPr>
              <a:t>• PROCES &amp; ATTITUDE (40 %) – wat: Capstone vooraf geïnstalleerd (Bijlage F), sensor en software correct ingesteld (bemonsteringsfrequentie!), systematisch gevarieerd (één variabele tegelijk), taakverdeling (bewegen – observeren – noteren), I_max gerespecteerd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262626"/>
                </a:solidFill>
              </a:rPr>
              <a:t>• PROCES &amp; ATTITUDE – hoe: observatie door leerkracht met rubric van Bijlage C (10 thema's × 5 niveaus), individueel punt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262626"/>
                </a:solidFill>
              </a:rPr>
              <a:t>• PEER-EVALUATIE: ja – na dit labo verdeel je punten over jezelf en je groepsleden (werkwijze: Bijlage D)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62626"/>
                </a:solidFill>
              </a:rPr>
              <a:t>      – Peerfactor past groepspunt individueel aan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9E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94560"/>
            <a:ext cx="12191695" cy="13716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4000" b="1">
                <a:solidFill>
                  <a:srgbClr val="FFFFFF"/>
                </a:solidFill>
              </a:rPr>
              <a:t>Bijlage F – Pasco Capstone installeren en de spanningssensor aansluiten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840480"/>
            <a:ext cx="94484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6017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>
                <a:solidFill>
                  <a:srgbClr val="FFFFFF"/>
                </a:solidFill>
              </a:rPr>
              <a:t>Bijlage F – Pasco Capstone installeren en de spanningssensor aansluiten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95959"/>
                </a:solidFill>
              </a:rPr>
              <a:t>Labo 9  •  Toegepaste fysica 5BCW  •  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36873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i="1">
                <a:solidFill>
                  <a:srgbClr val="595959"/>
                </a:solidFill>
              </a:rPr>
              <a:t>Nodig voor labo 9 (inductie) en bruikbaar voor labo 11</a:t>
            </a:r>
          </a:p>
          <a:p>
            <a:pPr>
              <a:spcAft>
                <a:spcPts val="600"/>
              </a:spcAft>
            </a:pPr>
            <a:r>
              <a:rPr sz="2200">
                <a:solidFill>
                  <a:srgbClr val="262626"/>
                </a:solidFill>
              </a:rPr>
              <a:t>      – Installeer software thuis, vóór labo</a:t>
            </a:r>
          </a:p>
          <a:p>
            <a:pPr>
              <a:spcAft>
                <a:spcPts val="600"/>
              </a:spcAft>
            </a:pPr>
            <a:r>
              <a:rPr sz="2200">
                <a:solidFill>
                  <a:srgbClr val="262626"/>
                </a:solidFill>
              </a:rPr>
              <a:t>      – Volledige handleiding met schermafbeeldingen (bron: vakgroep, 'installatie pasco capstone en aansluiten spanningssensor')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6017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F.1 Installatie van Pasco Capstone (Windows)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95959"/>
                </a:solidFill>
              </a:rPr>
              <a:t>Labo 9  •  Toegepaste fysica 5BCW  •  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73152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>
                <a:solidFill>
                  <a:srgbClr val="262626"/>
                </a:solidFill>
              </a:rPr>
              <a:t>1. Ga naar https://portal.academicsoftware.com/ en meld aan met je schoolaccount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262626"/>
                </a:solidFill>
              </a:rPr>
              <a:t>2. Klik op tabblad 'Software', zoek 'Pasco' en selecteer Pasco Capstone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262626"/>
                </a:solidFill>
              </a:rPr>
              <a:t>3. Klik op 'Download Pasco Capstone' om download te starten en ga naar je downloadmap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262626"/>
                </a:solidFill>
              </a:rPr>
              <a:t>4. Pak het ZIP-bestand uit en open het .exe-installatiebestand; volg installatiestappen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262626"/>
                </a:solidFill>
              </a:rPr>
              <a:t>5. Start programma één keer op en sluit weer af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262626"/>
                </a:solidFill>
              </a:rPr>
              <a:t>6. Open Windows Verkenner en ga naar C:\ProgramData\PASCO Scientific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62626"/>
                </a:solidFill>
              </a:rPr>
              <a:t>      – Zie je map ProgramData niet?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62626"/>
                </a:solidFill>
              </a:rPr>
              <a:t>      – Ga naar schijf C:, klik bovenaan op 'Beeld' en vink 'Verborgen items' aan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262626"/>
                </a:solidFill>
              </a:rPr>
              <a:t>7. Vervang daar bestand 'ResourceFiles.rc' door bestand met dezelfde naam uit de ZIP-map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262626"/>
                </a:solidFill>
              </a:rPr>
              <a:t>8. Pasco Capstone is klaar voor gebruik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62626"/>
                </a:solidFill>
              </a:rPr>
              <a:t>      – (Mac/tablet: vraag leerkracht; in labo staan ook schoollaptops met Capstone.)</a:t>
            </a:r>
          </a:p>
        </p:txBody>
      </p:sp>
      <p:pic>
        <p:nvPicPr>
          <p:cNvPr id="6" name="Picture 5" descr="p1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0999" y="3217139"/>
            <a:ext cx="1874520" cy="835202"/>
          </a:xfrm>
          <a:prstGeom prst="rect">
            <a:avLst/>
          </a:prstGeom>
        </p:spPr>
      </p:pic>
      <p:pic>
        <p:nvPicPr>
          <p:cNvPr id="7" name="Picture 6" descr="p2_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59" y="3296285"/>
            <a:ext cx="1874520" cy="67691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6017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F.2 De interface verbinden met je laptop (Bluetooth)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95959"/>
                </a:solidFill>
              </a:rPr>
              <a:t>Labo 9  •  Toegepaste fysica 5BCW  •  31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73152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>
                <a:solidFill>
                  <a:srgbClr val="262626"/>
                </a:solidFill>
              </a:rPr>
              <a:t>1. Schakel de PASCO 550 Universal Interface in (knop vooraan; blauw lampje knippert)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262626"/>
                </a:solidFill>
              </a:rPr>
              <a:t>2. Windows: Instellingen → Bluetooth en andere apparaten → Bluetooth 'Aan'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262626"/>
                </a:solidFill>
              </a:rPr>
              <a:t>      – Interface verschijnt onder 'Andere apparaten' (PS550)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262626"/>
                </a:solidFill>
              </a:rPr>
              <a:t>      – Je laptop hoeft hem niet te 'koppelen'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262626"/>
                </a:solidFill>
              </a:rPr>
              <a:t>      – Capstone doet dat zelf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262626"/>
                </a:solidFill>
              </a:rPr>
              <a:t>3. Start Capstone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262626"/>
                </a:solidFill>
              </a:rPr>
              <a:t>      – Klik links op 'Hardware Setup' → 'Zoeken naar draadloze apparaten' → klik op de PASCO 550 met nummer dat op jouw interface staat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262626"/>
                </a:solidFill>
              </a:rPr>
              <a:t>      – Interface verschijnt met zijn poorten in venster</a:t>
            </a:r>
          </a:p>
          <a:p>
            <a:pPr>
              <a:spcAft>
                <a:spcPts val="1400"/>
              </a:spcAft>
            </a:pPr>
            <a:r>
              <a:rPr sz="2000" i="1">
                <a:solidFill>
                  <a:srgbClr val="595959"/>
                </a:solidFill>
              </a:rPr>
              <a:t>Hardware Setup: de PASCO 550 Universal Interface is gevonden en toont zijn poorten</a:t>
            </a:r>
          </a:p>
        </p:txBody>
      </p:sp>
      <p:pic>
        <p:nvPicPr>
          <p:cNvPr id="6" name="Picture 5" descr="p3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0999" y="1139113"/>
            <a:ext cx="1874520" cy="2430933"/>
          </a:xfrm>
          <a:prstGeom prst="rect">
            <a:avLst/>
          </a:prstGeom>
        </p:spPr>
      </p:pic>
      <p:pic>
        <p:nvPicPr>
          <p:cNvPr id="7" name="Picture 6" descr="p4_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59" y="1827632"/>
            <a:ext cx="1874520" cy="1053896"/>
          </a:xfrm>
          <a:prstGeom prst="rect">
            <a:avLst/>
          </a:prstGeom>
        </p:spPr>
      </p:pic>
      <p:pic>
        <p:nvPicPr>
          <p:cNvPr id="8" name="Picture 7" descr="p4_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0999" y="4205072"/>
            <a:ext cx="1874520" cy="105389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955279" y="5806440"/>
            <a:ext cx="1965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i="1">
                <a:solidFill>
                  <a:srgbClr val="595959"/>
                </a:solidFill>
              </a:rPr>
              <a:t>Hardware Setup: de PASCO 550 Universal Interface is gevonden en toont zijn poorten.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6017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F.3 De spanningssensor aansluiten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95959"/>
                </a:solidFill>
              </a:rPr>
              <a:t>Labo 9  •  Toegepaste fysica 5BCW  •  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73152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>
                <a:solidFill>
                  <a:srgbClr val="262626"/>
                </a:solidFill>
              </a:rPr>
              <a:t>1. Steek stekker van spanningssensor (Voltage Sensor) in analoge ingang A van interface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262626"/>
                </a:solidFill>
              </a:rPr>
              <a:t>2. Klik in Hardware Setup op poort A: er verschijnt lijst met sensoren</a:t>
            </a:r>
          </a:p>
          <a:p>
            <a:pPr>
              <a:spcAft>
                <a:spcPts val="600"/>
              </a:spcAft>
            </a:pPr>
            <a:r>
              <a:rPr sz="2200">
                <a:solidFill>
                  <a:srgbClr val="262626"/>
                </a:solidFill>
              </a:rPr>
              <a:t>      – Kies 'Spanningssensor'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262626"/>
                </a:solidFill>
              </a:rPr>
              <a:t>3. Onderaan verschijnt 'Spanningssensor, Ch A'</a:t>
            </a:r>
          </a:p>
          <a:p>
            <a:pPr>
              <a:spcAft>
                <a:spcPts val="600"/>
              </a:spcAft>
            </a:pPr>
            <a:r>
              <a:rPr sz="2200">
                <a:solidFill>
                  <a:srgbClr val="262626"/>
                </a:solidFill>
              </a:rPr>
              <a:t>      – Sensor is klaar</a:t>
            </a:r>
          </a:p>
          <a:p>
            <a:pPr>
              <a:spcAft>
                <a:spcPts val="600"/>
              </a:spcAft>
            </a:pPr>
            <a:r>
              <a:rPr sz="2200">
                <a:solidFill>
                  <a:srgbClr val="262626"/>
                </a:solidFill>
              </a:rPr>
              <a:t>      – Verbind rode en zwarte meetsnoeren met te meten element (bij labo 9: twee uiteinden van spoel)</a:t>
            </a:r>
          </a:p>
        </p:txBody>
      </p:sp>
      <p:pic>
        <p:nvPicPr>
          <p:cNvPr id="6" name="Picture 5" descr="p5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0999" y="3107792"/>
            <a:ext cx="1874520" cy="1053896"/>
          </a:xfrm>
          <a:prstGeom prst="rect">
            <a:avLst/>
          </a:prstGeom>
        </p:spPr>
      </p:pic>
      <p:pic>
        <p:nvPicPr>
          <p:cNvPr id="7" name="Picture 6" descr="p5_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59" y="3107792"/>
            <a:ext cx="1874520" cy="1053896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6017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F.4 Een meting uitvoeren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95959"/>
                </a:solidFill>
              </a:rPr>
              <a:t>Labo 9  •  Toegepaste fysica 5BCW  •  33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73152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>
                <a:solidFill>
                  <a:srgbClr val="262626"/>
                </a:solidFill>
              </a:rPr>
              <a:t>1. Klik op 'Sensorgegevens' (midden van startscherm) → kies 'Continu meting'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262626"/>
                </a:solidFill>
              </a:rPr>
              <a:t>2. Sleep rechts uit 'Weergaven' een 'Grafiek' naar pagina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62626"/>
                </a:solidFill>
              </a:rPr>
              <a:t>      – Klik op y-as en kies 'Spanning (V)'; x-as is tijd (s)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262626"/>
                </a:solidFill>
              </a:rPr>
              <a:t>3. Onderaan: kies bij sensor bemonsteringsfrequentie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62626"/>
                </a:solidFill>
              </a:rPr>
              <a:t>      – Voor inductiepieken min. 200 Hz (standaard 20 Hz is te traag: pieken worden afgevlakt of gemist)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262626"/>
                </a:solidFill>
              </a:rPr>
              <a:t>4. Klik op 'Opnemen' (rode knop onderaan), voer handeling uit en klik op 'Stoppen'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62626"/>
                </a:solidFill>
              </a:rPr>
              <a:t>      – Elke opname wordt nieuwe 'Meting #'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262626"/>
                </a:solidFill>
              </a:rPr>
              <a:t>5. Analyse: zoom met muis in op piek; met gereedschap 'Coördinaten' lees je piekwaarde (V) en tijdstip (s) af; met 'Oppervlakte' (optioneel) bepaal je ∫U·dt = N·ΔΦ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262626"/>
                </a:solidFill>
              </a:rPr>
              <a:t>6. Schermafbeelding: Windows-toets + Shift + S, selecteer grafiek, plak in je Word-document en schrijf er handeling en uitleg bij</a:t>
            </a:r>
          </a:p>
          <a:p>
            <a:pPr>
              <a:spcAft>
                <a:spcPts val="1400"/>
              </a:spcAft>
            </a:pPr>
            <a:r>
              <a:rPr sz="1600" i="1">
                <a:solidFill>
                  <a:srgbClr val="595959"/>
                </a:solidFill>
              </a:rPr>
              <a:t>Resultaat: spanning i.f.v. tijd met inductiepieken bij insteken (+) en uittrekken (–) van magneet</a:t>
            </a:r>
          </a:p>
        </p:txBody>
      </p:sp>
      <p:pic>
        <p:nvPicPr>
          <p:cNvPr id="6" name="Picture 5" descr="p6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0999" y="1827632"/>
            <a:ext cx="1874520" cy="1053896"/>
          </a:xfrm>
          <a:prstGeom prst="rect">
            <a:avLst/>
          </a:prstGeom>
        </p:spPr>
      </p:pic>
      <p:pic>
        <p:nvPicPr>
          <p:cNvPr id="7" name="Picture 6" descr="p6_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59" y="1827632"/>
            <a:ext cx="1874520" cy="1053896"/>
          </a:xfrm>
          <a:prstGeom prst="rect">
            <a:avLst/>
          </a:prstGeom>
        </p:spPr>
      </p:pic>
      <p:pic>
        <p:nvPicPr>
          <p:cNvPr id="8" name="Picture 7" descr="p7_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0999" y="4205072"/>
            <a:ext cx="1874520" cy="105389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955279" y="5806440"/>
            <a:ext cx="1965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i="1">
                <a:solidFill>
                  <a:srgbClr val="595959"/>
                </a:solidFill>
              </a:rPr>
              <a:t>Resultaat: spanning in functie van de tijd met inductiepieken bij insteken (+) en uittrekken (–) van de magneet.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6017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PROBLEMEN OPLOSSEN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95959"/>
                </a:solidFill>
              </a:rPr>
              <a:t>Labo 9  •  Toegepaste fysica 5BCW  •  34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64592" cy="5943600"/>
          </a:xfrm>
          <a:prstGeom prst="rect">
            <a:avLst/>
          </a:prstGeom>
          <a:solidFill>
            <a:srgbClr val="EF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1136873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>
                <a:solidFill>
                  <a:srgbClr val="262626"/>
                </a:solidFill>
              </a:rPr>
              <a:t>• Interface niet gevonden: Bluetooth aan?</a:t>
            </a:r>
          </a:p>
          <a:p>
            <a:pPr>
              <a:spcAft>
                <a:spcPts val="600"/>
              </a:spcAft>
            </a:pPr>
            <a:r>
              <a:rPr sz="2200">
                <a:solidFill>
                  <a:srgbClr val="262626"/>
                </a:solidFill>
              </a:rPr>
              <a:t>      – Interface opgeladen/ingeschakeld?</a:t>
            </a:r>
          </a:p>
          <a:p>
            <a:pPr>
              <a:spcAft>
                <a:spcPts val="600"/>
              </a:spcAft>
            </a:pPr>
            <a:r>
              <a:rPr sz="2200">
                <a:solidFill>
                  <a:srgbClr val="262626"/>
                </a:solidFill>
              </a:rPr>
              <a:t>      – Te veel laptops zoeken tegelijk → één laptop per interface, rest wacht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262626"/>
                </a:solidFill>
              </a:rPr>
              <a:t>• Sensor meet niets: zit stekker in poort A en staat 'Spanningssensor' in Hardware Setup?</a:t>
            </a:r>
          </a:p>
          <a:p>
            <a:pPr>
              <a:spcAft>
                <a:spcPts val="600"/>
              </a:spcAft>
            </a:pPr>
            <a:r>
              <a:rPr sz="2200">
                <a:solidFill>
                  <a:srgbClr val="262626"/>
                </a:solidFill>
              </a:rPr>
              <a:t>      – Snoeren goed op spoel?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262626"/>
                </a:solidFill>
              </a:rPr>
              <a:t>• Pieken ontbreken of zijn klein: bemonsteringsfrequentie verhogen (≥ 200 Hz) en magneet sneller bewegen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262626"/>
                </a:solidFill>
              </a:rPr>
              <a:t>• Capstone start niet (licentie): is 'ResourceFiles.rc' vervangen (F.1 stap 7)?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