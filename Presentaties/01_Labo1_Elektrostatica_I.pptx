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LEERKRACHTENINFO:</a:t>
            </a:r>
          </a:p>
          <a:p>
            <a:r>
              <a:t>• Materiaal vooraf testen bij droog weer; bij hoge luchtvochtigheid werkt het slecht – eventueel verwarming hoger zetten of een haardroger gebruiken op de wrijfstaven.</a:t>
            </a:r>
          </a:p>
          <a:p>
            <a:r>
              <a:t>• Elektroscoop: een metalen deksel werkt NIET (kortsluit de draad); gebruik een plastic/kartonnen deksel of isoleer de doorvoer met een stukje rietje. Blaadjes 1×4 cm van dunne huishoudfolie; zwaardere folie geeft weinig uitslag.</a:t>
            </a:r>
          </a:p>
          <a:p>
            <a:r>
              <a:t>• Verwachte resultaten deel 1: nadering → uitslag, verdwijnt bij wegnemen (influentie); contact → blijvende uitslag; vinger → ontlading. Deel 2: PVC-PVC afstoting, PVC-glas aantrekking; ballon/haar negatief; glas/zijde positief. Deel 3: waterstraal wordt altijd aangetrokken (dipool), ongeacht het teken. Blikje rolt naar de ballon; de plastic liniaal (isolator) wordt amper beïnvloed. Deel 4: in de kooi geen reactie; gsm in folie zonder papier wordt vaak nog bereikt (folie raakt antenne / onvolledige afscherming) – met papier ertussen en goed gesloten meestal 'niet bereikbaar'.</a:t>
            </a:r>
          </a:p>
          <a:p>
            <a:r>
              <a:t>• Teken onbekende lading: eerst de elektroscoop opladen door contact met PVC (negatief), dan naderen: uitslag groter = negatief, kleiner = positief. Laat dit expliciet redeneren.</a:t>
            </a:r>
          </a:p>
          <a:p>
            <a:r>
              <a:t>• Veldlijnen in olie: ricinusolie of slaolie + griesmeel/gras­zaad, elektroden op 5-10 kV (hoogspanningsvoeding met stroombegrenzing); enkel demo. Van de Graaff: haar rechtop lukt best met lang, droog haar op een geïsoleerd bankje.</a:t>
            </a:r>
          </a:p>
          <a:p>
            <a:r>
              <a:t>• Timing: 15 min bouwen, 4×12 min delen 2-4, 15 min demo, rest reflectie. Reflectievragen 5-6 als huiswerk.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Teken een atoom en duid aan welke deeltjes verplaatst kunnen…: Enkel elektronen (in de schil) kunnen verplaatst worden. Protonen zitten vast in de kern, gebonden door de sterke kernkracht; ze verplaatsen vraagt kernreacties, niet wrijving.</a:t>
            </a:r>
          </a:p>
          <a:p>
            <a:r>
              <a:t>Modelantwoord – Een PVC-buis wordt met een wollen doek gewreven. Zoek in de …: Wol staat hoger in de reeks dan PVC → wol geeft elektronen af en wordt positief; PVC neemt elektronen op en wordt negatief.</a:t>
            </a:r>
          </a:p>
          <a:p>
            <a:r>
              <a:t>Modelantwoord – Waarom werken elektrostatica-proeven slecht op een vochtige …: Een dun waterlaagje op de oppervlakken geleidt (zeker met opgeloste ionen) en voert de lading snel af naar de omgeving/aarde. Ook de lucht geleidt beter bij hoge vochtigheid.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Modelantwoord – Verklaar met het deeltjesmodel waarom de blaadjes van de ele…: Influentie: de negatieve buis stoot de vrije elektronen van de geleider (bolletje+draad+blaadjes) weg naar de blaadjes. De blaadjes worden beide negatief en stoten elkaar af; het bolletje wordt positief. Haal je de buis weg, dan herverdelen de elektronen zich gelijkmatig: de geleider is netto nog ongeladen → blaadjes vallen terug. Pas bij contact gaat er netto lading over en blijft de uitslag.</a:t>
            </a:r>
          </a:p>
          <a:p>
            <a:r>
              <a:t>Modelantwoord – Een leerling beweert: 'Door te wrijven maak je lading.' Weer…: Fout: lading wordt niet gemaakt maar verplaatst (behoud van lading). Bewijs: in deel 2 wordt de wollen doek positief terwijl de buis negatief wordt – de doek trekt de negatieve PVC-buis aan. Beide ladingen zijn even groot en tegengesteld.</a:t>
            </a:r>
          </a:p>
          <a:p>
            <a:r>
              <a:t>Modelantwoord – Waarom trekt een geladen buis zowel een negatief geladen als…: Een ongeladen snipper wordt gepolariseerd (influentie): de kant dichtst bij de buis krijgt tegengestelde lading en de aantrekking op die kant is groter dan de afstoting op de verdere kant (F ~ 1/r²) → netto aantrekking. Een ongeladen voorwerp kan nooit afgestoten worden; pas nadat het bij contact lading overneemt (zelfde teken) springt het weg.</a:t>
            </a:r>
          </a:p>
          <a:p>
            <a:r>
              <a:t>Modelantwoord – Waarom moet een tankwagen geaard worden vóór het lossen van …: Stromende brandstof wrijft langs de leiding en laadt op (tribo-elektrisch, zoals in deel 2). De lading hoopt zich op de geïsoleerde wagen op tot een vonk overslaat (influentie op nabije geleiders, deel 3) – met explosiegevaar door brandstofdampen. Aarding voert de lading continu af.</a:t>
            </a:r>
          </a:p>
          <a:p>
            <a:r>
              <a:t>Modelantwoord – Leg uit hoe poedercoating of een laserprinter gebruikmaakt v…: Poedercoating: het poeder wordt in het spuitpistool negatief geladen, het geaarde werkstuk is positief → poeder wordt aangetrokken en blijft gelijkmatig kleven (ook achterkant door veldlijnen), daarna gebakken. Laserprinter: de laser ontlaadt een geladen trommel op de plaatsen van de tekst; toner (geladen) kleeft enkel op die plaatsen en wordt op papier overgebracht en gefixeerd.</a:t>
            </a:r>
          </a:p>
          <a:p>
            <a:r>
              <a:t>Modelantwoord – Je wil je elektroscoop omvormen tot een toestel dat de groot…: Schaalverdeling (gradenboog) achter de blaadjes, één vast blad en één beweeglijk blad (of een lichte naald op een as), reproduceerbare lading (bv. vast aantal wrijfbewegingen), ijken met een gekende lading (bv. via een condensator en een bekende spanning). Elektronisch: een veldmeter/elektrometer.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463040"/>
            <a:ext cx="6949440" cy="2743200"/>
          </a:xfrm>
          <a:prstGeom prst="rect">
            <a:avLst/>
          </a:prstGeom>
          <a:noFill/>
        </p:spPr>
        <p:txBody>
          <a:bodyPr wrap="square">
            <a:spAutoFit/>
          </a:bodyPr>
          <a:lstStyle/>
          <a:p>
            <a:r>
              <a:rPr sz="2800" b="1">
                <a:solidFill>
                  <a:srgbClr val="FFFFFF"/>
                </a:solidFill>
              </a:rPr>
              <a:t>Labo 1 – Elektrostatica I: bouw je eigen elektroscoop en ontdek lading</a:t>
            </a:r>
          </a:p>
          <a:p>
            <a:pPr>
              <a:spcBef>
                <a:spcPts val="1000"/>
              </a:spcBef>
            </a:pPr>
            <a:r>
              <a:rPr sz="1600">
                <a:solidFill>
                  <a:srgbClr val="DDE6F2"/>
                </a:solidFill>
              </a:rPr>
              <a:t>Richtduur: 2 lesuren • Type practicum: begrips- en onderzoekspracticum in delen / doorschuifsysteem (groepjes van 2-3)</a:t>
            </a:r>
          </a:p>
          <a:p>
            <a:pPr>
              <a:spcBef>
                <a:spcPts val="1000"/>
              </a:spcBef>
            </a:pPr>
            <a:r>
              <a:rPr sz="1600">
                <a:solidFill>
                  <a:srgbClr val="DDE6F2"/>
                </a:solidFill>
              </a:rPr>
              <a:t>Mate van sturing: gesloten</a:t>
            </a:r>
          </a:p>
          <a:p>
            <a:pPr>
              <a:spcBef>
                <a:spcPts val="1000"/>
              </a:spcBef>
            </a:pPr>
            <a:r>
              <a:rPr sz="1600">
                <a:solidFill>
                  <a:srgbClr val="DDE6F2"/>
                </a:solidFill>
              </a:rPr>
              <a:t>Werkwijze: O – V – U – R</a:t>
            </a:r>
          </a:p>
        </p:txBody>
      </p:sp>
      <p:pic>
        <p:nvPicPr>
          <p:cNvPr id="4" name="Picture 3" descr="gen_elektroscoop.jpg"/>
          <p:cNvPicPr>
            <a:picLocks noChangeAspect="1"/>
          </p:cNvPicPr>
          <p:nvPr/>
        </p:nvPicPr>
        <p:blipFill>
          <a:blip r:embed="rId2"/>
          <a:stretch>
            <a:fillRect/>
          </a:stretch>
        </p:blipFill>
        <p:spPr>
          <a:xfrm>
            <a:off x="7863840" y="2355913"/>
            <a:ext cx="3931920" cy="2146173"/>
          </a:xfrm>
          <a:prstGeom prst="rect">
            <a:avLst/>
          </a:prstGeom>
        </p:spPr>
      </p:pic>
      <p:sp>
        <p:nvSpPr>
          <p:cNvPr id="5" name="TextBox 4"/>
          <p:cNvSpPr txBox="1"/>
          <p:nvPr/>
        </p:nvSpPr>
        <p:spPr>
          <a:xfrm>
            <a:off x="548640" y="6035040"/>
            <a:ext cx="11094415" cy="457200"/>
          </a:xfrm>
          <a:prstGeom prst="rect">
            <a:avLst/>
          </a:prstGeom>
          <a:noFill/>
        </p:spPr>
        <p:txBody>
          <a:bodyPr wrap="none">
            <a:spAutoFit/>
          </a:bodyPr>
          <a:lstStyle/>
          <a:p>
            <a:r>
              <a:rPr sz="1100">
                <a:solidFill>
                  <a:srgbClr val="DDE6F2"/>
                </a:solidFill>
              </a:rPr>
              <a:t>HAST  •  Toegepaste fysica 5BCW  •  Labocursus volgens de OVUR-methode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LESDOELEN – na dit labo kan je …</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a:t>
            </a:r>
          </a:p>
        </p:txBody>
      </p:sp>
      <p:sp>
        <p:nvSpPr>
          <p:cNvPr id="5" name="Rectangle 4"/>
          <p:cNvSpPr/>
          <p:nvPr/>
        </p:nvSpPr>
        <p:spPr>
          <a:xfrm>
            <a:off x="0" y="914400"/>
            <a:ext cx="164592" cy="5943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Uitleggen hoe voorwerp geladen wordt door wrijving en door contact, en dit duiden met tribo-elektrische reeks</a:t>
            </a:r>
          </a:p>
          <a:p>
            <a:pPr>
              <a:spcAft>
                <a:spcPts val="1400"/>
              </a:spcAft>
            </a:pPr>
            <a:r>
              <a:rPr sz="2200">
                <a:solidFill>
                  <a:srgbClr val="262626"/>
                </a:solidFill>
              </a:rPr>
              <a:t>• Een eenvoudige elektroscoop bouwen, werking ervan verklaren en ermee aantonen of voorwerp geladen is</a:t>
            </a:r>
          </a:p>
          <a:p>
            <a:pPr>
              <a:spcAft>
                <a:spcPts val="1400"/>
              </a:spcAft>
            </a:pPr>
            <a:r>
              <a:rPr sz="2200">
                <a:solidFill>
                  <a:srgbClr val="262626"/>
                </a:solidFill>
              </a:rPr>
              <a:t>• Het verschil tussen opladen door contact en door influentie waarnemen en verklaren met model van vrije elektronen (geleider) en dipolen (isolator)</a:t>
            </a:r>
          </a:p>
          <a:p>
            <a:pPr>
              <a:spcAft>
                <a:spcPts val="1400"/>
              </a:spcAft>
            </a:pPr>
            <a:r>
              <a:rPr sz="2200">
                <a:solidFill>
                  <a:srgbClr val="262626"/>
                </a:solidFill>
              </a:rPr>
              <a:t>• Het teken van onbekende lading bepalen met geladen elektroscoop</a:t>
            </a:r>
          </a:p>
          <a:p>
            <a:pPr>
              <a:spcAft>
                <a:spcPts val="1400"/>
              </a:spcAft>
            </a:pPr>
            <a:r>
              <a:rPr sz="2200">
                <a:solidFill>
                  <a:srgbClr val="262626"/>
                </a:solidFill>
              </a:rPr>
              <a:t>• Experimenteel aantonen dat gelijknamige ladingen afstoten en ongelijknamige aantrekken</a:t>
            </a:r>
          </a:p>
          <a:p>
            <a:pPr>
              <a:spcAft>
                <a:spcPts val="1400"/>
              </a:spcAft>
            </a:pPr>
            <a:r>
              <a:rPr sz="2200">
                <a:solidFill>
                  <a:srgbClr val="262626"/>
                </a:solidFill>
              </a:rPr>
              <a:t>• Het principe van elektrische schermwerking (kooi van Faraday) waarnemen en toepassingen noemen</a:t>
            </a:r>
          </a:p>
          <a:p>
            <a:pPr>
              <a:spcAft>
                <a:spcPts val="1400"/>
              </a:spcAft>
            </a:pPr>
            <a:r>
              <a:rPr sz="2200">
                <a:solidFill>
                  <a:srgbClr val="262626"/>
                </a:solidFill>
              </a:rPr>
              <a:t>• Veilig, nauwkeurig en gestructureerd waarnemen en rapporteren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LEERPLANDOELEN (III-BCSW-d / III-BCW-d)</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3</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LPD 2 F: elektrische krachtwerking analyseren; elektrostatische influentie; opladen door wrijving/contact (tribo-elektrische reeks)</a:t>
            </a:r>
          </a:p>
          <a:p>
            <a:pPr>
              <a:spcAft>
                <a:spcPts val="1400"/>
              </a:spcAft>
            </a:pPr>
            <a:r>
              <a:rPr sz="2200">
                <a:solidFill>
                  <a:srgbClr val="262626"/>
                </a:solidFill>
              </a:rPr>
              <a:t>• LPD 3 F: veldlijnenpatronen (radiaal, dipool, homogeen) – via demo-opstelling; kooi van Faraday</a:t>
            </a:r>
          </a:p>
          <a:p>
            <a:pPr>
              <a:spcAft>
                <a:spcPts val="1400"/>
              </a:spcAft>
            </a:pPr>
            <a:r>
              <a:rPr sz="2200">
                <a:solidFill>
                  <a:srgbClr val="262626"/>
                </a:solidFill>
              </a:rPr>
              <a:t>• LPD 1 S, 3 S: hypothese formuleren, waarnemen, veilig werken</a:t>
            </a:r>
          </a:p>
          <a:p>
            <a:pPr>
              <a:spcAft>
                <a:spcPts val="600"/>
              </a:spcAft>
            </a:pPr>
            <a:r>
              <a:rPr sz="2200">
                <a:solidFill>
                  <a:srgbClr val="262626"/>
                </a:solidFill>
              </a:rPr>
              <a:t>      – LPD 5 S: toepassingen in maatschappij (poedercoating, printer, luchtzuivering, explosiegevaar bij tanken)</a:t>
            </a:r>
          </a:p>
          <a:p>
            <a:pPr>
              <a:spcAft>
                <a:spcPts val="1400"/>
              </a:spcAft>
            </a:pPr>
            <a:r>
              <a:rPr sz="2300" b="1">
                <a:solidFill>
                  <a:srgbClr val="1F4E79"/>
                </a:solidFill>
              </a:rPr>
              <a:t>VOORKENNIS – check vóór je begint</a:t>
            </a:r>
          </a:p>
          <a:p>
            <a:pPr>
              <a:spcAft>
                <a:spcPts val="1400"/>
              </a:spcAft>
            </a:pPr>
            <a:r>
              <a:rPr sz="2200">
                <a:solidFill>
                  <a:srgbClr val="262626"/>
                </a:solidFill>
              </a:rPr>
              <a:t>• Wat is elektrische lading?</a:t>
            </a:r>
          </a:p>
          <a:p>
            <a:pPr>
              <a:spcAft>
                <a:spcPts val="600"/>
              </a:spcAft>
            </a:pPr>
            <a:r>
              <a:rPr sz="2200">
                <a:solidFill>
                  <a:srgbClr val="262626"/>
                </a:solidFill>
              </a:rPr>
              <a:t>      – Welke twee soorten bestaan er en wat is eenheid?</a:t>
            </a:r>
          </a:p>
          <a:p>
            <a:pPr>
              <a:spcAft>
                <a:spcPts val="1400"/>
              </a:spcAft>
            </a:pPr>
            <a:r>
              <a:rPr sz="2200">
                <a:solidFill>
                  <a:srgbClr val="262626"/>
                </a:solidFill>
              </a:rPr>
              <a:t>• Wat is verschil tussen geleider en isolator op atomair niveau?</a:t>
            </a:r>
          </a:p>
          <a:p>
            <a:pPr>
              <a:spcAft>
                <a:spcPts val="1400"/>
              </a:spcAft>
            </a:pPr>
            <a:r>
              <a:rPr sz="2200">
                <a:solidFill>
                  <a:srgbClr val="262626"/>
                </a:solidFill>
              </a:rPr>
              <a:t>• Wet van Coulomb (kwalitatief): hoe verandert kracht als afstand verdubbelt?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O – ORIËNTEREN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Wat gaan we onderzoeken en waarom?</a:t>
            </a:r>
          </a:p>
          <a:p>
            <a:pPr algn="ctr">
              <a:spcBef>
                <a:spcPts val="600"/>
              </a:spcBef>
            </a:pPr>
            <a:r>
              <a:rPr sz="1800">
                <a:solidFill>
                  <a:srgbClr val="262626"/>
                </a:solidFill>
              </a:rPr>
              <a:t>Context – onderzoeksvraag – doel – oriëntatievragen (voorbereid thuis) – SMART-oefening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Context • Onderzoeksvraag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5</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1F4E79"/>
                </a:solidFill>
              </a:rPr>
              <a:t>Context</a:t>
            </a:r>
          </a:p>
          <a:p>
            <a:pPr>
              <a:spcAft>
                <a:spcPts val="1400"/>
              </a:spcAft>
            </a:pPr>
            <a:r>
              <a:rPr sz="2000">
                <a:solidFill>
                  <a:srgbClr val="262626"/>
                </a:solidFill>
              </a:rPr>
              <a:t>• Ballon die aan plafond blijft kleven, vonk als je deurklink aanraakt, haren die rechtop staan als je trui uittrekt: allemaal elektrostatica. Statische lading kan ook gevaarlijk zijn (vonkoverslag bij tanken, in meelsilo's of operatiezalen) of juist nuttig (poedercoating van fietsframes, laserprinters, elektrostatische luchtfilters, sorteren van kunststoffen)</a:t>
            </a:r>
          </a:p>
          <a:p>
            <a:pPr>
              <a:spcAft>
                <a:spcPts val="1400"/>
              </a:spcAft>
            </a:pPr>
            <a:r>
              <a:rPr sz="2000">
                <a:solidFill>
                  <a:srgbClr val="262626"/>
                </a:solidFill>
              </a:rPr>
              <a:t>• Bouw je eerst eigen meettoestel – elektroscoop – uit bokaal, ijzerdraad en aluminiumfolie</a:t>
            </a:r>
          </a:p>
          <a:p>
            <a:pPr>
              <a:spcAft>
                <a:spcPts val="600"/>
              </a:spcAft>
            </a:pPr>
            <a:r>
              <a:rPr sz="2000">
                <a:solidFill>
                  <a:srgbClr val="262626"/>
                </a:solidFill>
              </a:rPr>
              <a:t>      – Daarna gebruik je dat toestel om in verschillende delen eigenschappen van lading te onderzoeken</a:t>
            </a:r>
          </a:p>
          <a:p>
            <a:pPr>
              <a:spcAft>
                <a:spcPts val="1400"/>
              </a:spcAft>
            </a:pPr>
            <a:r>
              <a:rPr sz="2100" b="1">
                <a:solidFill>
                  <a:srgbClr val="1F4E79"/>
                </a:solidFill>
              </a:rPr>
              <a:t>Onderzoeksvraag</a:t>
            </a:r>
          </a:p>
          <a:p>
            <a:pPr>
              <a:spcAft>
                <a:spcPts val="1400"/>
              </a:spcAft>
            </a:pPr>
            <a:r>
              <a:rPr sz="2000">
                <a:solidFill>
                  <a:srgbClr val="262626"/>
                </a:solidFill>
              </a:rPr>
              <a:t>• Hoe kan ik met eenvoudig materiaal aantonen dat voorwerp elektrisch geladen is en welk teken lading heeft?</a:t>
            </a:r>
          </a:p>
          <a:p>
            <a:pPr>
              <a:spcAft>
                <a:spcPts val="1400"/>
              </a:spcAft>
            </a:pPr>
            <a:r>
              <a:rPr sz="2000">
                <a:solidFill>
                  <a:srgbClr val="262626"/>
                </a:solidFill>
              </a:rPr>
              <a:t>• Wat is verschil tussen opladen door contact en door influentie?</a:t>
            </a:r>
          </a:p>
          <a:p>
            <a:pPr>
              <a:spcAft>
                <a:spcPts val="1400"/>
              </a:spcAft>
            </a:pPr>
            <a:r>
              <a:rPr sz="2000">
                <a:solidFill>
                  <a:srgbClr val="262626"/>
                </a:solidFill>
              </a:rPr>
              <a:t>• Welke materialen laden gemakkelijk op en hoe voorspel je teken van lading?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O – Oriënteren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6</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1F4E79"/>
                </a:solidFill>
              </a:rPr>
              <a:t>Doel van het onderzoek</a:t>
            </a:r>
          </a:p>
          <a:p>
            <a:pPr>
              <a:spcAft>
                <a:spcPts val="1400"/>
              </a:spcAft>
            </a:pPr>
            <a:r>
              <a:rPr sz="2000">
                <a:solidFill>
                  <a:srgbClr val="262626"/>
                </a:solidFill>
              </a:rPr>
              <a:t>• Werkende elektroscoop bouwen en gevoeligheid ervan testen</a:t>
            </a:r>
          </a:p>
          <a:p>
            <a:pPr>
              <a:spcAft>
                <a:spcPts val="1400"/>
              </a:spcAft>
            </a:pPr>
            <a:r>
              <a:rPr sz="2000">
                <a:solidFill>
                  <a:srgbClr val="262626"/>
                </a:solidFill>
              </a:rPr>
              <a:t>• Lading, krachtwerking tussen ladingen, influentie en schermwerking kwalitatief onderzoeken en verklaren met deeltjesmodel</a:t>
            </a:r>
          </a:p>
          <a:p>
            <a:pPr>
              <a:spcAft>
                <a:spcPts val="1400"/>
              </a:spcAft>
            </a:pPr>
            <a:r>
              <a:rPr sz="2000">
                <a:solidFill>
                  <a:srgbClr val="262626"/>
                </a:solidFill>
              </a:rPr>
              <a:t>• Waarnemingen gestructureerd noteren (tabel + schets van ladingsverdeling) en koppelen aan toepassingen</a:t>
            </a:r>
          </a:p>
          <a:p>
            <a:pPr>
              <a:spcAft>
                <a:spcPts val="1400"/>
              </a:spcAft>
            </a:pPr>
            <a:r>
              <a:rPr sz="2100" b="1">
                <a:solidFill>
                  <a:srgbClr val="1F4E79"/>
                </a:solidFill>
              </a:rPr>
              <a:t>Oriëntatievragen (beantwoord vóór het labo)</a:t>
            </a:r>
          </a:p>
          <a:p>
            <a:pPr>
              <a:spcAft>
                <a:spcPts val="1400"/>
              </a:spcAft>
            </a:pPr>
            <a:r>
              <a:rPr sz="2000">
                <a:solidFill>
                  <a:srgbClr val="262626"/>
                </a:solidFill>
              </a:rPr>
              <a:t>1. Teken atoom en duid aan welke deeltjes verplaatst kunnen worden bij opladen van voorwerp. Waarom kunnen protonen niet verplaatst worden?</a:t>
            </a:r>
          </a:p>
          <a:p>
            <a:pPr>
              <a:spcAft>
                <a:spcPts val="1400"/>
              </a:spcAft>
            </a:pPr>
            <a:r>
              <a:rPr sz="2000">
                <a:solidFill>
                  <a:srgbClr val="262626"/>
                </a:solidFill>
              </a:rPr>
              <a:t>2. PVC-buis wordt met wollen doek gewreven</a:t>
            </a:r>
          </a:p>
          <a:p>
            <a:pPr>
              <a:spcAft>
                <a:spcPts val="600"/>
              </a:spcAft>
            </a:pPr>
            <a:r>
              <a:rPr sz="2000">
                <a:solidFill>
                  <a:srgbClr val="262626"/>
                </a:solidFill>
              </a:rPr>
              <a:t>      – Zoek in tribo-elektrische reeks (Bijlage E) op welk teken buis en doek krijgen</a:t>
            </a:r>
          </a:p>
          <a:p>
            <a:pPr>
              <a:spcAft>
                <a:spcPts val="1400"/>
              </a:spcAft>
            </a:pPr>
            <a:r>
              <a:rPr sz="2000">
                <a:solidFill>
                  <a:srgbClr val="262626"/>
                </a:solidFill>
              </a:rPr>
              <a:t>3. Waarom werken elektrostatica-proeven slecht op vochtige dag?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Oefenen op onderzoeksvragen (leerlijn SMART – stap 1: de vraag krijg je)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7</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i="1">
                <a:solidFill>
                  <a:srgbClr val="595959"/>
                </a:solidFill>
              </a:rPr>
              <a:t>In labo 1-3 krijg je onderzoeksvraag</a:t>
            </a:r>
          </a:p>
          <a:p>
            <a:pPr>
              <a:spcAft>
                <a:spcPts val="600"/>
              </a:spcAft>
            </a:pPr>
            <a:r>
              <a:rPr sz="2200">
                <a:solidFill>
                  <a:srgbClr val="262626"/>
                </a:solidFill>
              </a:rPr>
              <a:t>      – We bekijken samen waarom ze SMART is – vanaf labo 4 kies je ze zelf</a:t>
            </a:r>
          </a:p>
          <a:p>
            <a:pPr>
              <a:spcAft>
                <a:spcPts val="1400"/>
              </a:spcAft>
            </a:pPr>
            <a:r>
              <a:rPr sz="2200">
                <a:solidFill>
                  <a:srgbClr val="262626"/>
                </a:solidFill>
              </a:rPr>
              <a:t>• Onderzoeksvraag: Welke voorwerpen uit onze set (PVC-buis, glazen staaf, ballon, rietje, …) worden geladen door wrijven, welk teken krijgt hun lading, en hoe gedraagt geladen voorwerp zich tegenover ongeladen geleider (influentie) en in kooi van Faraday – aangetoond met zelfgebouwde elektroscoop, tijdens dit labo?</a:t>
            </a:r>
          </a:p>
          <a:p>
            <a:pPr>
              <a:spcAft>
                <a:spcPts val="1400"/>
              </a:spcAft>
            </a:pPr>
            <a:r>
              <a:rPr sz="2200" i="1">
                <a:solidFill>
                  <a:srgbClr val="595959"/>
                </a:solidFill>
              </a:rPr>
              <a:t>Doe zelf: onderstreep in vraag grootheid die je verandert (O), omcirkel grootheid die je meet (A) en zet kader rond wat constant blijft (C)</a:t>
            </a:r>
          </a:p>
          <a:p>
            <a:pPr>
              <a:spcAft>
                <a:spcPts val="600"/>
              </a:spcAft>
            </a:pPr>
            <a:r>
              <a:rPr sz="2200">
                <a:solidFill>
                  <a:srgbClr val="262626"/>
                </a:solidFill>
              </a:rPr>
              <a:t>      – Lees → tabel: zo verantwoord je onderzoeksvraag letter per letter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Oefenen op onderzoeksvragen (leerlijn SMART – stap 1: de vraag krijg je)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8</a:t>
            </a:r>
          </a:p>
        </p:txBody>
      </p:sp>
      <p:graphicFrame>
        <p:nvGraphicFramePr>
          <p:cNvPr id="5" name="Table 4"/>
          <p:cNvGraphicFramePr>
            <a:graphicFrameLocks noGrp="1"/>
          </p:cNvGraphicFramePr>
          <p:nvPr/>
        </p:nvGraphicFramePr>
        <p:xfrm>
          <a:off x="457200" y="1143000"/>
          <a:ext cx="11277294" cy="2743200"/>
        </p:xfrm>
        <a:graphic>
          <a:graphicData uri="http://schemas.openxmlformats.org/drawingml/2006/table">
            <a:tbl>
              <a:tblPr firstRow="1" bandRow="1">
                <a:tableStyleId>{5C22544A-7EE6-4342-B048-85BDC9FD1C3A}</a:tableStyleId>
              </a:tblPr>
              <a:tblGrid>
                <a:gridCol w="2489792"/>
                <a:gridCol w="8787502"/>
              </a:tblGrid>
              <a:tr h="457200">
                <a:tc>
                  <a:txBody>
                    <a:bodyPr/>
                    <a:lstStyle/>
                    <a:p>
                      <a:r>
                        <a:rPr sz="1200" b="1">
                          <a:solidFill>
                            <a:srgbClr val="FFFFFF"/>
                          </a:solidFill>
                        </a:rPr>
                        <a:t>Letter</a:t>
                      </a:r>
                    </a:p>
                  </a:txBody>
                  <a:tcPr>
                    <a:solidFill>
                      <a:srgbClr val="1F4E79"/>
                    </a:solidFill>
                  </a:tcPr>
                </a:tc>
                <a:tc>
                  <a:txBody>
                    <a:bodyPr/>
                    <a:lstStyle/>
                    <a:p>
                      <a:r>
                        <a:rPr sz="1200" b="1">
                          <a:solidFill>
                            <a:srgbClr val="FFFFFF"/>
                          </a:solidFill>
                        </a:rPr>
                        <a:t>Waarom is deze vraag SMART?</a:t>
                      </a:r>
                    </a:p>
                  </a:txBody>
                  <a:tcPr>
                    <a:solidFill>
                      <a:srgbClr val="1F4E79"/>
                    </a:solidFill>
                  </a:tcPr>
                </a:tc>
              </a:tr>
              <a:tr h="457200">
                <a:tc>
                  <a:txBody>
                    <a:bodyPr/>
                    <a:lstStyle/>
                    <a:p>
                      <a:r>
                        <a:rPr sz="1200">
                          <a:solidFill>
                            <a:srgbClr val="262626"/>
                          </a:solidFill>
                        </a:rPr>
                        <a:t>S – Specifiek</a:t>
                      </a:r>
                    </a:p>
                  </a:txBody>
                  <a:tcPr>
                    <a:solidFill>
                      <a:srgbClr val="FFFFFF"/>
                    </a:solidFill>
                  </a:tcPr>
                </a:tc>
                <a:tc>
                  <a:txBody>
                    <a:bodyPr/>
                    <a:lstStyle/>
                    <a:p>
                      <a:r>
                        <a:rPr sz="1200">
                          <a:solidFill>
                            <a:srgbClr val="262626"/>
                          </a:solidFill>
                        </a:rPr>
                        <a:t>Afgebakend: een vaste set voorwerpen, drie duidelijke deelvragen (geladen of niet? welk teken? wat doet een geladen voorwerp met een geleider en met een kooi?) en één meettoestel: je eigen elektroscoop. Niet 'hoe werkt statische elektriciteit?'.</a:t>
                      </a:r>
                    </a:p>
                  </a:txBody>
                  <a:tcPr>
                    <a:solidFill>
                      <a:srgbClr val="FFFFFF"/>
                    </a:solidFill>
                  </a:tcPr>
                </a:tc>
              </a:tr>
              <a:tr h="457200">
                <a:tc>
                  <a:txBody>
                    <a:bodyPr/>
                    <a:lstStyle/>
                    <a:p>
                      <a:r>
                        <a:rPr sz="1200">
                          <a:solidFill>
                            <a:srgbClr val="262626"/>
                          </a:solidFill>
                        </a:rPr>
                        <a:t>M – Meetbaar</a:t>
                      </a:r>
                    </a:p>
                  </a:txBody>
                  <a:tcPr>
                    <a:solidFill>
                      <a:srgbClr val="F2F5FA"/>
                    </a:solidFill>
                  </a:tcPr>
                </a:tc>
                <a:tc>
                  <a:txBody>
                    <a:bodyPr/>
                    <a:lstStyle/>
                    <a:p>
                      <a:r>
                        <a:rPr sz="1200">
                          <a:solidFill>
                            <a:srgbClr val="262626"/>
                          </a:solidFill>
                        </a:rPr>
                        <a:t>Waarneembaar: de uitslag van de blaadjes (ja/nee en groter/kleiner), het teken via een vooraf geladen elektroscoop, het blikje dat rolt, de gsm die wel/niet rinkelt. Elke waarneming komt in een tabel.</a:t>
                      </a:r>
                    </a:p>
                  </a:txBody>
                  <a:tcPr>
                    <a:solidFill>
                      <a:srgbClr val="F2F5FA"/>
                    </a:solidFill>
                  </a:tcPr>
                </a:tc>
              </a:tr>
              <a:tr h="457200">
                <a:tc>
                  <a:txBody>
                    <a:bodyPr/>
                    <a:lstStyle/>
                    <a:p>
                      <a:r>
                        <a:rPr sz="1200">
                          <a:solidFill>
                            <a:srgbClr val="262626"/>
                          </a:solidFill>
                        </a:rPr>
                        <a:t>A – Aanvaardbaar</a:t>
                      </a:r>
                    </a:p>
                  </a:txBody>
                  <a:tcPr>
                    <a:solidFill>
                      <a:srgbClr val="FFFFFF"/>
                    </a:solidFill>
                  </a:tcPr>
                </a:tc>
                <a:tc>
                  <a:txBody>
                    <a:bodyPr/>
                    <a:lstStyle/>
                    <a:p>
                      <a:r>
                        <a:rPr sz="1200">
                          <a:solidFill>
                            <a:srgbClr val="262626"/>
                          </a:solidFill>
                        </a:rPr>
                        <a:t>Zinvol en veilig: dit zijn de basisverschijnselen van het hele hoofdstuk elektrostatica; de spanningen zijn hoog maar de ladingen piepklein, dus ongevaarlijk.</a:t>
                      </a:r>
                    </a:p>
                  </a:txBody>
                  <a:tcPr>
                    <a:solidFill>
                      <a:srgbClr val="FFFFFF"/>
                    </a:solidFill>
                  </a:tcPr>
                </a:tc>
              </a:tr>
              <a:tr h="457200">
                <a:tc>
                  <a:txBody>
                    <a:bodyPr/>
                    <a:lstStyle/>
                    <a:p>
                      <a:r>
                        <a:rPr sz="1200">
                          <a:solidFill>
                            <a:srgbClr val="262626"/>
                          </a:solidFill>
                        </a:rPr>
                        <a:t>R – Realistisch</a:t>
                      </a:r>
                    </a:p>
                  </a:txBody>
                  <a:tcPr>
                    <a:solidFill>
                      <a:srgbClr val="F2F5FA"/>
                    </a:solidFill>
                  </a:tcPr>
                </a:tc>
                <a:tc>
                  <a:txBody>
                    <a:bodyPr/>
                    <a:lstStyle/>
                    <a:p>
                      <a:r>
                        <a:rPr sz="1200">
                          <a:solidFill>
                            <a:srgbClr val="262626"/>
                          </a:solidFill>
                        </a:rPr>
                        <a:t>Haalbaar: alle materiaal is eenvoudig, de elektroscoop bouw je in 15 minuten en de delen 2-4 zijn kort.</a:t>
                      </a:r>
                    </a:p>
                  </a:txBody>
                  <a:tcPr>
                    <a:solidFill>
                      <a:srgbClr val="F2F5FA"/>
                    </a:solidFill>
                  </a:tcPr>
                </a:tc>
              </a:tr>
              <a:tr h="457200">
                <a:tc>
                  <a:txBody>
                    <a:bodyPr/>
                    <a:lstStyle/>
                    <a:p>
                      <a:r>
                        <a:rPr sz="1200">
                          <a:solidFill>
                            <a:srgbClr val="262626"/>
                          </a:solidFill>
                        </a:rPr>
                        <a:t>T – Tijdsgebonden</a:t>
                      </a:r>
                    </a:p>
                  </a:txBody>
                  <a:tcPr>
                    <a:solidFill>
                      <a:srgbClr val="FFFFFF"/>
                    </a:solidFill>
                  </a:tcPr>
                </a:tc>
                <a:tc>
                  <a:txBody>
                    <a:bodyPr/>
                    <a:lstStyle/>
                    <a:p>
                      <a:r>
                        <a:rPr sz="1200">
                          <a:solidFill>
                            <a:srgbClr val="262626"/>
                          </a:solidFill>
                        </a:rPr>
                        <a:t>In de tijd: alles tijdens dit labo (2 lesuren), werkblad meteen ingevuld en als PDF ingediend.</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V – VOORBEREIDEN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Hoe pakken we het aan?</a:t>
            </a:r>
          </a:p>
          <a:p>
            <a:pPr algn="ctr">
              <a:spcBef>
                <a:spcPts val="600"/>
              </a:spcBef>
            </a:pPr>
            <a:r>
              <a:rPr sz="1800">
                <a:solidFill>
                  <a:srgbClr val="262626"/>
                </a:solidFill>
              </a:rPr>
              <a:t>Benodigdheden – theorie – veiligheid – hypothese – werkplan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Benodigdheden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10</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Per groep: glazen bokaal met deksel (plastic of metalen deksel met gaatje, of karton), ca. 15 cm stevige ijzer- of koperdraad, aluminiumfolie, schaar, plakband, priem/nagel om gaatje te maken</a:t>
            </a:r>
          </a:p>
          <a:p>
            <a:pPr>
              <a:spcAft>
                <a:spcPts val="1400"/>
              </a:spcAft>
            </a:pPr>
            <a:r>
              <a:rPr sz="2200">
                <a:solidFill>
                  <a:srgbClr val="262626"/>
                </a:solidFill>
              </a:rPr>
              <a:t>• Wrijfmaterialen: PVC-buis (grijs), plexiglas- of glazen staaf, ballonnen, wollen doek, zijden/katoenen doek, papieren handdoek, rietjes (plastic)</a:t>
            </a:r>
          </a:p>
          <a:p>
            <a:pPr>
              <a:spcAft>
                <a:spcPts val="1400"/>
              </a:spcAft>
            </a:pPr>
            <a:r>
              <a:rPr sz="2200">
                <a:solidFill>
                  <a:srgbClr val="262626"/>
                </a:solidFill>
              </a:rPr>
              <a:t>• Klein materiaal: papiersnippers, peper en zout, leeg aluminium drankblikje, horlogeglas of draad om staaf vrij op te hangen, piepschuimbolletje aan nylondraad (pendel), kraan met dunne waterstraal</a:t>
            </a:r>
          </a:p>
          <a:p>
            <a:pPr>
              <a:spcAft>
                <a:spcPts val="1400"/>
              </a:spcAft>
            </a:pPr>
            <a:r>
              <a:rPr sz="2200">
                <a:solidFill>
                  <a:srgbClr val="262626"/>
                </a:solidFill>
              </a:rPr>
              <a:t>• Kooi van Faraday: metaalgaas of extra aluminiumfolie, gsm</a:t>
            </a:r>
          </a:p>
          <a:p>
            <a:pPr>
              <a:spcAft>
                <a:spcPts val="1400"/>
              </a:spcAft>
            </a:pPr>
            <a:r>
              <a:rPr sz="2200">
                <a:solidFill>
                  <a:srgbClr val="262626"/>
                </a:solidFill>
              </a:rPr>
              <a:t>• Demo-opstelling leerkracht (deel 5) (optioneel): Van de Graaff-generator, hoogspanningsvoeding met elektroden in petrischaal met olie en griesmeel (veldlijnen), neonlampje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Theorie-overzicht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11</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1600">
                <a:solidFill>
                  <a:srgbClr val="262626"/>
                </a:solidFill>
              </a:rPr>
              <a:t>• Lading en behoud van lading</a:t>
            </a:r>
          </a:p>
          <a:p>
            <a:pPr>
              <a:spcAft>
                <a:spcPts val="600"/>
              </a:spcAft>
            </a:pPr>
            <a:r>
              <a:rPr sz="1600">
                <a:solidFill>
                  <a:srgbClr val="262626"/>
                </a:solidFill>
              </a:rPr>
              <a:t>      – Bij wrijving gaan elektronen van ene materiaal naar andere: ene wordt negatief (elektronenoverschot), andere even sterk positief (tekort)</a:t>
            </a:r>
          </a:p>
          <a:p>
            <a:pPr>
              <a:spcAft>
                <a:spcPts val="600"/>
              </a:spcAft>
            </a:pPr>
            <a:r>
              <a:rPr sz="1600">
                <a:solidFill>
                  <a:srgbClr val="262626"/>
                </a:solidFill>
              </a:rPr>
              <a:t>      – Lading wordt niet gemaakt, enkel verplaatst</a:t>
            </a:r>
          </a:p>
          <a:p>
            <a:pPr>
              <a:spcAft>
                <a:spcPts val="600"/>
              </a:spcAft>
            </a:pPr>
            <a:r>
              <a:rPr sz="1600">
                <a:solidFill>
                  <a:srgbClr val="262626"/>
                </a:solidFill>
              </a:rPr>
              <a:t>      – Eenheid: coulomb (C); elementaire lading e = 1,6·10⁻¹⁹ C</a:t>
            </a:r>
          </a:p>
          <a:p>
            <a:pPr>
              <a:spcAft>
                <a:spcPts val="1400"/>
              </a:spcAft>
            </a:pPr>
            <a:r>
              <a:rPr sz="1600">
                <a:solidFill>
                  <a:srgbClr val="262626"/>
                </a:solidFill>
              </a:rPr>
              <a:t>• Tribo-elektrische reeks</a:t>
            </a:r>
          </a:p>
          <a:p>
            <a:pPr>
              <a:spcAft>
                <a:spcPts val="600"/>
              </a:spcAft>
            </a:pPr>
            <a:r>
              <a:rPr sz="1600">
                <a:solidFill>
                  <a:srgbClr val="262626"/>
                </a:solidFill>
              </a:rPr>
              <a:t>      – Lijst van materialen: materiaal dat hoger staat (bv. glas, haar, wol) geeft elektronen af en wordt positief; lagere (bv. PVC, teflon) neemt op en wordt negatief</a:t>
            </a:r>
          </a:p>
          <a:p>
            <a:pPr>
              <a:spcAft>
                <a:spcPts val="1400"/>
              </a:spcAft>
            </a:pPr>
            <a:r>
              <a:rPr sz="1600">
                <a:solidFill>
                  <a:srgbClr val="262626"/>
                </a:solidFill>
              </a:rPr>
              <a:t>• Krachtwerking</a:t>
            </a:r>
          </a:p>
          <a:p>
            <a:pPr>
              <a:spcAft>
                <a:spcPts val="600"/>
              </a:spcAft>
            </a:pPr>
            <a:r>
              <a:rPr sz="1600">
                <a:solidFill>
                  <a:srgbClr val="262626"/>
                </a:solidFill>
              </a:rPr>
              <a:t>      – Gelijknamige ladingen stoten elkaar af, ongelijknamige trekken elkaar aan</a:t>
            </a:r>
          </a:p>
          <a:p>
            <a:pPr>
              <a:spcAft>
                <a:spcPts val="600"/>
              </a:spcAft>
            </a:pPr>
            <a:r>
              <a:rPr sz="1600">
                <a:solidFill>
                  <a:srgbClr val="262626"/>
                </a:solidFill>
              </a:rPr>
              <a:t>      – Kracht neemt sterk af met afstand (wet van Coulomb):</a:t>
            </a:r>
          </a:p>
          <a:p>
            <a:pPr algn="ctr">
              <a:spcBef>
                <a:spcPts val="600"/>
              </a:spcBef>
              <a:spcAft>
                <a:spcPts val="1400"/>
              </a:spcAft>
            </a:pPr>
            <mc:AlternateContent xmlns:mc="http://schemas.openxmlformats.org/markup-compatibility/2006">
              <mc:Choice xmlns:a14="http://schemas.microsoft.com/office/drawing/2010/main" Requires="a14">
                <a14:m xmlns:m="http://schemas.openxmlformats.org/officeDocument/2006/math">
                  <m:oMathPara>
                    <m:oMathParaPr>
                      <m:jc m:val="centerGroup"/>
                    </m:oMathParaPr>
                    <m:oMath>
                      <m:r>
                        <a:rPr lang="nl-BE" sz="2200" b="1">
                          <a:solidFill>
                            <a:srgbClr val="1F4E79"/>
                          </a:solidFill>
                          <a:latin typeface="Cambria Math"/>
                        </a:rPr>
                        <m:t xml:space="preserve">F</m:t>
                      </m:r>
                      <m:r>
                        <a:rPr lang="nl-BE" sz="2200" b="1">
                          <a:solidFill>
                            <a:srgbClr val="1F4E79"/>
                          </a:solidFill>
                          <a:latin typeface="Cambria Math"/>
                        </a:rPr>
                        <m:t xml:space="preserve">=</m:t>
                      </m:r>
                      <m:r>
                        <a:rPr lang="nl-BE" sz="2200" b="1">
                          <a:solidFill>
                            <a:srgbClr val="1F4E79"/>
                          </a:solidFill>
                          <a:latin typeface="Cambria Math"/>
                        </a:rPr>
                        <m:t xml:space="preserve">k</m:t>
                      </m:r>
                      <m:r>
                        <a:rPr lang="nl-BE" sz="2200" b="1">
                          <a:solidFill>
                            <a:srgbClr val="1F4E79"/>
                          </a:solidFill>
                          <a:latin typeface="Cambria Math"/>
                        </a:rPr>
                        <m:t xml:space="preserve">·</m:t>
                      </m:r>
                      <m:f>
                        <m:fPr/>
                        <m:num>
                          <m:d>
                            <m:dPr>
                              <m:begChr m:val="|"/>
                              <m:endChr m:val="|"/>
                            </m:dPr>
                            <m:e>
                              <m:sSub>
                                <m:e>
                                  <m:r>
                                    <a:rPr lang="nl-BE" sz="2200" b="1">
                                      <a:solidFill>
                                        <a:srgbClr val="1F4E79"/>
                                      </a:solidFill>
                                      <a:latin typeface="Cambria Math"/>
                                    </a:rPr>
                                    <m:t xml:space="preserve">Q</m:t>
                                  </m:r>
                                </m:e>
                                <m:sub>
                                  <m:r>
                                    <a:rPr lang="nl-BE" sz="2200" b="1">
                                      <a:solidFill>
                                        <a:srgbClr val="1F4E79"/>
                                      </a:solidFill>
                                      <a:latin typeface="Cambria Math"/>
                                    </a:rPr>
                                    <m:t xml:space="preserve">1</m:t>
                                  </m:r>
                                </m:sub>
                              </m:sSub>
                            </m:e>
                          </m:d>
                          <m:r>
                            <a:rPr lang="nl-BE" sz="2200" b="1">
                              <a:solidFill>
                                <a:srgbClr val="1F4E79"/>
                              </a:solidFill>
                              <a:latin typeface="Cambria Math"/>
                            </a:rPr>
                            <m:t xml:space="preserve">·</m:t>
                          </m:r>
                          <m:d>
                            <m:dPr>
                              <m:begChr m:val="|"/>
                              <m:endChr m:val="|"/>
                            </m:dPr>
                            <m:e>
                              <m:sSub>
                                <m:e>
                                  <m:r>
                                    <a:rPr lang="nl-BE" sz="2200" b="1">
                                      <a:solidFill>
                                        <a:srgbClr val="1F4E79"/>
                                      </a:solidFill>
                                      <a:latin typeface="Cambria Math"/>
                                    </a:rPr>
                                    <m:t xml:space="preserve">Q</m:t>
                                  </m:r>
                                </m:e>
                                <m:sub>
                                  <m:r>
                                    <a:rPr lang="nl-BE" sz="2200" b="1">
                                      <a:solidFill>
                                        <a:srgbClr val="1F4E79"/>
                                      </a:solidFill>
                                      <a:latin typeface="Cambria Math"/>
                                    </a:rPr>
                                    <m:t xml:space="preserve">2</m:t>
                                  </m:r>
                                </m:sub>
                              </m:sSub>
                            </m:e>
                          </m:d>
                        </m:num>
                        <m:den>
                          <m:sSup>
                            <m:e>
                              <m:r>
                                <a:rPr lang="nl-BE" sz="2200" b="1">
                                  <a:solidFill>
                                    <a:srgbClr val="1F4E79"/>
                                  </a:solidFill>
                                  <a:latin typeface="Cambria Math"/>
                                </a:rPr>
                                <m:t xml:space="preserve">r</m:t>
                              </m:r>
                            </m:e>
                            <m:sup>
                              <m:r>
                                <a:rPr lang="nl-BE" sz="2200" b="1">
                                  <a:solidFill>
                                    <a:srgbClr val="1F4E79"/>
                                  </a:solidFill>
                                  <a:latin typeface="Cambria Math"/>
                                </a:rPr>
                                <m:t xml:space="preserve">2</m:t>
                              </m:r>
                            </m:sup>
                          </m:sSup>
                        </m:den>
                      </m:f>
                      <m:r>
                        <a:rPr lang="nl-BE" sz="2200" b="1">
                          <a:solidFill>
                            <a:srgbClr val="1F4E79"/>
                          </a:solidFill>
                          <a:latin typeface="Cambria Math"/>
                        </a:rPr>
                        <m:t xml:space="preserve">   </m:t>
                      </m:r>
                      <m:r>
                        <m:rPr>
                          <m:sty m:val="p"/>
                        </m:rPr>
                        <a:rPr lang="nl-BE" sz="2200" b="1">
                          <a:solidFill>
                            <a:srgbClr val="1F4E79"/>
                          </a:solidFill>
                          <a:latin typeface="Cambria Math"/>
                        </a:rPr>
                        <m:t xml:space="preserve">met </m:t>
                      </m:r>
                      <m:r>
                        <a:rPr lang="nl-BE" sz="2200" b="1">
                          <a:solidFill>
                            <a:srgbClr val="1F4E79"/>
                          </a:solidFill>
                          <a:latin typeface="Cambria Math"/>
                        </a:rPr>
                        <m:t xml:space="preserve">k</m:t>
                      </m:r>
                      <m:r>
                        <a:rPr lang="nl-BE" sz="2200" b="1">
                          <a:solidFill>
                            <a:srgbClr val="1F4E79"/>
                          </a:solidFill>
                          <a:latin typeface="Cambria Math"/>
                        </a:rPr>
                        <m:t xml:space="preserve">=</m:t>
                      </m:r>
                      <m:r>
                        <a:rPr lang="nl-BE" sz="2200" b="1">
                          <a:solidFill>
                            <a:srgbClr val="1F4E79"/>
                          </a:solidFill>
                          <a:latin typeface="Cambria Math"/>
                        </a:rPr>
                        <m:t xml:space="preserve">8</m:t>
                      </m:r>
                      <m:r>
                        <a:rPr lang="nl-BE" sz="2200" b="1">
                          <a:solidFill>
                            <a:srgbClr val="1F4E79"/>
                          </a:solidFill>
                          <a:latin typeface="Cambria Math"/>
                        </a:rPr>
                        <m:t xml:space="preserve">,</m:t>
                      </m:r>
                      <m:r>
                        <a:rPr lang="nl-BE" sz="2200" b="1">
                          <a:solidFill>
                            <a:srgbClr val="1F4E79"/>
                          </a:solidFill>
                          <a:latin typeface="Cambria Math"/>
                        </a:rPr>
                        <m:t xml:space="preserve">9</m:t>
                      </m:r>
                      <m:r>
                        <a:rPr lang="nl-BE" sz="2200" b="1">
                          <a:solidFill>
                            <a:srgbClr val="1F4E79"/>
                          </a:solidFill>
                          <a:latin typeface="Cambria Math"/>
                        </a:rPr>
                        <m:t xml:space="preserve">9</m:t>
                      </m:r>
                      <m:r>
                        <a:rPr lang="nl-BE" sz="2200" b="1">
                          <a:solidFill>
                            <a:srgbClr val="1F4E79"/>
                          </a:solidFill>
                          <a:latin typeface="Cambria Math"/>
                        </a:rPr>
                        <m:t xml:space="preserve">·</m:t>
                      </m:r>
                      <m:r>
                        <a:rPr lang="nl-BE" sz="2200" b="1">
                          <a:solidFill>
                            <a:srgbClr val="1F4E79"/>
                          </a:solidFill>
                          <a:latin typeface="Cambria Math"/>
                        </a:rPr>
                        <m:t xml:space="preserve">1</m:t>
                      </m:r>
                      <m:sSup>
                        <m:e>
                          <m:r>
                            <a:rPr lang="nl-BE" sz="2200" b="1">
                              <a:solidFill>
                                <a:srgbClr val="1F4E79"/>
                              </a:solidFill>
                              <a:latin typeface="Cambria Math"/>
                            </a:rPr>
                            <m:t xml:space="preserve">0</m:t>
                          </m:r>
                        </m:e>
                        <m:sup>
                          <m:r>
                            <a:rPr lang="nl-BE" sz="2200" b="1">
                              <a:solidFill>
                                <a:srgbClr val="1F4E79"/>
                              </a:solidFill>
                              <a:latin typeface="Cambria Math"/>
                            </a:rPr>
                            <m:t xml:space="preserve">9</m:t>
                          </m:r>
                        </m:sup>
                      </m:sSup>
                      <m:r>
                        <a:rPr lang="nl-BE" sz="2200" b="1">
                          <a:solidFill>
                            <a:srgbClr val="1F4E79"/>
                          </a:solidFill>
                          <a:latin typeface="Cambria Math"/>
                        </a:rPr>
                        <m:t xml:space="preserve"> </m:t>
                      </m:r>
                      <m:r>
                        <m:rPr>
                          <m:sty m:val="p"/>
                        </m:rPr>
                        <a:rPr lang="nl-BE" sz="2200" b="1">
                          <a:solidFill>
                            <a:srgbClr val="1F4E79"/>
                          </a:solidFill>
                          <a:latin typeface="Cambria Math"/>
                        </a:rPr>
                        <m:t xml:space="preserve">N·m²/C²</m:t>
                      </m:r>
                    </m:oMath>
                  </m:oMathPara>
                </a14:m>
              </mc:Choice>
              <mc:Fallback>
                <a:r>
                  <a:rPr lang="nl-BE" sz="2200" b="1">
                    <a:solidFill>
                      <a:srgbClr val="1F4E79"/>
                    </a:solidFill>
                  </a:rPr>
                  <a:t>F = k · (|Q₁| · |Q₂|) / (r²)  met  k = 8,99 · 10⁹  N·m²/C²</a:t>
                </a:r>
              </mc:Fallback>
            </mc:AlternateContent>
          </a:p>
          <a:p>
            <a:pPr>
              <a:spcAft>
                <a:spcPts val="1400"/>
              </a:spcAft>
            </a:pPr>
            <a:r>
              <a:rPr sz="1600">
                <a:solidFill>
                  <a:srgbClr val="262626"/>
                </a:solidFill>
              </a:rPr>
              <a:t>• Elektroscoop. Een geleider (draad + bolletje) met twee lichte, beweeglijke blaadjes</a:t>
            </a:r>
          </a:p>
          <a:p>
            <a:pPr>
              <a:spcAft>
                <a:spcPts val="600"/>
              </a:spcAft>
            </a:pPr>
            <a:r>
              <a:rPr sz="1600">
                <a:solidFill>
                  <a:srgbClr val="262626"/>
                </a:solidFill>
              </a:rPr>
              <a:t>      – Breng je lading op bolletje, dan verdeelt die zich over hele geleider; blaadjes krijgen gelijke lading en wijken uit</a:t>
            </a:r>
          </a:p>
          <a:p>
            <a:pPr>
              <a:spcAft>
                <a:spcPts val="600"/>
              </a:spcAft>
            </a:pPr>
            <a:r>
              <a:rPr sz="1600">
                <a:solidFill>
                  <a:srgbClr val="262626"/>
                </a:solidFill>
              </a:rPr>
              <a:t>      – Hoe groter lading, hoe groter uitslag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Theorie-overzicht (vervolg)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12</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Influentie (in theoriecursus 'elektrostatische inductie' genoemd)</a:t>
            </a:r>
          </a:p>
          <a:p>
            <a:pPr>
              <a:spcAft>
                <a:spcPts val="600"/>
              </a:spcAft>
            </a:pPr>
            <a:r>
              <a:rPr sz="2200">
                <a:solidFill>
                  <a:srgbClr val="262626"/>
                </a:solidFill>
              </a:rPr>
              <a:t>      – Geladen voorwerp in buurt van geleider verplaatst vrije elektronen erin: aan ene kant ontstaat overschot, aan andere tekort, zonder contact</a:t>
            </a:r>
          </a:p>
          <a:p>
            <a:pPr>
              <a:spcAft>
                <a:spcPts val="600"/>
              </a:spcAft>
            </a:pPr>
            <a:r>
              <a:rPr sz="2200">
                <a:solidFill>
                  <a:srgbClr val="262626"/>
                </a:solidFill>
              </a:rPr>
              <a:t>      – In isolator verschuiven ladingen enkel binnen elk molecuul (polarisatie, dipolen)</a:t>
            </a:r>
          </a:p>
          <a:p>
            <a:pPr>
              <a:spcAft>
                <a:spcPts val="600"/>
              </a:spcAft>
            </a:pPr>
            <a:r>
              <a:rPr sz="2200">
                <a:solidFill>
                  <a:srgbClr val="262626"/>
                </a:solidFill>
              </a:rPr>
              <a:t>      – Daardoor trekt geladen voorwerp ook ongeladen voorwerpen aan</a:t>
            </a:r>
          </a:p>
          <a:p>
            <a:pPr>
              <a:spcAft>
                <a:spcPts val="1400"/>
              </a:spcAft>
            </a:pPr>
            <a:r>
              <a:rPr sz="2200">
                <a:solidFill>
                  <a:srgbClr val="262626"/>
                </a:solidFill>
              </a:rPr>
              <a:t>• Schermwerking</a:t>
            </a:r>
          </a:p>
          <a:p>
            <a:pPr>
              <a:spcAft>
                <a:spcPts val="600"/>
              </a:spcAft>
            </a:pPr>
            <a:r>
              <a:rPr sz="2200">
                <a:solidFill>
                  <a:srgbClr val="262626"/>
                </a:solidFill>
              </a:rPr>
              <a:t>      – In geladen geleider zit alle lading aan buitenkant; binnenin is elektrisch veld nul (kooi van Faraday)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VEILIGHEID // NAUWKEURIGHEID • Hypothese</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13</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100" b="1">
                <a:solidFill>
                  <a:srgbClr val="1F4E79"/>
                </a:solidFill>
              </a:rPr>
              <a:t>VEILIGHEID // NAUWKEURIGHEID</a:t>
            </a:r>
          </a:p>
          <a:p>
            <a:pPr>
              <a:spcAft>
                <a:spcPts val="1400"/>
              </a:spcAft>
            </a:pPr>
            <a:r>
              <a:rPr sz="2000">
                <a:solidFill>
                  <a:srgbClr val="262626"/>
                </a:solidFill>
              </a:rPr>
              <a:t>• Statische ontladingen van wrijfproeven zijn ongevaarlijk, maar houd elektronica (gsm, laptop) uit buurt behalve bij de Faraday-proef</a:t>
            </a:r>
          </a:p>
          <a:p>
            <a:pPr>
              <a:spcAft>
                <a:spcPts val="1400"/>
              </a:spcAft>
            </a:pPr>
            <a:r>
              <a:rPr sz="2000">
                <a:solidFill>
                  <a:srgbClr val="262626"/>
                </a:solidFill>
              </a:rPr>
              <a:t>• Van de Graaff en hoogspanningsvoeding: enkel leerkracht bedient ze</a:t>
            </a:r>
          </a:p>
          <a:p>
            <a:pPr>
              <a:spcAft>
                <a:spcPts val="600"/>
              </a:spcAft>
            </a:pPr>
            <a:r>
              <a:rPr sz="2000">
                <a:solidFill>
                  <a:srgbClr val="262626"/>
                </a:solidFill>
              </a:rPr>
              <a:t>      – Personen met pacemaker houden afstand</a:t>
            </a:r>
          </a:p>
          <a:p>
            <a:pPr>
              <a:spcAft>
                <a:spcPts val="1400"/>
              </a:spcAft>
            </a:pPr>
            <a:r>
              <a:rPr sz="2000">
                <a:solidFill>
                  <a:srgbClr val="262626"/>
                </a:solidFill>
              </a:rPr>
              <a:t>• Voorzichtig met schaar, priem en uiteinden van ijzerdraad (ogen!)</a:t>
            </a:r>
          </a:p>
          <a:p>
            <a:pPr>
              <a:spcAft>
                <a:spcPts val="600"/>
              </a:spcAft>
            </a:pPr>
            <a:r>
              <a:rPr sz="2000">
                <a:solidFill>
                  <a:srgbClr val="262626"/>
                </a:solidFill>
              </a:rPr>
              <a:t>      – Glazen bokaal: niet laten vallen</a:t>
            </a:r>
          </a:p>
          <a:p>
            <a:pPr>
              <a:spcAft>
                <a:spcPts val="1400"/>
              </a:spcAft>
            </a:pPr>
            <a:r>
              <a:rPr sz="2000">
                <a:solidFill>
                  <a:srgbClr val="262626"/>
                </a:solidFill>
              </a:rPr>
              <a:t>• Werk met droge handen en droog materiaal; wrijf stevig maar kort</a:t>
            </a:r>
          </a:p>
          <a:p>
            <a:pPr>
              <a:spcAft>
                <a:spcPts val="1400"/>
              </a:spcAft>
            </a:pPr>
            <a:r>
              <a:rPr sz="2100" b="1">
                <a:solidFill>
                  <a:srgbClr val="1F4E79"/>
                </a:solidFill>
              </a:rPr>
              <a:t>Hypothese</a:t>
            </a:r>
          </a:p>
          <a:p>
            <a:pPr>
              <a:spcAft>
                <a:spcPts val="1400"/>
              </a:spcAft>
            </a:pPr>
            <a:r>
              <a:rPr sz="2000">
                <a:solidFill>
                  <a:srgbClr val="262626"/>
                </a:solidFill>
              </a:rPr>
              <a:t>• Formuleer vóór proef beredeneerde verwachting: wat verwacht je en waarom?</a:t>
            </a:r>
          </a:p>
          <a:p>
            <a:pPr>
              <a:spcAft>
                <a:spcPts val="1400"/>
              </a:spcAft>
            </a:pPr>
            <a:r>
              <a:rPr sz="2000" i="1">
                <a:solidFill>
                  <a:srgbClr val="595959"/>
                </a:solidFill>
              </a:rPr>
              <a:t>Hypothese mag fout blijken – dat is geen slecht resultaat, maar leerpunt</a:t>
            </a:r>
          </a:p>
          <a:p>
            <a:pPr>
              <a:spcAft>
                <a:spcPts val="600"/>
              </a:spcAft>
            </a:pPr>
            <a:r>
              <a:rPr sz="2000">
                <a:solidFill>
                  <a:srgbClr val="262626"/>
                </a:solidFill>
              </a:rPr>
              <a:t>      – Noteer ze op werkblad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Werkplan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14</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Verdeel rollen: bouwer, waarnemer/notulist, 'wrijver'</a:t>
            </a:r>
          </a:p>
          <a:p>
            <a:pPr>
              <a:spcAft>
                <a:spcPts val="600"/>
              </a:spcAft>
            </a:pPr>
            <a:r>
              <a:rPr sz="2200">
                <a:solidFill>
                  <a:srgbClr val="262626"/>
                </a:solidFill>
              </a:rPr>
              <a:t>      – Wissel per deel</a:t>
            </a:r>
          </a:p>
          <a:p>
            <a:pPr>
              <a:spcAft>
                <a:spcPts val="1400"/>
              </a:spcAft>
            </a:pPr>
            <a:r>
              <a:rPr sz="2200">
                <a:solidFill>
                  <a:srgbClr val="262626"/>
                </a:solidFill>
              </a:rPr>
              <a:t>• Bouw eerst elektroscoop (deel 1) en test hem</a:t>
            </a:r>
          </a:p>
          <a:p>
            <a:pPr>
              <a:spcAft>
                <a:spcPts val="600"/>
              </a:spcAft>
            </a:pPr>
            <a:r>
              <a:rPr sz="2200">
                <a:solidFill>
                  <a:srgbClr val="262626"/>
                </a:solidFill>
              </a:rPr>
              <a:t>      – Doorloop → delen 2-5 in willekeurige volgorde (max. 15 min per deel)</a:t>
            </a:r>
          </a:p>
          <a:p>
            <a:pPr>
              <a:spcAft>
                <a:spcPts val="1400"/>
              </a:spcAft>
            </a:pPr>
            <a:r>
              <a:rPr sz="2200">
                <a:solidFill>
                  <a:srgbClr val="262626"/>
                </a:solidFill>
              </a:rPr>
              <a:t>• Noteer bij elk deel: hypothese → waarneming → schets van ladingsverdeling → verklaring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U – UITVOEREN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Meten, noteren, observeren – volgens plan</a:t>
            </a:r>
          </a:p>
          <a:p>
            <a:pPr algn="ctr">
              <a:spcBef>
                <a:spcPts val="600"/>
              </a:spcBef>
            </a:pPr>
            <a:r>
              <a:rPr sz="1800">
                <a:solidFill>
                  <a:srgbClr val="262626"/>
                </a:solidFill>
              </a:rPr>
              <a:t>Noteer alles meteen op het werkblad: tabellen, waarnemingen, foto's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1 – Bouw en test je elektroscoop (verplicht eerst)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16</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1600" i="1">
                <a:solidFill>
                  <a:srgbClr val="595959"/>
                </a:solidFill>
              </a:rPr>
              <a:t>Links: zelfgebouwde elektroscoop uit bokaal, koperdraad en aluminiumfolie</a:t>
            </a:r>
          </a:p>
          <a:p>
            <a:pPr>
              <a:spcAft>
                <a:spcPts val="1400"/>
              </a:spcAft>
            </a:pPr>
            <a:r>
              <a:rPr sz="1600">
                <a:solidFill>
                  <a:srgbClr val="262626"/>
                </a:solidFill>
              </a:rPr>
              <a:t>1. Maak gaatje in deksel</a:t>
            </a:r>
          </a:p>
          <a:p>
            <a:pPr>
              <a:spcAft>
                <a:spcPts val="600"/>
              </a:spcAft>
            </a:pPr>
            <a:r>
              <a:rPr sz="1600">
                <a:solidFill>
                  <a:srgbClr val="262626"/>
                </a:solidFill>
              </a:rPr>
              <a:t>      – Plooi uiteinde van draad tot haakje (L- of J-vorm) en steek draad door deksel, zodat haakje ca. 3 cm boven bodem van bokaal hangt</a:t>
            </a:r>
          </a:p>
          <a:p>
            <a:pPr>
              <a:spcAft>
                <a:spcPts val="600"/>
              </a:spcAft>
            </a:pPr>
            <a:r>
              <a:rPr sz="1600">
                <a:solidFill>
                  <a:srgbClr val="262626"/>
                </a:solidFill>
              </a:rPr>
              <a:t>      – Fixeer met plakband; draad mag glas niet raken</a:t>
            </a:r>
          </a:p>
          <a:p>
            <a:pPr>
              <a:spcAft>
                <a:spcPts val="1400"/>
              </a:spcAft>
            </a:pPr>
            <a:r>
              <a:rPr sz="1600">
                <a:solidFill>
                  <a:srgbClr val="262626"/>
                </a:solidFill>
              </a:rPr>
              <a:t>2. Knip twee strookjes aluminiumfolie (ca. 1 cm × 4 cm) en hang ze over haakje zodat ze vrij naast elkaar hangen</a:t>
            </a:r>
          </a:p>
          <a:p>
            <a:pPr>
              <a:spcAft>
                <a:spcPts val="600"/>
              </a:spcAft>
            </a:pPr>
            <a:r>
              <a:rPr sz="1600">
                <a:solidFill>
                  <a:srgbClr val="262626"/>
                </a:solidFill>
              </a:rPr>
              <a:t>      – Druk ze niet plat tegen elkaar</a:t>
            </a:r>
          </a:p>
          <a:p>
            <a:pPr>
              <a:spcAft>
                <a:spcPts val="1400"/>
              </a:spcAft>
            </a:pPr>
            <a:r>
              <a:rPr sz="1600">
                <a:solidFill>
                  <a:srgbClr val="262626"/>
                </a:solidFill>
              </a:rPr>
              <a:t>3. Frommel bolletje aluminiumfolie (Ø 2-3 cm) rond bovenste uiteinde van draad</a:t>
            </a:r>
          </a:p>
          <a:p>
            <a:pPr>
              <a:spcAft>
                <a:spcPts val="600"/>
              </a:spcAft>
            </a:pPr>
            <a:r>
              <a:rPr sz="1600">
                <a:solidFill>
                  <a:srgbClr val="262626"/>
                </a:solidFill>
              </a:rPr>
              <a:t>      – Draai deksel op bokaal</a:t>
            </a:r>
          </a:p>
          <a:p>
            <a:pPr>
              <a:spcAft>
                <a:spcPts val="1400"/>
              </a:spcAft>
            </a:pPr>
            <a:r>
              <a:rPr sz="1600">
                <a:solidFill>
                  <a:srgbClr val="262626"/>
                </a:solidFill>
              </a:rPr>
              <a:t>4. Test: wrijf een PVC-buis met wol en nader bolletje langzaam zonder te raken</a:t>
            </a:r>
          </a:p>
          <a:p>
            <a:pPr>
              <a:spcAft>
                <a:spcPts val="600"/>
              </a:spcAft>
            </a:pPr>
            <a:r>
              <a:rPr sz="1600">
                <a:solidFill>
                  <a:srgbClr val="262626"/>
                </a:solidFill>
              </a:rPr>
              <a:t>      – Wat doen blaadjes?</a:t>
            </a:r>
          </a:p>
          <a:p>
            <a:pPr>
              <a:spcAft>
                <a:spcPts val="600"/>
              </a:spcAft>
            </a:pPr>
            <a:r>
              <a:rPr sz="1600">
                <a:solidFill>
                  <a:srgbClr val="262626"/>
                </a:solidFill>
              </a:rPr>
              <a:t>      – Haal buis weg</a:t>
            </a:r>
          </a:p>
          <a:p>
            <a:pPr>
              <a:spcAft>
                <a:spcPts val="600"/>
              </a:spcAft>
            </a:pPr>
            <a:r>
              <a:rPr sz="1600">
                <a:solidFill>
                  <a:srgbClr val="262626"/>
                </a:solidFill>
              </a:rPr>
              <a:t>      – Wat gebeurt er?</a:t>
            </a:r>
          </a:p>
          <a:p>
            <a:pPr>
              <a:spcAft>
                <a:spcPts val="1400"/>
              </a:spcAft>
            </a:pPr>
            <a:r>
              <a:rPr sz="1600">
                <a:solidFill>
                  <a:srgbClr val="262626"/>
                </a:solidFill>
              </a:rPr>
              <a:t>5. Raak nu bolletje aan met gewreven buis en haal buis weg</a:t>
            </a:r>
          </a:p>
        </p:txBody>
      </p:sp>
      <p:pic>
        <p:nvPicPr>
          <p:cNvPr id="6" name="Picture 5" descr="gen_elektroscoop.jpg"/>
          <p:cNvPicPr>
            <a:picLocks noChangeAspect="1"/>
          </p:cNvPicPr>
          <p:nvPr/>
        </p:nvPicPr>
        <p:blipFill>
          <a:blip r:embed="rId2"/>
          <a:stretch>
            <a:fillRect/>
          </a:stretch>
        </p:blipFill>
        <p:spPr>
          <a:xfrm>
            <a:off x="8000999" y="1842992"/>
            <a:ext cx="1874520" cy="1023175"/>
          </a:xfrm>
          <a:prstGeom prst="rect">
            <a:avLst/>
          </a:prstGeom>
        </p:spPr>
      </p:pic>
      <p:pic>
        <p:nvPicPr>
          <p:cNvPr id="7" name="Picture 6" descr="p3_0.jpg"/>
          <p:cNvPicPr>
            <a:picLocks noChangeAspect="1"/>
          </p:cNvPicPr>
          <p:nvPr/>
        </p:nvPicPr>
        <p:blipFill>
          <a:blip r:embed="rId3"/>
          <a:stretch>
            <a:fillRect/>
          </a:stretch>
        </p:blipFill>
        <p:spPr>
          <a:xfrm>
            <a:off x="10209754" y="1097280"/>
            <a:ext cx="1388930" cy="2514600"/>
          </a:xfrm>
          <a:prstGeom prst="rect">
            <a:avLst/>
          </a:prstGeom>
        </p:spPr>
      </p:pic>
      <p:pic>
        <p:nvPicPr>
          <p:cNvPr id="8" name="Picture 7" descr="p3_1.jpg"/>
          <p:cNvPicPr>
            <a:picLocks noChangeAspect="1"/>
          </p:cNvPicPr>
          <p:nvPr/>
        </p:nvPicPr>
        <p:blipFill>
          <a:blip r:embed="rId4"/>
          <a:stretch>
            <a:fillRect/>
          </a:stretch>
        </p:blipFill>
        <p:spPr>
          <a:xfrm>
            <a:off x="8000999" y="4165580"/>
            <a:ext cx="1874520" cy="1498639"/>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1 – Bouw en test je elektroscoop (verplicht eerst) (vervolg)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17</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600"/>
              </a:spcAft>
            </a:pPr>
            <a:r>
              <a:rPr sz="2200">
                <a:solidFill>
                  <a:srgbClr val="262626"/>
                </a:solidFill>
              </a:rPr>
              <a:t>      – Wat gebeurt er nu?</a:t>
            </a:r>
          </a:p>
          <a:p>
            <a:pPr>
              <a:spcAft>
                <a:spcPts val="600"/>
              </a:spcAft>
            </a:pPr>
            <a:r>
              <a:rPr sz="2200">
                <a:solidFill>
                  <a:srgbClr val="262626"/>
                </a:solidFill>
              </a:rPr>
              <a:t>      – Raak → bolletje aan met je vinger</a:t>
            </a:r>
          </a:p>
          <a:p>
            <a:pPr>
              <a:spcAft>
                <a:spcPts val="1400"/>
              </a:spcAft>
            </a:pPr>
            <a:r>
              <a:rPr sz="2200">
                <a:solidFill>
                  <a:srgbClr val="262626"/>
                </a:solidFill>
              </a:rPr>
              <a:t>6. Verbeter gevoeligheid (dunnere strookjes, langer, lichter) en noteer wat uitslag beïnvloedt</a:t>
            </a:r>
          </a:p>
        </p:txBody>
      </p:sp>
      <p:pic>
        <p:nvPicPr>
          <p:cNvPr id="6" name="Picture 5" descr="gen_elektroscoop.jpg"/>
          <p:cNvPicPr>
            <a:picLocks noChangeAspect="1"/>
          </p:cNvPicPr>
          <p:nvPr/>
        </p:nvPicPr>
        <p:blipFill>
          <a:blip r:embed="rId2"/>
          <a:stretch>
            <a:fillRect/>
          </a:stretch>
        </p:blipFill>
        <p:spPr>
          <a:xfrm>
            <a:off x="8000999" y="1842992"/>
            <a:ext cx="1874520" cy="1023175"/>
          </a:xfrm>
          <a:prstGeom prst="rect">
            <a:avLst/>
          </a:prstGeom>
        </p:spPr>
      </p:pic>
      <p:pic>
        <p:nvPicPr>
          <p:cNvPr id="7" name="Picture 6" descr="p3_0.jpg"/>
          <p:cNvPicPr>
            <a:picLocks noChangeAspect="1"/>
          </p:cNvPicPr>
          <p:nvPr/>
        </p:nvPicPr>
        <p:blipFill>
          <a:blip r:embed="rId3"/>
          <a:stretch>
            <a:fillRect/>
          </a:stretch>
        </p:blipFill>
        <p:spPr>
          <a:xfrm>
            <a:off x="10209754" y="1097280"/>
            <a:ext cx="1388930" cy="2514600"/>
          </a:xfrm>
          <a:prstGeom prst="rect">
            <a:avLst/>
          </a:prstGeom>
        </p:spPr>
      </p:pic>
      <p:pic>
        <p:nvPicPr>
          <p:cNvPr id="8" name="Picture 7" descr="p3_1.jpg"/>
          <p:cNvPicPr>
            <a:picLocks noChangeAspect="1"/>
          </p:cNvPicPr>
          <p:nvPr/>
        </p:nvPicPr>
        <p:blipFill>
          <a:blip r:embed="rId4"/>
          <a:stretch>
            <a:fillRect/>
          </a:stretch>
        </p:blipFill>
        <p:spPr>
          <a:xfrm>
            <a:off x="8000999" y="4165580"/>
            <a:ext cx="1874520" cy="1498639"/>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1 – Bouw en test je elektroscoop (verplicht eerst)</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18</a:t>
            </a:r>
          </a:p>
        </p:txBody>
      </p:sp>
      <p:graphicFrame>
        <p:nvGraphicFramePr>
          <p:cNvPr id="5" name="Table 4"/>
          <p:cNvGraphicFramePr>
            <a:graphicFrameLocks noGrp="1"/>
          </p:cNvGraphicFramePr>
          <p:nvPr/>
        </p:nvGraphicFramePr>
        <p:xfrm>
          <a:off x="457200" y="1143000"/>
          <a:ext cx="11277292" cy="2286000"/>
        </p:xfrm>
        <a:graphic>
          <a:graphicData uri="http://schemas.openxmlformats.org/drawingml/2006/table">
            <a:tbl>
              <a:tblPr firstRow="1" bandRow="1">
                <a:tableStyleId>{5C22544A-7EE6-4342-B048-85BDC9FD1C3A}</a:tableStyleId>
              </a:tblPr>
              <a:tblGrid>
                <a:gridCol w="2798744"/>
                <a:gridCol w="3621904"/>
                <a:gridCol w="2469480"/>
                <a:gridCol w="2387164"/>
              </a:tblGrid>
              <a:tr h="457200">
                <a:tc>
                  <a:txBody>
                    <a:bodyPr/>
                    <a:lstStyle/>
                    <a:p>
                      <a:r>
                        <a:rPr sz="1400" b="1">
                          <a:solidFill>
                            <a:srgbClr val="FFFFFF"/>
                          </a:solidFill>
                        </a:rPr>
                        <a:t>Handeling</a:t>
                      </a:r>
                    </a:p>
                  </a:txBody>
                  <a:tcPr>
                    <a:solidFill>
                      <a:srgbClr val="1F4E79"/>
                    </a:solidFill>
                  </a:tcPr>
                </a:tc>
                <a:tc>
                  <a:txBody>
                    <a:bodyPr/>
                    <a:lstStyle/>
                    <a:p>
                      <a:r>
                        <a:rPr sz="1400" b="1">
                          <a:solidFill>
                            <a:srgbClr val="FFFFFF"/>
                          </a:solidFill>
                        </a:rPr>
                        <a:t>Waarneming blaadjes (schets of beschrijving)</a:t>
                      </a:r>
                    </a:p>
                  </a:txBody>
                  <a:tcPr>
                    <a:solidFill>
                      <a:srgbClr val="1F4E79"/>
                    </a:solidFill>
                  </a:tcPr>
                </a:tc>
                <a:tc>
                  <a:txBody>
                    <a:bodyPr/>
                    <a:lstStyle/>
                    <a:p>
                      <a:r>
                        <a:rPr sz="1400" b="1">
                          <a:solidFill>
                            <a:srgbClr val="FFFFFF"/>
                          </a:solidFill>
                        </a:rPr>
                        <a:t>Blijft de uitslag na wegnemen?</a:t>
                      </a:r>
                    </a:p>
                  </a:txBody>
                  <a:tcPr>
                    <a:solidFill>
                      <a:srgbClr val="1F4E79"/>
                    </a:solidFill>
                  </a:tcPr>
                </a:tc>
                <a:tc>
                  <a:txBody>
                    <a:bodyPr/>
                    <a:lstStyle/>
                    <a:p>
                      <a:r>
                        <a:rPr sz="1400" b="1">
                          <a:solidFill>
                            <a:srgbClr val="FFFFFF"/>
                          </a:solidFill>
                        </a:rPr>
                        <a:t>Verklaring (ladingsverdeling)</a:t>
                      </a:r>
                    </a:p>
                  </a:txBody>
                  <a:tcPr>
                    <a:solidFill>
                      <a:srgbClr val="1F4E79"/>
                    </a:solidFill>
                  </a:tcPr>
                </a:tc>
              </a:tr>
              <a:tr h="457200">
                <a:tc>
                  <a:txBody>
                    <a:bodyPr/>
                    <a:lstStyle/>
                    <a:p>
                      <a:r>
                        <a:rPr sz="1400">
                          <a:solidFill>
                            <a:srgbClr val="262626"/>
                          </a:solidFill>
                        </a:rPr>
                        <a:t>Geladen buis nadert (geen contact)</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Geladen buis raakt bolletje</a:t>
                      </a:r>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400">
                          <a:solidFill>
                            <a:srgbClr val="262626"/>
                          </a:solidFill>
                        </a:rPr>
                        <a:t>Vinger raakt bolletje</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Ballon gewreven aan haar nadert</a:t>
                      </a:r>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1 • Deel 2</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19</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300" b="1">
                <a:solidFill>
                  <a:srgbClr val="1F4E79"/>
                </a:solidFill>
              </a:rPr>
              <a:t>Deel 1 – Bouw en test je elektroscoop (verplicht eerst)</a:t>
            </a:r>
          </a:p>
          <a:p>
            <a:pPr>
              <a:spcAft>
                <a:spcPts val="1400"/>
              </a:spcAft>
            </a:pPr>
            <a:r>
              <a:rPr sz="2200" i="1">
                <a:solidFill>
                  <a:srgbClr val="595959"/>
                </a:solidFill>
              </a:rPr>
              <a:t>Schets je elektroscoop met ladingsverdeling (teken + en –) in drie situaties:</a:t>
            </a:r>
          </a:p>
          <a:p>
            <a:pPr>
              <a:spcAft>
                <a:spcPts val="1400"/>
              </a:spcAft>
            </a:pPr>
            <a:r>
              <a:rPr sz="2300" b="1">
                <a:solidFill>
                  <a:srgbClr val="1F4E79"/>
                </a:solidFill>
              </a:rPr>
              <a:t>Deel 2 – Tribo-elektrische reeks en krachtwerking</a:t>
            </a:r>
          </a:p>
          <a:p>
            <a:pPr>
              <a:spcAft>
                <a:spcPts val="1400"/>
              </a:spcAft>
            </a:pPr>
            <a:r>
              <a:rPr sz="2200">
                <a:solidFill>
                  <a:srgbClr val="262626"/>
                </a:solidFill>
              </a:rPr>
              <a:t>1. Hang gewreven PVC-buis vrij op (draadlus of op horlogeglas)</a:t>
            </a:r>
          </a:p>
          <a:p>
            <a:pPr>
              <a:spcAft>
                <a:spcPts val="600"/>
              </a:spcAft>
            </a:pPr>
            <a:r>
              <a:rPr sz="2200">
                <a:solidFill>
                  <a:srgbClr val="262626"/>
                </a:solidFill>
              </a:rPr>
              <a:t>      – Nader met tweede gewreven PVC-buis</a:t>
            </a:r>
          </a:p>
          <a:p>
            <a:pPr>
              <a:spcAft>
                <a:spcPts val="600"/>
              </a:spcAft>
            </a:pPr>
            <a:r>
              <a:rPr sz="2200">
                <a:solidFill>
                  <a:srgbClr val="262626"/>
                </a:solidFill>
              </a:rPr>
              <a:t>      – Nader → met gewreven glazen/plexiglas staaf</a:t>
            </a:r>
          </a:p>
          <a:p>
            <a:pPr>
              <a:spcAft>
                <a:spcPts val="1400"/>
              </a:spcAft>
            </a:pPr>
            <a:r>
              <a:rPr sz="2200">
                <a:solidFill>
                  <a:srgbClr val="262626"/>
                </a:solidFill>
              </a:rPr>
              <a:t>2. Wrijf twee ballonnen aan je haar en hang ze naast elkaar aan draadjes</a:t>
            </a:r>
          </a:p>
          <a:p>
            <a:pPr>
              <a:spcAft>
                <a:spcPts val="600"/>
              </a:spcAft>
            </a:pPr>
            <a:r>
              <a:rPr sz="2200">
                <a:solidFill>
                  <a:srgbClr val="262626"/>
                </a:solidFill>
              </a:rPr>
              <a:t>      – Houd → je hand ertussen</a:t>
            </a:r>
          </a:p>
          <a:p>
            <a:pPr>
              <a:spcAft>
                <a:spcPts val="1400"/>
              </a:spcAft>
            </a:pPr>
            <a:r>
              <a:rPr sz="2200">
                <a:solidFill>
                  <a:srgbClr val="262626"/>
                </a:solidFill>
              </a:rPr>
              <a:t>3. Laad verschillende materialen op (PVC/wol, glas/zijde, rietje/papier, ballon/haar) en test ze telkens tegen opgehangen, bekende negatief geladen PVC-buis: aantrekking of afstoting?</a:t>
            </a:r>
          </a:p>
          <a:p>
            <a:pPr>
              <a:spcAft>
                <a:spcPts val="600"/>
              </a:spcAft>
            </a:pPr>
            <a:r>
              <a:rPr sz="2200">
                <a:solidFill>
                  <a:srgbClr val="262626"/>
                </a:solidFill>
              </a:rPr>
              <a:t>      – Leid teken af en controleer met tribo-elektrische reeks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2 – Tribo-elektrische reeks en krachtwerking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20</a:t>
            </a:r>
          </a:p>
        </p:txBody>
      </p:sp>
      <p:graphicFrame>
        <p:nvGraphicFramePr>
          <p:cNvPr id="5" name="Table 4"/>
          <p:cNvGraphicFramePr>
            <a:graphicFrameLocks noGrp="1"/>
          </p:cNvGraphicFramePr>
          <p:nvPr/>
        </p:nvGraphicFramePr>
        <p:xfrm>
          <a:off x="457200" y="1143000"/>
          <a:ext cx="11277292" cy="2743200"/>
        </p:xfrm>
        <a:graphic>
          <a:graphicData uri="http://schemas.openxmlformats.org/drawingml/2006/table">
            <a:tbl>
              <a:tblPr firstRow="1" bandRow="1">
                <a:tableStyleId>{5C22544A-7EE6-4342-B048-85BDC9FD1C3A}</a:tableStyleId>
              </a:tblPr>
              <a:tblGrid>
                <a:gridCol w="3075625"/>
                <a:gridCol w="2947474"/>
                <a:gridCol w="2819323"/>
                <a:gridCol w="1665964"/>
                <a:gridCol w="768906"/>
              </a:tblGrid>
              <a:tr h="457200">
                <a:tc>
                  <a:txBody>
                    <a:bodyPr/>
                    <a:lstStyle/>
                    <a:p>
                      <a:r>
                        <a:rPr sz="1600" b="1">
                          <a:solidFill>
                            <a:srgbClr val="FFFFFF"/>
                          </a:solidFill>
                        </a:rPr>
                        <a:t>Materiaal gewreven met …</a:t>
                      </a:r>
                    </a:p>
                  </a:txBody>
                  <a:tcPr>
                    <a:solidFill>
                      <a:srgbClr val="1F4E79"/>
                    </a:solidFill>
                  </a:tcPr>
                </a:tc>
                <a:tc>
                  <a:txBody>
                    <a:bodyPr/>
                    <a:lstStyle/>
                    <a:p>
                      <a:r>
                        <a:rPr sz="1600" b="1">
                          <a:solidFill>
                            <a:srgbClr val="FFFFFF"/>
                          </a:solidFill>
                        </a:rPr>
                        <a:t>Hypothese teken (reeks)</a:t>
                      </a:r>
                    </a:p>
                  </a:txBody>
                  <a:tcPr>
                    <a:solidFill>
                      <a:srgbClr val="1F4E79"/>
                    </a:solidFill>
                  </a:tcPr>
                </a:tc>
                <a:tc>
                  <a:txBody>
                    <a:bodyPr/>
                    <a:lstStyle/>
                    <a:p>
                      <a:r>
                        <a:rPr sz="1600" b="1">
                          <a:solidFill>
                            <a:srgbClr val="FFFFFF"/>
                          </a:solidFill>
                        </a:rPr>
                        <a:t>Waarneming t.o.v. PVC⁻</a:t>
                      </a:r>
                    </a:p>
                  </a:txBody>
                  <a:tcPr>
                    <a:solidFill>
                      <a:srgbClr val="1F4E79"/>
                    </a:solidFill>
                  </a:tcPr>
                </a:tc>
                <a:tc>
                  <a:txBody>
                    <a:bodyPr/>
                    <a:lstStyle/>
                    <a:p>
                      <a:r>
                        <a:rPr sz="1600" b="1">
                          <a:solidFill>
                            <a:srgbClr val="FFFFFF"/>
                          </a:solidFill>
                        </a:rPr>
                        <a:t>Besluit teken</a:t>
                      </a:r>
                    </a:p>
                  </a:txBody>
                  <a:tcPr>
                    <a:solidFill>
                      <a:srgbClr val="1F4E79"/>
                    </a:solidFill>
                  </a:tcPr>
                </a:tc>
                <a:tc>
                  <a:txBody>
                    <a:bodyPr/>
                    <a:lstStyle/>
                    <a:p>
                      <a:r>
                        <a:rPr sz="1600" b="1">
                          <a:solidFill>
                            <a:srgbClr val="FFFFFF"/>
                          </a:solidFill>
                        </a:rPr>
                        <a:t>Klopt?</a:t>
                      </a:r>
                    </a:p>
                  </a:txBody>
                  <a:tcPr>
                    <a:solidFill>
                      <a:srgbClr val="1F4E79"/>
                    </a:solidFill>
                  </a:tcPr>
                </a:tc>
              </a:tr>
              <a:tr h="457200">
                <a:tc>
                  <a:txBody>
                    <a:bodyPr/>
                    <a:lstStyle/>
                    <a:p>
                      <a:r>
                        <a:rPr sz="1600">
                          <a:solidFill>
                            <a:srgbClr val="262626"/>
                          </a:solidFill>
                        </a:rPr>
                        <a:t>PVC – wol</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600">
                          <a:solidFill>
                            <a:srgbClr val="262626"/>
                          </a:solidFill>
                        </a:rPr>
                        <a:t>Glas – zijde</a:t>
                      </a:r>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600">
                          <a:solidFill>
                            <a:srgbClr val="262626"/>
                          </a:solidFill>
                        </a:rPr>
                        <a:t>Ballon – haar</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600">
                          <a:solidFill>
                            <a:srgbClr val="262626"/>
                          </a:solidFill>
                        </a:rPr>
                        <a:t>Rietje – papier</a:t>
                      </a:r>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600">
                          <a:solidFill>
                            <a:srgbClr val="262626"/>
                          </a:solidFill>
                        </a:rPr>
                        <a:t>… – …</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3 – Influentie: geladen voorwerpen trekken ongeladen voorwerpen aan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21</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1600" i="1">
                <a:solidFill>
                  <a:srgbClr val="595959"/>
                </a:solidFill>
              </a:rPr>
              <a:t>Elektrostatische influentie bij elektroscoop (cursus D1, fig. 1.9): a) geladen staaf nadert, b) en c) ladingsverdeling</a:t>
            </a:r>
          </a:p>
          <a:p>
            <a:pPr>
              <a:spcAft>
                <a:spcPts val="1400"/>
              </a:spcAft>
            </a:pPr>
            <a:r>
              <a:rPr sz="1600">
                <a:solidFill>
                  <a:srgbClr val="262626"/>
                </a:solidFill>
              </a:rPr>
              <a:t>1. Strooi papiersnippers en mengsel van peper en zout op tafel</a:t>
            </a:r>
          </a:p>
          <a:p>
            <a:pPr>
              <a:spcAft>
                <a:spcPts val="600"/>
              </a:spcAft>
            </a:pPr>
            <a:r>
              <a:rPr sz="1600">
                <a:solidFill>
                  <a:srgbClr val="262626"/>
                </a:solidFill>
              </a:rPr>
              <a:t>      – Houd gewreven buis erboven op verschillende afstanden</a:t>
            </a:r>
          </a:p>
          <a:p>
            <a:pPr>
              <a:spcAft>
                <a:spcPts val="600"/>
              </a:spcAft>
            </a:pPr>
            <a:r>
              <a:rPr sz="1600">
                <a:solidFill>
                  <a:srgbClr val="262626"/>
                </a:solidFill>
              </a:rPr>
              <a:t>      – Wat wordt eerst aangetrokken?</a:t>
            </a:r>
          </a:p>
          <a:p>
            <a:pPr>
              <a:spcAft>
                <a:spcPts val="600"/>
              </a:spcAft>
            </a:pPr>
            <a:r>
              <a:rPr sz="1600">
                <a:solidFill>
                  <a:srgbClr val="262626"/>
                </a:solidFill>
              </a:rPr>
              <a:t>      – Waarom springen sommige snippers na contact weer weg?</a:t>
            </a:r>
          </a:p>
          <a:p>
            <a:pPr>
              <a:spcAft>
                <a:spcPts val="1400"/>
              </a:spcAft>
            </a:pPr>
            <a:r>
              <a:rPr sz="1600">
                <a:solidFill>
                  <a:srgbClr val="262626"/>
                </a:solidFill>
              </a:rPr>
              <a:t>2. Leg leeg aluminium blikje op zijn zij en nader met gewreven ballon</a:t>
            </a:r>
          </a:p>
          <a:p>
            <a:pPr>
              <a:spcAft>
                <a:spcPts val="600"/>
              </a:spcAft>
            </a:pPr>
            <a:r>
              <a:rPr sz="1600">
                <a:solidFill>
                  <a:srgbClr val="262626"/>
                </a:solidFill>
              </a:rPr>
              <a:t>      – Kan je blikje laten rollen zonder het aan te raken?</a:t>
            </a:r>
          </a:p>
          <a:p>
            <a:pPr>
              <a:spcAft>
                <a:spcPts val="600"/>
              </a:spcAft>
            </a:pPr>
            <a:r>
              <a:rPr sz="1600">
                <a:solidFill>
                  <a:srgbClr val="262626"/>
                </a:solidFill>
              </a:rPr>
              <a:t>      – Kan het ook met geladen isolator (plastic liniaal) in plaats van blikje?</a:t>
            </a:r>
          </a:p>
          <a:p>
            <a:pPr>
              <a:spcAft>
                <a:spcPts val="600"/>
              </a:spcAft>
            </a:pPr>
            <a:r>
              <a:rPr sz="1600">
                <a:solidFill>
                  <a:srgbClr val="262626"/>
                </a:solidFill>
              </a:rPr>
              <a:t>      – Verklaar verschil geleider/isolator</a:t>
            </a:r>
          </a:p>
          <a:p>
            <a:pPr>
              <a:spcAft>
                <a:spcPts val="1400"/>
              </a:spcAft>
            </a:pPr>
            <a:r>
              <a:rPr sz="1600">
                <a:solidFill>
                  <a:srgbClr val="262626"/>
                </a:solidFill>
              </a:rPr>
              <a:t>3. Open kraan tot dunne, gladde waterstraal</a:t>
            </a:r>
          </a:p>
          <a:p>
            <a:pPr>
              <a:spcAft>
                <a:spcPts val="600"/>
              </a:spcAft>
            </a:pPr>
            <a:r>
              <a:rPr sz="1600">
                <a:solidFill>
                  <a:srgbClr val="262626"/>
                </a:solidFill>
              </a:rPr>
              <a:t>      – Nader met gewreven PVC-buis en → met gewreven glasstaaf</a:t>
            </a:r>
          </a:p>
          <a:p>
            <a:pPr>
              <a:spcAft>
                <a:spcPts val="600"/>
              </a:spcAft>
            </a:pPr>
            <a:r>
              <a:rPr sz="1600">
                <a:solidFill>
                  <a:srgbClr val="262626"/>
                </a:solidFill>
              </a:rPr>
              <a:t>      – Wordt straal aangetrokken of afgestoten?</a:t>
            </a:r>
          </a:p>
          <a:p>
            <a:pPr>
              <a:spcAft>
                <a:spcPts val="600"/>
              </a:spcAft>
            </a:pPr>
            <a:r>
              <a:rPr sz="1600">
                <a:solidFill>
                  <a:srgbClr val="262626"/>
                </a:solidFill>
              </a:rPr>
              <a:t>      – Hangt dat af van teken van lading?</a:t>
            </a:r>
          </a:p>
        </p:txBody>
      </p:sp>
      <p:pic>
        <p:nvPicPr>
          <p:cNvPr id="6" name="Picture 5" descr="p8_0.jpg"/>
          <p:cNvPicPr>
            <a:picLocks noChangeAspect="1"/>
          </p:cNvPicPr>
          <p:nvPr/>
        </p:nvPicPr>
        <p:blipFill>
          <a:blip r:embed="rId2"/>
          <a:stretch>
            <a:fillRect/>
          </a:stretch>
        </p:blipFill>
        <p:spPr>
          <a:xfrm>
            <a:off x="7955279" y="2129282"/>
            <a:ext cx="3931920" cy="2599436"/>
          </a:xfrm>
          <a:prstGeom prst="rect">
            <a:avLst/>
          </a:prstGeom>
        </p:spPr>
      </p:pic>
      <p:sp>
        <p:nvSpPr>
          <p:cNvPr id="7" name="TextBox 6"/>
          <p:cNvSpPr txBox="1"/>
          <p:nvPr/>
        </p:nvSpPr>
        <p:spPr>
          <a:xfrm>
            <a:off x="7955279" y="5760720"/>
            <a:ext cx="3931920" cy="411480"/>
          </a:xfrm>
          <a:prstGeom prst="rect">
            <a:avLst/>
          </a:prstGeom>
          <a:noFill/>
        </p:spPr>
        <p:txBody>
          <a:bodyPr wrap="square">
            <a:spAutoFit/>
          </a:bodyPr>
          <a:lstStyle/>
          <a:p>
            <a:pPr algn="ctr"/>
            <a:r>
              <a:rPr sz="1000" i="1">
                <a:solidFill>
                  <a:srgbClr val="595959"/>
                </a:solidFill>
              </a:rPr>
              <a:t>Elektrostatische influentie bij een elektroscoop (cursus D1, fig. 1.9): a) geladen staaf nadert, b) en c) ladingsverdeling.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3 – Influentie: geladen voorwerpen trekken ongeladen voorwerpen aan (vervolg)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22</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2200">
                <a:solidFill>
                  <a:srgbClr val="262626"/>
                </a:solidFill>
              </a:rPr>
              <a:t>4. Bepaal teken van onbekende lading: laad je elektroscoop op met de PVC-buis (contact, dus negatief)</a:t>
            </a:r>
          </a:p>
          <a:p>
            <a:pPr>
              <a:spcAft>
                <a:spcPts val="600"/>
              </a:spcAft>
            </a:pPr>
            <a:r>
              <a:rPr sz="2200">
                <a:solidFill>
                  <a:srgbClr val="262626"/>
                </a:solidFill>
              </a:rPr>
              <a:t>      – Nader nu met onbekend geladen voorwerp. Uitslag groter → zelfde teken; kleiner → tegengesteld teken</a:t>
            </a:r>
          </a:p>
          <a:p>
            <a:pPr>
              <a:spcAft>
                <a:spcPts val="600"/>
              </a:spcAft>
            </a:pPr>
            <a:r>
              <a:rPr sz="2200">
                <a:solidFill>
                  <a:srgbClr val="262626"/>
                </a:solidFill>
              </a:rPr>
              <a:t>      – Leg uit waarom dat zo is</a:t>
            </a:r>
          </a:p>
        </p:txBody>
      </p:sp>
      <p:pic>
        <p:nvPicPr>
          <p:cNvPr id="6" name="Picture 5" descr="p8_0.jpg"/>
          <p:cNvPicPr>
            <a:picLocks noChangeAspect="1"/>
          </p:cNvPicPr>
          <p:nvPr/>
        </p:nvPicPr>
        <p:blipFill>
          <a:blip r:embed="rId2"/>
          <a:stretch>
            <a:fillRect/>
          </a:stretch>
        </p:blipFill>
        <p:spPr>
          <a:xfrm>
            <a:off x="7955279" y="2129282"/>
            <a:ext cx="3931920" cy="2599436"/>
          </a:xfrm>
          <a:prstGeom prst="rect">
            <a:avLst/>
          </a:prstGeom>
        </p:spPr>
      </p:pic>
      <p:sp>
        <p:nvSpPr>
          <p:cNvPr id="7" name="TextBox 6"/>
          <p:cNvSpPr txBox="1"/>
          <p:nvPr/>
        </p:nvSpPr>
        <p:spPr>
          <a:xfrm>
            <a:off x="7955279" y="5760720"/>
            <a:ext cx="3931920" cy="411480"/>
          </a:xfrm>
          <a:prstGeom prst="rect">
            <a:avLst/>
          </a:prstGeom>
          <a:noFill/>
        </p:spPr>
        <p:txBody>
          <a:bodyPr wrap="square">
            <a:spAutoFit/>
          </a:bodyPr>
          <a:lstStyle/>
          <a:p>
            <a:pPr algn="ctr"/>
            <a:r>
              <a:rPr sz="1000" i="1">
                <a:solidFill>
                  <a:srgbClr val="595959"/>
                </a:solidFill>
              </a:rPr>
              <a:t>Elektrostatische influentie bij een elektroscoop (cursus D1, fig. 1.9): a) geladen staaf nadert, b) en c) ladingsverdeling.</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3 – Influentie: geladen voorwerpen trekken ongeladen voorwerpen aan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23</a:t>
            </a:r>
          </a:p>
        </p:txBody>
      </p:sp>
      <p:graphicFrame>
        <p:nvGraphicFramePr>
          <p:cNvPr id="5" name="Table 4"/>
          <p:cNvGraphicFramePr>
            <a:graphicFrameLocks noGrp="1"/>
          </p:cNvGraphicFramePr>
          <p:nvPr/>
        </p:nvGraphicFramePr>
        <p:xfrm>
          <a:off x="457200" y="1143000"/>
          <a:ext cx="11277292" cy="2743200"/>
        </p:xfrm>
        <a:graphic>
          <a:graphicData uri="http://schemas.openxmlformats.org/drawingml/2006/table">
            <a:tbl>
              <a:tblPr firstRow="1" bandRow="1">
                <a:tableStyleId>{5C22544A-7EE6-4342-B048-85BDC9FD1C3A}</a:tableStyleId>
              </a:tblPr>
              <a:tblGrid>
                <a:gridCol w="4650430"/>
                <a:gridCol w="1046346"/>
                <a:gridCol w="1162607"/>
                <a:gridCol w="4417909"/>
              </a:tblGrid>
              <a:tr h="457200">
                <a:tc>
                  <a:txBody>
                    <a:bodyPr/>
                    <a:lstStyle/>
                    <a:p>
                      <a:r>
                        <a:rPr sz="1400" b="1">
                          <a:solidFill>
                            <a:srgbClr val="FFFFFF"/>
                          </a:solidFill>
                        </a:rPr>
                        <a:t>Proef</a:t>
                      </a:r>
                    </a:p>
                  </a:txBody>
                  <a:tcPr>
                    <a:solidFill>
                      <a:srgbClr val="1F4E79"/>
                    </a:solidFill>
                  </a:tcPr>
                </a:tc>
                <a:tc>
                  <a:txBody>
                    <a:bodyPr/>
                    <a:lstStyle/>
                    <a:p>
                      <a:r>
                        <a:rPr sz="1400" b="1">
                          <a:solidFill>
                            <a:srgbClr val="FFFFFF"/>
                          </a:solidFill>
                        </a:rPr>
                        <a:t>Hypothese</a:t>
                      </a:r>
                    </a:p>
                  </a:txBody>
                  <a:tcPr>
                    <a:solidFill>
                      <a:srgbClr val="1F4E79"/>
                    </a:solidFill>
                  </a:tcPr>
                </a:tc>
                <a:tc>
                  <a:txBody>
                    <a:bodyPr/>
                    <a:lstStyle/>
                    <a:p>
                      <a:r>
                        <a:rPr sz="1400" b="1">
                          <a:solidFill>
                            <a:srgbClr val="FFFFFF"/>
                          </a:solidFill>
                        </a:rPr>
                        <a:t>Waarneming</a:t>
                      </a:r>
                    </a:p>
                  </a:txBody>
                  <a:tcPr>
                    <a:solidFill>
                      <a:srgbClr val="1F4E79"/>
                    </a:solidFill>
                  </a:tcPr>
                </a:tc>
                <a:tc>
                  <a:txBody>
                    <a:bodyPr/>
                    <a:lstStyle/>
                    <a:p>
                      <a:r>
                        <a:rPr sz="1400" b="1">
                          <a:solidFill>
                            <a:srgbClr val="FFFFFF"/>
                          </a:solidFill>
                        </a:rPr>
                        <a:t>Verklaring met schets ladingsverdeling</a:t>
                      </a:r>
                    </a:p>
                  </a:txBody>
                  <a:tcPr>
                    <a:solidFill>
                      <a:srgbClr val="1F4E79"/>
                    </a:solidFill>
                  </a:tcPr>
                </a:tc>
              </a:tr>
              <a:tr h="457200">
                <a:tc>
                  <a:txBody>
                    <a:bodyPr/>
                    <a:lstStyle/>
                    <a:p>
                      <a:r>
                        <a:rPr sz="1400">
                          <a:solidFill>
                            <a:srgbClr val="262626"/>
                          </a:solidFill>
                        </a:rPr>
                        <a:t>Snippers / peper en zout</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Rollend blikje (geleider)</a:t>
                      </a:r>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400">
                          <a:solidFill>
                            <a:srgbClr val="262626"/>
                          </a:solidFill>
                        </a:rPr>
                        <a:t>Plastic liniaal i.p.v. blikje (isolator)</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Waterstraal met PVC⁻ / glas⁺</a:t>
                      </a:r>
                    </a:p>
                  </a:txBody>
                  <a:tcPr>
                    <a:solidFill>
                      <a:srgbClr val="F2F5FA"/>
                    </a:solidFill>
                  </a:tcPr>
                </a:tc>
                <a:tc>
                  <a:txBody>
                    <a:bodyPr/>
                    <a:lstStyle/>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400">
                          <a:solidFill>
                            <a:srgbClr val="262626"/>
                          </a:solidFill>
                        </a:rPr>
                        <a:t>Teken van onbekende lading: voorwerp = …</a:t>
                      </a:r>
                    </a:p>
                  </a:txBody>
                  <a:tcPr>
                    <a:solidFill>
                      <a:srgbClr val="FFFFFF"/>
                    </a:solidFill>
                  </a:tcPr>
                </a:tc>
                <a:tc>
                  <a:txBody>
                    <a:bodyPr/>
                    <a:lstStyle/>
                    <a:p/>
                  </a:txBody>
                  <a:tcPr>
                    <a:solidFill>
                      <a:srgbClr val="FFFFFF"/>
                    </a:solidFill>
                  </a:tcPr>
                </a:tc>
                <a:tc>
                  <a:txBody>
                    <a:bodyPr/>
                    <a:lstStyle/>
                    <a:p/>
                  </a:txBody>
                  <a:tcPr>
                    <a:solidFill>
                      <a:srgbClr val="FFFFFF"/>
                    </a:solidFill>
                  </a:tcPr>
                </a:tc>
                <a:tc>
                  <a:txBody>
                    <a:bodyPr/>
                    <a:lstStyle/>
                    <a:p/>
                  </a:txBody>
                  <a:tcPr>
                    <a:solidFill>
                      <a:srgbClr val="FFFFFF"/>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Deel 4 – Kooi van Faraday (schermwerking)</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24</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1. Zet opgeladen elektroscoop in omhulsel van metaalgaas of wikkel bokaal (niet bolletje) in aluminiumfolie die je met aarde (kraan/radiator) verbindt</a:t>
            </a:r>
          </a:p>
          <a:p>
            <a:pPr>
              <a:spcAft>
                <a:spcPts val="600"/>
              </a:spcAft>
            </a:pPr>
            <a:r>
              <a:rPr sz="2200">
                <a:solidFill>
                  <a:srgbClr val="262626"/>
                </a:solidFill>
              </a:rPr>
              <a:t>      – Nader met sterk geladen buis</a:t>
            </a:r>
          </a:p>
          <a:p>
            <a:pPr>
              <a:spcAft>
                <a:spcPts val="600"/>
              </a:spcAft>
            </a:pPr>
            <a:r>
              <a:rPr sz="2200">
                <a:solidFill>
                  <a:srgbClr val="262626"/>
                </a:solidFill>
              </a:rPr>
              <a:t>      – Reageert elektroscoop nog?</a:t>
            </a:r>
          </a:p>
          <a:p>
            <a:pPr>
              <a:spcAft>
                <a:spcPts val="600"/>
              </a:spcAft>
            </a:pPr>
            <a:r>
              <a:rPr sz="2200">
                <a:solidFill>
                  <a:srgbClr val="262626"/>
                </a:solidFill>
              </a:rPr>
              <a:t>      – Vergelijk met en zonder omhulsel</a:t>
            </a:r>
          </a:p>
          <a:p>
            <a:pPr>
              <a:spcAft>
                <a:spcPts val="1400"/>
              </a:spcAft>
            </a:pPr>
            <a:r>
              <a:rPr sz="2200">
                <a:solidFill>
                  <a:srgbClr val="262626"/>
                </a:solidFill>
              </a:rPr>
              <a:t>2. Wikkel gsm volledig in aluminiumfolie en bel ernaar</a:t>
            </a:r>
          </a:p>
          <a:p>
            <a:pPr>
              <a:spcAft>
                <a:spcPts val="600"/>
              </a:spcAft>
            </a:pPr>
            <a:r>
              <a:rPr sz="2200">
                <a:solidFill>
                  <a:srgbClr val="262626"/>
                </a:solidFill>
              </a:rPr>
              <a:t>      – Herhaal met laagje papier ertussen (zodat folie gsm niet raakt)</a:t>
            </a:r>
          </a:p>
          <a:p>
            <a:pPr>
              <a:spcAft>
                <a:spcPts val="600"/>
              </a:spcAft>
            </a:pPr>
            <a:r>
              <a:rPr sz="2200">
                <a:solidFill>
                  <a:srgbClr val="262626"/>
                </a:solidFill>
              </a:rPr>
              <a:t>      – Wat stel je vast?</a:t>
            </a:r>
          </a:p>
          <a:p>
            <a:pPr>
              <a:spcAft>
                <a:spcPts val="600"/>
              </a:spcAft>
            </a:pPr>
            <a:r>
              <a:rPr sz="2200">
                <a:solidFill>
                  <a:srgbClr val="262626"/>
                </a:solidFill>
              </a:rPr>
              <a:t>      – Wat heeft dit te maken met elektrische velden?</a:t>
            </a:r>
          </a:p>
          <a:p>
            <a:pPr>
              <a:spcAft>
                <a:spcPts val="1400"/>
              </a:spcAft>
            </a:pPr>
            <a:r>
              <a:rPr sz="2200" i="1">
                <a:solidFill>
                  <a:srgbClr val="595959"/>
                </a:solidFill>
              </a:rPr>
              <a:t>Noem drie toepassingen van elektrische schermwerking (zie leerplan: auto bij blikseminslag, microgolfoven, coaxkabel, ...) en leg bij één ervan uit hoe het werkt: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5 – DEMO door de leerkracht: elektrisch veld zichtbaar maken en Van de Graaff</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25</a:t>
            </a:r>
          </a:p>
        </p:txBody>
      </p:sp>
      <p:sp>
        <p:nvSpPr>
          <p:cNvPr id="5" name="TextBox 4"/>
          <p:cNvSpPr txBox="1"/>
          <p:nvPr/>
        </p:nvSpPr>
        <p:spPr>
          <a:xfrm>
            <a:off x="457200" y="1097280"/>
            <a:ext cx="7315200" cy="5212080"/>
          </a:xfrm>
          <a:prstGeom prst="rect">
            <a:avLst/>
          </a:prstGeom>
          <a:noFill/>
        </p:spPr>
        <p:txBody>
          <a:bodyPr wrap="square">
            <a:spAutoFit/>
          </a:bodyPr>
          <a:lstStyle/>
          <a:p>
            <a:pPr>
              <a:spcAft>
                <a:spcPts val="1400"/>
              </a:spcAft>
            </a:pPr>
            <a:r>
              <a:rPr sz="2200" i="1">
                <a:solidFill>
                  <a:srgbClr val="595959"/>
                </a:solidFill>
              </a:rPr>
              <a:t>Lichte draadjes op kap van bandgenerator worden afgestoten (cursus D3, fig. 1.22)</a:t>
            </a:r>
          </a:p>
          <a:p>
            <a:pPr>
              <a:spcAft>
                <a:spcPts val="1400"/>
              </a:spcAft>
            </a:pPr>
            <a:r>
              <a:rPr sz="2200" i="1">
                <a:solidFill>
                  <a:srgbClr val="595959"/>
                </a:solidFill>
              </a:rPr>
              <a:t>Van de Graaff-generator: haren krijgen dezelfde lading en stoten elkaar af</a:t>
            </a:r>
          </a:p>
          <a:p>
            <a:pPr>
              <a:spcAft>
                <a:spcPts val="1400"/>
              </a:spcAft>
            </a:pPr>
            <a:r>
              <a:rPr sz="2200">
                <a:solidFill>
                  <a:srgbClr val="262626"/>
                </a:solidFill>
              </a:rPr>
              <a:t>• Kijk aandachtig en schets wat je ziet</a:t>
            </a:r>
          </a:p>
          <a:p>
            <a:pPr>
              <a:spcAft>
                <a:spcPts val="600"/>
              </a:spcAft>
            </a:pPr>
            <a:r>
              <a:rPr sz="2200">
                <a:solidFill>
                  <a:srgbClr val="262626"/>
                </a:solidFill>
              </a:rPr>
              <a:t>      – Veldlijnenpatronen met griesmeel in olie: (a) één puntelektrode (radiaal veld), (b) twee puntelektroden met tegengestelde lading (dipool), (c) twee evenwijdige plaatelektroden (homogeen veld)</a:t>
            </a:r>
          </a:p>
          <a:p>
            <a:pPr>
              <a:spcAft>
                <a:spcPts val="600"/>
              </a:spcAft>
            </a:pPr>
            <a:r>
              <a:rPr sz="2200">
                <a:solidFill>
                  <a:srgbClr val="262626"/>
                </a:solidFill>
              </a:rPr>
              <a:t>      – Van de Graaff: haren rechtop, 'vliegende' aluminiumschaaltjes, neonlampje dat oplicht op afstand</a:t>
            </a:r>
          </a:p>
        </p:txBody>
      </p:sp>
      <p:pic>
        <p:nvPicPr>
          <p:cNvPr id="6" name="Picture 5" descr="p42_0.jpg"/>
          <p:cNvPicPr>
            <a:picLocks noChangeAspect="1"/>
          </p:cNvPicPr>
          <p:nvPr/>
        </p:nvPicPr>
        <p:blipFill>
          <a:blip r:embed="rId2"/>
          <a:stretch>
            <a:fillRect/>
          </a:stretch>
        </p:blipFill>
        <p:spPr>
          <a:xfrm>
            <a:off x="8000999" y="2751881"/>
            <a:ext cx="1874520" cy="1399957"/>
          </a:xfrm>
          <a:prstGeom prst="rect">
            <a:avLst/>
          </a:prstGeom>
        </p:spPr>
      </p:pic>
      <p:sp>
        <p:nvSpPr>
          <p:cNvPr id="7" name="TextBox 6"/>
          <p:cNvSpPr txBox="1"/>
          <p:nvPr/>
        </p:nvSpPr>
        <p:spPr>
          <a:xfrm>
            <a:off x="7955279" y="5806440"/>
            <a:ext cx="1965960" cy="411480"/>
          </a:xfrm>
          <a:prstGeom prst="rect">
            <a:avLst/>
          </a:prstGeom>
          <a:noFill/>
        </p:spPr>
        <p:txBody>
          <a:bodyPr wrap="square">
            <a:spAutoFit/>
          </a:bodyPr>
          <a:lstStyle/>
          <a:p>
            <a:pPr algn="ctr"/>
            <a:r>
              <a:rPr sz="1000" i="1">
                <a:solidFill>
                  <a:srgbClr val="595959"/>
                </a:solidFill>
              </a:rPr>
              <a:t>Lichte draadjes op de kap van een bandgenerator worden afgestoten (cursus D3, fig. 1.22).</a:t>
            </a:r>
          </a:p>
        </p:txBody>
      </p:sp>
      <p:pic>
        <p:nvPicPr>
          <p:cNvPr id="8" name="Picture 7" descr="gen_vandegraaff.jpg"/>
          <p:cNvPicPr>
            <a:picLocks noChangeAspect="1"/>
          </p:cNvPicPr>
          <p:nvPr/>
        </p:nvPicPr>
        <p:blipFill>
          <a:blip r:embed="rId3"/>
          <a:stretch>
            <a:fillRect/>
          </a:stretch>
        </p:blipFill>
        <p:spPr>
          <a:xfrm>
            <a:off x="9966959" y="2940272"/>
            <a:ext cx="1874520" cy="1023175"/>
          </a:xfrm>
          <a:prstGeom prst="rect">
            <a:avLst/>
          </a:prstGeom>
        </p:spPr>
      </p:pic>
      <p:sp>
        <p:nvSpPr>
          <p:cNvPr id="9" name="TextBox 8"/>
          <p:cNvSpPr txBox="1"/>
          <p:nvPr/>
        </p:nvSpPr>
        <p:spPr>
          <a:xfrm>
            <a:off x="9921239" y="5806440"/>
            <a:ext cx="1965960" cy="411480"/>
          </a:xfrm>
          <a:prstGeom prst="rect">
            <a:avLst/>
          </a:prstGeom>
          <a:noFill/>
        </p:spPr>
        <p:txBody>
          <a:bodyPr wrap="square">
            <a:spAutoFit/>
          </a:bodyPr>
          <a:lstStyle/>
          <a:p>
            <a:pPr algn="ctr"/>
            <a:r>
              <a:rPr sz="1000" i="1">
                <a:solidFill>
                  <a:srgbClr val="595959"/>
                </a:solidFill>
              </a:rPr>
              <a:t>Van de Graaff-generator: de haren krijgen dezelfde lading en stoten elkaar af.</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000" b="1">
                <a:solidFill>
                  <a:srgbClr val="FFFFFF"/>
                </a:solidFill>
              </a:rPr>
              <a:t>Deel 5 – DEMO door de leerkracht: elektrisch veld zichtbaar maken en Van de Graaff</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26</a:t>
            </a:r>
          </a:p>
        </p:txBody>
      </p:sp>
      <p:graphicFrame>
        <p:nvGraphicFramePr>
          <p:cNvPr id="5" name="Table 4"/>
          <p:cNvGraphicFramePr>
            <a:graphicFrameLocks noGrp="1"/>
          </p:cNvGraphicFramePr>
          <p:nvPr/>
        </p:nvGraphicFramePr>
        <p:xfrm>
          <a:off x="457200" y="1143000"/>
          <a:ext cx="11277293" cy="1828800"/>
        </p:xfrm>
        <a:graphic>
          <a:graphicData uri="http://schemas.openxmlformats.org/drawingml/2006/table">
            <a:tbl>
              <a:tblPr firstRow="1" bandRow="1">
                <a:tableStyleId>{5C22544A-7EE6-4342-B048-85BDC9FD1C3A}</a:tableStyleId>
              </a:tblPr>
              <a:tblGrid>
                <a:gridCol w="4138456"/>
                <a:gridCol w="2483074"/>
                <a:gridCol w="4655763"/>
              </a:tblGrid>
              <a:tr h="457200">
                <a:tc>
                  <a:txBody>
                    <a:bodyPr/>
                    <a:lstStyle/>
                    <a:p>
                      <a:r>
                        <a:rPr sz="1400" b="1">
                          <a:solidFill>
                            <a:srgbClr val="FFFFFF"/>
                          </a:solidFill>
                        </a:rPr>
                        <a:t>Opstelling</a:t>
                      </a:r>
                    </a:p>
                  </a:txBody>
                  <a:tcPr>
                    <a:solidFill>
                      <a:srgbClr val="1F4E79"/>
                    </a:solidFill>
                  </a:tcPr>
                </a:tc>
                <a:tc>
                  <a:txBody>
                    <a:bodyPr/>
                    <a:lstStyle/>
                    <a:p>
                      <a:r>
                        <a:rPr sz="1400" b="1">
                          <a:solidFill>
                            <a:srgbClr val="FFFFFF"/>
                          </a:solidFill>
                        </a:rPr>
                        <a:t>Schets veldlijnenpatroon</a:t>
                      </a:r>
                    </a:p>
                  </a:txBody>
                  <a:tcPr>
                    <a:solidFill>
                      <a:srgbClr val="1F4E79"/>
                    </a:solidFill>
                  </a:tcPr>
                </a:tc>
                <a:tc>
                  <a:txBody>
                    <a:bodyPr/>
                    <a:lstStyle/>
                    <a:p>
                      <a:r>
                        <a:rPr sz="1400" b="1">
                          <a:solidFill>
                            <a:srgbClr val="FFFFFF"/>
                          </a:solidFill>
                        </a:rPr>
                        <a:t>Waar is het veld het sterkst? Hoe zie je dat?</a:t>
                      </a:r>
                    </a:p>
                  </a:txBody>
                  <a:tcPr>
                    <a:solidFill>
                      <a:srgbClr val="1F4E79"/>
                    </a:solidFill>
                  </a:tcPr>
                </a:tc>
              </a:tr>
              <a:tr h="457200">
                <a:tc>
                  <a:txBody>
                    <a:bodyPr/>
                    <a:lstStyle/>
                    <a:p>
                      <a:r>
                        <a:rPr sz="1400">
                          <a:solidFill>
                            <a:srgbClr val="262626"/>
                          </a:solidFill>
                        </a:rPr>
                        <a:t>(a) puntlading – radiaal</a:t>
                      </a:r>
                    </a:p>
                  </a:txBody>
                  <a:tcPr>
                    <a:solidFill>
                      <a:srgbClr val="FFFFFF"/>
                    </a:solidFill>
                  </a:tcPr>
                </a:tc>
                <a:tc>
                  <a:txBody>
                    <a:bodyPr/>
                    <a:lstStyle/>
                    <a:p/>
                  </a:txBody>
                  <a:tcPr>
                    <a:solidFill>
                      <a:srgbClr val="FFFFFF"/>
                    </a:solidFill>
                  </a:tcPr>
                </a:tc>
                <a:tc>
                  <a:txBody>
                    <a:bodyPr/>
                    <a:lstStyle/>
                    <a:p/>
                  </a:txBody>
                  <a:tcPr>
                    <a:solidFill>
                      <a:srgbClr val="FFFFFF"/>
                    </a:solidFill>
                  </a:tcPr>
                </a:tc>
              </a:tr>
              <a:tr h="457200">
                <a:tc>
                  <a:txBody>
                    <a:bodyPr/>
                    <a:lstStyle/>
                    <a:p>
                      <a:r>
                        <a:rPr sz="1400">
                          <a:solidFill>
                            <a:srgbClr val="262626"/>
                          </a:solidFill>
                        </a:rPr>
                        <a:t>(b) twee tegengestelde ladingen – dipool</a:t>
                      </a:r>
                    </a:p>
                  </a:txBody>
                  <a:tcPr>
                    <a:solidFill>
                      <a:srgbClr val="F2F5FA"/>
                    </a:solidFill>
                  </a:tcPr>
                </a:tc>
                <a:tc>
                  <a:txBody>
                    <a:bodyPr/>
                    <a:lstStyle/>
                    <a:p/>
                  </a:txBody>
                  <a:tcPr>
                    <a:solidFill>
                      <a:srgbClr val="F2F5FA"/>
                    </a:solidFill>
                  </a:tcPr>
                </a:tc>
                <a:tc>
                  <a:txBody>
                    <a:bodyPr/>
                    <a:lstStyle/>
                    <a:p/>
                  </a:txBody>
                  <a:tcPr>
                    <a:solidFill>
                      <a:srgbClr val="F2F5FA"/>
                    </a:solidFill>
                  </a:tcPr>
                </a:tc>
              </a:tr>
              <a:tr h="457200">
                <a:tc>
                  <a:txBody>
                    <a:bodyPr/>
                    <a:lstStyle/>
                    <a:p>
                      <a:r>
                        <a:rPr sz="1400">
                          <a:solidFill>
                            <a:srgbClr val="262626"/>
                          </a:solidFill>
                        </a:rPr>
                        <a:t>(c) twee platen – homogeen</a:t>
                      </a:r>
                    </a:p>
                  </a:txBody>
                  <a:tcPr>
                    <a:solidFill>
                      <a:srgbClr val="FFFFFF"/>
                    </a:solidFill>
                  </a:tcPr>
                </a:tc>
                <a:tc>
                  <a:txBody>
                    <a:bodyPr/>
                    <a:lstStyle/>
                    <a:p/>
                  </a:txBody>
                  <a:tcPr>
                    <a:solidFill>
                      <a:srgbClr val="FFFFFF"/>
                    </a:solidFill>
                  </a:tcPr>
                </a:tc>
                <a:tc>
                  <a:txBody>
                    <a:bodyPr/>
                    <a:lstStyle/>
                    <a:p/>
                  </a:txBody>
                  <a:tcP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STEM-ONTWERPOPDRACHT (LPD 4 S) – één bewering, één proef</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27</a:t>
            </a:r>
          </a:p>
        </p:txBody>
      </p:sp>
      <p:sp>
        <p:nvSpPr>
          <p:cNvPr id="5" name="Rectangle 4"/>
          <p:cNvSpPr/>
          <p:nvPr/>
        </p:nvSpPr>
        <p:spPr>
          <a:xfrm>
            <a:off x="0" y="914400"/>
            <a:ext cx="164592" cy="5943600"/>
          </a:xfrm>
          <a:prstGeom prst="rect">
            <a:avLst/>
          </a:prstGeom>
          <a:solidFill>
            <a:srgbClr val="0069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Kies één bewering en ontwerp zelf proef om ze te testen met materiaal op tafel: (A) 'De uitslag van elektroscoop hangt af van aantal wrijfbewegingen.' (B) 'Een geladen voorwerp verliest zijn lading sneller in vochtige lucht (adem erop).' (C) 'Langere/dunnere blaadjes maken elektroscoop gevoeliger.' (D) eigen bewering (laat goedkeuren)</a:t>
            </a:r>
          </a:p>
          <a:p>
            <a:pPr>
              <a:spcAft>
                <a:spcPts val="1400"/>
              </a:spcAft>
            </a:pPr>
            <a:r>
              <a:rPr sz="2200">
                <a:solidFill>
                  <a:srgbClr val="262626"/>
                </a:solidFill>
              </a:rPr>
              <a:t>• Randvoorwaarden: 10 minuten, één variabele tegelijk, min. 3 herhalingen, waarnemingen in eigen tabel</a:t>
            </a:r>
          </a:p>
          <a:p>
            <a:pPr>
              <a:spcAft>
                <a:spcPts val="1400"/>
              </a:spcAft>
            </a:pPr>
            <a:r>
              <a:rPr sz="2200">
                <a:solidFill>
                  <a:srgbClr val="262626"/>
                </a:solidFill>
              </a:rPr>
              <a:t>• Noteer: onderzoeksvraag – wat varieer je / wat houd je constant – werkwijze (3-5 stappen) – resultaat – besluit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D9E2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12191695" cy="13716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rPr>
              <a:t>R – REFLECTEREN</a:t>
            </a:r>
          </a:p>
        </p:txBody>
      </p:sp>
      <p:sp>
        <p:nvSpPr>
          <p:cNvPr id="4" name="TextBox 3"/>
          <p:cNvSpPr txBox="1"/>
          <p:nvPr/>
        </p:nvSpPr>
        <p:spPr>
          <a:xfrm>
            <a:off x="1371600" y="3840480"/>
            <a:ext cx="9448495" cy="2286000"/>
          </a:xfrm>
          <a:prstGeom prst="rect">
            <a:avLst/>
          </a:prstGeom>
          <a:noFill/>
        </p:spPr>
        <p:txBody>
          <a:bodyPr wrap="square">
            <a:spAutoFit/>
          </a:bodyPr>
          <a:lstStyle/>
          <a:p>
            <a:pPr algn="ctr">
              <a:spcBef>
                <a:spcPts val="600"/>
              </a:spcBef>
            </a:pPr>
            <a:r>
              <a:rPr sz="1800">
                <a:solidFill>
                  <a:srgbClr val="262626"/>
                </a:solidFill>
              </a:rPr>
              <a:t>Kloppen de resultaten? Wat leren we eruit?</a:t>
            </a:r>
          </a:p>
          <a:p>
            <a:pPr algn="ctr">
              <a:spcBef>
                <a:spcPts val="600"/>
              </a:spcBef>
            </a:pPr>
            <a:r>
              <a:rPr sz="1800">
                <a:solidFill>
                  <a:srgbClr val="262626"/>
                </a:solidFill>
              </a:rPr>
              <a:t>Besluit – foutenanalyse – reflectievragen – verslag en evaluatie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Besluit • Foutenanalyse en betrouwbaarheid</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29</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300" b="1">
                <a:solidFill>
                  <a:srgbClr val="1F4E79"/>
                </a:solidFill>
              </a:rPr>
              <a:t>Besluit</a:t>
            </a:r>
          </a:p>
          <a:p>
            <a:pPr>
              <a:spcAft>
                <a:spcPts val="1400"/>
              </a:spcAft>
            </a:pPr>
            <a:r>
              <a:rPr sz="2200">
                <a:solidFill>
                  <a:srgbClr val="262626"/>
                </a:solidFill>
              </a:rPr>
              <a:t>• Beantwoord onderzoeksvraag, onderbouwd met je metingen (getallen, grafiek)</a:t>
            </a:r>
          </a:p>
          <a:p>
            <a:pPr>
              <a:spcAft>
                <a:spcPts val="1400"/>
              </a:spcAft>
            </a:pPr>
            <a:r>
              <a:rPr sz="2200">
                <a:solidFill>
                  <a:srgbClr val="262626"/>
                </a:solidFill>
              </a:rPr>
              <a:t>• Klopt je hypothese?</a:t>
            </a:r>
          </a:p>
          <a:p>
            <a:pPr>
              <a:spcAft>
                <a:spcPts val="600"/>
              </a:spcAft>
            </a:pPr>
            <a:r>
              <a:rPr sz="2200">
                <a:solidFill>
                  <a:srgbClr val="262626"/>
                </a:solidFill>
              </a:rPr>
              <a:t>      – Leg uit</a:t>
            </a:r>
          </a:p>
          <a:p>
            <a:pPr>
              <a:spcAft>
                <a:spcPts val="1400"/>
              </a:spcAft>
            </a:pPr>
            <a:r>
              <a:rPr sz="2300" b="1">
                <a:solidFill>
                  <a:srgbClr val="1F4E79"/>
                </a:solidFill>
              </a:rPr>
              <a:t>Foutenanalyse en betrouwbaarheid</a:t>
            </a:r>
          </a:p>
          <a:p>
            <a:pPr>
              <a:spcAft>
                <a:spcPts val="1400"/>
              </a:spcAft>
            </a:pPr>
            <a:r>
              <a:rPr sz="2200">
                <a:solidFill>
                  <a:srgbClr val="262626"/>
                </a:solidFill>
              </a:rPr>
              <a:t>• Wat is grootste meetonzekerheid in dit labo?</a:t>
            </a:r>
          </a:p>
          <a:p>
            <a:pPr>
              <a:spcAft>
                <a:spcPts val="1400"/>
              </a:spcAft>
            </a:pPr>
            <a:r>
              <a:rPr sz="2200">
                <a:solidFill>
                  <a:srgbClr val="262626"/>
                </a:solidFill>
              </a:rPr>
              <a:t>• Hoe zou je proef verbeteren (meer herhalingen, ander meetbereik, betere opstelling)?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Reflectievragen</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30</a:t>
            </a:r>
          </a:p>
        </p:txBody>
      </p:sp>
      <p:sp>
        <p:nvSpPr>
          <p:cNvPr id="5" name="TextBox 4"/>
          <p:cNvSpPr txBox="1"/>
          <p:nvPr/>
        </p:nvSpPr>
        <p:spPr>
          <a:xfrm>
            <a:off x="457200" y="1097280"/>
            <a:ext cx="11368735" cy="5212080"/>
          </a:xfrm>
          <a:prstGeom prst="rect">
            <a:avLst/>
          </a:prstGeom>
          <a:noFill/>
        </p:spPr>
        <p:txBody>
          <a:bodyPr wrap="square">
            <a:spAutoFit/>
          </a:bodyPr>
          <a:lstStyle/>
          <a:p>
            <a:pPr>
              <a:spcAft>
                <a:spcPts val="1400"/>
              </a:spcAft>
            </a:pPr>
            <a:r>
              <a:rPr sz="2000">
                <a:solidFill>
                  <a:srgbClr val="262626"/>
                </a:solidFill>
              </a:rPr>
              <a:t>1. Verklaar met deeltjesmodel waarom blaadjes van elektroscoop al uitwijken als geladen buis bolletje nog niet raakt, en waarom ze terugvallen als je buis wegneemt</a:t>
            </a:r>
          </a:p>
          <a:p>
            <a:pPr>
              <a:spcAft>
                <a:spcPts val="1400"/>
              </a:spcAft>
            </a:pPr>
            <a:r>
              <a:rPr sz="2000">
                <a:solidFill>
                  <a:srgbClr val="262626"/>
                </a:solidFill>
              </a:rPr>
              <a:t>2. Leerling beweert: 'Door te wrijven maak je lading.' Weerleg of bevestig dit met één van je proeven</a:t>
            </a:r>
          </a:p>
          <a:p>
            <a:pPr>
              <a:spcAft>
                <a:spcPts val="1400"/>
              </a:spcAft>
            </a:pPr>
            <a:r>
              <a:rPr sz="2000">
                <a:solidFill>
                  <a:srgbClr val="262626"/>
                </a:solidFill>
              </a:rPr>
              <a:t>3. Waarom trekt geladen buis zowel negatief geladen als ongeladen papiersnipper aan?</a:t>
            </a:r>
          </a:p>
          <a:p>
            <a:pPr>
              <a:spcAft>
                <a:spcPts val="600"/>
              </a:spcAft>
            </a:pPr>
            <a:r>
              <a:rPr sz="2000">
                <a:solidFill>
                  <a:srgbClr val="262626"/>
                </a:solidFill>
              </a:rPr>
              <a:t>      – Kan afstoting voorkomen bij ongeladen voorwerp?</a:t>
            </a:r>
          </a:p>
          <a:p>
            <a:pPr>
              <a:spcAft>
                <a:spcPts val="1400"/>
              </a:spcAft>
            </a:pPr>
            <a:r>
              <a:rPr sz="2000">
                <a:solidFill>
                  <a:srgbClr val="262626"/>
                </a:solidFill>
              </a:rPr>
              <a:t>4. Waarom moet tankwagen geaard worden vóór lossen van brandstof?</a:t>
            </a:r>
          </a:p>
          <a:p>
            <a:pPr>
              <a:spcAft>
                <a:spcPts val="600"/>
              </a:spcAft>
            </a:pPr>
            <a:r>
              <a:rPr sz="2000">
                <a:solidFill>
                  <a:srgbClr val="262626"/>
                </a:solidFill>
              </a:rPr>
              <a:t>      – Koppel aan wat je in deel 2/3 zag</a:t>
            </a:r>
          </a:p>
          <a:p>
            <a:pPr>
              <a:spcAft>
                <a:spcPts val="1400"/>
              </a:spcAft>
            </a:pPr>
            <a:r>
              <a:rPr sz="2000">
                <a:solidFill>
                  <a:srgbClr val="262626"/>
                </a:solidFill>
              </a:rPr>
              <a:t>5. Leg uit hoe poedercoating of laserprinter gebruikmaakt van elektrostatische krachten</a:t>
            </a:r>
          </a:p>
          <a:p>
            <a:pPr>
              <a:spcAft>
                <a:spcPts val="600"/>
              </a:spcAft>
            </a:pPr>
            <a:r>
              <a:rPr sz="2000">
                <a:solidFill>
                  <a:srgbClr val="262626"/>
                </a:solidFill>
              </a:rPr>
              <a:t>      – [Internet toegelaten: gewone zoekmachine zoals Google, bron vermelden – geen AI-tool.]</a:t>
            </a:r>
          </a:p>
          <a:p>
            <a:pPr>
              <a:spcAft>
                <a:spcPts val="1400"/>
              </a:spcAft>
            </a:pPr>
            <a:r>
              <a:rPr sz="2000">
                <a:solidFill>
                  <a:srgbClr val="262626"/>
                </a:solidFill>
              </a:rPr>
              <a:t>6. Je wil je elektroscoop omvormen tot toestel dat grootte van lading schat (kwantitatief)</a:t>
            </a:r>
          </a:p>
          <a:p>
            <a:pPr>
              <a:spcAft>
                <a:spcPts val="600"/>
              </a:spcAft>
            </a:pPr>
            <a:r>
              <a:rPr sz="2000">
                <a:solidFill>
                  <a:srgbClr val="262626"/>
                </a:solidFill>
              </a:rPr>
              <a:t>      – Wat zou je toevoegen of veranderen?</a:t>
            </a:r>
          </a:p>
          <a:p>
            <a:pPr>
              <a:spcAft>
                <a:spcPts val="600"/>
              </a:spcAft>
            </a:pPr>
            <a:r>
              <a:rPr sz="2000">
                <a:solidFill>
                  <a:srgbClr val="262626"/>
                </a:solidFill>
              </a:rPr>
              <a:t>      – (ontwerpvraag, LPD 4 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731520"/>
          </a:xfrm>
          <a:prstGeom prst="rect">
            <a:avLst/>
          </a:prstGeom>
          <a:noFill/>
        </p:spPr>
        <p:txBody>
          <a:bodyPr wrap="square" anchor="ctr">
            <a:spAutoFit/>
          </a:bodyPr>
          <a:lstStyle/>
          <a:p>
            <a:r>
              <a:rPr sz="2600" b="1">
                <a:solidFill>
                  <a:srgbClr val="FFFFFF"/>
                </a:solidFill>
              </a:rPr>
              <a:t>WAT, HOE EN WANNEER WORDT GEËVALUEERD IN DIT LABO?</a:t>
            </a:r>
          </a:p>
        </p:txBody>
      </p:sp>
      <p:sp>
        <p:nvSpPr>
          <p:cNvPr id="4" name="TextBox 3"/>
          <p:cNvSpPr txBox="1"/>
          <p:nvPr/>
        </p:nvSpPr>
        <p:spPr>
          <a:xfrm>
            <a:off x="365760" y="6492240"/>
            <a:ext cx="11460175" cy="274320"/>
          </a:xfrm>
          <a:prstGeom prst="rect">
            <a:avLst/>
          </a:prstGeom>
          <a:noFill/>
        </p:spPr>
        <p:txBody>
          <a:bodyPr wrap="none">
            <a:spAutoFit/>
          </a:bodyPr>
          <a:lstStyle/>
          <a:p>
            <a:r>
              <a:rPr sz="900">
                <a:solidFill>
                  <a:srgbClr val="595959"/>
                </a:solidFill>
              </a:rPr>
              <a:t>Labo 1  •  Toegepaste fysica 5BCW  •  31</a:t>
            </a:r>
          </a:p>
        </p:txBody>
      </p:sp>
      <p:sp>
        <p:nvSpPr>
          <p:cNvPr id="5" name="Rectangle 4"/>
          <p:cNvSpPr/>
          <p:nvPr/>
        </p:nvSpPr>
        <p:spPr>
          <a:xfrm>
            <a:off x="0" y="914400"/>
            <a:ext cx="164592" cy="5943600"/>
          </a:xfrm>
          <a:prstGeom prst="rect">
            <a:avLst/>
          </a:prstGeom>
          <a:solidFill>
            <a:srgbClr val="5959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11368735" cy="5212080"/>
          </a:xfrm>
          <a:prstGeom prst="rect">
            <a:avLst/>
          </a:prstGeom>
          <a:noFill/>
        </p:spPr>
        <p:txBody>
          <a:bodyPr wrap="square">
            <a:spAutoFit/>
          </a:bodyPr>
          <a:lstStyle/>
          <a:p>
            <a:pPr>
              <a:spcAft>
                <a:spcPts val="1400"/>
              </a:spcAft>
            </a:pPr>
            <a:r>
              <a:rPr sz="2200">
                <a:solidFill>
                  <a:srgbClr val="262626"/>
                </a:solidFill>
              </a:rPr>
              <a:t>• PRODUCT (60 %) – wat: werkende elektroscoop met schets, volledig ingevulde waarnemingstabellen met verklaringen (ladingsschetsen), antwoorden op reflectievragen, maatschappelijke link</a:t>
            </a:r>
          </a:p>
          <a:p>
            <a:pPr>
              <a:spcAft>
                <a:spcPts val="1400"/>
              </a:spcAft>
            </a:pPr>
            <a:r>
              <a:rPr sz="2200">
                <a:solidFill>
                  <a:srgbClr val="262626"/>
                </a:solidFill>
              </a:rPr>
              <a:t>• PRODUCT – hoe en wanneer: puntenverdeling /10 (Bijlage B), groepspunt, feedback in feedbackblok; deadline = één week na labo, 23.59 u, Smartschool-uploadzone</a:t>
            </a:r>
          </a:p>
          <a:p>
            <a:pPr>
              <a:spcAft>
                <a:spcPts val="1400"/>
              </a:spcAft>
            </a:pPr>
            <a:r>
              <a:rPr sz="2200">
                <a:solidFill>
                  <a:srgbClr val="262626"/>
                </a:solidFill>
              </a:rPr>
              <a:t>• PRODUCT – wat dien je in: ingevulde werkbladen (foto's/scan van dit labo, incl. schetsen) als één PDF in uploadzone – GEEN Excel-verslag (doorschuifpracticum)</a:t>
            </a:r>
          </a:p>
          <a:p>
            <a:pPr>
              <a:spcAft>
                <a:spcPts val="1400"/>
              </a:spcAft>
            </a:pPr>
            <a:r>
              <a:rPr sz="2200">
                <a:solidFill>
                  <a:srgbClr val="262626"/>
                </a:solidFill>
              </a:rPr>
              <a:t>• PROCES &amp; ATTITUDE (40 %) – wat: zorgvuldige bouw, systematisch waarnemen (hypothese vóór proef!), rolverdeling en samenwerking, veilig omgaan met scherp materiaal en demo-opstelling, opruimen</a:t>
            </a:r>
          </a:p>
          <a:p>
            <a:pPr>
              <a:spcAft>
                <a:spcPts val="1400"/>
              </a:spcAft>
            </a:pPr>
            <a:r>
              <a:rPr sz="2200">
                <a:solidFill>
                  <a:srgbClr val="262626"/>
                </a:solidFill>
              </a:rPr>
              <a:t>• PROCES &amp; ATTITUDE – hoe: observatie door leerkracht met rubric van Bijlage C (10 thema's × 5 niveaus), individueel punt</a:t>
            </a:r>
          </a:p>
          <a:p>
            <a:pPr>
              <a:spcAft>
                <a:spcPts val="1400"/>
              </a:spcAft>
            </a:pPr>
            <a:r>
              <a:rPr sz="2200">
                <a:solidFill>
                  <a:srgbClr val="262626"/>
                </a:solidFill>
              </a:rPr>
              <a:t>• PEER-EVALUATIE: niet voorzien bij dit labo (tenzij leerkracht dit aankondigt)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