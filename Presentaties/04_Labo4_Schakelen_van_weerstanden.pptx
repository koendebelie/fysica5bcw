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LEERKRACHTENINFO:</a:t>
            </a:r>
          </a:p>
          <a:p>
            <a:r>
              <a:t>• Controleer bij het begin de voorbereide berekeningen (P1). Groepen zonder voorbereiding eerst laten rekenen vóór ze materiaal krijgen.</a:t>
            </a:r>
          </a:p>
          <a:p>
            <a:r>
              <a:t>• Verwachte afwijkingen 2-10 %; grotere afwijkingen meestal door een slecht brugje of de A-meter op het verkeerde bereik.</a:t>
            </a:r>
          </a:p>
          <a:p>
            <a:r>
              <a:t>• Excel-grafiek: punten U(I), trendlijn lineair, 'snijpunt instellen op 0', vergelijking tonen → rico = R_sub. Dit is dezelfde werkwijze als in het verslagsjabloon (screencast op Smartschool).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SMART-keuze 4…: B. A: niet specifiek (welke schakelingen, welke weerstanden, wat vergelijk je waarmee?). C: ziet er SMART uit, maar dekt maar één schakeling en beantwoordt een andere vraag (I(U)-verband) – zit naast het onderwerp van dit labo. D: 'nauwkeurigst' is niet gedefinieerd (niet M). Verantwoording B: S = zes schakelingen, berekend vs. gemeten R_sub; M = U en I meten, R_sub berekenen, procentueel verschil; A = de rekenregels zijn de basis van elke schakeling; R = al het materiaal aanwezig, 2 lesuren; T = dit labo + verslag binnen een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Bereken thuis (vóór het labo) de substitutieweerstand van sc…: Controleer de voorbereiding bij het begin van het labo (procescriterium P1). Rekenvoorbeeld voor gelijke R: a) 3R; b) R/4; c) (R∥R)+R = 1,5R; d) (R∥R) + R + (R∥R∥R) = 0,5R + R + 0,33R = 1,83R; e) ((R+R)∥(R+R)) + R = R + R = 2R. Werkelijke waarden hangen af van de weerstanden op de plank.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Modelantwoord – Bij welke schakeling(en) is het verschil tussen berekende en…: Meestal de gemengde schakelingen (d, e, f) of schakelingen met kleine weerstanden. Oorzaken: tolerantie van de weerstanden (±5 %), inwendige weerstand van de A-meter (in serie → R te groot) en van de V-meter (parallel → R te klein), contact- en snoerweerstanden, afleesnauwkeurigheid, opwarming.</a:t>
            </a:r>
          </a:p>
          <a:p>
            <a:r>
              <a:t>Modelantwoord – Waarom is de substitutieweerstand van een parallelschakeling…: In parallel staat over elke tak dezelfde U. De totale stroom is de som van de takstromen, dus groter dan de stroom door de kleinste weerstand alleen. Zelfde U, grotere I → kleinere R_sub. (Elke extra tak is een extra 'weg' voor de stroom.)</a:t>
            </a:r>
          </a:p>
          <a:p>
            <a:r>
              <a:t>Modelantwoord – Een voltmeter heeft een zeer grote inwendige weerstand, een …: De V-meter staat parallel: een grote R_i zorgt dat hij (bijna) geen stroom aftakt en de kring niet verstoort. De A-meter staat in serie: een kleine R_i zorgt dat hij (bijna) geen spanning opneemt. Omgekeerd zou de V-meter de kring kortsluiten en de A-meter de stroom sterk verkleinen.</a:t>
            </a:r>
          </a:p>
          <a:p>
            <a:r>
              <a:t>Modelantwoord – Waarom is de grafische methode (richtingscoëfficiënt) betrou…: Een trendlijn door meerdere punten middelt toevallige fouten uit, maakt systematische afwijkingen (bv. nulpuntfout: rechte niet door de oorsprong) zichtbaar en toont of het verband lineair (ohms) is.</a:t>
            </a:r>
          </a:p>
          <a:p>
            <a:r>
              <a:t>Modelantwoord – Thuis zijn alle stopcontacten parallel geschakeld. Geef twee…: 1) Elk toestel krijgt dezelfde 230 V, ongeacht wat er nog aan staat. 2) Toestellen werken onafhankelijk: één toestel uit/defect onderbreekt de rest niet. (3) Zekeringen per kring mogelijk.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6949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Labo 4 – Schakelen van weerstanden: serie, parallel en gemengd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Richtduur: 2 lesuren • Type practicum: begripspracticum (per 2)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Mate van sturing: gesloten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DDE6F2"/>
                </a:solidFill>
              </a:rPr>
              <a:t>Werkwijze: O – V – U – R</a:t>
            </a:r>
          </a:p>
        </p:txBody>
      </p:sp>
      <p:pic>
        <p:nvPicPr>
          <p:cNvPr id="4" name="Picture 3" descr="schak_weerstan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1796592"/>
            <a:ext cx="3931920" cy="32648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035040"/>
            <a:ext cx="1109441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DE6F2"/>
                </a:solidFill>
              </a:rPr>
              <a:t>HAST  •  Toegepaste fysica 5BCW  •  Labocursus volgens de OVUR-methode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LESDOELEN – na dit labo kan je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 substitutieweerstand van serie-, parallel- en gemengde schakelingen berekenen vóór meting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Een schakeling correct opbouwen vanuit schema en V- en A-meter juist plaatsen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De substitutieweerstand experimenteel bepalen via wet van Ohm uit min. drie (U, I)-koppels en een U(I)-grafiek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Berekende en gemeten waarde vergelijken, het %-verschil bepalen en verklaren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LEERPLANDOELEN (III-BCSW-d / III-BCW-d)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K1: grootheden kwantificeren in serie-, parallel- en gemengde gelijkstroomkringen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LPD 1 S, 2 S, 3 S: meten, verwerken met juiste eenheden, veilig werken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VOORKENNIS – check vóór je begint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Serie: R_s = R₁ + R₂ + …; parallel: 1/R_p = 1/R₁ + 1/R₂ + …; wet van Ohm R = U/I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Kirchhoff: in serie dezelfde I, in parallel dezelfde 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Wat gaan we onderzoeken en waarom?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Context – onderzoeksvraag – doel – oriëntatievragen (voorbereid thuis) – SMART-oefening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Context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In elk toestel zijn weerstanden gecombineerd: lampjes in kerstslinger (serie), stopcontacten in huis (parallel), verwarmingselementen van oven (gemengd)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Ingenieur moet vooraf kunnen berekenen welke stroom er zal lopen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Controleer je of rekenregels voor serie en parallel ook kloppen in praktijk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0695C"/>
                </a:solidFill>
              </a:rPr>
              <a:t>Onderzoeksvraag (leerlijn SMART – stap 2: jij kiest)</a:t>
            </a:r>
          </a:p>
          <a:p>
            <a:pPr>
              <a:spcAft>
                <a:spcPts val="1400"/>
              </a:spcAft>
            </a:pPr>
            <a:r>
              <a:rPr sz="1600" i="1">
                <a:solidFill>
                  <a:srgbClr val="595959"/>
                </a:solidFill>
              </a:rPr>
              <a:t>Je krijgt onderzoeksvraag van dit labo niet meer kant-en-klaar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Hieronder staan vier voorstellen; slechts één is goede SMART-onderzoeksvraag voor dit labo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62626"/>
                </a:solidFill>
              </a:rPr>
              <a:t>      – Omcirkel ze – dat wordt jullie onderzoeksvraag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A. Hoe hangt substitutieweerstand af van manier waarop je weerstanden schakelt?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B. Komt voor elk van schakelingen a-f (serie, parallel en gemengd) substitutieweerstand die we uit gemeten U en I bepalen overeen met waarde die we vooraf met rekenregels berekenden, binnen meetonzekerheid, tijdens dit labo?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C. Hoe hangt stroomsterkte door schakeling a af van aangelegde spanning (0 tot 6 V)?</a:t>
            </a:r>
          </a:p>
          <a:p>
            <a:pPr>
              <a:spcAft>
                <a:spcPts val="1400"/>
              </a:spcAft>
            </a:pPr>
            <a:r>
              <a:rPr sz="1600">
                <a:solidFill>
                  <a:srgbClr val="262626"/>
                </a:solidFill>
              </a:rPr>
              <a:t>• D. Welke schakeling van weerstanden is nauwkeurigst?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Verantwoord per letter waarom jouw keuze SMART is, en schrijf bij elk ander voorstel in één zin welke letter ontbreekt (of waarom het niet over juiste onderwerp gaat)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Onderzoeksvraag (leerlijn SMART – stap 2: jij kiest) – invullen op werkblad; kolommen: Mijn keuze | S | M | A | R | 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O – Oriënteren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Doel van het onderzoek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Rekenregels voor serie en parallel toepassen en experimenteel verifiëren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Zelf schakelingen opbouwen en nauwkeurig meten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Grafische verwerking: U(I)-grafiek en richtingscoëfficiënt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Oriëntatievragen (beantwoord vóór het labo)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Bereken thuis (vóór labo) substitutieweerstand van schakelingen a-f met weerstandswaarden die je in labo krijgt (noteer die waarden hieronder)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Schrijf je berekening volledig uit en vul waarde in tabellen 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V – VOORBEREIDEN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Hoe pakken we het aan?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Benodigdheden – theorie – veiligheid – hypothese – werkplan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0695C"/>
                </a:solidFill>
              </a:rPr>
              <a:t>Benodigdheden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Plank met genummerde weerstanden, regelbare gelijkspanningsbron, snoeren en brugjes, 2 multimeters (V en A)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0695C"/>
                </a:solidFill>
              </a:rPr>
              <a:t>Theorie-overzicht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Serieschakeling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Dezelfde stroom door elke weerstand; spanningen tellen op: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s</m:t>
                          </m:r>
                        </m:sub>
                      </m:sSub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sSub>
                        <m:e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…</m:t>
                      </m:r>
                    </m:oMath>
                  </m:oMathPara>
                </a14:m>
              </mc:Choice>
              <mc:Fallback>
                <a:r>
                  <a:rPr lang="nl-BE" sz="2400" b="1">
                    <a:solidFill>
                      <a:srgbClr val="00695C"/>
                    </a:solidFill>
                  </a:rPr>
                  <a:t>Rₛ = R₁ + R₂ + R₃ + …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Parallelschakeling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Dezelfde spanning over elke tak; stromen tellen op:</a:t>
            </a:r>
          </a:p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f>
                        <m:fPr/>
                        <m:num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sub>
                          </m:sSub>
                        </m:den>
                      </m:f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den>
                      </m:f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f>
                        <m:fPr/>
                        <m:num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den>
                      </m:f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f>
                        <m:fPr/>
                        <m:num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3</m:t>
                              </m:r>
                            </m:sub>
                          </m:sSub>
                        </m:den>
                      </m:f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+</m:t>
                      </m:r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…</m:t>
                      </m:r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   </m:t>
                      </m:r>
                      <m:r>
                        <m:rPr>
                          <m:sty m:val="p"/>
                        </m:rP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(twee weerstanden: </m:t>
                      </m:r>
                      <m:sSub>
                        <m:e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p</m:t>
                          </m:r>
                        </m:sub>
                      </m:sSub>
                      <m: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·</m:t>
                          </m:r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  <m:r>
                            <a:rPr lang="nl-BE" sz="24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+</m:t>
                          </m:r>
                          <m:sSub>
                            <m:e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4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den>
                      </m:f>
                      <m:r>
                        <m:rPr>
                          <m:sty m:val="p"/>
                        </m:rPr>
                        <a:rPr lang="nl-BE" sz="24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</mc:Choice>
              <mc:Fallback>
                <a:r>
                  <a:rPr lang="nl-BE" sz="2400" b="1">
                    <a:solidFill>
                      <a:srgbClr val="00695C"/>
                    </a:solidFill>
                  </a:rPr>
                  <a:t>1 / (Rₚ) = 1 / (R₁) + 1 / (R₂) + 1 / (R₃) + …  (twee weerstanden:  Rₚ = (R₁ · R₂) / (R₁ + R₂))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262626"/>
                </a:solidFill>
              </a:rPr>
              <a:t>• Substitutieweerstand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62626"/>
                </a:solidFill>
              </a:rPr>
              <a:t>      – Ene weerstand die dezelfde stroom trekt bij dezelfde spanning als hele schakeling: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Benodigdheden • Theorie-overzicht (vervolg)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1400"/>
              </a:spcAft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Para>
                    <m:oMathParaPr>
                      <m:jc m:val="centerGroup"/>
                    </m:oMathParaPr>
                    <m:oMath>
                      <m:sSub>
                        <m:e>
                          <m:r>
                            <a:rPr lang="nl-BE" sz="28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a:rPr lang="nl-BE" sz="28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s</m:t>
                          </m:r>
                          <m:r>
                            <a:rPr lang="nl-BE" sz="28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u</m:t>
                          </m:r>
                          <m:r>
                            <a:rPr lang="nl-BE" sz="2800" b="1">
                              <a:solidFill>
                                <a:srgbClr val="00695C"/>
                              </a:solidFill>
                              <a:latin typeface="Cambria Math"/>
                            </a:rPr>
                            <m:t xml:space="preserve">b</m:t>
                          </m:r>
                        </m:sub>
                      </m:sSub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sSub>
                            <m:e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U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o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I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o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den>
                      </m:f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      </m:t>
                      </m:r>
                      <m:r>
                        <m:rPr>
                          <m:sty m:val="p"/>
                        </m:rP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procentueel verschil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=</m:t>
                      </m:r>
                      <m:f>
                        <m:fPr/>
                        <m:num>
                          <m:d>
                            <m:dPr>
                              <m:begChr m:val="|"/>
                              <m:endChr m:val="|"/>
                            </m:dPr>
                            <m:e>
                              <m:sSub>
                                <m:e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g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m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t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n</m:t>
                                  </m:r>
                                </m:sub>
                              </m:sSub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-</m:t>
                              </m:r>
                              <m:sSub>
                                <m:e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b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r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k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e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n</m:t>
                                  </m:r>
                                  <m:r>
                                    <a:rPr lang="nl-BE" sz="2800" b="1">
                                      <a:solidFill>
                                        <a:srgbClr val="00695C"/>
                                      </a:solidFill>
                                      <a:latin typeface="Cambria Math"/>
                                    </a:rPr>
                                    <m:t xml:space="preserve">d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e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</m:e>
                            <m:sub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b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e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r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e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k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e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n</m:t>
                              </m:r>
                              <m:r>
                                <a:rPr lang="nl-BE" sz="2800" b="1">
                                  <a:solidFill>
                                    <a:srgbClr val="00695C"/>
                                  </a:solidFill>
                                  <a:latin typeface="Cambria Math"/>
                                </a:rPr>
                                <m:t xml:space="preserve">d</m:t>
                              </m:r>
                            </m:sub>
                          </m:sSub>
                        </m:den>
                      </m:f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·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1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0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0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 </m:t>
                      </m:r>
                      <m:r>
                        <a:rPr lang="nl-BE" sz="2800" b="1">
                          <a:solidFill>
                            <a:srgbClr val="00695C"/>
                          </a:solidFill>
                          <a:latin typeface="Cambria Math"/>
                        </a:rPr>
                        <m:t xml:space="preserve">%</m:t>
                      </m:r>
                    </m:oMath>
                  </m:oMathPara>
                </a14:m>
              </mc:Choice>
              <mc:Fallback>
                <a:r>
                  <a:rPr lang="nl-BE" sz="2800" b="1">
                    <a:solidFill>
                      <a:srgbClr val="00695C"/>
                    </a:solidFill>
                  </a:rPr>
                  <a:t>R_sub = (Uₜₒₜ) / (Iₜₒₜ)  procentueel verschil = (|R_gemeten - R_berekend|) / (R_berekend) · 100 %</a:t>
                </a:r>
              </mc:Fallback>
            </mc:AlternateContent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Grafisch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Zet U (y-as) uit tegen I (x-as)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Bij ohmse weerstanden krijg je rechte door oorsprong met richtingscoëfficiënt = R_sub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Dit is nauwkeuriger dan één enkel (U, I)-koppel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VEILIGHEID // NAUWKEURIGHEID • Hypothese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VEILIGHEID // NAUWKEURIGHEID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Bron uit en op 0 bij opbouwen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Elke schakeling laten controleren vóór inschakelen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Ampèremeter in serie, beginnen met bereik 10 A/2 A en verkleinen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Voltmeter parallel over volledige schakeling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Spanning beperken zodat I &lt; 0,5 A (weerstanden mogen niet warm worden)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Hypothese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Formuleer vóór proef beredeneerde verwachting: wat verwacht je en waarom?</a:t>
            </a:r>
          </a:p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Hypothese mag fout blijken – dat is geen slecht resultaat, maar leerpunt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Noteer ze op werkblad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Werkplan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Schakeling opbouwen volgens schema → controle → 3 spanningen instellen → U en I noteren → R berekenen → gemiddelde → vergelijken met berekende waarde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Maak voor min. twee schakelingen (één serie, één gemengd) een U(I)-grafiek (Excel) en bepaal R_sub als richtingscoëfficiënt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Meten, noteren, observeren – volgens plan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Noteer alles meteen op het werkblad: tabellen, waarnemingen, foto's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Schakelingen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i="1">
                <a:solidFill>
                  <a:srgbClr val="595959"/>
                </a:solidFill>
              </a:rPr>
              <a:t>Schakelingen a-f (f* = uitbreiding voor wie klaar is)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Berekende substitutieweerstand links onderaan in tabel, gemeten (gemiddelde) rechts onderaan</a:t>
            </a:r>
          </a:p>
        </p:txBody>
      </p:sp>
      <p:pic>
        <p:nvPicPr>
          <p:cNvPr id="6" name="Picture 5" descr="schak_weerstan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026" y="2504541"/>
            <a:ext cx="4031642" cy="33476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85216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595959"/>
                </a:solidFill>
              </a:rPr>
              <a:t>Schakelingen a-f (f* = uitbreiding voor wie klaar is). Berekende substitutieweerstand links onderaan in de tabel, gemeten (gemiddelde) rechts onderaan.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b)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Metingen en berekeningen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772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i="0">
                <a:solidFill>
                  <a:srgbClr val="262626"/>
                </a:solidFill>
              </a:rPr>
              <a:t>Schakeling f)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7555.2000000002"/>
          <a:ext cx="1127729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56482"/>
                <a:gridCol w="683472"/>
                <a:gridCol w="4784306"/>
                <a:gridCol w="1253032"/>
              </a:tblGrid>
              <a:tr h="4572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 (V)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 (A)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 = U/I (Ω)</a:t>
                      </a:r>
                    </a:p>
                  </a:txBody>
                  <a:tcPr>
                    <a:solidFill>
                      <a:srgbClr val="006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2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Meting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Berekende substitutieweerstand (vooraf):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Gemeten substitutieweerstand (gemiddelde):</a:t>
                      </a:r>
                    </a:p>
                  </a:txBody>
                  <a:tcPr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2F5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62626"/>
                          </a:solidFill>
                        </a:rPr>
                        <a:t>Procentueel verschil (%):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U – Uitvoeren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Grafische STEM-opdracht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Maak voor schakeling a) en d) een U(I)-grafiek met trendlijn (rechte door oorsprong)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Noteer vergelijking van trendlijn en lees R_sub af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Voeg grafieken toe aan je verslag</a:t>
            </a:r>
          </a:p>
          <a:p>
            <a:pPr>
              <a:spcAft>
                <a:spcPts val="1400"/>
              </a:spcAft>
            </a:pPr>
            <a:r>
              <a:rPr sz="2100" b="1">
                <a:solidFill>
                  <a:srgbClr val="00695C"/>
                </a:solidFill>
              </a:rPr>
              <a:t>STEM-ONTWERPOPDRACHT (LPD 4 S) – ontwerp een schakeling met opgelegde weerstand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Leerkracht geeft jullie doelwaarde: R_doel = …………… Ω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Ontwerp met min. drie van beschikbare weerstanden schakeling waarvan R_sub zo dicht mogelijk bij R_doel ligt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Werkwijze: schema tekenen → R_sub berekenen → bouwen → laten controleren → R_sub meten via U en I (3 metingen) → %-verschil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262626"/>
                </a:solidFill>
              </a:rPr>
              <a:t>• Snel klaar?</a:t>
            </a:r>
          </a:p>
          <a:p>
            <a:pPr>
              <a:spcAft>
                <a:spcPts val="600"/>
              </a:spcAft>
            </a:pPr>
            <a:r>
              <a:rPr sz="2000">
                <a:solidFill>
                  <a:srgbClr val="262626"/>
                </a:solidFill>
              </a:rPr>
              <a:t>      – Zoek tweede, verschillende schakeling die hetzelfde oplevert, of één met zo weinig mogelijk weerstanden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13716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 b="1">
                <a:solidFill>
                  <a:srgbClr val="FFFFFF"/>
                </a:solidFill>
              </a:rPr>
              <a:t>R – REFLECTEREN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484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Kloppen de resultaten? Wat leren we eruit?</a:t>
            </a:r>
          </a:p>
          <a:p>
            <a:pPr algn="ctr">
              <a:spcBef>
                <a:spcPts val="600"/>
              </a:spcBef>
            </a:pPr>
            <a:r>
              <a:rPr sz="1800">
                <a:solidFill>
                  <a:srgbClr val="262626"/>
                </a:solidFill>
              </a:rPr>
              <a:t>Besluit – foutenanalyse – reflectievragen – verslag en evaluatie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Besluit • Foutenanalyse en betrouwbaarheid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Besluit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Beantwoord onderzoeksvraag, onderbouwd met je metingen (getallen, grafiek)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Klopt je hypothese?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Leg uit</a:t>
            </a:r>
          </a:p>
          <a:p>
            <a:pPr>
              <a:spcAft>
                <a:spcPts val="1400"/>
              </a:spcAft>
            </a:pPr>
            <a:r>
              <a:rPr sz="2300" b="1">
                <a:solidFill>
                  <a:srgbClr val="00695C"/>
                </a:solidFill>
              </a:rPr>
              <a:t>Foutenanalyse en betrouwbaarheid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Wat is grootste meetonzekerheid in dit labo?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Hoe zou je proef verbeteren (meer herhalingen, ander meetbereik, betere opstelling)?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Reflectievragen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1. Bij welke schakeling(en) is verschil tussen berekende en gemeten waarde grootst?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Geef twee mogelijke oorzaken (denk aan tolerantie van weerstanden, inwendige weerstand van meters, contactweerstanden)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2. Waarom is substitutieweerstand van parallelschakeling altijd kleiner dan kleinste weerstand erin?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Leg uit met begrip 'stroomverdeling'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3. Voltmeter heeft zeer grote inwendige weerstand, ampèremeter zeer kleine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Waarom is dat nodig?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Wat zou er gebeuren als omgekeerd was?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4. Waarom is grafische methode (richtingscoëfficiënt) betrouwbaarder dan één enkele meting?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5. Thuis zijn alle stopcontacten parallel geschakeld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62626"/>
                </a:solidFill>
              </a:rPr>
              <a:t>      – Geef twee redenen waarom men niet voor serie kiest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60175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WAT, HOE EN WANNEER WORDT GEËVALUEERD IN DIT LABO?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601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95959"/>
                </a:solidFill>
              </a:rPr>
              <a:t>Labo 4  •  Toegepaste fysica 5BCW  •  24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64592" cy="5943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368735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(60 %) – wat: vooraf uitgewerkte berekeningen, correcte tabellen met eenheden, twee U(I)-grafieken met trendlijn, procentuele verschillen, besluit en reflectie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hoe en wanneer: puntenverdeling /10 (Bijlage B), groepspunt, feedback in feedbackblok; deadline = één week na labo, 23.59 u, Smartschool-uploadzone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PRODUCT – wat dien je in: Excel-verslagsjabloon (tabellen a-f, U(I)-grafieken, ontwerpopdracht in 'Besluit')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(40 %) – wat: voorbereiding gemaakt (berekeningen vooraf!), schakeling correct opgebouwd en laten controleren, veilig bereik gekozen, efficiënt samengewerkt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PROCES &amp; ATTITUDE – hoe: observatie door leerkracht met rubric van Bijlage C (10 thema's × 5 niveaus), individueel punt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262626"/>
                </a:solidFill>
              </a:rPr>
              <a:t>• PEER-EVALUATIE: niet voorzien bij dit labo (tenzij leerkracht dit aankondigt)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