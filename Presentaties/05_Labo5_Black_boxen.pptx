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LEERKRACHTENINFO:</a:t>
            </a:r>
          </a:p>
          <a:p>
            <a:r>
              <a:t>• Verwachte factoren (bij de hier getekende schema's): a 3R, b R/2, c R/4, d 1,5R, e 2R (controleer met het eigen materiaal), f* 1,5R, g* gemengd. Noteer de werkelijke R-waarde van elke reeks black boxen in je leerkrachtexemplaar: …… Ω.</a:t>
            </a:r>
          </a:p>
          <a:p>
            <a:r>
              <a:t>• Differentiatie: f* en g* enkel voor snelle groepen; laat hen daarna een 'onbekende' box maken voor een andere groep.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Modelantwoord – SMART-keuze 5…: C. A: niet specifiek/meetbaar. B: ziet er SMART uit, maar beantwoordt een andere vraag (I(U)-verband van één box, niet de weerstandswaarde) – naast het onderwerp. D: te breed, niet realistisch ('elke onbekende schakeling'). Verantwoording C: S = per box R uit R_sub en het gekende schema; M = drie (U, I)-koppels per box; A = toepassing van substitutieweerstand en modelleren; R = materiaal aanwezig, 1 lesuur; T = dit labo.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Modelantwoord – Druk voor elk van de schema's a-g R_sub uit in functie van R…: a) 3R; b) R/2; c) R/4; d) R + R/2 = 1,5R; e) (2R)∥(2R) + … (volgens schema: R + (R∥(R+R))?) – controleer per box aan de hand van de werkelijke schema's; f) (3R)∥(3R) = 1,5R; g) gemengd volgens schema. Laat de leerlingen de uitdrukking stap voor stap opbouwen.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Modelantwoord – Welke box gaf de meest afwijkende waarde voor R? Hoe verklaa…: Doorgaans de box met de kleinste R_sub (parallel): contact- en snoerweerstanden en de inwendige weerstand van de A-meter wegen relatief zwaarder. Ook afleesfouten bij kleine stromen.</a:t>
            </a:r>
          </a:p>
          <a:p>
            <a:r>
              <a:t>Modelantwoord – Stel: je kent het schema niet, enkel R_sub = 1,5 R. Teken tw…: Bv. R in serie met (R∥R), of (3R)∥(3R) = 1,5R, of (R+R+R)∥(R+R+R). Met één meting van R_sub kan je ze niet onderscheiden (zelfde in/uit-gedrag). Extra nodig: meer aansluitpunten, een meting bij andere frequentie (niet bij zuivere weerstanden), kennis van de standaardwaarde R, of het doosje openen.</a:t>
            </a:r>
          </a:p>
          <a:p>
            <a:r>
              <a:t>Modelantwoord – Waarom werken wetenschappers vaak met 'black box'-modellen (…: Omdat het inwendige niet rechtstreeks toegankelijk is: atoommodel (Rutherford-verstrooiing), enzymkinetiek (cel als black box: substraat in, product uit), het brein, een onbekende chemische stof (in/uit-reacties). Beperking: meerdere inwendige modellen kunnen dezelfde uitwendige waarnemingen verklaren; het model is pas 'goed' tot een nieuwe meting het tegenspreekt.</a:t>
            </a:r>
          </a:p>
          <a:p>
            <a:r>
              <a:t>Modelantwoord – Welke extra meting zou de nauwkeurigheid van je resultaat he…: Meerdere (U, I)-koppels en een grafiek (rico), de contactweerstand van de snoeren apart meten en aftrekken, of de weerstand van de A-meter corrigeren (vierpuntsmeting).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6949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Labo 5 – Black boxen: schakelingen achterhalen door redeneren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DDE6F2"/>
                </a:solidFill>
              </a:rPr>
              <a:t>Richtduur: 1-2 lesuren • Type practicum: probleemoplossend practicum (per 2)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DDE6F2"/>
                </a:solidFill>
              </a:rPr>
              <a:t>Mate van sturing: begeleid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DDE6F2"/>
                </a:solidFill>
              </a:rPr>
              <a:t>Werkwijze: O – V – U – R</a:t>
            </a:r>
          </a:p>
        </p:txBody>
      </p:sp>
      <p:pic>
        <p:nvPicPr>
          <p:cNvPr id="4" name="Picture 3" descr="schak_black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926232"/>
            <a:ext cx="3931919" cy="30055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DE6F2"/>
                </a:solidFill>
              </a:rPr>
              <a:t>HAST  •  Toegepaste fysica 5BCW  •  Labocursus volgens de OVUR-methode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LESDOELEN – na dit labo kan je 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5  •  Toegepaste fysica 5BCW  • 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Uit gemeten substitutieweerstand en gegeven schema waarde van identieke weerstanden in black box afleiden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Systematisch en gestructureerd redeneren en elke stap verantwoorden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Voor onbekende box hypothese over inwendige schakeling opstellen en toetsen (uitbreiding)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00695C"/>
                </a:solidFill>
              </a:rPr>
              <a:t>LEERPLANDOELEN (III-BCSW-d / III-BCW-d)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LPD K1: gelijkstroomkringen kwantificeren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LPD 4 S: probleemoplossend denken, interactie onderzoeken-ontwikkelen (modelleren van onbekend systeem)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LPD 1 S: hypothese opstellen en aftoetsen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00695C"/>
                </a:solidFill>
              </a:rPr>
              <a:t>VOORKENNIS – check vóór je begint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Rekenregels serie/parallel (labo 4)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Black box is systeem waarvan je enkel in- en uitgang kent (ook in biologie en chemie gebruikt!)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O – ORIËNTEREN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Wat gaan we onderzoeken en waarom?</a:t>
            </a:r>
          </a:p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Context – onderzoeksvraag – doel – oriëntatievragen (voorbereid thuis) – SMART-oefening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O – Oriënteren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5  •  Toegepaste fysica 5BCW  •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00695C"/>
                </a:solidFill>
              </a:rPr>
              <a:t>Context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Een 'black box' is doosje met twee aansluitklemmen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Binnenin zit schakeling met weerstanden van dezelfde, ongekende waarde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Doosje niet openen: zoals wetenschapper die inwendige structuur van atoom of cel bestudeert, kan je enkel meten wat er aan buitenkant gebeurt en daaruit redeneren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0695C"/>
                </a:solidFill>
              </a:rPr>
              <a:t>Onderzoeksvraag (leerlijn SMART – stap 2: jij kiest)</a:t>
            </a:r>
          </a:p>
          <a:p>
            <a:pPr>
              <a:spcAft>
                <a:spcPts val="1400"/>
              </a:spcAft>
            </a:pPr>
            <a:r>
              <a:rPr sz="1600" i="1">
                <a:solidFill>
                  <a:srgbClr val="595959"/>
                </a:solidFill>
              </a:rPr>
              <a:t>Je krijgt onderzoeksvraag van dit labo niet meer kant-en-klaar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Hieronder staan vier voorstellen; slechts één is goede SMART-onderzoeksvraag voor dit labo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Omcirkel ze – dat wordt jullie onderzoeksvraag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A. Wat zit er in black boxen?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B. Hoe hangt stroomsterkte door black box a af van aangelegde spanning (0 tot 6 V)?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C. Welke weerstandswaarde R zit in elk van black boxen a-g (schema gekend, alle weerstanden gelijk), als we per box substitutieweerstand bepalen uit drie (U, I)-koppels, tijdens dit labo?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D. Hoe kun je met multimeter elke onbekende schakeling achterhalen?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O – Oriënteren (vervolg)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5  •  Toegepaste fysica 5BCW  • 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i="1">
                <a:solidFill>
                  <a:srgbClr val="595959"/>
                </a:solidFill>
              </a:rPr>
              <a:t>Verantwoord per letter waarom jouw keuze SMART is, en schrijf bij elk ander voorstel in één zin welke letter ontbreekt (of waarom het niet over juiste onderwerp gaat)</a:t>
            </a:r>
          </a:p>
          <a:p>
            <a:pPr>
              <a:spcAft>
                <a:spcPts val="1400"/>
              </a:spcAft>
            </a:pPr>
            <a:r>
              <a:rPr sz="2200" i="1">
                <a:solidFill>
                  <a:srgbClr val="595959"/>
                </a:solidFill>
              </a:rPr>
              <a:t>Onderzoeksvraag (leerlijn SMART – stap 2: jij kiest) – invullen op werkblad; kolommen: Mijn keuze | S | M | A | R | 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O – Oriënteren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5  •  Toegepaste fysica 5BCW  • 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300" b="1">
                <a:solidFill>
                  <a:srgbClr val="00695C"/>
                </a:solidFill>
              </a:rPr>
              <a:t>Doel van het onderzoek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Substitutieweerstand meten en terugrekenen naar afzonderlijke weerstanden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Redenering helder opschrijven en verantwoorden (modelleren)</a:t>
            </a:r>
          </a:p>
          <a:p>
            <a:pPr>
              <a:spcAft>
                <a:spcPts val="1400"/>
              </a:spcAft>
            </a:pPr>
            <a:r>
              <a:rPr sz="2300" b="1">
                <a:solidFill>
                  <a:srgbClr val="00695C"/>
                </a:solidFill>
              </a:rPr>
              <a:t>Oriëntatievragen (beantwoord vóór het labo)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1. Druk voor elk van schema's a-g R_sub uit i.f.v. R (bv. a: R_sub = 3R)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Doe dit vóór labo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V – VOORBEREIDEN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Hoe pakken we het aan?</a:t>
            </a:r>
          </a:p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Benodigdheden – theorie – veiligheid – hypothese – werkplan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Benodigdheden • VEILIGHEID // NAUWKEURIGHEID • Werkplan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5  •  Toegepaste fysica 5BCW  • 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300" b="1">
                <a:solidFill>
                  <a:srgbClr val="00695C"/>
                </a:solidFill>
              </a:rPr>
              <a:t>Benodigdheden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7 reeksen black boxen (a-g), regelbare gelijkspanningsbron, snoeren, voltmeter en ampèremeter</a:t>
            </a:r>
          </a:p>
          <a:p>
            <a:pPr>
              <a:spcAft>
                <a:spcPts val="1400"/>
              </a:spcAft>
            </a:pPr>
            <a:r>
              <a:rPr sz="2300" b="1">
                <a:solidFill>
                  <a:srgbClr val="00695C"/>
                </a:solidFill>
              </a:rPr>
              <a:t>VEILIGHEID // NAUWKEURIGHEID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Zelfde regels als labo 4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Beperk stroom tot 0,5 A: je kent weerstandswaarde immers niet – start met lage spanning (1 V) en verhoog pas na controle van I</a:t>
            </a:r>
          </a:p>
          <a:p>
            <a:pPr>
              <a:spcAft>
                <a:spcPts val="1400"/>
              </a:spcAft>
            </a:pPr>
            <a:r>
              <a:rPr sz="2300" b="1">
                <a:solidFill>
                  <a:srgbClr val="00695C"/>
                </a:solidFill>
              </a:rPr>
              <a:t>Werkplan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Voor elke box: U en I meten bij 3 spanningen → R_sub (gemiddelde) → R = R_sub / factor → noteren met beduidende cijfers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Uitbreiding (boxen f* en g*): meet eerst, stel dan hypothese op over schema, bereken R en controleer of die realistisch is (bv. standaardwaarde uit de E12-reeks)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U – UITVOEREN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Meten, noteren, observeren – volgens plan</a:t>
            </a:r>
          </a:p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Noteer alles meteen op het werkblad: tabellen, waarnemingen, foto's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U – Uitvoeren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5  •  Toegepaste fysica 5BCW  •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i="1">
                <a:solidFill>
                  <a:srgbClr val="595959"/>
                </a:solidFill>
              </a:rPr>
              <a:t>Inwendige schema's van black boxen a-g (alle weerstanden gelijk)</a:t>
            </a:r>
          </a:p>
        </p:txBody>
      </p:sp>
      <p:pic>
        <p:nvPicPr>
          <p:cNvPr id="6" name="Picture 5" descr="schak_black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992" y="1986076"/>
            <a:ext cx="5057710" cy="38660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5216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595959"/>
                </a:solidFill>
              </a:rPr>
              <a:t>Inwendige schema's van de black boxen a-g (alle weerstanden gelijk).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U – Uitvoeren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5  •  Toegepaste fysica 5BCW  •  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277291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0312"/>
                <a:gridCol w="5193491"/>
                <a:gridCol w="890312"/>
                <a:gridCol w="890312"/>
                <a:gridCol w="2522552"/>
                <a:gridCol w="890312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Box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R_sub = … × R (afgeleid uit schema)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U (V)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I (A)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R_sub gemeten (Ω)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 (Ω)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U – Uitvoeren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5  •  Toegepaste fysica 5BCW  • 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i="1">
                <a:solidFill>
                  <a:srgbClr val="595959"/>
                </a:solidFill>
              </a:rPr>
              <a:t>Uitwerking van je redenering per box (berekeningen volledig uitschrijven; mag handgeschreven in verslag):</a:t>
            </a:r>
          </a:p>
          <a:p>
            <a:pPr>
              <a:spcAft>
                <a:spcPts val="1400"/>
              </a:spcAft>
            </a:pPr>
            <a:r>
              <a:rPr sz="2300" b="1">
                <a:solidFill>
                  <a:srgbClr val="00695C"/>
                </a:solidFill>
              </a:rPr>
              <a:t>STEM-ONTWERPOPDRACHT (LPD 4 S) – maak zelf een black box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Ontwerp schakeling met 3 of 4 gelijke weerstanden (waarde naar keuze uit beschikbare weerstanden), teken schema hier en geef box (afgedekt, enkel twee klemmen) aan ander duo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Andere duo meet R_sub en probeert schema én R te achterhalen; jullie doen hetzelfde met hun box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Vergelijk → en bespreek: welke schema's zijn niet te onderscheiden met één meting?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R – REFLECTEREN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Kloppen de resultaten? Wat leren we eruit?</a:t>
            </a:r>
          </a:p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Besluit – foutenanalyse – reflectievragen – verslag en evaluatie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Besluit • Reflectievragen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5  •  Toegepaste fysica 5BCW  •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00695C"/>
                </a:solidFill>
              </a:rPr>
              <a:t>Besluit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262626"/>
                </a:solidFill>
              </a:rPr>
              <a:t>• Beantwoord onderzoeksvraag, onderbouwd met je metingen (getallen, grafiek)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262626"/>
                </a:solidFill>
              </a:rPr>
              <a:t>• Klopt je hypothese?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</a:rPr>
              <a:t>      – Leg uit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0695C"/>
                </a:solidFill>
              </a:rPr>
              <a:t>Reflectievragen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262626"/>
                </a:solidFill>
              </a:rPr>
              <a:t>1. Welke box gaf meest afwijkende waarde voor 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</a:rPr>
              <a:t>      – Hoe verklaar je dat?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262626"/>
                </a:solidFill>
              </a:rPr>
              <a:t>2. Stel: je kent schema niet, enkel R_sub = 1,5 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</a:rPr>
              <a:t>      – Teken twee verschillende schakelingen die dit opleveren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</a:rPr>
              <a:t>      – Kan je ze met één meting onderscheiden?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</a:rPr>
              <a:t>      – Wat heb je extra nodig?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262626"/>
                </a:solidFill>
              </a:rPr>
              <a:t>3. Waarom werken wetenschappers vaak met 'black box'-modellen (geef voorbeeld uit chemie of biologie)?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</a:rPr>
              <a:t>      – Wat zijn beperkingen?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</a:rPr>
              <a:t>      – [Internet toegelaten: gewone zoekmachine zoals Google, bron vermelden – geen AI-tool.]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262626"/>
                </a:solidFill>
              </a:rPr>
              <a:t>4. Welke extra meting zou nauwkeurigheid van je resultaat meest verbeteren?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WAT, HOE EN WANNEER WORDT GEËVALUEERD IN DIT LABO?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5  •  Toegepaste fysica 5BCW  • 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64592" cy="59436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PRODUCT (60 %) – wat: volledige en verantwoorde redenering per box, correcte tabel, antwoorden op reflectievragen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PRODUCT – hoe en wanneer: puntenverdeling /10 (Bijlage B), groepspunt, feedback in feedbackblok; deadline = één week na labo, 23.59 u, Smartschool-uploadzone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PRODUCT – wat dien je in: Excel-verslagsjabloon (tabel + redenering per box; eigen black box als schema in 'Schema')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PROCES &amp; ATTITUDE (40 %) – wat: zelfstandig probleemoplossend werken, voorzichtig opstarten met lage spanning, overleg binnen duo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PROCES &amp; ATTITUDE – hoe: observatie door leerkracht met rubric van Bijlage C (10 thema's × 5 niveaus), individueel punt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PEER-EVALUATIE: niet voorzien bij dit labo (tenzij leerkracht dit aankondigt)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